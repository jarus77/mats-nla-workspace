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9.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0.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3.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4.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5.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6.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7.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18.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19.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c2f029-ed26-2265-7e1f-3162a29b2f6d}">
          <p14:sldIdLst>
            <p14:sldId id="256"/>
            <p14:sldId id="257"/>
            <p14:sldId id="258"/>
          </p14:sldIdLst>
        </p14:section>
        <p14:section name="Background" id="{b795a87a-d40d-ecfb-a6fe-8921c9def6ea}">
          <p14:sldIdLst>
            <p14:sldId id="259"/>
            <p14:sldId id="260"/>
            <p14:sldId id="261"/>
            <p14:sldId id="262"/>
            <p14:sldId id="263"/>
            <p14:sldId id="264"/>
          </p14:sldIdLst>
        </p14:section>
        <p14:section name="Design" id="{6f8a6e49-00ae-7441-7a5d-cd100aea39b4}">
          <p14:sldIdLst>
            <p14:sldId id="265"/>
            <p14:sldId id="266"/>
            <p14:sldId id="267"/>
            <p14:sldId id="268"/>
          </p14:sldIdLst>
        </p14:section>
        <p14:section name="Gates" id="{40f987ec-a865-d031-6f8a-263f1fdae251}">
          <p14:sldIdLst>
            <p14:sldId id="269"/>
            <p14:sldId id="270"/>
            <p14:sldId id="271"/>
            <p14:sldId id="272"/>
          </p14:sldIdLst>
        </p14:section>
        <p14:section name="Part A" id="{ca7a2034-adb4-ecde-20b5-b34507e89eb2}">
          <p14:sldIdLst>
            <p14:sldId id="273"/>
            <p14:sldId id="274"/>
            <p14:sldId id="275"/>
            <p14:sldId id="276"/>
            <p14:sldId id="277"/>
            <p14:sldId id="278"/>
          </p14:sldIdLst>
        </p14:section>
        <p14:section name="Part B" id="{179d59dc-8df5-0c0e-c357-1dfbb33f839e}">
          <p14:sldIdLst>
            <p14:sldId id="279"/>
            <p14:sldId id="280"/>
            <p14:sldId id="281"/>
            <p14:sldId id="282"/>
            <p14:sldId id="283"/>
            <p14:sldId id="284"/>
            <p14:sldId id="285"/>
            <p14:sldId id="286"/>
            <p14:sldId id="287"/>
            <p14:sldId id="288"/>
            <p14:sldId id="289"/>
            <p14:sldId id="290"/>
          </p14:sldIdLst>
        </p14:section>
        <p14:section name="Part C" id="{d384a1d0-eb59-4e80-2c77-27b99e05d6ca}">
          <p14:sldIdLst>
            <p14:sldId id="291"/>
            <p14:sldId id="292"/>
            <p14:sldId id="293"/>
            <p14:sldId id="294"/>
          </p14:sldIdLst>
        </p14:section>
        <p14:section name="Part D" id="{b89378f9-1844-feb0-f669-cbea691ac479}">
          <p14:sldIdLst>
            <p14:sldId id="295"/>
            <p14:sldId id="296"/>
            <p14:sldId id="297"/>
            <p14:sldId id="298"/>
            <p14:sldId id="299"/>
          </p14:sldIdLst>
        </p14:section>
        <p14:section name="Where we stand" id="{8946cdc6-2b6b-a94a-cb20-5a1c617a3916}">
          <p14:sldIdLst>
            <p14:sldId id="300"/>
            <p14:sldId id="301"/>
            <p14:sldId id="302"/>
            <p14:sldId id="303"/>
            <p14:sldId id="304"/>
            <p14:sldId id="305"/>
          </p14:sldIdLst>
        </p14:section>
        <p14:section name="Appendix" id="{97dc7d9c-131d-fd0c-d8bc-bf545f4f6493}">
          <p14:sldIdLst>
            <p14:sldId id="306"/>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Our recomputed activation vs the NLA's own examples (lower = match)</a:t>
            </a:r>
          </a:p>
        </c:rich>
      </c:tx>
      <c:layout/>
      <c:overlay val="0"/>
    </c:title>
    <c:autoTitleDeleted val="0"/>
    <c:plotArea>
      <c:layout/>
      <c:barChart>
        <c:barDir val="col"/>
        <c:grouping val="clustered"/>
        <c:varyColors val="0"/>
        <c:ser>
          <c:idx val="0"/>
          <c:order val="0"/>
          <c:tx>
            <c:strRef>
              <c:f>Sheet1!$B$1</c:f>
              <c:strCache>
                <c:ptCount val="1"/>
                <c:pt idx="0">
                  <c:v>relative L2 error (mean, 64 examples)</c:v>
                </c:pt>
              </c:strCache>
            </c:strRef>
          </c:tx>
          <c:spPr>
            <a:solidFill>
              <a:srgbClr val="5E6E78"/>
            </a:solidFill>
            <a:effectLst/>
          </c:spPr>
          <c:invertIfNegative val="0"/>
          <c:dLbls>
            <c:numFmt formatCode="0.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dPt>
            <c:idx val="0"/>
            <c:invertIfNegative val="0"/>
            <c:bubble3D val="0"/>
            <c:spPr>
              <a:solidFill>
                <a:srgbClr val="5E6E78"/>
              </a:solidFill>
              <a:effectLst/>
            </c:spPr>
          </c:dPt>
          <c:dPt>
            <c:idx val="1"/>
            <c:invertIfNegative val="0"/>
            <c:bubble3D val="0"/>
            <c:spPr>
              <a:solidFill>
                <a:srgbClr val="5E6E78"/>
              </a:solidFill>
              <a:effectLst/>
            </c:spPr>
          </c:dPt>
          <c:dPt>
            <c:idx val="2"/>
            <c:invertIfNegative val="0"/>
            <c:bubble3D val="0"/>
            <c:spPr>
              <a:solidFill>
                <a:srgbClr val="E2553A"/>
              </a:solidFill>
              <a:effectLst/>
            </c:spPr>
          </c:dPt>
          <c:dPt>
            <c:idx val="3"/>
            <c:invertIfNegative val="0"/>
            <c:bubble3D val="0"/>
            <c:spPr>
              <a:solidFill>
                <a:srgbClr val="5E6E78"/>
              </a:solidFill>
              <a:effectLst/>
            </c:spPr>
          </c:dPt>
          <c:cat>
            <c:multiLvlStrRef>
              <c:f>Sheet1!$A$2:$A$5</c:f>
              <c:multiLvlStrCache>
                <c:ptCount val="4"/>
                <c:lvl>
                  <c:pt idx="0">
                    <c:v>block 40</c:v>
                  </c:pt>
                  <c:pt idx="1">
                    <c:v>block 41</c:v>
                  </c:pt>
                  <c:pt idx="2">
                    <c:v>block 42</c:v>
                  </c:pt>
                  <c:pt idx="3">
                    <c:v>block 43</c:v>
                  </c:pt>
                </c:lvl>
              </c:multiLvlStrCache>
            </c:multiLvlStrRef>
          </c:cat>
          <c:val>
            <c:numRef>
              <c:f>Sheet1!$B$2:$B$5</c:f>
              <c:numCache>
                <c:formatCode>General</c:formatCode>
                <c:ptCount val="4"/>
                <c:pt idx="0">
                  <c:v>0.304</c:v>
                </c:pt>
                <c:pt idx="1">
                  <c:v>0.222</c:v>
                </c:pt>
                <c:pt idx="2">
                  <c:v>0.026</c:v>
                </c:pt>
                <c:pt idx="3">
                  <c:v>0.232</c:v>
                </c:pt>
              </c:numCache>
            </c:numRef>
          </c:val>
        </c:ser>
        <c:dLbls>
          <c:numFmt formatCode="0.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35"/>
          <c:min val="0"/>
        </c:scaling>
        <c:delete val="0"/>
        <c:axPos val="l"/>
        <c:majorGridlines>
          <c:spPr>
            <a:ln w="9525" cap="flat">
              <a:solidFill>
                <a:srgbClr val="E3E8E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Oracle Lens (ours)</c:v>
                </c:pt>
              </c:strCache>
            </c:strRef>
          </c:tx>
          <c:spPr>
            <a:solidFill>
              <a:srgbClr val="7A5BC2"/>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Sheet1!$B$2:$B$5</c:f>
              <c:numCache>
                <c:formatCode>General</c:formatCode>
                <c:ptCount val="4"/>
                <c:pt idx="0">
                  <c:v>0.86</c:v>
                </c:pt>
                <c:pt idx="1">
                  <c:v>0.65</c:v>
                </c:pt>
                <c:pt idx="2">
                  <c:v>0.34</c:v>
                </c:pt>
                <c:pt idx="3">
                  <c:v>0.73</c:v>
                </c:pt>
              </c:numCache>
            </c:numRef>
          </c:val>
        </c:ser>
        <c:ser>
          <c:idx val="1"/>
          <c:order val="1"/>
          <c:tx>
            <c:strRef>
              <c:f>Sheet1!$C$1</c:f>
              <c:strCache>
                <c:ptCount val="1"/>
                <c:pt idx="0">
                  <c:v>Oracle Lens (published)</c:v>
                </c:pt>
              </c:strCache>
            </c:strRef>
          </c:tx>
          <c:spPr>
            <a:solidFill>
              <a:srgbClr val="CBBEE8"/>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Sheet1!$C$2:$C$5</c:f>
              <c:numCache>
                <c:formatCode>General</c:formatCode>
                <c:ptCount val="4"/>
                <c:pt idx="0">
                  <c:v>0.83</c:v>
                </c:pt>
                <c:pt idx="1">
                  <c:v>0.62</c:v>
                </c:pt>
                <c:pt idx="2">
                  <c:v>0.32</c:v>
                </c:pt>
                <c:pt idx="3">
                  <c:v>0.71</c:v>
                </c:pt>
              </c:numCache>
            </c:numRef>
          </c:val>
        </c:ser>
        <c:ser>
          <c:idx val="2"/>
          <c:order val="2"/>
          <c:tx>
            <c:strRef>
              <c:f>Sheet1!$D$1</c:f>
              <c:strCache>
                <c:ptCount val="1"/>
                <c:pt idx="0">
                  <c:v>NLA (ours)</c:v>
                </c:pt>
              </c:strCache>
            </c:strRef>
          </c:tx>
          <c:spPr>
            <a:solidFill>
              <a:srgbClr val="E2553A"/>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Sheet1!$D$2:$D$5</c:f>
              <c:numCache>
                <c:formatCode>General</c:formatCode>
                <c:ptCount val="4"/>
                <c:pt idx="0">
                  <c:v>0.73</c:v>
                </c:pt>
                <c:pt idx="1">
                  <c:v>0.42</c:v>
                </c:pt>
                <c:pt idx="2">
                  <c:v>0.15</c:v>
                </c:pt>
                <c:pt idx="3">
                  <c:v>0.57</c:v>
                </c:pt>
              </c:numCache>
            </c:numRef>
          </c:val>
        </c:ser>
        <c:ser>
          <c:idx val="3"/>
          <c:order val="3"/>
          <c:tx>
            <c:strRef>
              <c:f>Sheet1!$E$1</c:f>
              <c:strCache>
                <c:ptCount val="1"/>
                <c:pt idx="0">
                  <c:v>NLA (published)</c:v>
                </c:pt>
              </c:strCache>
            </c:strRef>
          </c:tx>
          <c:spPr>
            <a:solidFill>
              <a:srgbClr val="F3B6A8"/>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Sheet1!$E$2:$E$5</c:f>
              <c:numCache>
                <c:formatCode>General</c:formatCode>
                <c:ptCount val="4"/>
                <c:pt idx="0">
                  <c:v>0.75</c:v>
                </c:pt>
                <c:pt idx="1">
                  <c:v>0.44</c:v>
                </c:pt>
                <c:pt idx="2">
                  <c:v>0.22</c:v>
                </c:pt>
                <c:pt idx="3">
                  <c:v>0.53</c:v>
                </c:pt>
              </c:numCache>
            </c:numRef>
          </c:val>
        </c:ser>
        <c:ser>
          <c:idx val="4"/>
          <c:order val="4"/>
          <c:tx>
            <c:strRef>
              <c:f>Sheet1!$F$1</c:f>
              <c:strCache>
                <c:ptCount val="1"/>
                <c:pt idx="0">
                  <c:v>J-Lens (ours)</c:v>
                </c:pt>
              </c:strCache>
            </c:strRef>
          </c:tx>
          <c:spPr>
            <a:solidFill>
              <a:srgbClr val="0F9D8A"/>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Sheet1!$F$2:$F$5</c:f>
              <c:numCache>
                <c:formatCode>General</c:formatCode>
                <c:ptCount val="4"/>
                <c:pt idx="0">
                  <c:v>0.15</c:v>
                </c:pt>
                <c:pt idx="1">
                  <c:v>0.08</c:v>
                </c:pt>
                <c:pt idx="2">
                  <c:v>0.1</c:v>
                </c:pt>
                <c:pt idx="3">
                  <c:v>0.24</c:v>
                </c:pt>
              </c:numCache>
            </c:numRef>
          </c:val>
        </c:ser>
        <c:ser>
          <c:idx val="5"/>
          <c:order val="5"/>
          <c:tx>
            <c:strRef>
              <c:f>Sheet1!$G$1</c:f>
              <c:strCache>
                <c:ptCount val="1"/>
                <c:pt idx="0">
                  <c:v>J-Lens (published)</c:v>
                </c:pt>
              </c:strCache>
            </c:strRef>
          </c:tx>
          <c:spPr>
            <a:solidFill>
              <a:srgbClr val="9FD9CF"/>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Sheet1!$G$2:$G$5</c:f>
              <c:numCache>
                <c:formatCode>General</c:formatCode>
                <c:ptCount val="4"/>
                <c:pt idx="0">
                  <c:v>0.17</c:v>
                </c:pt>
                <c:pt idx="1">
                  <c:v>0.06</c:v>
                </c:pt>
                <c:pt idx="2">
                  <c:v>0.08</c:v>
                </c:pt>
                <c:pt idx="3">
                  <c:v>0.24</c:v>
                </c:pt>
              </c:numCache>
            </c:numRef>
          </c:val>
        </c:ser>
        <c:dLbls>
          <c:numFmt formatCode="0.00" sourceLinked="0"/>
          <c:txPr>
            <a:bodyPr/>
            <a:lstStyle/>
            <a:p>
              <a:pPr>
                <a:defRPr b="0" i="0" strike="noStrike" sz="1000" u="none">
                  <a:solidFill>
                    <a:srgbClr val="15222C"/>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pass rate (regex families, n = 100)</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multilingual</a:t>
            </a:r>
          </a:p>
        </c:rich>
      </c:tx>
      <c:layout/>
      <c:overlay val="0"/>
    </c:title>
    <c:autoTitleDeleted val="0"/>
    <c:plotArea>
      <c:layout/>
      <c:lineChart>
        <c:varyColors val="0"/>
        <c:ser>
          <c:idx val="0"/>
          <c:order val="0"/>
          <c:tx>
            <c:strRef>
              <c:f>Sheet1!$B$1</c:f>
              <c:strCache>
                <c:ptCount val="1"/>
                <c:pt idx="0">
                  <c:v>OL, per layer</c:v>
                </c:pt>
              </c:strCache>
            </c:strRef>
          </c:tx>
          <c:spPr>
            <a:solidFill>
              <a:srgbClr val="7A5BC2"/>
            </a:solidFill>
            <a:ln w="31750" cap="flat">
              <a:solidFill>
                <a:srgbClr val="7A5BC2"/>
              </a:solidFill>
              <a:prstDash val="solid"/>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circle"/>
            <c:size val="6"/>
            <c:spPr>
              <a:solidFill>
                <a:srgbClr val="7A5BC2"/>
              </a:solidFill>
              <a:ln w="9525" cap="flat">
                <a:solidFill>
                  <a:srgbClr val="7A5BC2"/>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Sheet1!$B$2:$B$13</c:f>
              <c:numCache>
                <c:formatCode>General</c:formatCode>
                <c:ptCount val="12"/>
                <c:pt idx="0">
                  <c:v>0.02</c:v>
                </c:pt>
                <c:pt idx="1">
                  <c:v>0.03</c:v>
                </c:pt>
                <c:pt idx="2">
                  <c:v>0.09</c:v>
                </c:pt>
                <c:pt idx="3">
                  <c:v>0.1</c:v>
                </c:pt>
                <c:pt idx="4">
                  <c:v>0.18</c:v>
                </c:pt>
                <c:pt idx="5">
                  <c:v>0.26</c:v>
                </c:pt>
                <c:pt idx="6">
                  <c:v>0.28</c:v>
                </c:pt>
                <c:pt idx="7">
                  <c:v>0.26</c:v>
                </c:pt>
                <c:pt idx="8">
                  <c:v>0.3</c:v>
                </c:pt>
                <c:pt idx="9">
                  <c:v>0.39</c:v>
                </c:pt>
                <c:pt idx="10">
                  <c:v>0.43</c:v>
                </c:pt>
                <c:pt idx="11">
                  <c:v>0.38</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OL, any-of-11 (published rule)</c:v>
                </c:pt>
              </c:strCache>
            </c:strRef>
          </c:tx>
          <c:spPr>
            <a:solidFill>
              <a:srgbClr val="CBBEE8"/>
            </a:solidFill>
            <a:ln w="25400" cap="flat">
              <a:solidFill>
                <a:srgbClr val="CBBEE8"/>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CBBEE8"/>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Sheet1!$C$2:$C$13</c:f>
              <c:numCache>
                <c:formatCode>General</c:formatCode>
                <c:ptCount val="12"/>
                <c:pt idx="0">
                  <c:v>0.65</c:v>
                </c:pt>
                <c:pt idx="1">
                  <c:v>0.65</c:v>
                </c:pt>
                <c:pt idx="2">
                  <c:v>0.65</c:v>
                </c:pt>
                <c:pt idx="3">
                  <c:v>0.65</c:v>
                </c:pt>
                <c:pt idx="4">
                  <c:v>0.65</c:v>
                </c:pt>
                <c:pt idx="5">
                  <c:v>0.65</c:v>
                </c:pt>
                <c:pt idx="6">
                  <c:v>0.65</c:v>
                </c:pt>
                <c:pt idx="7">
                  <c:v>0.65</c:v>
                </c:pt>
                <c:pt idx="8">
                  <c:v>0.65</c:v>
                </c:pt>
                <c:pt idx="9">
                  <c:v>0.65</c:v>
                </c:pt>
                <c:pt idx="10">
                  <c:v>0.65</c:v>
                </c:pt>
                <c:pt idx="11">
                  <c:v>0.65</c:v>
                </c:pt>
              </c:numCache>
            </c:numRef>
          </c:val>
          <c:smooth val="0"/>
        </c:ser>
        <c:ser>
          <c:idx val="2"/>
          <c:order val="2"/>
          <c:tx>
            <c:strRef>
              <c:f>Sheet1!$D$1</c:f>
              <c:strCache>
                <c:ptCount val="1"/>
                <c:pt idx="0">
                  <c:v>NLA, layer 42 only</c:v>
                </c:pt>
              </c:strCache>
            </c:strRef>
          </c:tx>
          <c:spPr>
            <a:solidFill>
              <a:srgbClr val="E2553A"/>
            </a:solidFill>
            <a:ln w="25400" cap="flat">
              <a:solidFill>
                <a:srgbClr val="E2553A"/>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E2553A"/>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Sheet1!$D$2:$D$13</c:f>
              <c:numCache>
                <c:formatCode>General</c:formatCode>
                <c:ptCount val="12"/>
                <c:pt idx="0">
                  <c:v>0.42</c:v>
                </c:pt>
                <c:pt idx="1">
                  <c:v>0.42</c:v>
                </c:pt>
                <c:pt idx="2">
                  <c:v>0.42</c:v>
                </c:pt>
                <c:pt idx="3">
                  <c:v>0.42</c:v>
                </c:pt>
                <c:pt idx="4">
                  <c:v>0.42</c:v>
                </c:pt>
                <c:pt idx="5">
                  <c:v>0.42</c:v>
                </c:pt>
                <c:pt idx="6">
                  <c:v>0.42</c:v>
                </c:pt>
                <c:pt idx="7">
                  <c:v>0.42</c:v>
                </c:pt>
                <c:pt idx="8">
                  <c:v>0.42</c:v>
                </c:pt>
                <c:pt idx="9">
                  <c:v>0.42</c:v>
                </c:pt>
                <c:pt idx="10">
                  <c:v>0.42</c:v>
                </c:pt>
                <c:pt idx="11">
                  <c:v>0.42</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E78"/>
                    </a:solidFill>
                    <a:latin typeface="Arial"/>
                  </a:defRPr>
                </a:pPr>
                <a:r>
                  <a:rPr sz="1100" b="0" i="0" u="none" strike="noStrike">
                    <a:solidFill>
                      <a:srgbClr val="5E6E78"/>
                    </a:solidFill>
                    <a:latin typeface="Arial"/>
                  </a:rPr>
                  <a:t>Oracle Lens layer</a:t>
                </a:r>
              </a:p>
            </c:rich>
          </c:tx>
          <c:layout/>
          <c:overlay val="0"/>
        </c:title>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3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basic readout</a:t>
            </a:r>
          </a:p>
        </c:rich>
      </c:tx>
      <c:layout/>
      <c:overlay val="0"/>
    </c:title>
    <c:autoTitleDeleted val="0"/>
    <c:plotArea>
      <c:layout/>
      <c:lineChart>
        <c:varyColors val="0"/>
        <c:ser>
          <c:idx val="0"/>
          <c:order val="0"/>
          <c:tx>
            <c:strRef>
              <c:f>Sheet1!$B$1</c:f>
              <c:strCache>
                <c:ptCount val="1"/>
                <c:pt idx="0">
                  <c:v>OL, per layer</c:v>
                </c:pt>
              </c:strCache>
            </c:strRef>
          </c:tx>
          <c:spPr>
            <a:solidFill>
              <a:srgbClr val="7A5BC2"/>
            </a:solidFill>
            <a:ln w="31750" cap="flat">
              <a:solidFill>
                <a:srgbClr val="7A5BC2"/>
              </a:solidFill>
              <a:prstDash val="solid"/>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circle"/>
            <c:size val="6"/>
            <c:spPr>
              <a:solidFill>
                <a:srgbClr val="7A5BC2"/>
              </a:solidFill>
              <a:ln w="9525" cap="flat">
                <a:solidFill>
                  <a:srgbClr val="7A5BC2"/>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Sheet1!$B$2:$B$13</c:f>
              <c:numCache>
                <c:formatCode>General</c:formatCode>
                <c:ptCount val="12"/>
                <c:pt idx="0">
                  <c:v>0.22</c:v>
                </c:pt>
                <c:pt idx="1">
                  <c:v>0.23</c:v>
                </c:pt>
                <c:pt idx="2">
                  <c:v>0.27</c:v>
                </c:pt>
                <c:pt idx="3">
                  <c:v>0.3</c:v>
                </c:pt>
                <c:pt idx="4">
                  <c:v>0.43</c:v>
                </c:pt>
                <c:pt idx="5">
                  <c:v>0.42</c:v>
                </c:pt>
                <c:pt idx="6">
                  <c:v>0.45</c:v>
                </c:pt>
                <c:pt idx="7">
                  <c:v>0.48</c:v>
                </c:pt>
                <c:pt idx="8">
                  <c:v>0.46</c:v>
                </c:pt>
                <c:pt idx="9">
                  <c:v>0.58</c:v>
                </c:pt>
                <c:pt idx="10">
                  <c:v>0.62</c:v>
                </c:pt>
                <c:pt idx="11">
                  <c:v>0.61</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OL, any-of-11 (published rule)</c:v>
                </c:pt>
              </c:strCache>
            </c:strRef>
          </c:tx>
          <c:spPr>
            <a:solidFill>
              <a:srgbClr val="CBBEE8"/>
            </a:solidFill>
            <a:ln w="25400" cap="flat">
              <a:solidFill>
                <a:srgbClr val="CBBEE8"/>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CBBEE8"/>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Sheet1!$C$2:$C$13</c:f>
              <c:numCache>
                <c:formatCode>General</c:formatCode>
                <c:ptCount val="12"/>
                <c:pt idx="0">
                  <c:v>0.73</c:v>
                </c:pt>
                <c:pt idx="1">
                  <c:v>0.73</c:v>
                </c:pt>
                <c:pt idx="2">
                  <c:v>0.73</c:v>
                </c:pt>
                <c:pt idx="3">
                  <c:v>0.73</c:v>
                </c:pt>
                <c:pt idx="4">
                  <c:v>0.73</c:v>
                </c:pt>
                <c:pt idx="5">
                  <c:v>0.73</c:v>
                </c:pt>
                <c:pt idx="6">
                  <c:v>0.73</c:v>
                </c:pt>
                <c:pt idx="7">
                  <c:v>0.73</c:v>
                </c:pt>
                <c:pt idx="8">
                  <c:v>0.73</c:v>
                </c:pt>
                <c:pt idx="9">
                  <c:v>0.73</c:v>
                </c:pt>
                <c:pt idx="10">
                  <c:v>0.73</c:v>
                </c:pt>
                <c:pt idx="11">
                  <c:v>0.73</c:v>
                </c:pt>
              </c:numCache>
            </c:numRef>
          </c:val>
          <c:smooth val="0"/>
        </c:ser>
        <c:ser>
          <c:idx val="2"/>
          <c:order val="2"/>
          <c:tx>
            <c:strRef>
              <c:f>Sheet1!$D$1</c:f>
              <c:strCache>
                <c:ptCount val="1"/>
                <c:pt idx="0">
                  <c:v>NLA, layer 42 only</c:v>
                </c:pt>
              </c:strCache>
            </c:strRef>
          </c:tx>
          <c:spPr>
            <a:solidFill>
              <a:srgbClr val="E2553A"/>
            </a:solidFill>
            <a:ln w="25400" cap="flat">
              <a:solidFill>
                <a:srgbClr val="E2553A"/>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E2553A"/>
                </a:solidFill>
                <a:prstDash val="solid"/>
                <a:round/>
              </a:ln>
              <a:effectLst/>
            </c:spPr>
          </c:marker>
          <c:cat>
            <c:multiLvlStrRef>
              <c:f>Sheet1!$A$2:$A$13</c:f>
              <c:multiLvlStrCache>
                <c:ptCount val="12"/>
                <c:lvl>
                  <c:pt idx="0">
                    <c:v>20</c:v>
                  </c:pt>
                  <c:pt idx="1">
                    <c:v>24</c:v>
                  </c:pt>
                  <c:pt idx="2">
                    <c:v>28</c:v>
                  </c:pt>
                  <c:pt idx="3">
                    <c:v>32</c:v>
                  </c:pt>
                  <c:pt idx="4">
                    <c:v>36</c:v>
                  </c:pt>
                  <c:pt idx="5">
                    <c:v>40</c:v>
                  </c:pt>
                  <c:pt idx="6">
                    <c:v>42</c:v>
                  </c:pt>
                  <c:pt idx="7">
                    <c:v>44</c:v>
                  </c:pt>
                  <c:pt idx="8">
                    <c:v>48</c:v>
                  </c:pt>
                  <c:pt idx="9">
                    <c:v>52</c:v>
                  </c:pt>
                  <c:pt idx="10">
                    <c:v>56</c:v>
                  </c:pt>
                  <c:pt idx="11">
                    <c:v>60</c:v>
                  </c:pt>
                </c:lvl>
              </c:multiLvlStrCache>
            </c:multiLvlStrRef>
          </c:cat>
          <c:val>
            <c:numRef>
              <c:f>Sheet1!$D$2:$D$13</c:f>
              <c:numCache>
                <c:formatCode>General</c:formatCode>
                <c:ptCount val="12"/>
                <c:pt idx="0">
                  <c:v>0.57</c:v>
                </c:pt>
                <c:pt idx="1">
                  <c:v>0.57</c:v>
                </c:pt>
                <c:pt idx="2">
                  <c:v>0.57</c:v>
                </c:pt>
                <c:pt idx="3">
                  <c:v>0.57</c:v>
                </c:pt>
                <c:pt idx="4">
                  <c:v>0.57</c:v>
                </c:pt>
                <c:pt idx="5">
                  <c:v>0.57</c:v>
                </c:pt>
                <c:pt idx="6">
                  <c:v>0.57</c:v>
                </c:pt>
                <c:pt idx="7">
                  <c:v>0.57</c:v>
                </c:pt>
                <c:pt idx="8">
                  <c:v>0.57</c:v>
                </c:pt>
                <c:pt idx="9">
                  <c:v>0.57</c:v>
                </c:pt>
                <c:pt idx="10">
                  <c:v>0.57</c:v>
                </c:pt>
                <c:pt idx="11">
                  <c:v>0.57</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E78"/>
                    </a:solidFill>
                    <a:latin typeface="Arial"/>
                  </a:defRPr>
                </a:pPr>
                <a:r>
                  <a:rPr sz="1100" b="0" i="0" u="none" strike="noStrike">
                    <a:solidFill>
                      <a:srgbClr val="5E6E78"/>
                    </a:solidFill>
                    <a:latin typeface="Arial"/>
                  </a:rPr>
                  <a:t>Oracle Lens layer</a:t>
                </a:r>
              </a:p>
            </c:rich>
          </c:tx>
          <c:layout/>
          <c:overlay val="0"/>
        </c:title>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3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Every feature keeps ≥ 98% of probe performance; J-removal ≈ random removal (±0.02)</a:t>
            </a:r>
          </a:p>
        </c:rich>
      </c:tx>
      <c:layout/>
      <c:overlay val="0"/>
    </c:title>
    <c:autoTitleDeleted val="0"/>
    <c:plotArea>
      <c:layout/>
      <c:barChart>
        <c:barDir val="col"/>
        <c:grouping val="clustered"/>
        <c:varyColors val="0"/>
        <c:ser>
          <c:idx val="0"/>
          <c:order val="0"/>
          <c:tx>
            <c:strRef>
              <c:f>Sheet1!$B$1</c:f>
              <c:strCache>
                <c:ptCount val="1"/>
                <c:pt idx="0">
                  <c:v>remove top-384 J-space</c:v>
                </c:pt>
              </c:strCache>
            </c:strRef>
          </c:tx>
          <c:spPr>
            <a:solidFill>
              <a:srgbClr val="0F9D8A"/>
            </a:solidFill>
            <a:effectLst/>
          </c:spPr>
          <c:invertIfNegative val="0"/>
          <c:dLbls>
            <c:numFmt formatCode="0.00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cat>
            <c:multiLvlStrRef>
              <c:f>Sheet1!$A$2:$A$8</c:f>
              <c:multiLvlStrCache>
                <c:ptCount val="7"/>
                <c:lvl>
                  <c:pt idx="0">
                    <c:v>col</c:v>
                  </c:pt>
                  <c:pt idx="1">
                    <c:v>col_report</c:v>
                  </c:pt>
                  <c:pt idx="2">
                    <c:v>bracket depth</c:v>
                  </c:pt>
                  <c:pt idx="3">
                    <c:v>pred. POS</c:v>
                  </c:pt>
                  <c:pt idx="4">
                    <c:v>tense</c:v>
                  </c:pt>
                  <c:pt idx="5">
                    <c:v>language</c:v>
                  </c:pt>
                  <c:pt idx="6">
                    <c:v>topic</c:v>
                  </c:pt>
                </c:lvl>
              </c:multiLvlStrCache>
            </c:multiLvlStrRef>
          </c:cat>
          <c:val>
            <c:numRef>
              <c:f>Sheet1!$B$2:$B$8</c:f>
              <c:numCache>
                <c:formatCode>General</c:formatCode>
                <c:ptCount val="7"/>
                <c:pt idx="0">
                  <c:v>0.005</c:v>
                </c:pt>
                <c:pt idx="1">
                  <c:v>0.001</c:v>
                </c:pt>
                <c:pt idx="2">
                  <c:v>0</c:v>
                </c:pt>
                <c:pt idx="3">
                  <c:v>0.005</c:v>
                </c:pt>
                <c:pt idx="4">
                  <c:v>0.005</c:v>
                </c:pt>
                <c:pt idx="5">
                  <c:v>0.003</c:v>
                </c:pt>
                <c:pt idx="6">
                  <c:v>-0.009</c:v>
                </c:pt>
              </c:numCache>
            </c:numRef>
          </c:val>
        </c:ser>
        <c:ser>
          <c:idx val="1"/>
          <c:order val="1"/>
          <c:tx>
            <c:strRef>
              <c:f>Sheet1!$C$1</c:f>
              <c:strCache>
                <c:ptCount val="1"/>
                <c:pt idx="0">
                  <c:v>remove top-1,536 J-space</c:v>
                </c:pt>
              </c:strCache>
            </c:strRef>
          </c:tx>
          <c:spPr>
            <a:solidFill>
              <a:srgbClr val="9FD9CF"/>
            </a:solidFill>
            <a:effectLst/>
          </c:spPr>
          <c:invertIfNegative val="0"/>
          <c:dLbls>
            <c:numFmt formatCode="0.00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cat>
            <c:multiLvlStrRef>
              <c:f>Sheet1!$A$2:$A$8</c:f>
              <c:multiLvlStrCache>
                <c:ptCount val="7"/>
                <c:lvl>
                  <c:pt idx="0">
                    <c:v>col</c:v>
                  </c:pt>
                  <c:pt idx="1">
                    <c:v>col_report</c:v>
                  </c:pt>
                  <c:pt idx="2">
                    <c:v>bracket depth</c:v>
                  </c:pt>
                  <c:pt idx="3">
                    <c:v>pred. POS</c:v>
                  </c:pt>
                  <c:pt idx="4">
                    <c:v>tense</c:v>
                  </c:pt>
                  <c:pt idx="5">
                    <c:v>language</c:v>
                  </c:pt>
                  <c:pt idx="6">
                    <c:v>topic</c:v>
                  </c:pt>
                </c:lvl>
              </c:multiLvlStrCache>
            </c:multiLvlStrRef>
          </c:cat>
          <c:val>
            <c:numRef>
              <c:f>Sheet1!$C$2:$C$8</c:f>
              <c:numCache>
                <c:formatCode>General</c:formatCode>
                <c:ptCount val="7"/>
                <c:pt idx="0">
                  <c:v>0.016</c:v>
                </c:pt>
                <c:pt idx="1">
                  <c:v>0.003</c:v>
                </c:pt>
                <c:pt idx="2">
                  <c:v>0</c:v>
                </c:pt>
                <c:pt idx="3">
                  <c:v>-0.013</c:v>
                </c:pt>
                <c:pt idx="4">
                  <c:v>-0.013</c:v>
                </c:pt>
                <c:pt idx="5">
                  <c:v>0</c:v>
                </c:pt>
                <c:pt idx="6">
                  <c:v>-0.019</c:v>
                </c:pt>
              </c:numCache>
            </c:numRef>
          </c:val>
        </c:ser>
        <c:dLbls>
          <c:numFmt formatCode="0.00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1"/>
          <c:min val="-0.1"/>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retention after J-removal minus retention after random removal</a:t>
                </a:r>
              </a:p>
            </c:rich>
          </c:tx>
          <c:layout/>
          <c:overlay val="0"/>
        </c:title>
        <c:numFmt formatCode="0.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enrichment at r* = 384</c:v>
                </c:pt>
              </c:strCache>
            </c:strRef>
          </c:tx>
          <c:spPr>
            <a:solidFill>
              <a:srgbClr val="0F9D8A"/>
            </a:solidFill>
            <a:effectLst/>
          </c:spPr>
          <c:invertIfNegative val="0"/>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Sheet1!$A$2:$A$8</c:f>
              <c:multiLvlStrCache>
                <c:ptCount val="7"/>
                <c:lvl>
                  <c:pt idx="0">
                    <c:v>col</c:v>
                  </c:pt>
                  <c:pt idx="1">
                    <c:v>col_report</c:v>
                  </c:pt>
                  <c:pt idx="2">
                    <c:v>bracket depth</c:v>
                  </c:pt>
                  <c:pt idx="3">
                    <c:v>pred. POS</c:v>
                  </c:pt>
                  <c:pt idx="4">
                    <c:v>tense</c:v>
                  </c:pt>
                  <c:pt idx="5">
                    <c:v>language</c:v>
                  </c:pt>
                  <c:pt idx="6">
                    <c:v>topic</c:v>
                  </c:pt>
                </c:lvl>
              </c:multiLvlStrCache>
            </c:multiLvlStrRef>
          </c:cat>
          <c:val>
            <c:numRef>
              <c:f>Sheet1!$B$2:$B$8</c:f>
              <c:numCache>
                <c:formatCode>General</c:formatCode>
                <c:ptCount val="7"/>
                <c:pt idx="0">
                  <c:v>0.67</c:v>
                </c:pt>
                <c:pt idx="1">
                  <c:v>0.59</c:v>
                </c:pt>
                <c:pt idx="2">
                  <c:v>0.57</c:v>
                </c:pt>
                <c:pt idx="3">
                  <c:v>2.62</c:v>
                </c:pt>
                <c:pt idx="4">
                  <c:v>5.6</c:v>
                </c:pt>
                <c:pt idx="5">
                  <c:v>3.32</c:v>
                </c:pt>
                <c:pt idx="6">
                  <c:v>5.98</c:v>
                </c:pt>
              </c:numCache>
            </c:numRef>
          </c:val>
        </c:ser>
        <c:ser>
          <c:idx val="1"/>
          <c:order val="1"/>
          <c:tx>
            <c:strRef>
              <c:f>Sheet1!$C$1</c:f>
              <c:strCache>
                <c:ptCount val="1"/>
                <c:pt idx="0">
                  <c:v>enrichment at 4r* = 1,536</c:v>
                </c:pt>
              </c:strCache>
            </c:strRef>
          </c:tx>
          <c:spPr>
            <a:solidFill>
              <a:srgbClr val="9FD9CF"/>
            </a:solidFill>
            <a:effectLst/>
          </c:spPr>
          <c:invertIfNegative val="0"/>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Sheet1!$A$2:$A$8</c:f>
              <c:multiLvlStrCache>
                <c:ptCount val="7"/>
                <c:lvl>
                  <c:pt idx="0">
                    <c:v>col</c:v>
                  </c:pt>
                  <c:pt idx="1">
                    <c:v>col_report</c:v>
                  </c:pt>
                  <c:pt idx="2">
                    <c:v>bracket depth</c:v>
                  </c:pt>
                  <c:pt idx="3">
                    <c:v>pred. POS</c:v>
                  </c:pt>
                  <c:pt idx="4">
                    <c:v>tense</c:v>
                  </c:pt>
                  <c:pt idx="5">
                    <c:v>language</c:v>
                  </c:pt>
                  <c:pt idx="6">
                    <c:v>topic</c:v>
                  </c:pt>
                </c:lvl>
              </c:multiLvlStrCache>
            </c:multiLvlStrRef>
          </c:cat>
          <c:val>
            <c:numRef>
              <c:f>Sheet1!$C$2:$C$8</c:f>
              <c:numCache>
                <c:formatCode>General</c:formatCode>
                <c:ptCount val="7"/>
                <c:pt idx="0">
                  <c:v>1.1</c:v>
                </c:pt>
                <c:pt idx="1">
                  <c:v>0.86</c:v>
                </c:pt>
                <c:pt idx="2">
                  <c:v>1.16</c:v>
                </c:pt>
                <c:pt idx="3">
                  <c:v>1.56</c:v>
                </c:pt>
                <c:pt idx="4">
                  <c:v>2.31</c:v>
                </c:pt>
                <c:pt idx="5">
                  <c:v>1.73</c:v>
                </c:pt>
                <c:pt idx="6">
                  <c:v>2.34</c:v>
                </c:pt>
              </c:numCache>
            </c:numRef>
          </c:val>
        </c:ser>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lineChart>
        <c:varyColors val="0"/>
        <c:ser>
          <c:idx val="2"/>
          <c:order val="2"/>
          <c:tx>
            <c:strRef>
              <c:f>Sheet1!$D$1</c:f>
              <c:strCache>
                <c:ptCount val="1"/>
                <c:pt idx="0">
                  <c:v>non-J threshold (1.5)</c:v>
                </c:pt>
              </c:strCache>
            </c:strRef>
          </c:tx>
          <c:spPr>
            <a:solidFill>
              <a:srgbClr val="E2553A"/>
            </a:solidFill>
            <a:ln w="19050" cap="flat">
              <a:solidFill>
                <a:srgbClr val="E2553A"/>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E2553A"/>
                </a:solidFill>
                <a:prstDash val="solid"/>
                <a:round/>
              </a:ln>
              <a:effectLst/>
            </c:spPr>
          </c:marker>
          <c:cat>
            <c:multiLvlStrRef>
              <c:f>Sheet1!$A$2:$A$8</c:f>
              <c:multiLvlStrCache>
                <c:ptCount val="7"/>
                <c:lvl>
                  <c:pt idx="0">
                    <c:v>col</c:v>
                  </c:pt>
                  <c:pt idx="1">
                    <c:v>col_report</c:v>
                  </c:pt>
                  <c:pt idx="2">
                    <c:v>bracket depth</c:v>
                  </c:pt>
                  <c:pt idx="3">
                    <c:v>pred. POS</c:v>
                  </c:pt>
                  <c:pt idx="4">
                    <c:v>tense</c:v>
                  </c:pt>
                  <c:pt idx="5">
                    <c:v>language</c:v>
                  </c:pt>
                  <c:pt idx="6">
                    <c:v>topic</c:v>
                  </c:pt>
                </c:lvl>
              </c:multiLvlStrCache>
            </c:multiLvlStrRef>
          </c:cat>
          <c:val>
            <c:numRef>
              <c:f>Sheet1!$D$2:$D$8</c:f>
              <c:numCache>
                <c:formatCode>General</c:formatCode>
                <c:ptCount val="7"/>
                <c:pt idx="0">
                  <c:v>1.5</c:v>
                </c:pt>
                <c:pt idx="1">
                  <c:v>1.5</c:v>
                </c:pt>
                <c:pt idx="2">
                  <c:v>1.5</c:v>
                </c:pt>
                <c:pt idx="3">
                  <c:v>1.5</c:v>
                </c:pt>
                <c:pt idx="4">
                  <c:v>1.5</c:v>
                </c:pt>
                <c:pt idx="5">
                  <c:v>1.5</c:v>
                </c:pt>
                <c:pt idx="6">
                  <c:v>1.5</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diff-in-means energy in top-r J-space ÷ random (1.0 = random)</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Share of the steering effect that survives J-removal</a:t>
            </a:r>
          </a:p>
        </c:rich>
      </c:tx>
      <c:layout/>
      <c:overlay val="0"/>
    </c:title>
    <c:autoTitleDeleted val="0"/>
    <c:plotArea>
      <c:layout/>
      <c:barChart>
        <c:barDir val="col"/>
        <c:grouping val="clustered"/>
        <c:varyColors val="0"/>
        <c:ser>
          <c:idx val="0"/>
          <c:order val="0"/>
          <c:tx>
            <c:strRef>
              <c:f>Sheet1!$B$1</c:f>
              <c:strCache>
                <c:ptCount val="1"/>
                <c:pt idx="0">
                  <c:v>causal effect kept after removing the top-1,536 J-space</c:v>
                </c:pt>
              </c:strCache>
            </c:strRef>
          </c:tx>
          <c:spPr>
            <a:solidFill>
              <a:srgbClr val="15222C"/>
            </a:solidFill>
            <a:effectLst/>
          </c:spPr>
          <c:invertIfNegative val="0"/>
          <c:dLbls>
            <c:numFmt formatCode="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dPt>
            <c:idx val="0"/>
            <c:invertIfNegative val="0"/>
            <c:bubble3D val="0"/>
            <c:spPr>
              <a:solidFill>
                <a:srgbClr val="15222C"/>
              </a:solidFill>
              <a:effectLst/>
            </c:spPr>
          </c:dPt>
          <c:dPt>
            <c:idx val="1"/>
            <c:invertIfNegative val="0"/>
            <c:bubble3D val="0"/>
            <c:spPr>
              <a:solidFill>
                <a:srgbClr val="5E6E78"/>
              </a:solidFill>
              <a:effectLst/>
            </c:spPr>
          </c:dPt>
          <c:dPt>
            <c:idx val="2"/>
            <c:invertIfNegative val="0"/>
            <c:bubble3D val="0"/>
            <c:spPr>
              <a:solidFill>
                <a:srgbClr val="5E6E78"/>
              </a:solidFill>
              <a:effectLst/>
            </c:spPr>
          </c:dPt>
          <c:dPt>
            <c:idx val="3"/>
            <c:invertIfNegative val="0"/>
            <c:bubble3D val="0"/>
            <c:spPr>
              <a:solidFill>
                <a:srgbClr val="5E6E78"/>
              </a:solidFill>
              <a:effectLst/>
            </c:spPr>
          </c:dPt>
          <c:dPt>
            <c:idx val="4"/>
            <c:invertIfNegative val="0"/>
            <c:bubble3D val="0"/>
            <c:spPr>
              <a:solidFill>
                <a:srgbClr val="5E6E78"/>
              </a:solidFill>
              <a:effectLst/>
            </c:spPr>
          </c:dPt>
          <c:dPt>
            <c:idx val="5"/>
            <c:invertIfNegative val="0"/>
            <c:bubble3D val="0"/>
            <c:spPr>
              <a:solidFill>
                <a:srgbClr val="5E6E78"/>
              </a:solidFill>
              <a:effectLst/>
            </c:spPr>
          </c:dPt>
          <c:cat>
            <c:multiLvlStrRef>
              <c:f>Sheet1!$A$2:$A$7</c:f>
              <c:multiLvlStrCache>
                <c:ptCount val="6"/>
                <c:lvl>
                  <c:pt idx="0">
                    <c:v>col (02)</c:v>
                  </c:pt>
                  <c:pt idx="1">
                    <c:v>code language</c:v>
                  </c:pt>
                  <c:pt idx="2">
                    <c:v>capitalisation</c:v>
                  </c:pt>
                  <c:pt idx="3">
                    <c:v>in-quote state</c:v>
                  </c:pt>
                  <c:pt idx="4">
                    <c:v>words since sentence start</c:v>
                  </c:pt>
                  <c:pt idx="5">
                    <c:v>French gender agreement</c:v>
                  </c:pt>
                </c:lvl>
              </c:multiLvlStrCache>
            </c:multiLvlStrRef>
          </c:cat>
          <c:val>
            <c:numRef>
              <c:f>Sheet1!$B$2:$B$7</c:f>
              <c:numCache>
                <c:formatCode>General</c:formatCode>
                <c:ptCount val="6"/>
                <c:pt idx="0">
                  <c:v>0.79</c:v>
                </c:pt>
                <c:pt idx="1">
                  <c:v>0.23</c:v>
                </c:pt>
                <c:pt idx="2">
                  <c:v>0.21</c:v>
                </c:pt>
                <c:pt idx="3">
                  <c:v>0.2</c:v>
                </c:pt>
                <c:pt idx="4">
                  <c:v>0.18</c:v>
                </c:pt>
                <c:pt idx="5">
                  <c:v>0.12</c:v>
                </c:pt>
              </c:numCache>
            </c:numRef>
          </c:val>
        </c:ser>
        <c:dLbls>
          <c:numFmt formatCode="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Steering effect that survives J-removal (layer 42, q99)</a:t>
            </a:r>
          </a:p>
        </c:rich>
      </c:tx>
      <c:layout/>
      <c:overlay val="0"/>
    </c:title>
    <c:autoTitleDeleted val="0"/>
    <c:plotArea>
      <c:layout/>
      <c:barChart>
        <c:barDir val="col"/>
        <c:grouping val="clustered"/>
        <c:varyColors val="0"/>
        <c:ser>
          <c:idx val="0"/>
          <c:order val="0"/>
          <c:tx>
            <c:strRef>
              <c:f>Sheet1!$B$1</c:f>
              <c:strCache>
                <c:ptCount val="1"/>
                <c:pt idx="0">
                  <c:v>causal effect kept after removing the top-1,536 J-space</c:v>
                </c:pt>
              </c:strCache>
            </c:strRef>
          </c:tx>
          <c:spPr>
            <a:solidFill>
              <a:srgbClr val="15222C"/>
            </a:solidFill>
            <a:effectLst/>
          </c:spPr>
          <c:invertIfNegative val="0"/>
          <c:dLbls>
            <c:numFmt formatCode="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dPt>
            <c:idx val="0"/>
            <c:invertIfNegative val="0"/>
            <c:bubble3D val="0"/>
            <c:spPr>
              <a:solidFill>
                <a:srgbClr val="15222C"/>
              </a:solidFill>
              <a:effectLst/>
            </c:spPr>
          </c:dPt>
          <c:dPt>
            <c:idx val="1"/>
            <c:invertIfNegative val="0"/>
            <c:bubble3D val="0"/>
            <c:spPr>
              <a:solidFill>
                <a:srgbClr val="5E6E78"/>
              </a:solidFill>
              <a:effectLst/>
            </c:spPr>
          </c:dPt>
          <c:dPt>
            <c:idx val="2"/>
            <c:invertIfNegative val="0"/>
            <c:bubble3D val="0"/>
            <c:spPr>
              <a:solidFill>
                <a:srgbClr val="0F9D8A"/>
              </a:solidFill>
              <a:effectLst/>
            </c:spPr>
          </c:dPt>
          <c:dPt>
            <c:idx val="3"/>
            <c:invertIfNegative val="0"/>
            <c:bubble3D val="0"/>
            <c:spPr>
              <a:solidFill>
                <a:srgbClr val="0F9D8A"/>
              </a:solidFill>
              <a:effectLst/>
            </c:spPr>
          </c:dPt>
          <c:dPt>
            <c:idx val="4"/>
            <c:invertIfNegative val="0"/>
            <c:bubble3D val="0"/>
            <c:spPr>
              <a:solidFill>
                <a:srgbClr val="0F9D8A"/>
              </a:solidFill>
              <a:effectLst/>
            </c:spPr>
          </c:dPt>
          <c:cat>
            <c:multiLvlStrRef>
              <c:f>Sheet1!$A$2:$A$6</c:f>
              <c:multiLvlStrCache>
                <c:ptCount val="5"/>
                <c:lvl>
                  <c:pt idx="0">
                    <c:v>col</c:v>
                  </c:pt>
                  <c:pt idx="1">
                    <c:v>bracket depth</c:v>
                  </c:pt>
                  <c:pt idx="2">
                    <c:v>pred. POS</c:v>
                  </c:pt>
                  <c:pt idx="3">
                    <c:v>tense</c:v>
                  </c:pt>
                  <c:pt idx="4">
                    <c:v>language</c:v>
                  </c:pt>
                </c:lvl>
              </c:multiLvlStrCache>
            </c:multiLvlStrRef>
          </c:cat>
          <c:val>
            <c:numRef>
              <c:f>Sheet1!$B$2:$B$6</c:f>
              <c:numCache>
                <c:formatCode>General</c:formatCode>
                <c:ptCount val="5"/>
                <c:pt idx="0">
                  <c:v>0.79</c:v>
                </c:pt>
                <c:pt idx="1">
                  <c:v>0.41</c:v>
                </c:pt>
                <c:pt idx="2">
                  <c:v>0.33</c:v>
                </c:pt>
                <c:pt idx="3">
                  <c:v>0.19</c:v>
                </c:pt>
                <c:pt idx="4">
                  <c:v>0.05</c:v>
                </c:pt>
              </c:numCache>
            </c:numRef>
          </c:val>
        </c:ser>
        <c:dLbls>
          <c:numFmt formatCode="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Toy: J-removed language direction (FR/DE, n = 40 pairs), q99, layer 42</a:t>
            </a:r>
          </a:p>
        </c:rich>
      </c:tx>
      <c:layout/>
      <c:overlay val="0"/>
    </c:title>
    <c:autoTitleDeleted val="0"/>
    <c:plotArea>
      <c:layout/>
      <c:barChart>
        <c:barDir val="col"/>
        <c:grouping val="clustered"/>
        <c:varyColors val="0"/>
        <c:ser>
          <c:idx val="0"/>
          <c:order val="0"/>
          <c:tx>
            <c:strRef>
              <c:f>Sheet1!$B$1</c:f>
              <c:strCache>
                <c:ptCount val="1"/>
                <c:pt idx="0">
                  <c:v>additive ±Δ (original)</c:v>
                </c:pt>
              </c:strCache>
            </c:strRef>
          </c:tx>
          <c:spPr>
            <a:solidFill>
              <a:srgbClr val="C9D3D9"/>
            </a:solidFill>
            <a:effectLst/>
          </c:spPr>
          <c:invertIfNegative val="0"/>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Oracle Lens</c:v>
                  </c:pt>
                  <c:pt idx="1">
                    <c:v>NLA</c:v>
                  </c:pt>
                  <c:pt idx="2">
                    <c:v>J-Lens</c:v>
                  </c:pt>
                </c:lvl>
              </c:multiLvlStrCache>
            </c:multiLvlStrRef>
          </c:cat>
          <c:val>
            <c:numRef>
              <c:f>Sheet1!$B$2:$B$4</c:f>
              <c:numCache>
                <c:formatCode>General</c:formatCode>
                <c:ptCount val="3"/>
                <c:pt idx="0">
                  <c:v>0.45</c:v>
                </c:pt>
                <c:pt idx="1">
                  <c:v>0.6</c:v>
                </c:pt>
                <c:pt idx="2">
                  <c:v>0.46</c:v>
                </c:pt>
              </c:numCache>
            </c:numRef>
          </c:val>
        </c:ser>
        <c:ser>
          <c:idx val="1"/>
          <c:order val="1"/>
          <c:tx>
            <c:strRef>
              <c:f>Sheet1!$C$1</c:f>
              <c:strCache>
                <c:ptCount val="1"/>
                <c:pt idx="0">
                  <c:v>centred ±Δ (equal norm)</c:v>
                </c:pt>
              </c:strCache>
            </c:strRef>
          </c:tx>
          <c:spPr>
            <a:solidFill>
              <a:srgbClr val="5E6E78"/>
            </a:solidFill>
            <a:effectLst/>
          </c:spPr>
          <c:invertIfNegative val="0"/>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Oracle Lens</c:v>
                  </c:pt>
                  <c:pt idx="1">
                    <c:v>NLA</c:v>
                  </c:pt>
                  <c:pt idx="2">
                    <c:v>J-Lens</c:v>
                  </c:pt>
                </c:lvl>
              </c:multiLvlStrCache>
            </c:multiLvlStrRef>
          </c:cat>
          <c:val>
            <c:numRef>
              <c:f>Sheet1!$C$2:$C$4</c:f>
              <c:numCache>
                <c:formatCode>General</c:formatCode>
                <c:ptCount val="3"/>
                <c:pt idx="0">
                  <c:v>0.49</c:v>
                </c:pt>
                <c:pt idx="1">
                  <c:v>0.62</c:v>
                </c:pt>
                <c:pt idx="2">
                  <c:v>0.46</c:v>
                </c:pt>
              </c:numCache>
            </c:numRef>
          </c:val>
        </c:ser>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lineChart>
        <c:varyColors val="0"/>
        <c:ser>
          <c:idx val="2"/>
          <c:order val="2"/>
          <c:tx>
            <c:strRef>
              <c:f>Sheet1!$D$1</c:f>
              <c:strCache>
                <c:ptCount val="1"/>
                <c:pt idx="0">
                  <c:v>chance</c:v>
                </c:pt>
              </c:strCache>
            </c:strRef>
          </c:tx>
          <c:spPr>
            <a:solidFill>
              <a:srgbClr val="E2553A"/>
            </a:solidFill>
            <a:ln w="19050" cap="flat">
              <a:solidFill>
                <a:srgbClr val="E2553A"/>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E2553A"/>
              </a:solidFill>
              <a:ln w="9525" cap="flat">
                <a:solidFill>
                  <a:srgbClr val="E2553A"/>
                </a:solidFill>
                <a:prstDash val="solid"/>
                <a:round/>
              </a:ln>
              <a:effectLst/>
            </c:spPr>
          </c:marker>
          <c:cat>
            <c:multiLvlStrRef>
              <c:f>Sheet1!$A$2:$A$4</c:f>
              <c:multiLvlStrCache>
                <c:ptCount val="3"/>
                <c:lvl>
                  <c:pt idx="0">
                    <c:v>Oracle Lens</c:v>
                  </c:pt>
                  <c:pt idx="1">
                    <c:v>NLA</c:v>
                  </c:pt>
                  <c:pt idx="2">
                    <c:v>J-Lens</c:v>
                  </c:pt>
                </c:lvl>
              </c:multiLvlStrCache>
            </c:multiLvlStrRef>
          </c:cat>
          <c:val>
            <c:numRef>
              <c:f>Sheet1!$D$2:$D$4</c:f>
              <c:numCache>
                <c:formatCode>General</c:formatCode>
                <c:ptCount val="3"/>
                <c:pt idx="0">
                  <c:v>0.5</c:v>
                </c:pt>
                <c:pt idx="1">
                  <c:v>0.5</c:v>
                </c:pt>
                <c:pt idx="2">
                  <c:v>0.5</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7"/>
          <c:min val="0.3"/>
        </c:scaling>
        <c:delete val="0"/>
        <c:axPos val="l"/>
        <c:majorGridlines>
          <c:spPr>
            <a:ln w="9525" cap="flat">
              <a:solidFill>
                <a:srgbClr val="E3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J-removed at r* (384; 256 at L44)</c:v>
                </c:pt>
              </c:strCache>
            </c:strRef>
          </c:tx>
          <c:spPr>
            <a:solidFill>
              <a:srgbClr val="0F9D8A"/>
            </a:solidFill>
            <a:effectLst/>
          </c:spPr>
          <c:invertIfNegative val="0"/>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layer 40</c:v>
                  </c:pt>
                  <c:pt idx="1">
                    <c:v>layer 42</c:v>
                  </c:pt>
                  <c:pt idx="2">
                    <c:v>layer 44</c:v>
                  </c:pt>
                </c:lvl>
              </c:multiLvlStrCache>
            </c:multiLvlStrRef>
          </c:cat>
          <c:val>
            <c:numRef>
              <c:f>Sheet1!$B$2:$B$4</c:f>
              <c:numCache>
                <c:formatCode>General</c:formatCode>
                <c:ptCount val="3"/>
                <c:pt idx="0">
                  <c:v>2.7</c:v>
                </c:pt>
                <c:pt idx="1">
                  <c:v>2.8</c:v>
                </c:pt>
                <c:pt idx="2">
                  <c:v>3</c:v>
                </c:pt>
              </c:numCache>
            </c:numRef>
          </c:val>
        </c:ser>
        <c:ser>
          <c:idx val="1"/>
          <c:order val="1"/>
          <c:tx>
            <c:strRef>
              <c:f>Sheet1!$C$1</c:f>
              <c:strCache>
                <c:ptCount val="1"/>
                <c:pt idx="0">
                  <c:v>J-removed at 4r* (1,536; 1,024 at L44)</c:v>
                </c:pt>
              </c:strCache>
            </c:strRef>
          </c:tx>
          <c:spPr>
            <a:solidFill>
              <a:srgbClr val="9FD9CF"/>
            </a:solidFill>
            <a:effectLst/>
          </c:spPr>
          <c:invertIfNegative val="0"/>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layer 40</c:v>
                  </c:pt>
                  <c:pt idx="1">
                    <c:v>layer 42</c:v>
                  </c:pt>
                  <c:pt idx="2">
                    <c:v>layer 44</c:v>
                  </c:pt>
                </c:lvl>
              </c:multiLvlStrCache>
            </c:multiLvlStrRef>
          </c:cat>
          <c:val>
            <c:numRef>
              <c:f>Sheet1!$C$2:$C$4</c:f>
              <c:numCache>
                <c:formatCode>General</c:formatCode>
                <c:ptCount val="3"/>
                <c:pt idx="0">
                  <c:v>-0.3</c:v>
                </c:pt>
                <c:pt idx="1">
                  <c:v>0.1</c:v>
                </c:pt>
                <c:pt idx="2">
                  <c:v>2.6</c:v>
                </c:pt>
              </c:numCache>
            </c:numRef>
          </c:val>
        </c:ser>
        <c:dLbls>
          <c:numFmt formatCode="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lineChart>
        <c:varyColors val="0"/>
        <c:ser>
          <c:idx val="2"/>
          <c:order val="2"/>
          <c:tx>
            <c:strRef>
              <c:f>Sheet1!$D$1</c:f>
              <c:strCache>
                <c:ptCount val="1"/>
                <c:pt idx="0">
                  <c:v>null band, upper (+1.96)</c:v>
                </c:pt>
              </c:strCache>
            </c:strRef>
          </c:tx>
          <c:spPr>
            <a:solidFill>
              <a:srgbClr val="C9D3D9"/>
            </a:solidFill>
            <a:ln w="19050" cap="flat">
              <a:solidFill>
                <a:srgbClr val="C9D3D9"/>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Sheet1!$A$2:$A$4</c:f>
              <c:multiLvlStrCache>
                <c:ptCount val="3"/>
                <c:lvl>
                  <c:pt idx="0">
                    <c:v>layer 40</c:v>
                  </c:pt>
                  <c:pt idx="1">
                    <c:v>layer 42</c:v>
                  </c:pt>
                  <c:pt idx="2">
                    <c:v>layer 44</c:v>
                  </c:pt>
                </c:lvl>
              </c:multiLvlStrCache>
            </c:multiLvlStrRef>
          </c:cat>
          <c:val>
            <c:numRef>
              <c:f>Sheet1!$D$2:$D$4</c:f>
              <c:numCache>
                <c:formatCode>General</c:formatCode>
                <c:ptCount val="3"/>
                <c:pt idx="0">
                  <c:v>1.96</c:v>
                </c:pt>
                <c:pt idx="1">
                  <c:v>1.96</c:v>
                </c:pt>
                <c:pt idx="2">
                  <c:v>1.96</c:v>
                </c:pt>
              </c:numCache>
            </c:numRef>
          </c:val>
          <c:smooth val="0"/>
        </c:ser>
        <c:ser>
          <c:idx val="3"/>
          <c:order val="3"/>
          <c:tx>
            <c:strRef>
              <c:f>Sheet1!$E$1</c:f>
              <c:strCache>
                <c:ptCount val="1"/>
                <c:pt idx="0">
                  <c:v>null band, lower (−1.96)</c:v>
                </c:pt>
              </c:strCache>
            </c:strRef>
          </c:tx>
          <c:spPr>
            <a:solidFill>
              <a:srgbClr val="C9D3D9"/>
            </a:solidFill>
            <a:ln w="19050" cap="flat">
              <a:solidFill>
                <a:srgbClr val="C9D3D9"/>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Sheet1!$A$2:$A$4</c:f>
              <c:multiLvlStrCache>
                <c:ptCount val="3"/>
                <c:lvl>
                  <c:pt idx="0">
                    <c:v>layer 40</c:v>
                  </c:pt>
                  <c:pt idx="1">
                    <c:v>layer 42</c:v>
                  </c:pt>
                  <c:pt idx="2">
                    <c:v>layer 44</c:v>
                  </c:pt>
                </c:lvl>
              </c:multiLvlStrCache>
            </c:multiLvlStrRef>
          </c:cat>
          <c:val>
            <c:numRef>
              <c:f>Sheet1!$E$2:$E$4</c:f>
              <c:numCache>
                <c:formatCode>General</c:formatCode>
                <c:ptCount val="3"/>
                <c:pt idx="0">
                  <c:v>-1.96</c:v>
                </c:pt>
                <c:pt idx="1">
                  <c:v>-1.96</c:v>
                </c:pt>
                <c:pt idx="2">
                  <c:v>-1.96</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4"/>
          <c:min val="-3"/>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J-Lens newline score shift, z vs J-complement band (q90)</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Leak-free cell: layer 42, centred, top-1,536 J-space removed, q90</a:t>
            </a:r>
          </a:p>
        </c:rich>
      </c:tx>
      <c:layout/>
      <c:overlay val="0"/>
    </c:title>
    <c:autoTitleDeleted val="0"/>
    <c:plotArea>
      <c:layout/>
      <c:barChart>
        <c:barDir val="col"/>
        <c:grouping val="clustered"/>
        <c:varyColors val="0"/>
        <c:ser>
          <c:idx val="0"/>
          <c:order val="0"/>
          <c:tx>
            <c:strRef>
              <c:f>Sheet1!$B$1</c:f>
              <c:strCache>
                <c:ptCount val="1"/>
                <c:pt idx="0">
                  <c:v>NLA</c:v>
                </c:pt>
              </c:strCache>
            </c:strRef>
          </c:tx>
          <c:spPr>
            <a:solidFill>
              <a:srgbClr val="E2553A"/>
            </a:solidFill>
            <a:effectLst/>
          </c:spPr>
          <c:invertIfNegative val="0"/>
          <c:dLbls>
            <c:numFmt formatCode="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'long line' (count, primary)</c:v>
                  </c:pt>
                  <c:pt idx="1">
                    <c:v>'about 60 characters' (count, numeric)</c:v>
                  </c:pt>
                  <c:pt idx="2">
                    <c:v>'line break coming' (decision)</c:v>
                  </c:pt>
                </c:lvl>
              </c:multiLvlStrCache>
            </c:multiLvlStrRef>
          </c:cat>
          <c:val>
            <c:numRef>
              <c:f>Sheet1!$B$2:$B$4</c:f>
              <c:numCache>
                <c:formatCode>General</c:formatCode>
                <c:ptCount val="3"/>
                <c:pt idx="0">
                  <c:v>0.6</c:v>
                </c:pt>
                <c:pt idx="1">
                  <c:v>1</c:v>
                </c:pt>
                <c:pt idx="2">
                  <c:v>0.6</c:v>
                </c:pt>
              </c:numCache>
            </c:numRef>
          </c:val>
        </c:ser>
        <c:ser>
          <c:idx val="1"/>
          <c:order val="1"/>
          <c:tx>
            <c:strRef>
              <c:f>Sheet1!$C$1</c:f>
              <c:strCache>
                <c:ptCount val="1"/>
                <c:pt idx="0">
                  <c:v>Oracle Lens</c:v>
                </c:pt>
              </c:strCache>
            </c:strRef>
          </c:tx>
          <c:spPr>
            <a:solidFill>
              <a:srgbClr val="7A5BC2"/>
            </a:solidFill>
            <a:effectLst/>
          </c:spPr>
          <c:invertIfNegative val="0"/>
          <c:dLbls>
            <c:numFmt formatCode="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'long line' (count, primary)</c:v>
                  </c:pt>
                  <c:pt idx="1">
                    <c:v>'about 60 characters' (count, numeric)</c:v>
                  </c:pt>
                  <c:pt idx="2">
                    <c:v>'line break coming' (decision)</c:v>
                  </c:pt>
                </c:lvl>
              </c:multiLvlStrCache>
            </c:multiLvlStrRef>
          </c:cat>
          <c:val>
            <c:numRef>
              <c:f>Sheet1!$C$2:$C$4</c:f>
              <c:numCache>
                <c:formatCode>General</c:formatCode>
                <c:ptCount val="3"/>
                <c:pt idx="0">
                  <c:v>-0.6</c:v>
                </c:pt>
                <c:pt idx="1">
                  <c:v>1.2</c:v>
                </c:pt>
                <c:pt idx="2">
                  <c:v>-0.3</c:v>
                </c:pt>
              </c:numCache>
            </c:numRef>
          </c:val>
        </c:ser>
        <c:ser>
          <c:idx val="2"/>
          <c:order val="2"/>
          <c:tx>
            <c:strRef>
              <c:f>Sheet1!$D$1</c:f>
              <c:strCache>
                <c:ptCount val="1"/>
                <c:pt idx="0">
                  <c:v>J-Lens (leak detector)</c:v>
                </c:pt>
              </c:strCache>
            </c:strRef>
          </c:tx>
          <c:spPr>
            <a:solidFill>
              <a:srgbClr val="0F9D8A"/>
            </a:solidFill>
            <a:effectLst/>
          </c:spPr>
          <c:invertIfNegative val="0"/>
          <c:dLbls>
            <c:numFmt formatCode="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'long line' (count, primary)</c:v>
                  </c:pt>
                  <c:pt idx="1">
                    <c:v>'about 60 characters' (count, numeric)</c:v>
                  </c:pt>
                  <c:pt idx="2">
                    <c:v>'line break coming' (decision)</c:v>
                  </c:pt>
                </c:lvl>
              </c:multiLvlStrCache>
            </c:multiLvlStrRef>
          </c:cat>
          <c:val>
            <c:numRef>
              <c:f>Sheet1!$D$2:$D$4</c:f>
              <c:numCache>
                <c:formatCode>General</c:formatCode>
                <c:ptCount val="3"/>
                <c:pt idx="0">
                  <c:v>-0.9</c:v>
                </c:pt>
                <c:pt idx="1">
                  <c:v>-0.5</c:v>
                </c:pt>
                <c:pt idx="2">
                  <c:v>0.1</c:v>
                </c:pt>
              </c:numCache>
            </c:numRef>
          </c:val>
        </c:ser>
        <c:dLbls>
          <c:numFmt formatCode="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3"/>
          <c:order val="3"/>
          <c:tx>
            <c:strRef>
              <c:f>Sheet1!$E$1</c:f>
              <c:strCache>
                <c:ptCount val="1"/>
                <c:pt idx="0">
                  <c:v>null band, upper (+1.96)</c:v>
                </c:pt>
              </c:strCache>
            </c:strRef>
          </c:tx>
          <c:spPr>
            <a:solidFill>
              <a:srgbClr val="C9D3D9"/>
            </a:solidFill>
            <a:ln w="19050" cap="flat">
              <a:solidFill>
                <a:srgbClr val="C9D3D9"/>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Sheet1!$A$2:$A$4</c:f>
              <c:multiLvlStrCache>
                <c:ptCount val="3"/>
                <c:lvl>
                  <c:pt idx="0">
                    <c:v>'long line' (count, primary)</c:v>
                  </c:pt>
                  <c:pt idx="1">
                    <c:v>'about 60 characters' (count, numeric)</c:v>
                  </c:pt>
                  <c:pt idx="2">
                    <c:v>'line break coming' (decision)</c:v>
                  </c:pt>
                </c:lvl>
              </c:multiLvlStrCache>
            </c:multiLvlStrRef>
          </c:cat>
          <c:val>
            <c:numRef>
              <c:f>Sheet1!$E$2:$E$4</c:f>
              <c:numCache>
                <c:formatCode>General</c:formatCode>
                <c:ptCount val="3"/>
                <c:pt idx="0">
                  <c:v>1.96</c:v>
                </c:pt>
                <c:pt idx="1">
                  <c:v>1.96</c:v>
                </c:pt>
                <c:pt idx="2">
                  <c:v>1.96</c:v>
                </c:pt>
              </c:numCache>
            </c:numRef>
          </c:val>
          <c:smooth val="0"/>
        </c:ser>
        <c:ser>
          <c:idx val="4"/>
          <c:order val="4"/>
          <c:tx>
            <c:strRef>
              <c:f>Sheet1!$F$1</c:f>
              <c:strCache>
                <c:ptCount val="1"/>
                <c:pt idx="0">
                  <c:v>null band, lower (−1.96)</c:v>
                </c:pt>
              </c:strCache>
            </c:strRef>
          </c:tx>
          <c:spPr>
            <a:solidFill>
              <a:srgbClr val="C9D3D9"/>
            </a:solidFill>
            <a:ln w="19050" cap="flat">
              <a:solidFill>
                <a:srgbClr val="C9D3D9"/>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Sheet1!$A$2:$A$4</c:f>
              <c:multiLvlStrCache>
                <c:ptCount val="3"/>
                <c:lvl>
                  <c:pt idx="0">
                    <c:v>'long line' (count, primary)</c:v>
                  </c:pt>
                  <c:pt idx="1">
                    <c:v>'about 60 characters' (count, numeric)</c:v>
                  </c:pt>
                  <c:pt idx="2">
                    <c:v>'line break coming' (decision)</c:v>
                  </c:pt>
                </c:lvl>
              </c:multiLvlStrCache>
            </c:multiLvlStrRef>
          </c:cat>
          <c:val>
            <c:numRef>
              <c:f>Sheet1!$F$2:$F$4</c:f>
              <c:numCache>
                <c:formatCode>General</c:formatCode>
                <c:ptCount val="3"/>
                <c:pt idx="0">
                  <c:v>-1.96</c:v>
                </c:pt>
                <c:pt idx="1">
                  <c:v>-1.96</c:v>
                </c:pt>
                <c:pt idx="2">
                  <c:v>-1.96</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3"/>
          <c:min val="-3"/>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z vs J-complement null band</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NLA</c:v>
                </c:pt>
              </c:strCache>
            </c:strRef>
          </c:tx>
          <c:spPr>
            <a:solidFill>
              <a:srgbClr val="E2553A"/>
            </a:solidFill>
            <a:effectLst/>
          </c:spPr>
          <c:invertIfNegative val="0"/>
          <c:dLbls>
            <c:numFmt formatCode="0.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language (RU vs PL)</c:v>
                  </c:pt>
                  <c:pt idx="1">
                    <c:v>tense (past vs present)</c:v>
                  </c:pt>
                  <c:pt idx="2">
                    <c:v>col (raw direction)</c:v>
                  </c:pt>
                </c:lvl>
              </c:multiLvlStrCache>
            </c:multiLvlStrRef>
          </c:cat>
          <c:val>
            <c:numRef>
              <c:f>Sheet1!$B$2:$B$4</c:f>
              <c:numCache>
                <c:formatCode>General</c:formatCode>
                <c:ptCount val="3"/>
                <c:pt idx="0">
                  <c:v>0.83</c:v>
                </c:pt>
                <c:pt idx="1">
                  <c:v>0.83</c:v>
                </c:pt>
                <c:pt idx="2">
                  <c:v>0.48</c:v>
                </c:pt>
              </c:numCache>
            </c:numRef>
          </c:val>
        </c:ser>
        <c:ser>
          <c:idx val="1"/>
          <c:order val="1"/>
          <c:tx>
            <c:strRef>
              <c:f>Sheet1!$C$1</c:f>
              <c:strCache>
                <c:ptCount val="1"/>
                <c:pt idx="0">
                  <c:v>Oracle Lens</c:v>
                </c:pt>
              </c:strCache>
            </c:strRef>
          </c:tx>
          <c:spPr>
            <a:solidFill>
              <a:srgbClr val="7A5BC2"/>
            </a:solidFill>
            <a:effectLst/>
          </c:spPr>
          <c:invertIfNegative val="0"/>
          <c:dLbls>
            <c:numFmt formatCode="0.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language (RU vs PL)</c:v>
                  </c:pt>
                  <c:pt idx="1">
                    <c:v>tense (past vs present)</c:v>
                  </c:pt>
                  <c:pt idx="2">
                    <c:v>col (raw direction)</c:v>
                  </c:pt>
                </c:lvl>
              </c:multiLvlStrCache>
            </c:multiLvlStrRef>
          </c:cat>
          <c:val>
            <c:numRef>
              <c:f>Sheet1!$C$2:$C$4</c:f>
              <c:numCache>
                <c:formatCode>General</c:formatCode>
                <c:ptCount val="3"/>
                <c:pt idx="0">
                  <c:v>0.76</c:v>
                </c:pt>
                <c:pt idx="1">
                  <c:v>0.55</c:v>
                </c:pt>
                <c:pt idx="2">
                  <c:v>0.48</c:v>
                </c:pt>
              </c:numCache>
            </c:numRef>
          </c:val>
        </c:ser>
        <c:ser>
          <c:idx val="2"/>
          <c:order val="2"/>
          <c:tx>
            <c:strRef>
              <c:f>Sheet1!$D$1</c:f>
              <c:strCache>
                <c:ptCount val="1"/>
                <c:pt idx="0">
                  <c:v>J-Lens (label words)</c:v>
                </c:pt>
              </c:strCache>
            </c:strRef>
          </c:tx>
          <c:spPr>
            <a:solidFill>
              <a:srgbClr val="0F9D8A"/>
            </a:solidFill>
            <a:effectLst/>
          </c:spPr>
          <c:invertIfNegative val="0"/>
          <c:dLbls>
            <c:numFmt formatCode="0.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language (RU vs PL)</c:v>
                  </c:pt>
                  <c:pt idx="1">
                    <c:v>tense (past vs present)</c:v>
                  </c:pt>
                  <c:pt idx="2">
                    <c:v>col (raw direction)</c:v>
                  </c:pt>
                </c:lvl>
              </c:multiLvlStrCache>
            </c:multiLvlStrRef>
          </c:cat>
          <c:val>
            <c:numRef>
              <c:f>Sheet1!$D$2:$D$4</c:f>
              <c:numCache>
                <c:formatCode>General</c:formatCode>
                <c:ptCount val="3"/>
                <c:pt idx="0">
                  <c:v>0.68</c:v>
                </c:pt>
                <c:pt idx="1">
                  <c:v>0.79</c:v>
                </c:pt>
                <c:pt idx="2">
                  <c:v>0.52</c:v>
                </c:pt>
              </c:numCache>
            </c:numRef>
          </c:val>
        </c:ser>
        <c:dLbls>
          <c:numFmt formatCode="0.00" sourceLinked="0"/>
          <c:txPr>
            <a:bodyPr/>
            <a:lstStyle/>
            <a:p>
              <a:pPr>
                <a:defRPr b="0" i="0" strike="noStrike" sz="1000" u="none">
                  <a:solidFill>
                    <a:srgbClr val="15222C"/>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3"/>
          <c:order val="3"/>
          <c:tx>
            <c:strRef>
              <c:f>Sheet1!$E$1</c:f>
              <c:strCache>
                <c:ptCount val="1"/>
                <c:pt idx="0">
                  <c:v>chance (0.5)</c:v>
                </c:pt>
              </c:strCache>
            </c:strRef>
          </c:tx>
          <c:spPr>
            <a:solidFill>
              <a:srgbClr val="5E6E78"/>
            </a:solidFill>
            <a:ln w="19050" cap="flat">
              <a:solidFill>
                <a:srgbClr val="5E6E78"/>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5E6E78"/>
              </a:solidFill>
              <a:ln w="9525" cap="flat">
                <a:solidFill>
                  <a:srgbClr val="5E6E78"/>
                </a:solidFill>
                <a:prstDash val="solid"/>
                <a:round/>
              </a:ln>
              <a:effectLst/>
            </c:spPr>
          </c:marker>
          <c:cat>
            <c:multiLvlStrRef>
              <c:f>Sheet1!$A$2:$A$4</c:f>
              <c:multiLvlStrCache>
                <c:ptCount val="3"/>
                <c:lvl>
                  <c:pt idx="0">
                    <c:v>language (RU vs PL)</c:v>
                  </c:pt>
                  <c:pt idx="1">
                    <c:v>tense (past vs present)</c:v>
                  </c:pt>
                  <c:pt idx="2">
                    <c:v>col (raw direction)</c:v>
                  </c:pt>
                </c:lvl>
              </c:multiLvlStrCache>
            </c:multiLvlStrRef>
          </c:cat>
          <c:val>
            <c:numRef>
              <c:f>Sheet1!$E$2:$E$4</c:f>
              <c:numCache>
                <c:formatCode>General</c:formatCode>
                <c:ptCount val="3"/>
                <c:pt idx="0">
                  <c:v>0.5</c:v>
                </c:pt>
                <c:pt idx="1">
                  <c:v>0.5</c:v>
                </c:pt>
                <c:pt idx="2">
                  <c:v>0.5</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E78"/>
                    </a:solidFill>
                    <a:latin typeface="Arial"/>
                  </a:defRPr>
                </a:pPr>
                <a:r>
                  <a:rPr sz="1100" b="0" i="0" u="none" strike="noStrike">
                    <a:solidFill>
                      <a:srgbClr val="5E6E78"/>
                    </a:solidFill>
                    <a:latin typeface="Arial"/>
                  </a:rPr>
                  <a:t>q90 dose, centred, raw direction, layer 42 (‖Δ‖/‖h‖: 0.095 · 0.096 · 0.108)</a:t>
                </a:r>
              </a:p>
            </c:rich>
          </c:tx>
          <c:layout/>
          <c:overlay val="0"/>
        </c:title>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3"/>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FollowFeature AUROC</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NLA</c:v>
                </c:pt>
              </c:strCache>
            </c:strRef>
          </c:tx>
          <c:spPr>
            <a:solidFill>
              <a:srgbClr val="E2553A"/>
            </a:solidFill>
            <a:effectLst/>
          </c:spPr>
          <c:invertIfNegative val="0"/>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language, 0.11</c:v>
                  </c:pt>
                  <c:pt idx="1">
                    <c:v>language, 0.14</c:v>
                  </c:pt>
                  <c:pt idx="2">
                    <c:v>tense, 0.11</c:v>
                  </c:pt>
                  <c:pt idx="3">
                    <c:v>tense, 0.14</c:v>
                  </c:pt>
                  <c:pt idx="4">
                    <c:v>col, 0.11</c:v>
                  </c:pt>
                  <c:pt idx="5">
                    <c:v>col, 0.14</c:v>
                  </c:pt>
                </c:lvl>
              </c:multiLvlStrCache>
            </c:multiLvlStrRef>
          </c:cat>
          <c:val>
            <c:numRef>
              <c:f>Sheet1!$B$2:$B$7</c:f>
              <c:numCache>
                <c:formatCode>General</c:formatCode>
                <c:ptCount val="6"/>
                <c:pt idx="0">
                  <c:v>0.87</c:v>
                </c:pt>
                <c:pt idx="1">
                  <c:v>0.92</c:v>
                </c:pt>
                <c:pt idx="2">
                  <c:v>0.85</c:v>
                </c:pt>
                <c:pt idx="3">
                  <c:v>0.89</c:v>
                </c:pt>
                <c:pt idx="4">
                  <c:v>0.48</c:v>
                </c:pt>
                <c:pt idx="5">
                  <c:v>0.47</c:v>
                </c:pt>
              </c:numCache>
            </c:numRef>
          </c:val>
        </c:ser>
        <c:ser>
          <c:idx val="1"/>
          <c:order val="1"/>
          <c:tx>
            <c:strRef>
              <c:f>Sheet1!$C$1</c:f>
              <c:strCache>
                <c:ptCount val="1"/>
                <c:pt idx="0">
                  <c:v>Oracle Lens</c:v>
                </c:pt>
              </c:strCache>
            </c:strRef>
          </c:tx>
          <c:spPr>
            <a:solidFill>
              <a:srgbClr val="7A5BC2"/>
            </a:solidFill>
            <a:effectLst/>
          </c:spPr>
          <c:invertIfNegative val="0"/>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language, 0.11</c:v>
                  </c:pt>
                  <c:pt idx="1">
                    <c:v>language, 0.14</c:v>
                  </c:pt>
                  <c:pt idx="2">
                    <c:v>tense, 0.11</c:v>
                  </c:pt>
                  <c:pt idx="3">
                    <c:v>tense, 0.14</c:v>
                  </c:pt>
                  <c:pt idx="4">
                    <c:v>col, 0.11</c:v>
                  </c:pt>
                  <c:pt idx="5">
                    <c:v>col, 0.14</c:v>
                  </c:pt>
                </c:lvl>
              </c:multiLvlStrCache>
            </c:multiLvlStrRef>
          </c:cat>
          <c:val>
            <c:numRef>
              <c:f>Sheet1!$C$2:$C$7</c:f>
              <c:numCache>
                <c:formatCode>General</c:formatCode>
                <c:ptCount val="6"/>
                <c:pt idx="0">
                  <c:v>0.8</c:v>
                </c:pt>
                <c:pt idx="1">
                  <c:v>0.85</c:v>
                </c:pt>
                <c:pt idx="2">
                  <c:v>0.56</c:v>
                </c:pt>
                <c:pt idx="3">
                  <c:v>0.57</c:v>
                </c:pt>
                <c:pt idx="4">
                  <c:v>0.48</c:v>
                </c:pt>
                <c:pt idx="5">
                  <c:v>0.47</c:v>
                </c:pt>
              </c:numCache>
            </c:numRef>
          </c:val>
        </c:ser>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lineChart>
        <c:varyColors val="0"/>
        <c:ser>
          <c:idx val="2"/>
          <c:order val="2"/>
          <c:tx>
            <c:strRef>
              <c:f>Sheet1!$D$1</c:f>
              <c:strCache>
                <c:ptCount val="1"/>
                <c:pt idx="0">
                  <c:v>chance (0.5)</c:v>
                </c:pt>
              </c:strCache>
            </c:strRef>
          </c:tx>
          <c:spPr>
            <a:solidFill>
              <a:srgbClr val="5E6E78"/>
            </a:solidFill>
            <a:ln w="19050" cap="flat">
              <a:solidFill>
                <a:srgbClr val="5E6E78"/>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5E6E78"/>
              </a:solidFill>
              <a:ln w="9525" cap="flat">
                <a:solidFill>
                  <a:srgbClr val="5E6E78"/>
                </a:solidFill>
                <a:prstDash val="solid"/>
                <a:round/>
              </a:ln>
              <a:effectLst/>
            </c:spPr>
          </c:marker>
          <c:cat>
            <c:multiLvlStrRef>
              <c:f>Sheet1!$A$2:$A$7</c:f>
              <c:multiLvlStrCache>
                <c:ptCount val="6"/>
                <c:lvl>
                  <c:pt idx="0">
                    <c:v>language, 0.11</c:v>
                  </c:pt>
                  <c:pt idx="1">
                    <c:v>language, 0.14</c:v>
                  </c:pt>
                  <c:pt idx="2">
                    <c:v>tense, 0.11</c:v>
                  </c:pt>
                  <c:pt idx="3">
                    <c:v>tense, 0.14</c:v>
                  </c:pt>
                  <c:pt idx="4">
                    <c:v>col, 0.11</c:v>
                  </c:pt>
                  <c:pt idx="5">
                    <c:v>col, 0.14</c:v>
                  </c:pt>
                </c:lvl>
              </c:multiLvlStrCache>
            </c:multiLvlStrRef>
          </c:cat>
          <c:val>
            <c:numRef>
              <c:f>Sheet1!$D$2:$D$7</c:f>
              <c:numCache>
                <c:formatCode>General</c:formatCode>
                <c:ptCount val="6"/>
                <c:pt idx="0">
                  <c:v>0.5</c:v>
                </c:pt>
                <c:pt idx="1">
                  <c:v>0.5</c:v>
                </c:pt>
                <c:pt idx="2">
                  <c:v>0.5</c:v>
                </c:pt>
                <c:pt idx="3">
                  <c:v>0.5</c:v>
                </c:pt>
                <c:pt idx="4">
                  <c:v>0.5</c:v>
                </c:pt>
                <c:pt idx="5">
                  <c:v>0.5</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E78"/>
                    </a:solidFill>
                    <a:latin typeface="Arial"/>
                  </a:defRPr>
                </a:pPr>
                <a:r>
                  <a:rPr sz="1100" b="0" i="0" u="none" strike="noStrike">
                    <a:solidFill>
                      <a:srgbClr val="5E6E78"/>
                    </a:solidFill>
                    <a:latin typeface="Arial"/>
                  </a:rPr>
                  <a:t>feature, steering norm ‖Δ‖/‖h‖ (raw direction, centred, layer 42)</a:t>
                </a:r>
              </a:p>
            </c:rich>
          </c:tx>
          <c:layout/>
          <c:overlay val="0"/>
        </c:title>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3"/>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FollowFeature AUROC</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Fixed templates (K3 pilot): only the NLA moves</a:t>
            </a:r>
          </a:p>
        </c:rich>
      </c:tx>
      <c:layout/>
      <c:overlay val="0"/>
    </c:title>
    <c:autoTitleDeleted val="0"/>
    <c:plotArea>
      <c:layout/>
      <c:barChart>
        <c:barDir val="col"/>
        <c:grouping val="clustered"/>
        <c:varyColors val="0"/>
        <c:ser>
          <c:idx val="0"/>
          <c:order val="0"/>
          <c:tx>
            <c:strRef>
              <c:f>Sheet1!$B$1</c:f>
              <c:strCache>
                <c:ptCount val="1"/>
                <c:pt idx="0">
                  <c:v>AUROC, J-removed (4r*) tense direction, q90, layer 42, fixed templates</c:v>
                </c:pt>
              </c:strCache>
            </c:strRef>
          </c:tx>
          <c:spPr>
            <a:solidFill>
              <a:srgbClr val="E2553A"/>
            </a:solidFill>
            <a:effectLst/>
          </c:spPr>
          <c:invertIfNegative val="0"/>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E2553A"/>
              </a:solidFill>
              <a:effectLst/>
            </c:spPr>
          </c:dPt>
          <c:dPt>
            <c:idx val="1"/>
            <c:invertIfNegative val="0"/>
            <c:bubble3D val="0"/>
            <c:spPr>
              <a:solidFill>
                <a:srgbClr val="7A5BC2"/>
              </a:solidFill>
              <a:effectLst/>
            </c:spPr>
          </c:dPt>
          <c:dPt>
            <c:idx val="2"/>
            <c:invertIfNegative val="0"/>
            <c:bubble3D val="0"/>
            <c:spPr>
              <a:solidFill>
                <a:srgbClr val="0F9D8A"/>
              </a:solidFill>
              <a:effectLst/>
            </c:spPr>
          </c:dPt>
          <c:cat>
            <c:multiLvlStrRef>
              <c:f>Sheet1!$A$2:$A$4</c:f>
              <c:multiLvlStrCache>
                <c:ptCount val="3"/>
                <c:lvl>
                  <c:pt idx="0">
                    <c:v>NLA</c:v>
                  </c:pt>
                  <c:pt idx="1">
                    <c:v>Oracle Lens</c:v>
                  </c:pt>
                  <c:pt idx="2">
                    <c:v>J-Lens (label words)</c:v>
                  </c:pt>
                </c:lvl>
              </c:multiLvlStrCache>
            </c:multiLvlStrRef>
          </c:cat>
          <c:val>
            <c:numRef>
              <c:f>Sheet1!$B$2:$B$4</c:f>
              <c:numCache>
                <c:formatCode>General</c:formatCode>
                <c:ptCount val="3"/>
                <c:pt idx="0">
                  <c:v>0.6</c:v>
                </c:pt>
                <c:pt idx="1">
                  <c:v>0.51</c:v>
                </c:pt>
                <c:pt idx="2">
                  <c:v>0.5</c:v>
                </c:pt>
              </c:numCache>
            </c:numRef>
          </c:val>
        </c:ser>
        <c:dLbls>
          <c:numFmt formatCode="0.00" sourceLinked="0"/>
          <c:txPr>
            <a:bodyPr/>
            <a:lstStyle/>
            <a:p>
              <a:pPr>
                <a:defRPr b="0" i="0" strike="noStrike" sz="1100" u="none">
                  <a:solidFill>
                    <a:srgbClr val="15222C"/>
                  </a:solidFill>
                  <a:latin typeface="Arial"/>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lineChart>
        <c:varyColors val="0"/>
        <c:ser>
          <c:idx val="1"/>
          <c:order val="1"/>
          <c:tx>
            <c:strRef>
              <c:f>Sheet1!$C$1</c:f>
              <c:strCache>
                <c:ptCount val="1"/>
                <c:pt idx="0">
                  <c:v>chance (0.5)</c:v>
                </c:pt>
              </c:strCache>
            </c:strRef>
          </c:tx>
          <c:spPr>
            <a:solidFill>
              <a:srgbClr val="5E6E78"/>
            </a:solidFill>
            <a:ln w="19050" cap="flat">
              <a:solidFill>
                <a:srgbClr val="5E6E78"/>
              </a:solidFill>
              <a:prstDash val="dash"/>
              <a:round/>
            </a:ln>
            <a:effectLst/>
          </c:spPr>
          <c:invertIfNegative val="0"/>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c:symbol val="none"/>
            <c:size val="6"/>
            <c:spPr>
              <a:solidFill>
                <a:srgbClr val="5E6E78"/>
              </a:solidFill>
              <a:ln w="9525" cap="flat">
                <a:solidFill>
                  <a:srgbClr val="5E6E78"/>
                </a:solidFill>
                <a:prstDash val="solid"/>
                <a:round/>
              </a:ln>
              <a:effectLst/>
            </c:spPr>
          </c:marker>
          <c:cat>
            <c:multiLvlStrRef>
              <c:f>Sheet1!$A$2:$A$4</c:f>
              <c:multiLvlStrCache>
                <c:ptCount val="3"/>
                <c:lvl>
                  <c:pt idx="0">
                    <c:v>NLA</c:v>
                  </c:pt>
                  <c:pt idx="1">
                    <c:v>Oracle Lens</c:v>
                  </c:pt>
                  <c:pt idx="2">
                    <c:v>J-Lens (label words)</c:v>
                  </c:pt>
                </c:lvl>
              </c:multiLvlStrCache>
            </c:multiLvlStrRef>
          </c:cat>
          <c:val>
            <c:numRef>
              <c:f>Sheet1!$C$2:$C$4</c:f>
              <c:numCache>
                <c:formatCode>General</c:formatCode>
                <c:ptCount val="3"/>
                <c:pt idx="0">
                  <c:v>0.5</c:v>
                </c:pt>
                <c:pt idx="1">
                  <c:v>0.5</c:v>
                </c:pt>
                <c:pt idx="2">
                  <c:v>0.5</c:v>
                </c:pt>
              </c:numCache>
            </c:numRef>
          </c:val>
          <c:smooth val="0"/>
        </c:ser>
        <c:dLbls>
          <c:numFmt formatCode="#,##0" sourceLinked="0"/>
          <c:txPr>
            <a:bodyPr/>
            <a:lstStyle/>
            <a:p>
              <a:pPr>
                <a:defRPr b="0" i="0" strike="noStrike" sz="1100" u="none">
                  <a:solidFill>
                    <a:srgbClr val="15222C"/>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0.8"/>
          <c:min val="0.3"/>
        </c:scaling>
        <c:delete val="0"/>
        <c:axPos val="l"/>
        <c:majorGridlines>
          <c:spPr>
            <a:ln w="9525" cap="flat">
              <a:solidFill>
                <a:srgbClr val="E3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Oracle Lens @42</c:v>
                </c:pt>
              </c:strCache>
            </c:strRef>
          </c:tx>
          <c:spPr>
            <a:solidFill>
              <a:srgbClr val="7A5BC2"/>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1"/>
            <c:showCatName val="0"/>
            <c:showSerName val="0"/>
            <c:showPercent val="0"/>
            <c:showBubbleSize val="0"/>
            <c:showLeaderLines val="0"/>
          </c:dLbls>
          <c:cat>
            <c:multiLvlStrRef>
              <c:f>Sheet1!$A$2:$A$3</c:f>
              <c:multiLvlStrCache>
                <c:ptCount val="2"/>
                <c:lvl>
                  <c:pt idx="0">
                    <c:v>unplanted</c:v>
                  </c:pt>
                  <c:pt idx="1">
                    <c:v>planted (prompt unchanged)</c:v>
                  </c:pt>
                </c:lvl>
              </c:multiLvlStrCache>
            </c:multiLvlStrRef>
          </c:cat>
          <c:val>
            <c:numRef>
              <c:f>Sheet1!$B$2:$B$3</c:f>
              <c:numCache>
                <c:formatCode>General</c:formatCode>
                <c:ptCount val="2"/>
                <c:pt idx="0">
                  <c:v>0.01</c:v>
                </c:pt>
                <c:pt idx="1">
                  <c:v>1</c:v>
                </c:pt>
              </c:numCache>
            </c:numRef>
          </c:val>
        </c:ser>
        <c:ser>
          <c:idx val="1"/>
          <c:order val="1"/>
          <c:tx>
            <c:strRef>
              <c:f>Sheet1!$C$1</c:f>
              <c:strCache>
                <c:ptCount val="1"/>
                <c:pt idx="0">
                  <c:v>NLA @42</c:v>
                </c:pt>
              </c:strCache>
            </c:strRef>
          </c:tx>
          <c:spPr>
            <a:solidFill>
              <a:srgbClr val="E2553A"/>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1"/>
            <c:showCatName val="0"/>
            <c:showSerName val="0"/>
            <c:showPercent val="0"/>
            <c:showBubbleSize val="0"/>
            <c:showLeaderLines val="0"/>
          </c:dLbls>
          <c:cat>
            <c:multiLvlStrRef>
              <c:f>Sheet1!$A$2:$A$3</c:f>
              <c:multiLvlStrCache>
                <c:ptCount val="2"/>
                <c:lvl>
                  <c:pt idx="0">
                    <c:v>unplanted</c:v>
                  </c:pt>
                  <c:pt idx="1">
                    <c:v>planted (prompt unchanged)</c:v>
                  </c:pt>
                </c:lvl>
              </c:multiLvlStrCache>
            </c:multiLvlStrRef>
          </c:cat>
          <c:val>
            <c:numRef>
              <c:f>Sheet1!$C$2:$C$3</c:f>
              <c:numCache>
                <c:formatCode>General</c:formatCode>
                <c:ptCount val="2"/>
                <c:pt idx="0">
                  <c:v>0.03</c:v>
                </c:pt>
                <c:pt idx="1">
                  <c:v>0.98</c:v>
                </c:pt>
              </c:numCache>
            </c:numRef>
          </c:val>
        </c:ser>
        <c:ser>
          <c:idx val="2"/>
          <c:order val="2"/>
          <c:tx>
            <c:strRef>
              <c:f>Sheet1!$D$1</c:f>
              <c:strCache>
                <c:ptCount val="1"/>
                <c:pt idx="0">
                  <c:v>J-Lens @42</c:v>
                </c:pt>
              </c:strCache>
            </c:strRef>
          </c:tx>
          <c:spPr>
            <a:solidFill>
              <a:srgbClr val="0F9D8A"/>
            </a:solidFill>
            <a:effectLst/>
          </c:spPr>
          <c:invertIfNegative val="0"/>
          <c:dLbls>
            <c:numFmt formatCode="0.00" sourceLinked="0"/>
            <c:txPr>
              <a:bodyPr/>
              <a:lstStyle/>
              <a:p>
                <a:pPr>
                  <a:defRPr b="0" i="0" strike="noStrike" sz="1000" u="none">
                    <a:solidFill>
                      <a:srgbClr val="15222C"/>
                    </a:solidFill>
                    <a:latin typeface="Arial"/>
                  </a:defRPr>
                </a:pPr>
              </a:p>
            </c:txPr>
            <c:showLegendKey val="0"/>
            <c:showVal val="1"/>
            <c:showCatName val="0"/>
            <c:showSerName val="0"/>
            <c:showPercent val="0"/>
            <c:showBubbleSize val="0"/>
            <c:showLeaderLines val="0"/>
          </c:dLbls>
          <c:cat>
            <c:multiLvlStrRef>
              <c:f>Sheet1!$A$2:$A$3</c:f>
              <c:multiLvlStrCache>
                <c:ptCount val="2"/>
                <c:lvl>
                  <c:pt idx="0">
                    <c:v>unplanted</c:v>
                  </c:pt>
                  <c:pt idx="1">
                    <c:v>planted (prompt unchanged)</c:v>
                  </c:pt>
                </c:lvl>
              </c:multiLvlStrCache>
            </c:multiLvlStrRef>
          </c:cat>
          <c:val>
            <c:numRef>
              <c:f>Sheet1!$D$2:$D$3</c:f>
              <c:numCache>
                <c:formatCode>General</c:formatCode>
                <c:ptCount val="2"/>
                <c:pt idx="0">
                  <c:v>0.01</c:v>
                </c:pt>
                <c:pt idx="1">
                  <c:v>1</c:v>
                </c:pt>
              </c:numCache>
            </c:numRef>
          </c:val>
        </c:ser>
        <c:dLbls>
          <c:numFmt formatCode="0.00" sourceLinked="0"/>
          <c:txPr>
            <a:bodyPr/>
            <a:lstStyle/>
            <a:p>
              <a:pPr>
                <a:defRPr b="0" i="0" strike="noStrike" sz="1000" u="none">
                  <a:solidFill>
                    <a:srgbClr val="15222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P(reader names the planted bridge Y), 200 items</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pooled pass rate (n = 400)</c:v>
                </c:pt>
              </c:strCache>
            </c:strRef>
          </c:tx>
          <c:spPr>
            <a:solidFill>
              <a:srgbClr val="E2553A"/>
            </a:solidFill>
            <a:effectLst/>
          </c:spPr>
          <c:invertIfNegative val="0"/>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dPt>
            <c:idx val="0"/>
            <c:invertIfNegative val="0"/>
            <c:bubble3D val="0"/>
            <c:spPr>
              <a:solidFill>
                <a:srgbClr val="E2553A"/>
              </a:solidFill>
              <a:effectLst/>
            </c:spPr>
          </c:dPt>
          <c:dPt>
            <c:idx val="1"/>
            <c:invertIfNegative val="0"/>
            <c:bubble3D val="0"/>
            <c:spPr>
              <a:solidFill>
                <a:srgbClr val="7A5BC2"/>
              </a:solidFill>
              <a:effectLst/>
            </c:spPr>
          </c:dPt>
          <c:dPt>
            <c:idx val="2"/>
            <c:invertIfNegative val="0"/>
            <c:bubble3D val="0"/>
            <c:spPr>
              <a:solidFill>
                <a:srgbClr val="0F9D8A"/>
              </a:solidFill>
              <a:effectLst/>
            </c:spPr>
          </c:dPt>
          <c:dPt>
            <c:idx val="3"/>
            <c:invertIfNegative val="0"/>
            <c:bubble3D val="0"/>
            <c:spPr>
              <a:solidFill>
                <a:srgbClr val="C8921E"/>
              </a:solidFill>
              <a:effectLst/>
            </c:spPr>
          </c:dPt>
          <c:dPt>
            <c:idx val="4"/>
            <c:invertIfNegative val="0"/>
            <c:bubble3D val="0"/>
            <c:spPr>
              <a:solidFill>
                <a:srgbClr val="C8921E"/>
              </a:solidFill>
              <a:effectLst/>
            </c:spPr>
          </c:dPt>
          <c:dPt>
            <c:idx val="5"/>
            <c:invertIfNegative val="0"/>
            <c:bubble3D val="0"/>
            <c:spPr>
              <a:solidFill>
                <a:srgbClr val="C8921E"/>
              </a:solidFill>
              <a:effectLst/>
            </c:spPr>
          </c:dPt>
          <c:dPt>
            <c:idx val="6"/>
            <c:invertIfNegative val="0"/>
            <c:bubble3D val="0"/>
            <c:spPr>
              <a:solidFill>
                <a:srgbClr val="E9D3A1"/>
              </a:solidFill>
              <a:effectLst/>
            </c:spPr>
          </c:dPt>
          <c:cat>
            <c:multiLvlStrRef>
              <c:f>Sheet1!$A$2:$A$8</c:f>
              <c:multiLvlStrCache>
                <c:ptCount val="7"/>
                <c:lvl>
                  <c:pt idx="0">
                    <c:v>NLA @42</c:v>
                  </c:pt>
                  <c:pt idx="1">
                    <c:v>Oracle Lens @42</c:v>
                  </c:pt>
                  <c:pt idx="2">
                    <c:v>J-Lens @42</c:v>
                  </c:pt>
                  <c:pt idx="3">
                    <c:v>Text-only Qwen (NLA style, k=1)</c:v>
                  </c:pt>
                  <c:pt idx="4">
                    <c:v>Text-only Qwen (bench template)</c:v>
                  </c:pt>
                  <c:pt idx="5">
                    <c:v>Text-only Gemini 3.8 Flash</c:v>
                  </c:pt>
                  <c:pt idx="6">
                    <c:v>Re-solve from NLA readout only (Gemini)</c:v>
                  </c:pt>
                </c:lvl>
              </c:multiLvlStrCache>
            </c:multiLvlStrRef>
          </c:cat>
          <c:val>
            <c:numRef>
              <c:f>Sheet1!$B$2:$B$8</c:f>
              <c:numCache>
                <c:formatCode>General</c:formatCode>
                <c:ptCount val="7"/>
                <c:pt idx="0">
                  <c:v>0.47</c:v>
                </c:pt>
                <c:pt idx="1">
                  <c:v>0.4</c:v>
                </c:pt>
                <c:pt idx="2">
                  <c:v>0.02</c:v>
                </c:pt>
                <c:pt idx="3">
                  <c:v>0.46</c:v>
                </c:pt>
                <c:pt idx="4">
                  <c:v>0.76</c:v>
                </c:pt>
                <c:pt idx="5">
                  <c:v>0.75</c:v>
                </c:pt>
                <c:pt idx="6">
                  <c:v>0.6</c:v>
                </c:pt>
              </c:numCache>
            </c:numRef>
          </c:val>
        </c:ser>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b"/>
        <c:numFmt formatCode="0.00" sourceLinked="0"/>
        <c:majorTickMark val="out"/>
        <c:minorTickMark val="none"/>
        <c:tickLblPos val="low"/>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22C"/>
                </a:solidFill>
                <a:latin typeface="Arial"/>
              </a:defRPr>
            </a:pPr>
            <a:r>
              <a:rPr sz="1300" b="0" i="0" u="none" strike="noStrike">
                <a:solidFill>
                  <a:srgbClr val="15222C"/>
                </a:solidFill>
                <a:latin typeface="Arial"/>
              </a:rPr>
              <a:t>Same re-solver, same instruction; only the input changes</a:t>
            </a:r>
          </a:p>
        </c:rich>
      </c:tx>
      <c:layout/>
      <c:overlay val="0"/>
    </c:title>
    <c:autoTitleDeleted val="0"/>
    <c:plotArea>
      <c:layout/>
      <c:barChart>
        <c:barDir val="col"/>
        <c:grouping val="clustered"/>
        <c:varyColors val="0"/>
        <c:ser>
          <c:idx val="0"/>
          <c:order val="0"/>
          <c:tx>
            <c:strRef>
              <c:f>Sheet1!$B$1</c:f>
              <c:strCache>
                <c:ptCount val="1"/>
                <c:pt idx="0">
                  <c:v>pooled pass rate, Gemini re-solver, same template, k = 1 (n = 400)</c:v>
                </c:pt>
              </c:strCache>
            </c:strRef>
          </c:tx>
          <c:spPr>
            <a:solidFill>
              <a:srgbClr val="C8921E"/>
            </a:solidFill>
            <a:effectLst/>
          </c:spPr>
          <c:invertIfNegative val="0"/>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dPt>
            <c:idx val="0"/>
            <c:invertIfNegative val="0"/>
            <c:bubble3D val="0"/>
            <c:spPr>
              <a:solidFill>
                <a:srgbClr val="C8921E"/>
              </a:solidFill>
              <a:effectLst/>
            </c:spPr>
          </c:dPt>
          <c:dPt>
            <c:idx val="1"/>
            <c:invertIfNegative val="0"/>
            <c:bubble3D val="0"/>
            <c:spPr>
              <a:solidFill>
                <a:srgbClr val="E2553A"/>
              </a:solidFill>
              <a:effectLst/>
            </c:spPr>
          </c:dPt>
          <c:dPt>
            <c:idx val="2"/>
            <c:invertIfNegative val="0"/>
            <c:bubble3D val="0"/>
            <c:spPr>
              <a:solidFill>
                <a:srgbClr val="7A5BC2"/>
              </a:solidFill>
              <a:effectLst/>
            </c:spPr>
          </c:dPt>
          <c:dPt>
            <c:idx val="3"/>
            <c:invertIfNegative val="0"/>
            <c:bubble3D val="0"/>
            <c:spPr>
              <a:solidFill>
                <a:srgbClr val="E9D3A1"/>
              </a:solidFill>
              <a:effectLst/>
            </c:spPr>
          </c:dPt>
          <c:dPt>
            <c:idx val="4"/>
            <c:invertIfNegative val="0"/>
            <c:bubble3D val="0"/>
            <c:spPr>
              <a:solidFill>
                <a:srgbClr val="E9D3A1"/>
              </a:solidFill>
              <a:effectLst/>
            </c:spPr>
          </c:dPt>
          <c:cat>
            <c:multiLvlStrRef>
              <c:f>Sheet1!$A$2:$A$6</c:f>
              <c:multiLvlStrCache>
                <c:ptCount val="5"/>
                <c:lvl>
                  <c:pt idx="0">
                    <c:v>Prompt only</c:v>
                  </c:pt>
                  <c:pt idx="1">
                    <c:v>NLA readout only</c:v>
                  </c:pt>
                  <c:pt idx="2">
                    <c:v>OL readout only</c:v>
                  </c:pt>
                  <c:pt idx="3">
                    <c:v>Prompt + NLA readout</c:v>
                  </c:pt>
                  <c:pt idx="4">
                    <c:v>Prompt + OL readout</c:v>
                  </c:pt>
                </c:lvl>
              </c:multiLvlStrCache>
            </c:multiLvlStrRef>
          </c:cat>
          <c:val>
            <c:numRef>
              <c:f>Sheet1!$B$2:$B$6</c:f>
              <c:numCache>
                <c:formatCode>General</c:formatCode>
                <c:ptCount val="5"/>
                <c:pt idx="0">
                  <c:v>0.89</c:v>
                </c:pt>
                <c:pt idx="1">
                  <c:v>0.6</c:v>
                </c:pt>
                <c:pt idx="2">
                  <c:v>0.56</c:v>
                </c:pt>
                <c:pt idx="3">
                  <c:v>0.88</c:v>
                </c:pt>
                <c:pt idx="4">
                  <c:v>0.88</c:v>
                </c:pt>
              </c:numCache>
            </c:numRef>
          </c:val>
        </c:ser>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contradicted</c:v>
                </c:pt>
              </c:strCache>
            </c:strRef>
          </c:tx>
          <c:spPr>
            <a:solidFill>
              <a:srgbClr val="7F96A3"/>
            </a:solidFill>
            <a:effectLst/>
          </c:spPr>
          <c:invertIfNegative val="0"/>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NLA @42</c:v>
                  </c:pt>
                  <c:pt idx="1">
                    <c:v>Oracle Lens @42</c:v>
                  </c:pt>
                  <c:pt idx="2">
                    <c:v>Text-only Qwen</c:v>
                  </c:pt>
                </c:lvl>
              </c:multiLvlStrCache>
            </c:multiLvlStrRef>
          </c:cat>
          <c:val>
            <c:numRef>
              <c:f>Sheet1!$B$2:$B$4</c:f>
              <c:numCache>
                <c:formatCode>General</c:formatCode>
                <c:ptCount val="3"/>
                <c:pt idx="0">
                  <c:v>0.36</c:v>
                </c:pt>
                <c:pt idx="1">
                  <c:v>0.35</c:v>
                </c:pt>
                <c:pt idx="2">
                  <c:v>0.08</c:v>
                </c:pt>
              </c:numCache>
            </c:numRef>
          </c:val>
        </c:ser>
        <c:ser>
          <c:idx val="1"/>
          <c:order val="1"/>
          <c:tx>
            <c:strRef>
              <c:f>Sheet1!$C$1</c:f>
              <c:strCache>
                <c:ptCount val="1"/>
                <c:pt idx="0">
                  <c:v>restates text</c:v>
                </c:pt>
              </c:strCache>
            </c:strRef>
          </c:tx>
          <c:spPr>
            <a:solidFill>
              <a:srgbClr val="A4B6C0"/>
            </a:solidFill>
            <a:effectLst/>
          </c:spPr>
          <c:invertIfNegative val="0"/>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NLA @42</c:v>
                  </c:pt>
                  <c:pt idx="1">
                    <c:v>Oracle Lens @42</c:v>
                  </c:pt>
                  <c:pt idx="2">
                    <c:v>Text-only Qwen</c:v>
                  </c:pt>
                </c:lvl>
              </c:multiLvlStrCache>
            </c:multiLvlStrRef>
          </c:cat>
          <c:val>
            <c:numRef>
              <c:f>Sheet1!$C$2:$C$4</c:f>
              <c:numCache>
                <c:formatCode>General</c:formatCode>
                <c:ptCount val="3"/>
                <c:pt idx="0">
                  <c:v>0.09</c:v>
                </c:pt>
                <c:pt idx="1">
                  <c:v>0.06</c:v>
                </c:pt>
                <c:pt idx="2">
                  <c:v>0.23</c:v>
                </c:pt>
              </c:numCache>
            </c:numRef>
          </c:val>
        </c:ser>
        <c:ser>
          <c:idx val="2"/>
          <c:order val="2"/>
          <c:tx>
            <c:strRef>
              <c:f>Sheet1!$D$1</c:f>
              <c:strCache>
                <c:ptCount val="1"/>
                <c:pt idx="0">
                  <c:v>matches gold target</c:v>
                </c:pt>
              </c:strCache>
            </c:strRef>
          </c:tx>
          <c:spPr>
            <a:solidFill>
              <a:srgbClr val="C3D1D8"/>
            </a:solidFill>
            <a:effectLst/>
          </c:spPr>
          <c:invertIfNegative val="0"/>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NLA @42</c:v>
                  </c:pt>
                  <c:pt idx="1">
                    <c:v>Oracle Lens @42</c:v>
                  </c:pt>
                  <c:pt idx="2">
                    <c:v>Text-only Qwen</c:v>
                  </c:pt>
                </c:lvl>
              </c:multiLvlStrCache>
            </c:multiLvlStrRef>
          </c:cat>
          <c:val>
            <c:numRef>
              <c:f>Sheet1!$D$2:$D$4</c:f>
              <c:numCache>
                <c:formatCode>General</c:formatCode>
                <c:ptCount val="3"/>
                <c:pt idx="0">
                  <c:v>0.11</c:v>
                </c:pt>
                <c:pt idx="1">
                  <c:v>0.18</c:v>
                </c:pt>
                <c:pt idx="2">
                  <c:v>0.18</c:v>
                </c:pt>
              </c:numCache>
            </c:numRef>
          </c:val>
        </c:ser>
        <c:ser>
          <c:idx val="3"/>
          <c:order val="3"/>
          <c:tx>
            <c:strRef>
              <c:f>Sheet1!$E$1</c:f>
              <c:strCache>
                <c:ptCount val="1"/>
                <c:pt idx="0">
                  <c:v>inferable from text</c:v>
                </c:pt>
              </c:strCache>
            </c:strRef>
          </c:tx>
          <c:spPr>
            <a:solidFill>
              <a:srgbClr val="DCE4E8"/>
            </a:solidFill>
            <a:effectLst/>
          </c:spPr>
          <c:invertIfNegative val="0"/>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NLA @42</c:v>
                  </c:pt>
                  <c:pt idx="1">
                    <c:v>Oracle Lens @42</c:v>
                  </c:pt>
                  <c:pt idx="2">
                    <c:v>Text-only Qwen</c:v>
                  </c:pt>
                </c:lvl>
              </c:multiLvlStrCache>
            </c:multiLvlStrRef>
          </c:cat>
          <c:val>
            <c:numRef>
              <c:f>Sheet1!$E$2:$E$4</c:f>
              <c:numCache>
                <c:formatCode>General</c:formatCode>
                <c:ptCount val="3"/>
                <c:pt idx="0">
                  <c:v>0.38</c:v>
                </c:pt>
                <c:pt idx="1">
                  <c:v>0.14</c:v>
                </c:pt>
                <c:pt idx="2">
                  <c:v>0.49</c:v>
                </c:pt>
              </c:numCache>
            </c:numRef>
          </c:val>
        </c:ser>
        <c:ser>
          <c:idx val="4"/>
          <c:order val="4"/>
          <c:tx>
            <c:strRef>
              <c:f>Sheet1!$F$1</c:f>
              <c:strCache>
                <c:ptCount val="1"/>
                <c:pt idx="0">
                  <c:v>unsupported</c:v>
                </c:pt>
              </c:strCache>
            </c:strRef>
          </c:tx>
          <c:spPr>
            <a:solidFill>
              <a:srgbClr val="F0F4F6"/>
            </a:solidFill>
            <a:effectLst/>
          </c:spPr>
          <c:invertIfNegative val="0"/>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NLA @42</c:v>
                  </c:pt>
                  <c:pt idx="1">
                    <c:v>Oracle Lens @42</c:v>
                  </c:pt>
                  <c:pt idx="2">
                    <c:v>Text-only Qwen</c:v>
                  </c:pt>
                </c:lvl>
              </c:multiLvlStrCache>
            </c:multiLvlStrRef>
          </c:cat>
          <c:val>
            <c:numRef>
              <c:f>Sheet1!$F$2:$F$4</c:f>
              <c:numCache>
                <c:formatCode>General</c:formatCode>
                <c:ptCount val="3"/>
                <c:pt idx="0">
                  <c:v>0.06</c:v>
                </c:pt>
                <c:pt idx="1">
                  <c:v>0.28</c:v>
                </c:pt>
                <c:pt idx="2">
                  <c:v>0.02</c:v>
                </c:pt>
              </c:numCache>
            </c:numRef>
          </c:val>
        </c:ser>
        <c:dLbls>
          <c:numFmt formatCode="0%" sourceLinked="0"/>
          <c:txPr>
            <a:bodyPr/>
            <a:lstStyle/>
            <a:p>
              <a:pPr>
                <a:defRPr b="0" i="0" strike="noStrike" sz="1000" u="none">
                  <a:solidFill>
                    <a:srgbClr val="15222C"/>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frozen published floor</c:v>
                </c:pt>
              </c:strCache>
            </c:strRef>
          </c:tx>
          <c:spPr>
            <a:solidFill>
              <a:srgbClr val="E9D3A1"/>
            </a:solidFill>
            <a:effectLst/>
          </c:spPr>
          <c:invertIfNegative val="0"/>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Sheet1!$B$2:$B$5</c:f>
              <c:numCache>
                <c:formatCode>General</c:formatCode>
                <c:ptCount val="4"/>
                <c:pt idx="0">
                  <c:v>0.67</c:v>
                </c:pt>
                <c:pt idx="1">
                  <c:v>0.42</c:v>
                </c:pt>
                <c:pt idx="2">
                  <c:v>0.69</c:v>
                </c:pt>
                <c:pt idx="3">
                  <c:v>0.59</c:v>
                </c:pt>
              </c:numCache>
            </c:numRef>
          </c:val>
        </c:ser>
        <c:ser>
          <c:idx val="1"/>
          <c:order val="1"/>
          <c:tx>
            <c:strRef>
              <c:f>Sheet1!$C$1</c:f>
              <c:strCache>
                <c:ptCount val="1"/>
                <c:pt idx="0">
                  <c:v>our re-run (same template, thinking off)</c:v>
                </c:pt>
              </c:strCache>
            </c:strRef>
          </c:tx>
          <c:spPr>
            <a:solidFill>
              <a:srgbClr val="C8921E"/>
            </a:solidFill>
            <a:effectLst/>
          </c:spPr>
          <c:invertIfNegative val="0"/>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cat>
            <c:multiLvlStrRef>
              <c:f>Sheet1!$A$2:$A$5</c:f>
              <c:multiLvlStrCache>
                <c:ptCount val="4"/>
                <c:lvl>
                  <c:pt idx="0">
                    <c:v>typo</c:v>
                  </c:pt>
                  <c:pt idx="1">
                    <c:v>multilingual</c:v>
                  </c:pt>
                  <c:pt idx="2">
                    <c:v>multihop</c:v>
                  </c:pt>
                  <c:pt idx="3">
                    <c:v>basic readout</c:v>
                  </c:pt>
                </c:lvl>
              </c:multiLvlStrCache>
            </c:multiLvlStrRef>
          </c:cat>
          <c:val>
            <c:numRef>
              <c:f>Sheet1!$C$2:$C$5</c:f>
              <c:numCache>
                <c:formatCode>General</c:formatCode>
                <c:ptCount val="4"/>
                <c:pt idx="0">
                  <c:v>0.83</c:v>
                </c:pt>
                <c:pt idx="1">
                  <c:v>0.47</c:v>
                </c:pt>
                <c:pt idx="2">
                  <c:v>0.84</c:v>
                </c:pt>
                <c:pt idx="3">
                  <c:v>0.8</c:v>
                </c:pt>
              </c:numCache>
            </c:numRef>
          </c:val>
        </c:ser>
        <c:dLbls>
          <c:numFmt formatCode="0.00" sourceLinked="0"/>
          <c:txPr>
            <a:bodyPr/>
            <a:lstStyle/>
            <a:p>
              <a:pPr>
                <a:defRPr b="0" i="0" strike="noStrike" sz="1100" u="none">
                  <a:solidFill>
                    <a:srgbClr val="15222C"/>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200" b="0" i="0" u="none" strike="noStrike">
                <a:solidFill>
                  <a:srgbClr val="5E6E7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B"/>
              </a:solidFill>
              <a:prstDash val="solid"/>
              <a:round/>
            </a:ln>
          </c:spPr>
        </c:majorGridlines>
        <c:title>
          <c:tx>
            <c:rich>
              <a:bodyPr/>
              <a:lstStyle/>
              <a:p>
                <a:pPr>
                  <a:defRPr sz="1100" b="0" i="0" u="none" strike="noStrike">
                    <a:solidFill>
                      <a:srgbClr val="5E6E78"/>
                    </a:solidFill>
                    <a:latin typeface="Arial"/>
                  </a:defRPr>
                </a:pPr>
                <a:r>
                  <a:rPr sz="1100" b="0" i="0" u="none" strike="noStrike">
                    <a:solidFill>
                      <a:srgbClr val="5E6E78"/>
                    </a:solidFill>
                    <a:latin typeface="Arial"/>
                  </a:rPr>
                  <a:t>prompt-only pass rate</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C"/>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Suraj. This is my MATS 12.0 project in Neel Nanda's stream, at the end of the prep phase (6 October). The title is the whole question: when a Natural Language Autoencoder (NLA) describes an activation, is it reading content the model never says out loud, or is it reconstructing the prompt and re-solving it, which a text-only model could also do? Everything is on Qwen3.6-27B at layer 42 of 64, with three public 'readers': the NLA, the Oracle Lens and the J-Lens. The plan: the question and our answer so far, then enough background to follow it, the design, the gates, three findings, what's still pending, and the sprint plan (19 Oct to 1 Nov).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Neel's question, verbatim from the MATS 12.0 doc: 'What can NLAs capture that Oracle Lens / J Lens don't? Is it really the stuff not in the workspace?' Our title asks the sharp version: do NLAs read what the model can't say? Here is the provisional answer first. One: we surveyed about a dozen natural features. The content outside the J-space that the model actually uses looks like positional bookkeeping, for example col, the characters since the last newline. On col there is no robust descriptive reading: the readers' own descriptions don't follow it. In the pilot we found two candidate narrow channels, the Oracle Lens's next-token continuation and one NLA phrasing, and both go into the pre-registered main run for confirmation. So the answer has two branches: if they replicate, 'barely, in narrow channels, and not in the language they use to describe what they read'; if not, 'no, on the one natural non-J feature the model uses'. Two: the NLA doesn't simply re-solve the text either. When we plant a different bridge inside the activation, it rewrites the prompt to fit. Three: on WorkspaceBench, a text model given the prompt names the target more often than the same model given the NLA's readout, 0.89 against 0.60, and adding the readout to the prompt doesn't help. Parts A, D and the rewrite finding stand on either branch. Caveats: one clean non-J feature, and pilot-scale numbers on a declared, excluded split with many looks, which I disclose explicitly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care? Neel's doc frames a whole agenda as 'preparing for a world where we don't have monitorable CoT'. Today a lot of reasoning is written out. If that goes away, through latent reasoning or unfaithful CoT, our main window is reading activations directly. Activation verbalizers like NLAs and the Oracle Lens are promising because they produce fluent descriptions. But fluency is cheap: if a reader works by reconstructing the prompt from the activation and then thinking about it, it adds nothing that a text model with the transcript couldn't do. So the bar is: does the reader report content that isn't recoverable from the text? 'Non-workspace' content, information the model uses but can't verbalise, is the sharpest version of that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mental model. Qwen3.6-27B has 64 layers. Every token position carries a vector of 5,120 numbers, the residual stream, and every layer reads it and writes an update back. By the last token of 'The capital of the country famous for the Eiffel Tower is', the vector somewhere encodes France, the relation 'capital', and also mundane things like where we are in the line. All three readers in this talk get exactly one such vector: the output of decoder block 42 (we checked this convention carefully, more later), at the last token. Layer 42 matters because the NLA we use was only trained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workspace' paper from Anthropic (July 2026) argues there's a privileged subspace holding what the model is poised to verbalise. They find it with the J-Lens: take the average Jacobian from a layer to the final layer, push a vector through it and the unembedding, and read off the tokens it would make the model say. Averaging over contexts is the point: it finds directions that are verbalizable in general. The J-space is the span of those readable directions. We define it as the top-r singular directions of the unembedding-times-Jacobian matrix. Our rank rule gives r* = 384 out of 5,120, and we always check 4r* = 1,536 as well. The spectrum has no elbow, so we never say 'outside the workspace', only 'outside the top-r J-space'. Crucially, most of the residual stream is not J-space; the paper says J-space excess variance never exceeds 10%. Content outside is what Neel's question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readers, colour-coded for the rest of the talk: teal J-Lens, violet Oracle Lens, vermilion NLA. The J-Lens is linear: no learned decoder, it just lists tokens. We use the neuronpedia n1000 lens, fit on 1,000 prompts, which is also WorkspaceBench's artifact. The Oracle Lens is a LoRA on Qwen that takes the vector as a special token embedding, scaled to norm 16000, and writes concept bullets. It was RL-trained at layers 20 to 60 in steps of 4, so 42 is off its grid; we checked that this doesn't hurt it. In practice its outputs are often continuations of the text, like the French sentence shown. The NLA is a pair of Qwen copies: a verbalizer that writes an explanation, and a reconstructor that tries to rebuild the vector from the explanation. RL rewards good reconstruction. We reproduced its fraction of variance explained, 0.761 against the card's 0.766. It exists only at layer 42. Neel's observation is that the NLA seems to capture more than the other two. Our question is where that 'more'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non-workspace? Four properties. It must be decodable by a linear probe at layer 42. It must be outside the top-r J-space by two criteria: geometrically, its direction is not concentrated in the J-space (enrichment at most 1.5 at both ranks; 1.0 is random), and functionally, the J-Lens readout does not track it. And it must be causally used: steering along the J-removed direction must move the model's behaviour far more than random directions. Self-report is recorded but not a gate: in my Phase 1 project colours were clearly in the J-space yet never named, so failure to self-report often just means bad elicitation. The example we'll live with: col, the number of characters since the last newline in hard-wrapped text. The model uses it to decide when to break the line, and as you'll see it passes every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of the project. The activation at layer 42 encodes the prompt very well; the NLA's reconstructor proves that. So a reader has two ways to be right. Path one, reading: it reports a feature the model computed. Path two, re-solving: it effectively decodes the prompt, then does the reasoning itself, the way any capable text model would. On natural benchmarks both paths give the same answer, so accuracy can't separate them. The way out is an intervention: change the feature inside the activation and keep the text exactly the same. A reader that reads will follow the change; a re-solver, which only sees the reconstructed text, won't. There's a reason to worry about re-solving for NLAs specifically: their warm-start training explanations were written by Sonnet from the text prefix alone, without activations. In the concurrent pilot's breakdown about 60% of NLA multihop concepts were prompt wording or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stand on four pieces of work, and I want to be precise and fair about each. A fellow MATS 12 applicant posted a pilot on exactly this question on 4 October: same model, same readers. They found the prose readers mostly re-solve multihop questions, and wrote that the NLA never finds a hidden step the Oracle Lens misses. They explicitly list content known to be outside the J-space as not tested. I re-analysed their raw files; everything reproduces (appendix). Viswanath showed on Llama-3.3-70B that the NLA names injected non-J vector components that the model itself cannot name. His unposted follow-up suggests natural safety content is mostly non-J, but he flags himself that the NLA might infer from thematic residue rather than decode. Hong, on our exact model, found the NLA's RL gains are almost all outside the J-space, while most of its specific claims are unsupported. And the workspace paper gives candidate ground truth: features the model uses that don't show up in the J-space. What's open is the combination: natural features with known values, a causal test that separates reading from re-solving, and all three readers on Qwen at a matched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2×2 came out of the first critique round. Rows: does the content live in the J-space or outside it. Columns: does the reader's output follow the activation, or follow the text. Top-left is workspace reading, which we expect from everyone and use as calibration. Right column is re-solving: the reader is really responding to the text. Bottom-left is the cell Neel's question is about: a reader that reports content outside the J-space by actually reading the activation. We measure the columns by interventions: move the feature with the text fixed (left column) or move the text with the feature clamped (right column). Our original design had four 'buckets', prompt / workspace / non-workspace / unsupported, but Fable pointed out they weren't a partition: character count is non-J and also computable from the text. The 2×2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Tool A is the headline: find natural features that live outside the J-space, then steer them with the text fixed. That's split into Part A, 'what even counts as non-J', which turned into a finding in itself, and Part B, the deep dive on col. Tool C plants an intermediate (we now treat it as in-J calibration, because the planted direction is strongly J-enriched): we move the activation along the direction separating, say, France from Sweden, so the model's own answer flips while the prompt is unchanged. Does the reader report the planted bridge or the one implied by the text? Tool D is a decomposition on the published benchmark: how much of each reader's success can a text-only model match? We cut a fourth tool, split-injection, after critique: Viswanath already has the 70B result and it's the most out-of-distribution manipulation. The results come in four parts: A, what counts as non-J; B, the col null; C, what the NLA does read beyond the workspace; D, the benchmark decomposition. The scoring currency is the same everywhere: paired log-odds between two candidate strings, written in the reader's own style, compared against random directions of the same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every later result uses, so let me be concrete. Take a passage and the activation h at the read token. Build two versions: push the col direction up by Δ, and down by Δ. We use a 'centred' construction, removing the item's own component first, so both versions have exactly the same norm; I'll show later why that mattered. Feed both to the reader and score two candidate phrases in its native style, say 'near the end of a long line' versus 'at the start of a line'. If the reader reads col, the log-odds should be higher for the pushed-up version on most items. We never compare against 0.5 alone. We repeat the whole thing with 20 random directions of the same norm and report a z-score against that null band. Three guards. The leak detector: the J-Lens must not move, or the content has leaked into the J-space. The dose must be in the natural range: we use the 90th percentile of the natural projection, about 8 to 11% of the activation norm. And we steer along the direction with the top-1,536 J-space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process, because it shaped the results. I ran the engineering with parallel coding agents doing gates and experiments, logged every decision (D1 to D20 so far), and after each block handed a write-up to 'Fable', a separate model instance acting as an adversarial research guide, asked to be blunt. Four critiques changed the design. Round 1: my four attribution buckets weren't a partition, which gave us the 2×2. Round 2: steering upstream at layer 38 can let the model move non-J content into the J-space before the read layer, a hole I'd missed; fix: J-removed directions, a leak detector, and steering at the read layer. Round 3: once we noticed the standard non-J test passes topic, Fable helped design the calibrated gate. And the ± contrast isn't immune to dilution, which led to centred steering and made an apparent Oracle Lens effect disappear. It wasn't one-way: I pushed back that a linear probe is a reference, not a ceiling, and that using the NLA's own reconstructor as an out-of-distribution detector is partly circular. Both were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check K0: which layer was the NLA trained on? An off-by-one would quietly corrupt every NLA number. 'Layer 42' could mean the output of block 41 or of block 42. We recomputed activations for the NLA's 64 shipped example texts and compared. Block-42 output matches with median cosine 0.9999 and mean relative L2 error 0.026 (median 0.017); block 41 is at 0.22 error and cosine 0.974. Cosine alone is a weak discriminator because adjacent layers are all about 0.97 similar, so relative L2 is the clean signal, and block 42 wins on all 64 examples. The functional test agrees: the NLA's FVE is 0.760 on block-42 captures and 0.695 on block-41 captures. And we reproduced its headline FVE, 0.761 against the card's 0.766. One honesty note: in an early handoff to Fable I reported the layer as ambiguous, 0.974 vs 0.95, from a partial agent output. That 0.974 was the wrong convention, and we sent the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gate: reproduce the published benchmark. WorkspaceBench is the September 2026 benchmark for exactly these readers on Qwen3.6-27B. We ran the four regex-scored multi-token families, 100 items each, with the bench's own code, for all three readers. All 12 published numbers fall inside our 95% bootstrap intervals. The largest gap is the NLA on multihop, 0.15 against 0.22, at the edge of our interval, consistent with k=1 sampling noise. Directions are mixed, so no systematic setup difference. Solid bars are ours, pale bars published. Note the protocol: the Oracle Lens and J-Lens are scored best-of-11 layers, the NLA at one layer. Hold that thought. Cost: $2.80 of API calls for the J-Lens summariser and about 1.5 GPU-hours.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replicating we found something worth a line in the write-up. The published rule for the multi-layer readers is per-item any-layer: an item counts as a pass if any of 11 layers gets it. Applying that rule reproduces the published values exactly. But it's both layer selection and, since each layer is an independent sample, a best-of-11 sampling bonus. The violet curve is the Oracle Lens per layer. At layer 42 it scores 0.28 on multilingual against the NLA's 0.42, and 0.45 against 0.57 on basic readout. Its peak is late, around layer 56, at 0.43 and 0.62, which only slightly exceeds the NLA, within noise. The any-of-11 rule lifts it to 0.65 and 0.73. So this is a protocol asymmetry, not an error: OL's layer flexibility is a real capability. But a matched comparison should report both. Note also that layer 42 is a weak layer for the Oracle Lens on these families, so the NLA's same-layer tie is less impressive than it looks. Decision D7: layer 42 is primary for all three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checkpoint. We know the NLA's layer convention, we reproduce its reconstruction quality, and we reproduce the benchmark for all three readers. And we've learned that at a matched layer the NLA is at least as good as the Oracle Lens. Nothing yet about where the NLA's content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started as plumbing, finding features to steer, and became a co-headline: the standard way of certifying 'non-workspace' content doesn't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evidence for 'outside the J-space' is: train a probe, project out the J-space, and show the probe still works. The J-space paper's evidence for POS and tense is of this kind. We ran it on seven features, including topic and language, which are obviously in the J-space. Every feature keeps at least 98% of its probe performance, at both ranks. The chart shows retention after J-removal minus retention after removing a random subspace of the same rank: all within ±0.02 of zero. Topic goes from 0.849 to 0.834. Under the paper's own recipe, projecting out 25 J atoms from the probe, topic goes 0.900 to 0.880, as 'non-J' as tense or POS. The reason is redundancy: a strong feature is linearly decodable from almost any large subspace of a 5,120-dimensional vector. Framing matters here. This is a property of the test, not a claim that their conclusion is wrong. There are three differences from the paper: the model (Claude vs Qwen), the lens, and 25 atoms vs rank 384 or 1,536. Our claim is 'the test as run can't support the conclusion', and we offer the random-subspace control as a drop-in.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a symmetric, calibrated gate with Fable. Geometric criterion: take the feature's difference-in-means direction and ask how much of its energy lies in the top-r J-space, relative to a random direction. 1.0 is random, and for reference a generic activation direction is already 2.2 at r*. We call a feature non-J if it's at most 1.5 at both ranks. Functional criterion: does the J-Lens readout actually track the feature's value, in the form the lens emits, compared to a shuffled-label null band? Under this gate the picture separates cleanly. col, col_report and bracket depth are J-depleted. POS, tense, language and topic are J-enriched, tense at 5.6 and topic at 6.0. Bracket depth narrowly fails the functional test (0.5035 against a band top of 0.501), so it's labelled diffuse-but-J-readable and excluded. POS initially looked unreadable because we searched for the word 'adjective'; the lens emits words, not labels. Classifying its top-10 tokens by part of speech shows it reads POS at 0.664. Fable predicted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table at layer 42. col is non-J under both J-Lenses: the neuronpedia lens fit on 1,000 prompts, our primary, and the 25-prompt camilablank lens, which differs a lot (vector cosine 0.79, top-25 overlap only 19%). That robustness line matters for Part B. col_report is the same count but asked as an explicit question. It was supposed to be our in-workspace count control, mirroring the paper's result that numbers enter the J-space when the model is asked to report them. On Qwen it stays out, which is itself a small model-difference finding, and it means we lost the planned calibration. The last numeric column previews Part B: when we steer along each feature's direction with the top-1,536 J-space removed, how much of the full causal effect survives? col keeps 79%; tense keeps 19%; language 5%. For in-J features the causal route runs through the J-space. Language here is Russian vs Polish, the direction used throughout experiment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rests on one feature, so we gated nine backups with the same procedure, 260 items each, about $80 of compute. None qualifies. The pattern is the finding. The count and positional features, col, indentation, words since sentence start and bracket depth, are geometrically J-depleted. Every non-count feature we tried, capitalisation, coding language, quote state and gender agreement, is J-enriched or J-Lens-readable, and keeps only 12 to 23% of its causal effect after J-removal, against col's 79%. (The backup percentages were measured at layer 38 against the raw direction, col's at layer 42, so compare the pattern, not the decimals.) So on Qwen at layer 42, across this survey of about a dozen features, natural non-workspace content looks like positional bookkeeping. That is a survey result, not a theorem: a different model, layer or feature family could break it. That means we can't defeat the objection 'col is special because it's a count' with a non-count feature. We state it as a scope limit. Second result: the list index with numerals in context, our planned in-J count control, failed. Digits never reach the J-Lens top-10. Numbers just don't enter Qwen's J-space in these settings, consistent with col_report. So the count-verbalisation calibration gap stays open; I come back to it in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checkpoint. The usual test for non-workspace content is uninformative; the calibrated gate works; and it leaves exactly one clean feature, col. Everything non-J on this model at this layer looks like positional bookkeeping, and numbers don't enter the J-space at all. Now: does any reader read 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First sentence, as in the write-up: this is one feature. Generalisation is open, and Part A told us why it's hard to get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col is a good test. First, the model really uses it: steering along its J-removed direction shifts the log-odds of a newline by +0.99, against at most 0.02 for random directions, 49 times larger. And it keeps 79% of its full causal effect after J-removal, where tense keeps 19%. Second, and this is the 'doubly clean' part, Qwen can't count characters without chain of thought: 7% exact. Self-report is poor too: Spearman 0.42, with error no better than guessing the mean. Since both decoders are built on Qwen, they can't solve col by reconstructing the text and counting. So if a reader follows col at a valid, leak-free dose, that is activation reading, not re-solving. One nuance Fable flagged and experiment 04 confirmed: the count itself is non-J, but the newline decision it feeds is weakly J-visible. Under the strict 'full distribution' functional test, newline mass tracks col at AUROC 0.58, while the top-10 form is at chance, 0.501. So we keep separate templates for the count ('a long line') and the decision ('a line break is coming'), and include newline tokens in the leak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story worth telling, because it shows why the guards exist. In the pipeline smoke test on a toy feature, French vs German, the J-removed direction gave a beautiful contrast: the NLA tracked it, 0.60, and the Oracle Lens anti-tracked, 0.45. Exactly the NLA-beats-OL pattern Neel's question would predict. Fable argued the ± contrast isn't immune to norm effects and suggested norm-preserving steering. We tested it: it's a no-op, because both decoders only see the direction of their input. The NLA injects at its own norm, the Oracle Lens at 16000 times the unit vector. The real cause was dilution: an item that already carries the feature ends up with its other content weighted differently on the plus and minus sides. Centred steering, which removes the item's own component and gives both sides equal norm, fixed it. The Oracle Lens went to 0.49, inside the null band. The NLA stayed at 0.62, 8.3 SD above the band. But the J-Lens still anti-tracked, 4 to 7 SD outside its band: the J-removed direction genuinely leaks into J-Lens-visible directions. So by our own leak rule even the NLA's tracking here couldn't be claimed as non-J reading. The detector is strict enough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lessons from the col pilot, 60 declared-pilot passages excluded from the main analysis. First, leaks. Removing the top-384 J-space from col's direction is not enough: the steered direction still nudges the J-Lens newline score, z +2.6 to +3.0 at all three read layers, beyond the two-sided band. Removing the top 1,536 is clean at layers 40 and 42; at layer 44, where 4r* is only 1,024, it still leaks. So the main run steers at 4r* at layer 42. Second, the prereg's test 'CI excludes 0.5' is too weak. The NLA's numeral template at r* gave 0.54 with an interval excluding 0.5, but random directions of the same size move it just as much. The null band has to be part of every primary test. Third, the FVE guard, which checks the NLA's reconstruction doesn't degrade, fails for random directions at the q99 norm too. It's measuring norm, not col, so q90 is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col result, on the pilot split. The leak-free cell: layer 42, centred steering, the top-1,536 J-space removed, 90th-percentile dose. Three template families: the count in words, the count as a number, and the newline decision. Every bar is a z-score against random directions of the same norm. All of them sit inside ±1.96, in fact within ±1.5 for every family against both null bands. In AUROC terms the NLA is at 0.50 to 0.53 and the Oracle Lens at 0.49 to 0.51. As a fraction of what the probe recovers, which is 1.0 by construction: NLA at most 0.12, Oracle Lens at most 0.03, against a pre-registered bar of 0.25. Free text says the same: across 5,760 natural and steered readouts, neither decoder ever mentions line length. Power, since people ask: for col the binding constraint is the null band, not the number of items. Random directions genuinely move the decoders, and that direction-to-direction spread doesn't shrink with n: even at infinite n the NLA's z on these cells would be +0.6 to +1.4. But it isn't a generic power failure: workspace features clear the same band by 10 to 30 SD (per-item effect sizes +1.3 to +1.5 vs about −0.2 to −0.3 for col). The NLA-minus-OL difference on col is +0.015 to +0.028, below the pre-registered 0.05 bar, so H3 will likely fail for col, and we say so at the freeze. With these fixed templates, even the raw col direction, which strongly moves the J-Lens's newline readout (AUROC up to 0.84), doesn't move either decoder. But a null only means something if the readers would have noticed a workspace feature at the same dose.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and the calibration that makes the col null interpretable: kill check K3, which passed. Same pipeline, same random null directions, same 90th-percentile dose rule, raw directions, centred steering. In fact the workspace features got a slightly smaller push, 9.5% of the activation norm, than col, 10.8%. The NLA tracks language at 0.83 and tense at 0.83, 12 to 31 SD beyond both null bands. The Oracle Lens tracks language at 0.76. The J-Lens, a competitor here, tracks both. On col, at a larger push, both decoders sit at 0.48, inside both bands. Now the asymmetry, which I want to be upfront about. The NLA's col null is secure: it reads both workspace features at this dose. The Oracle Lens's is less secure: on tense it only reaches 0.55, out of band but below the pre-registered 0.65 bar, and its tense tracking swings from 0.39 to 0.87 depending on the template. So for the Oracle Lens, 'doesn't read col' could partly be 'our templates don't speak its language'. Pilot split, 60 items per feature, excluded from the main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version of the same check: instead of each feature's own 90th-percentile dose, every item is pushed by exactly 11% or 14% of its activation norm, for language, tense and col alike, with the same null directions. At 0.11 the NLA tracks language at 0.87 and tense at 0.85, the Oracle Lens language at 0.80; at 0.14 they rise to 0.92, 0.89 and 0.85. col sits at 0.47 to 0.48 for both decoders at both norms, z −0.7 and −1.0 against the J-complement band. So the col null is not a dose-scale artefact. The Oracle Lens on tense stays at 0.56 to 0.57, and that is a template story: across templates its tense tracking ranges from 0.39 ('- happened in the past') to 0.87 ('- was' vs '- is'). That's why the col claim is explicitly 'with these frozen templates', and why the main run adds Oracle-Lens-style continuation candidates for 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asking whether readers follow col, we checked the push itself does something. At layer 42, at the 90th-percentile dose, the J-removed col direction shifts the log-odds of a newline by +0.72, 55 SD beyond random directions; the raw direction by +1.44. In free generation, the line wraps 1.55 characters earlier under the J-removed push, 6.8 under the raw one. Yet under the J-removed push the J-Lens newline readout stays at 0.50 and our label and content leak sets are clean. So this is content the model uses, at the dose we test, that the J-Lens cannot see. That is the target for Neel's question. Following Fable round 6, q90 is the primary dose and the r11 cell is only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retracts a sentence from round 5. We had said neither decoder reads col 'in any phrasing'. That rested on fixed templates. With native, mined phrasings, two narrow channels do follow the J-removed col direction, leak-free. The Oracle Lens's next-token continuation channel, scoring 'a newline comes next' versus 'another word', tracks col: 0.76 on the raw direction at z +6.6, and 0.67 to 0.72 with the top-1,536 J-space removed, at a conservative z of about +3.9. The shift is linear in dose, and with the adapter switched off, base Qwen in the same carrier prompt slightly anti-tracks (0.40 to 0.44), so it needs the LoRA. But the Oracle Lens is the model plus a LoRA: it reads what the model reads and says what the model can say. J-removal keeps about 78% of its shift per unit dose, close to the model's own behavioural 70%. That favours re-instatement: the LoRA hands the activation back to Qwen's own next-token circuitry, which predicts a newline, rather than the Oracle Lens reporting line position. Every descriptive Oracle Lens col template is flat or anti-tracking. And a newline-probability shift is only useful if you already know to measure it, so it isn't an interpretability readout. The NLA has one phrasing, 'near the end of a hard-wrapped line', at 0.63 on the primary q90 cell, borderline, and 0.67 at the r11 sensitivity dose. These are candidates, not findings, for the reason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forking paths. Across three pilot rounds we scored about 514 template-level cells and looked at roughly 2,000 z-values. Under a normal band about half a false z-of-3 col cell is expected by chance, and we saw two clusters. P1 is the single best of 11 NLA col templates; P2 is the only Oracle Lens col family with any signal, fixed before its round was scored. So these are hypotheses, and we expect them to shrink on fresh items. The main run therefore names four primaries in advance, uses 100 null directions per band, Holm over four, requires sign agreement with a declared family of neighbouring cells, and runs on fresh, passage-disjoint items: 240 col, 160 tense, 120 language. No pilot number enters any confirmatory test. Two pre-registered negatives use equivalence tests, and a template-free judge check reads free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we'll confirm it, from prereg revision 4. Four primary cells, each fully specified now: reader, direction, dose and the literal template strings. P1, the NLA's col template; P2, the Oracle Lens's next-token continuation pairs; P3 and P4, J-removed tense for the Oracle Lens and the NLA. All at layer 42, centred steering, top-1,536 J-space removed, 90th-percentile dose. A primary is claimed only if its z is at least 3 against both null bands, each built from 100 random directions, it beats all 100, it survives Holm over four, its declared family of neighbouring cells agrees in sign, and it isn't voided by the leak or FVE guard. Around them: two positive controls, language and tense at matched norm; five pre-registered negatives for the Oracle Lens's descriptive col templates, tested for equivalence with a smallest effect of interest of AUROC 0.55; and a template-free judge check over 6,720 free readouts. Power comes from the band, not n: going from 60 to 240 items moves P1's binding z by about 0.1. And the honest prediction: P1 sits only 0.5 SD above the bar in the pilot and its family mean is z +2.5 to +2.9, so winner's-curse shrinkage may well fail it. Our priors say so: 0.35 for P1, 0.55 for P2, 0.85 to 0.90 for the tense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checkpoint. At doses where both decoders read workspace features, their descriptive language doesn't follow col, even though the same push measurably changes the model's newline behaviour and is invisible to the J-Lens. Two narrow channels, the Oracle Lens's continuation and one NLA phrasing, are candidates for the main run, with the forking-paths caveat. All pilot-scale.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If the NLA doesn't read col, what is its extra? Two pieces of evidence: a tense component outside the top-1,536 J-space, and how it describes planted activations.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 decoders read beyond the workspace? Tense, with the top-1,536 J-space projected out. With the fixed calibration templates only the NLA moved, 0.60 at z +8.7, and we briefly read that as an NLA-over-Oracle-Lens contrast. With mined templates that contrast does not survive: the Oracle Lens's continuation-style tense templates reach 0.66 to 0.79, z +12 to +17, at or above the NLA's 0.59 to 0.74. Same template lesson as col. It is leak-free at layer 42 under both label and content sets. It's a geometric claim: tense is a feature the model can verbalise, self-reported 87% of the time, so this is the decoders reading the distributed tail of a verbalisable feature beyond the top-r J-space. Both tense cells are main-run primaries. The adapter-off check for the Oracle Lens on tense, which would tell us whether this is also re-instatement, hasn't been run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Planted intermediates, which after Fable round 5 we relabel as in-J calibration rather than a re-solving test. Prompts like 'The capital of the country famous for the Eiffel Tower is'. At layer 38 we swap the bridge's class-mean projection from France to a partner country, here Sweden, keeping the prompt identical. We keep an item only if the model's own answer flips, unrelated prompts barely change, and the original prompt is still decodable at layer 42. 431 of 614 items pass at layer 38, so kill check K4 passes. All three readers report the planted bridge: Oracle Lens 1.00, NLA 0.98, J-Lens 1.00, up from 1 to 3% unplanted, more than 80 SD beyond random plants. That's the reading pattern, but it's calibration, not non-workspace evidence: the swap direction is strongly J-enriched (6.5×) and the J-Lens reads it too. And by layer 42 the model already encodes Sweden's answer, so a reader could back-infer the bridge from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favourite qualitative result. In free-form explanations of planted activations, the NLA names the planted country in 12 of 12 cases. But it doesn't say 'a question about the Eiffel Tower, answer Sweden'. It rewrites the clue: 'the country whose CEO designed adopted Volvo… Sweden', or 'maple leaves (Canada)'. So the NLA's apparent prompt reconstruction is itself generated from the latent. It confabulates a prompt consistent with what the activation now encodes. So whatever branch the col result lands on, the NLA is not reading the text and then solving: its language model generates a consistent story from the latent. That finding stands either way. Dose caveat: to flip the answer we needed large pushes, median 49% of the activation norm, 1.5 to 3 times the natural distance between countries; the main run makes the 109 items at alpha ≤ 1.5 primary. Twelve free-form samples is small; the main run scales this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from tool D: is the target information in the readers' readouts something a text model could get from the prompt alone? A consistency check (e) raised during the Fable round is now resolved, and the wording here is the defensible version from D22.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comparison, pooled over 400 items at layer 42. The NLA passes 47%. The Oracle Lens at the same layer 40%. The J-Lens 2%. Now the ochre bars: models that never see the activation. Base Qwen, writing in the NLA's own style from the prompt alone, one sample, gets 46%. That's statistically indistinguishable from the NLA: McNemar p = 0.75. With the benchmark's own prompt-only template the same Qwen gets 76%, and Gemini 3.8 Flash gets 75%. And the pale bar: give a text model only the NLA's readout, never the prompt, and ask it to re-solve. It scores 0.60 with Gemini (0.57 with Qwen), more than the NLA's own 0.47. The readouts carry more re-solvable content than they get credit for. An important caveat on that tie: the 0.46 arm used the NLA's own instruction, which never asks for the answer, so it understates what the text makes available; the same Qwen with the bench template scores 0.76. And among the readers, the NLA does beat the Oracle Lens at the same layer, 187 hits vs 159.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resolves the consistency check Fable raised. Earlier, a re-solver reading only the NLA's readout scored 0.57 to 0.60, above the 0.46 text arm, which looked like the readouts carried something the text didn't. It was an instruction mismatch: the 0.46 arm used the NLA's own instruction, which never asks for the answer, while the re-solver instruction asks for the entity and its language, which is exactly what the regex rewards. So we ran the fair comparison: the same Gemini re-solver, same template, one sample, with only the input changing. Given the prompt alone it names the target 89% of the time. Given only the NLA's readout, 60%; the Oracle Lens's readout, 56%. Given prompt plus readout, 88%: adding the readout doesn't help (p = 0.38 and 0.47). The residual readout-only hits, 4 for the NLA and 2 for the Oracle Lens out of 400, are all regex-form artefacts: uncredited short forms, the Oracle Lens's Chinese code-switching copied through, one name-order variant. The defensible sentence, from D22: on WorkspaceBench's four regex multi-token families at layer 42, the target information in NLA and Oracle Lens readouts is recoverable from the prompt text alone. Claims to avoid: 'the readers re-solve from text', because this data can't show the mechanism; and 'readouts contain nothing beyond text', because only these families' targets were tested. Per family, text crushes the readers on multihop (NLA 15 vs text-only Qwen 44 vs Gemini 75); typo is the only family where readers beat the NLA-style text arm, a register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Claim-level view. A judge splits each readout into atomic claims and labels each against the text and the gold answer. Text-verifiable precision is the share of checkable claims that are true; 'unsupported' is not counted as false. NLA 0.62, Oracle Lens 0.52, and the text-only Qwen 0.92. The error profiles differ: the NLA's contradictions are mostly near-miss quotations of the prompt, consistent with a reader that reconstructs the prompt imperfectly. The Oracle Lens's are wrong entities and facts, plus 28% unsupported specifics. And look at the 'matches gold target' slice: 11% NLA, 18% OL, and 18% for the text-only model. A model with no activation makes as many gold-consistent claims as either reader. Judge validity: a second judge from a different family agrees at kappa 0.72 to 0.77 on 40 claims. The pre-registered human-labelled subset is still to do, so treat these as judge-based.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side finding we were careful with. WorkspaceBench publishes a 'prompt-only floor': stock Qwen sees only the text. Re-running its exact template and sampling under the thinking-off rendering every reader uses, we get 0.83, 0.47, 0.84 and 0.80, against frozen values of 0.67, 0.42, 0.69 and 0.59. Significant on three of four families, and an earlier independent draw agreed. We could not find the cause: no rendering we tried reproduces the frozen numbers exactly, the frozen run has unexplained empty cells, and the generator code isn't public. So we say 'appear too low', treat the frozen floors as a lower bound, and none of our conclusions depend on them. If confirmed, the published gaps between readers and the floor flatter the readers. Contacting the authors is an outward-facing decision we've left for after the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ledger. Dark chips are established on full data, ochre chips are pilot-scale (60 items per feature, excluded from the main analysis), grey are tentative. Read top to bottom: sound instruments; a gate that leaves one clean non-workspace feature, which is positional; decoders whose descriptions read workspace features but not col, with two candidate narrow channels; decoders that read the tail of verbalisable features, and an NLA that generates its story from the latent; and a benchmark whose targets are recoverable from the prompt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title question: do NLAs read what the model can't say? The honest answer today is a pre-registered fork. If the two candidate channels replicate on fresh items after Holm correction, the answer is: barely, in narrow channels, and not in the language they use to describe what they read. We'd say 'channel-specific sensitivity', never 'reads'; and for the Oracle Lens the likely mechanism is re-instatement, the LoRA handing the activation back to Qwen's own newline circuitry. Oracle Lens is the model plus a LoRA: it reads what the model reads and says what the model can say. If they don't replicate, the answer is: no, on the one natural non-J feature the model uses; and that null is interpretable because both decoders read workspace features at the same dose. Three results stand on either branch: Part A's methodological finding and survey, Part D's benchmark decomposition, and the finding that the NLA generates its prompt reconstruction from the latent. Caveats on both branches: one clean non-J feature; pilot numbers with many looks; the Oracle Lens's template fragility; and the open count-verbalisation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pre-freeze checks stand. Done: the re-solver consistency check, the behavioural validation at q90, and the natural-col text baseline.  Running: three tests of the Oracle Lens mechanism. If steering indentation, which the model does not act on, still shifts OL's continuation, OL reads beyond what the model acts on; if the ratio of OL's shift to the model's behavioural shift is constant across col, tense and random directions, that points to re-instatement; and the adapter-off check for tense. Still open too: a class-mean col direction as robustness. The bottom line is the confirmatory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Threats to validity, each with what addresses it. The big two are the first two. One feature: the survey explains why there's no second one, so it's a scope limit, not something the sprint can fix. And the count-verbalisation gap: numbers simply don't enter Qwen's J-space, so we have no in-workspace count control, and can't fully rule out that readers fail on col because they can't talk about counts. The rest are standard: template sensitivity, pilot scale, direction choice, the J-space definition, judge validity, and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sprint, 19 October to 1 November, after a freeze on 18 October with a manifest of hashes for the prereg, templates, item banks, analysis script, null seeds and dose constants. Day 1 is the integrity check, K5: hashes match, zero overlap with pilot items, 100 null directions per band exist; then capture and the leak, FVE and behaviour checks at each primary cell, K2. Day 2 scores the four primaries against 200 null directions each and the positive controls. Day 3 runs the frozen analysis script exactly once and records which branch we're on; K3 checks the positive controls. Only then the template-free judge check, the secondary families that decide sign agreement, the Oracle Lens mechanism tests on fresh items, an interim write-up on day 7, the planted-bridge calibration, the Part A replications, labelled exploratory cells, and the last four days for figures, a statistics audit, the deviations log, the write-up and red-teaming with Fable.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contributions so far. One: a calibrated gate for non-workspace content, and a survey showing the non-J content Qwen uses at layer 42 is positional. Two: a causal pipeline that separates reading from re-solving; on col the decoders' descriptions don't follow it, and two narrow channels are candidates. Three: evidence that the NLA generates a story from the latent rather than re-solving the text. Four: a benchmark decomposition and a protocol re-analysis. What would change our minds: the candidate channels surviving or failing the pre-registered test on fresh items; a non-count non-J feature; or readouts beating the prompt on benchmarks beyond these four regex families.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questions: the decision log, the pilot re-analysis, the outcome map, costs, glossary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decision log is in notes/decisions.md. Every number in this deck traces to one of these entries or to an experiment's 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questions about the concurrent pilot. I recomputed their raw files and every headline number reproduces exactly. On their multihop data the NLA finds nothing the Oracle Lens misses: 3 NLA-only items against 8 OL-only, p = 0.23, and the two prose readers succeed on the same items. Hits look like solved facts: the bridge named together with the answer. Single-sample noise is large. Their swap test was weak and their deletion test can't separate re-solving from non-workspace reading. Their conclusion that readers mostly re-solve agrees with our Part D, on a different family set and with text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was written before the pilot results. With fixed templates the pilot landed in the bold row. With native phrasings (D24) two narrow channels move, so it now sits between that row and the first rows, pending the four pre-registered primaries on fresh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kept honest. The rows are what the RESULTS files itemise, about $180. The lead's total including runs that weren't itemised, the gates in 00 and 02, the round-5 pilot cells and experiment 09, is about $280 to $320 so far: roughly 65 to 75 GPU-hours plus about $12 of judge API calls. The sprint is estimated at $250 to $400 on single A100s.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for non-specialists and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settings, for anyone who wants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1A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21031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03320"/>
            <a:ext cx="10698480" cy="1005840"/>
          </a:xfrm>
          <a:prstGeom prst="rect">
            <a:avLst/>
          </a:prstGeom>
          <a:noFill/>
          <a:ln/>
        </p:spPr>
        <p:txBody>
          <a:bodyPr wrap="square" rtlCol="0"/>
          <a:lstStyle>
            <a:lvl1pPr algn="l" indent="0" marL="0">
              <a:buNone/>
              <a:defRPr lang="en-US" sz="1800" dirty="0">
                <a:solidFill>
                  <a:schemeClr val="accent6"/>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C1A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657600"/>
            <a:ext cx="10058400" cy="1005840"/>
          </a:xfrm>
          <a:prstGeom prst="rect">
            <a:avLst/>
          </a:prstGeom>
          <a:noFill/>
          <a:ln/>
        </p:spPr>
        <p:txBody>
          <a:bodyPr wrap="square" rtlCol="0"/>
          <a:lstStyle>
            <a:lvl1pPr algn="l" indent="0" marL="0">
              <a:buNone/>
              <a:defRPr lang="en-US" sz="1800" dirty="0">
                <a:solidFill>
                  <a:schemeClr val="accent6"/>
                </a:solidFill>
                <a:latin typeface="Arial" pitchFamily="34" charset="0"/>
                <a:ea typeface="Arial" pitchFamily="34" charset="-122"/>
                <a:cs typeface="Arial"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C1A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86868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96112"/>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73952"/>
            <a:ext cx="8229600" cy="274320"/>
          </a:xfrm>
          <a:prstGeom prst="rect">
            <a:avLst/>
          </a:prstGeom>
          <a:noFill/>
          <a:ln/>
        </p:spPr>
        <p:txBody>
          <a:bodyPr wrap="square" lIns="0" tIns="0" rIns="0" bIns="0" rtlCol="0" anchor="ctr"/>
          <a:lstStyle/>
          <a:p>
            <a:pPr indent="0" marL="0">
              <a:buNone/>
            </a:pPr>
            <a:r>
              <a:rPr lang="en-US" sz="1000" dirty="0">
                <a:solidFill>
                  <a:srgbClr val="5E6E78"/>
                </a:solidFill>
                <a:latin typeface="Arial" pitchFamily="34" charset="0"/>
                <a:ea typeface="Arial" pitchFamily="34" charset="-122"/>
                <a:cs typeface="Arial" pitchFamily="34" charset="-120"/>
              </a:rPr>
              <a:t>MATS 12.0 · Neel Nanda stream · Do NLAs read what the model can't say?</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5.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5.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5.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5.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5.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5.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21031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Do NLAs read what the model can't say?</a:t>
            </a:r>
            <a:endParaRPr lang="en-US" sz="4000" dirty="0"/>
          </a:p>
        </p:txBody>
      </p:sp>
      <p:sp>
        <p:nvSpPr>
          <p:cNvPr id="3" name="Text 0"/>
          <p:cNvSpPr/>
          <p:nvPr>
            <p:ph idx="101" type="body" hasCustomPrompt="1"/>
          </p:nvPr>
        </p:nvSpPr>
        <p:spPr>
          <a:xfrm>
            <a:off x="731520" y="3703320"/>
            <a:ext cx="1069848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Testing whether Natural Language Autoencoders capture non-workspace content in Qwen3.6-27B</a:t>
            </a:r>
            <a:endParaRPr lang="en-US" sz="1800" dirty="0"/>
          </a:p>
        </p:txBody>
      </p:sp>
      <p:sp>
        <p:nvSpPr>
          <p:cNvPr id="4" name="Text 2"/>
          <p:cNvSpPr txBox="1"/>
          <p:nvPr/>
        </p:nvSpPr>
        <p:spPr>
          <a:xfrm>
            <a:off x="731520" y="4754880"/>
            <a:ext cx="10698480" cy="320040"/>
          </a:xfrm>
          <a:prstGeom prst="rect">
            <a:avLst/>
          </a:prstGeom>
          <a:noFill/>
          <a:ln/>
        </p:spPr>
        <p:txBody>
          <a:bodyPr wrap="square" lIns="0" tIns="0" rIns="0" bIns="0" rtlCol="0" anchor="t"/>
          <a:lstStyle/>
          <a:p>
            <a:pPr indent="0" marL="0">
              <a:buNone/>
            </a:pPr>
            <a:r>
              <a:rPr lang="en-US" sz="1400" dirty="0">
                <a:solidFill>
                  <a:schemeClr val="accent6"/>
                </a:solidFill>
              </a:rPr>
              <a:t>Suraj Prasad  ·  MATS 12.0 · Neel Nanda stream  ·  Prep-phase update · 6 October 2026</a:t>
            </a:r>
            <a:endParaRPr lang="en-US" sz="1400" dirty="0"/>
          </a:p>
        </p:txBody>
      </p:sp>
      <p:sp>
        <p:nvSpPr>
          <p:cNvPr id="5" name="Shape 3"/>
          <p:cNvSpPr/>
          <p:nvPr/>
        </p:nvSpPr>
        <p:spPr>
          <a:xfrm>
            <a:off x="731520" y="5897880"/>
            <a:ext cx="10728655" cy="914"/>
          </a:xfrm>
          <a:prstGeom prst="line">
            <a:avLst/>
          </a:prstGeom>
          <a:noFill/>
          <a:ln w="15875">
            <a:solidFill>
              <a:schemeClr val="accent5"/>
            </a:solidFill>
            <a:prstDash val="solid"/>
          </a:ln>
        </p:spPr>
      </p:sp>
      <p:sp>
        <p:nvSpPr>
          <p:cNvPr id="6" name="Shape 4"/>
          <p:cNvSpPr/>
          <p:nvPr/>
        </p:nvSpPr>
        <p:spPr>
          <a:xfrm>
            <a:off x="690372" y="585673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85673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85673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85673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85673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85673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85673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85673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85673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85673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85673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85673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85673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85673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85673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85673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79729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79729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79729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606247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THE QUESTION, AND THE ANSWER UP FRONT</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Provisional answer: barely, if at all, and not in the words the readers use to describe what they read</a:t>
            </a:r>
            <a:endParaRPr lang="en-US" sz="2800" dirty="0"/>
          </a:p>
        </p:txBody>
      </p:sp>
      <p:sp>
        <p:nvSpPr>
          <p:cNvPr id="7" name="Shape 5"/>
          <p:cNvSpPr/>
          <p:nvPr/>
        </p:nvSpPr>
        <p:spPr>
          <a:xfrm>
            <a:off x="548640" y="1691640"/>
            <a:ext cx="4572000" cy="4434840"/>
          </a:xfrm>
          <a:prstGeom prst="roundRect">
            <a:avLst>
              <a:gd name="adj" fmla="val 1649"/>
            </a:avLst>
          </a:prstGeom>
          <a:solidFill>
            <a:schemeClr val="bg2"/>
          </a:solidFill>
          <a:ln w="12700">
            <a:solidFill>
              <a:schemeClr val="bg2"/>
            </a:solidFill>
            <a:prstDash val="solid"/>
          </a:ln>
        </p:spPr>
      </p:sp>
      <p:sp>
        <p:nvSpPr>
          <p:cNvPr id="8" name="Text 6"/>
          <p:cNvSpPr txBox="1"/>
          <p:nvPr/>
        </p:nvSpPr>
        <p:spPr>
          <a:xfrm>
            <a:off x="777240" y="1691640"/>
            <a:ext cx="914400" cy="914400"/>
          </a:xfrm>
          <a:prstGeom prst="rect">
            <a:avLst/>
          </a:prstGeom>
          <a:noFill/>
          <a:ln/>
        </p:spPr>
        <p:txBody>
          <a:bodyPr wrap="square" lIns="0" tIns="0" rIns="0" bIns="0" rtlCol="0" anchor="t"/>
          <a:lstStyle/>
          <a:p>
            <a:pPr indent="0" marL="0">
              <a:buNone/>
            </a:pPr>
            <a:r>
              <a:rPr lang="en-US" sz="8000" b="1" dirty="0">
                <a:solidFill>
                  <a:schemeClr val="accent1"/>
                </a:solidFill>
                <a:latin typeface="Cambria" pitchFamily="34" charset="0"/>
                <a:ea typeface="Cambria" pitchFamily="34" charset="-122"/>
                <a:cs typeface="Cambria" pitchFamily="34" charset="-120"/>
              </a:rPr>
              <a:t>“</a:t>
            </a:r>
            <a:endParaRPr lang="en-US" sz="8000" dirty="0"/>
          </a:p>
        </p:txBody>
      </p:sp>
      <p:sp>
        <p:nvSpPr>
          <p:cNvPr id="9" name="Text 7"/>
          <p:cNvSpPr txBox="1"/>
          <p:nvPr/>
        </p:nvSpPr>
        <p:spPr>
          <a:xfrm>
            <a:off x="868680" y="2514600"/>
            <a:ext cx="3977640" cy="237744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What can NLAs capture that Oracle Lens / J Lens don't? Is it really the stuff not in the workspace?</a:t>
            </a:r>
            <a:endParaRPr lang="en-US" sz="2400" dirty="0"/>
          </a:p>
        </p:txBody>
      </p:sp>
      <p:sp>
        <p:nvSpPr>
          <p:cNvPr id="10" name="Text 8"/>
          <p:cNvSpPr txBox="1"/>
          <p:nvPr/>
        </p:nvSpPr>
        <p:spPr>
          <a:xfrm>
            <a:off x="868680" y="5120640"/>
            <a:ext cx="3977640" cy="731520"/>
          </a:xfrm>
          <a:prstGeom prst="rect">
            <a:avLst/>
          </a:prstGeom>
          <a:noFill/>
          <a:ln/>
        </p:spPr>
        <p:txBody>
          <a:bodyPr wrap="square" lIns="0" tIns="0" rIns="0" bIns="0" rtlCol="0" anchor="t"/>
          <a:lstStyle/>
          <a:p>
            <a:pPr indent="0" marL="0">
              <a:buNone/>
            </a:pPr>
            <a:r>
              <a:rPr lang="en-US" sz="1200" dirty="0">
                <a:solidFill>
                  <a:schemeClr val="accent5"/>
                </a:solidFill>
              </a:rPr>
              <a:t>Neel Nanda, MATS 12.0 central doc ("Basic science" project list)</a:t>
            </a:r>
            <a:endParaRPr lang="en-US" sz="1200" dirty="0"/>
          </a:p>
        </p:txBody>
      </p:sp>
      <p:sp>
        <p:nvSpPr>
          <p:cNvPr id="11" name="Text 9"/>
          <p:cNvSpPr txBox="1"/>
          <p:nvPr/>
        </p:nvSpPr>
        <p:spPr>
          <a:xfrm>
            <a:off x="5532120" y="1691640"/>
            <a:ext cx="6110935"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Our answer so far</a:t>
            </a:r>
            <a:endParaRPr lang="en-US" sz="2000" dirty="0"/>
          </a:p>
        </p:txBody>
      </p:sp>
      <p:sp>
        <p:nvSpPr>
          <p:cNvPr id="12" name="Shape 10"/>
          <p:cNvSpPr/>
          <p:nvPr/>
        </p:nvSpPr>
        <p:spPr>
          <a:xfrm>
            <a:off x="5532120" y="2258568"/>
            <a:ext cx="384048" cy="384048"/>
          </a:xfrm>
          <a:prstGeom prst="ellipse">
            <a:avLst/>
          </a:prstGeom>
          <a:solidFill>
            <a:schemeClr val="accent4"/>
          </a:solidFill>
          <a:ln w="12700">
            <a:solidFill>
              <a:schemeClr val="accent4"/>
            </a:solidFill>
            <a:prstDash val="solid"/>
          </a:ln>
        </p:spPr>
      </p:sp>
      <p:sp>
        <p:nvSpPr>
          <p:cNvPr id="13" name="Text 11"/>
          <p:cNvSpPr txBox="1"/>
          <p:nvPr/>
        </p:nvSpPr>
        <p:spPr>
          <a:xfrm>
            <a:off x="5532120" y="2258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2"/>
          <p:cNvSpPr txBox="1"/>
          <p:nvPr/>
        </p:nvSpPr>
        <p:spPr>
          <a:xfrm>
            <a:off x="6080760" y="2240280"/>
            <a:ext cx="5562295" cy="1234440"/>
          </a:xfrm>
          <a:prstGeom prst="rect">
            <a:avLst/>
          </a:prstGeom>
          <a:noFill/>
          <a:ln/>
        </p:spPr>
        <p:txBody>
          <a:bodyPr wrap="square" lIns="0" tIns="0" rIns="0" bIns="0" rtlCol="0" anchor="t"/>
          <a:lstStyle/>
          <a:p>
            <a:pPr indent="0" marL="0">
              <a:buNone/>
            </a:pPr>
            <a:r>
              <a:rPr lang="en-US" sz="1600" b="1" dirty="0">
                <a:solidFill>
                  <a:schemeClr val="tx1"/>
                </a:solidFill>
              </a:rPr>
              <a:t>Non-workspace content: </a:t>
            </a:r>
            <a:pPr indent="0" marL="0">
              <a:buNone/>
            </a:pPr>
            <a:r>
              <a:rPr lang="en-US" sz="1600" dirty="0">
                <a:solidFill>
                  <a:schemeClr val="tx1"/>
                </a:solidFill>
              </a:rPr>
              <a:t>the non-J content Qwen uses looks like positional bookkeeping (col). No robust descriptive reading of it; two candidate narrow channels go to confirmation.</a:t>
            </a:r>
            <a:endParaRPr lang="en-US" sz="1600" dirty="0"/>
          </a:p>
        </p:txBody>
      </p:sp>
      <p:sp>
        <p:nvSpPr>
          <p:cNvPr id="15" name="Shape 13"/>
          <p:cNvSpPr/>
          <p:nvPr/>
        </p:nvSpPr>
        <p:spPr>
          <a:xfrm>
            <a:off x="5532120" y="3584448"/>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5532120" y="3584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5"/>
          <p:cNvSpPr txBox="1"/>
          <p:nvPr/>
        </p:nvSpPr>
        <p:spPr>
          <a:xfrm>
            <a:off x="6080760" y="3566160"/>
            <a:ext cx="5562295" cy="1234440"/>
          </a:xfrm>
          <a:prstGeom prst="rect">
            <a:avLst/>
          </a:prstGeom>
          <a:noFill/>
          <a:ln/>
        </p:spPr>
        <p:txBody>
          <a:bodyPr wrap="square" lIns="0" tIns="0" rIns="0" bIns="0" rtlCol="0" anchor="t"/>
          <a:lstStyle/>
          <a:p>
            <a:pPr indent="0" marL="0">
              <a:buNone/>
            </a:pPr>
            <a:r>
              <a:rPr lang="en-US" sz="1600" b="1" dirty="0">
                <a:solidFill>
                  <a:schemeClr val="tx1"/>
                </a:solidFill>
              </a:rPr>
              <a:t>Not re-solving either: </a:t>
            </a:r>
            <a:pPr indent="0" marL="0">
              <a:buNone/>
            </a:pPr>
            <a:r>
              <a:rPr lang="en-US" sz="1600" dirty="0">
                <a:solidFill>
                  <a:schemeClr val="tx1"/>
                </a:solidFill>
              </a:rPr>
              <a:t>under a planted bridge the NLA rewrites the prompt to fit the latent; it generates a story consistent with the activation.</a:t>
            </a:r>
            <a:endParaRPr lang="en-US" sz="1600" dirty="0"/>
          </a:p>
        </p:txBody>
      </p:sp>
      <p:sp>
        <p:nvSpPr>
          <p:cNvPr id="18" name="Shape 16"/>
          <p:cNvSpPr/>
          <p:nvPr/>
        </p:nvSpPr>
        <p:spPr>
          <a:xfrm>
            <a:off x="5532120" y="4910328"/>
            <a:ext cx="384048" cy="384048"/>
          </a:xfrm>
          <a:prstGeom prst="ellipse">
            <a:avLst/>
          </a:prstGeom>
          <a:solidFill>
            <a:schemeClr val="accent3"/>
          </a:solidFill>
          <a:ln w="12700">
            <a:solidFill>
              <a:schemeClr val="accent3"/>
            </a:solidFill>
            <a:prstDash val="solid"/>
          </a:ln>
        </p:spPr>
      </p:sp>
      <p:sp>
        <p:nvSpPr>
          <p:cNvPr id="19" name="Text 17"/>
          <p:cNvSpPr txBox="1"/>
          <p:nvPr/>
        </p:nvSpPr>
        <p:spPr>
          <a:xfrm>
            <a:off x="5532120" y="4910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8"/>
          <p:cNvSpPr txBox="1"/>
          <p:nvPr/>
        </p:nvSpPr>
        <p:spPr>
          <a:xfrm>
            <a:off x="6080760" y="4892040"/>
            <a:ext cx="5562295" cy="1234440"/>
          </a:xfrm>
          <a:prstGeom prst="rect">
            <a:avLst/>
          </a:prstGeom>
          <a:noFill/>
          <a:ln/>
        </p:spPr>
        <p:txBody>
          <a:bodyPr wrap="square" lIns="0" tIns="0" rIns="0" bIns="0" rtlCol="0" anchor="t"/>
          <a:lstStyle/>
          <a:p>
            <a:pPr indent="0" marL="0">
              <a:buNone/>
            </a:pPr>
            <a:r>
              <a:rPr lang="en-US" sz="1600" b="1" dirty="0">
                <a:solidFill>
                  <a:schemeClr val="tx1"/>
                </a:solidFill>
              </a:rPr>
              <a:t>On the benchmark: </a:t>
            </a:r>
            <a:pPr indent="0" marL="0">
              <a:buNone/>
            </a:pPr>
            <a:r>
              <a:rPr lang="en-US" sz="1600" dirty="0">
                <a:solidFill>
                  <a:schemeClr val="tx1"/>
                </a:solidFill>
              </a:rPr>
              <a:t>the target information in WorkspaceBench readouts is recoverable from the prompt text alone (0.89 from prompt vs 0.60 from readout).</a:t>
            </a:r>
            <a:endParaRPr lang="en-US" sz="16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WHY IT MATTERS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If readers only re-solve the prompt, they can't watch a model that stops writing its thoughts down</a:t>
            </a:r>
            <a:endParaRPr lang="en-US" sz="2800" dirty="0"/>
          </a:p>
        </p:txBody>
      </p:sp>
      <p:sp>
        <p:nvSpPr>
          <p:cNvPr id="7" name="Shape 5"/>
          <p:cNvSpPr/>
          <p:nvPr/>
        </p:nvSpPr>
        <p:spPr>
          <a:xfrm>
            <a:off x="548640" y="1828800"/>
            <a:ext cx="3362858" cy="2240280"/>
          </a:xfrm>
          <a:prstGeom prst="roundRect">
            <a:avLst>
              <a:gd name="adj" fmla="val 3265"/>
            </a:avLst>
          </a:prstGeom>
          <a:solidFill>
            <a:schemeClr val="bg2"/>
          </a:solidFill>
          <a:ln w="12700">
            <a:solidFill>
              <a:schemeClr val="bg2"/>
            </a:solidFill>
            <a:prstDash val="solid"/>
          </a:ln>
        </p:spPr>
      </p:sp>
      <p:sp>
        <p:nvSpPr>
          <p:cNvPr id="8" name="Shape 6"/>
          <p:cNvSpPr/>
          <p:nvPr/>
        </p:nvSpPr>
        <p:spPr>
          <a:xfrm>
            <a:off x="749808" y="2011680"/>
            <a:ext cx="384048" cy="384048"/>
          </a:xfrm>
          <a:prstGeom prst="ellipse">
            <a:avLst/>
          </a:prstGeom>
          <a:solidFill>
            <a:schemeClr val="accent5"/>
          </a:solidFill>
          <a:ln w="12700">
            <a:solidFill>
              <a:schemeClr val="accent5"/>
            </a:solidFill>
            <a:prstDash val="solid"/>
          </a:ln>
        </p:spPr>
      </p:sp>
      <p:sp>
        <p:nvSpPr>
          <p:cNvPr id="9" name="Text 7"/>
          <p:cNvSpPr txBox="1"/>
          <p:nvPr/>
        </p:nvSpPr>
        <p:spPr>
          <a:xfrm>
            <a:off x="749808"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8"/>
          <p:cNvSpPr txBox="1"/>
          <p:nvPr/>
        </p:nvSpPr>
        <p:spPr>
          <a:xfrm>
            <a:off x="1261872" y="2029968"/>
            <a:ext cx="2448458"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Today</a:t>
            </a:r>
            <a:endParaRPr lang="en-US" sz="1900" dirty="0"/>
          </a:p>
        </p:txBody>
      </p:sp>
      <p:sp>
        <p:nvSpPr>
          <p:cNvPr id="11" name="Text 9"/>
          <p:cNvSpPr txBox="1"/>
          <p:nvPr/>
        </p:nvSpPr>
        <p:spPr>
          <a:xfrm>
            <a:off x="749808" y="2606040"/>
            <a:ext cx="2960522" cy="1371600"/>
          </a:xfrm>
          <a:prstGeom prst="rect">
            <a:avLst/>
          </a:prstGeom>
          <a:noFill/>
          <a:ln/>
        </p:spPr>
        <p:txBody>
          <a:bodyPr wrap="square" lIns="0" tIns="0" rIns="0" bIns="0" rtlCol="0" anchor="t"/>
          <a:lstStyle/>
          <a:p>
            <a:pPr indent="0" marL="0">
              <a:buNone/>
            </a:pPr>
            <a:r>
              <a:rPr lang="en-US" sz="1500" dirty="0">
                <a:solidFill>
                  <a:schemeClr val="tx1"/>
                </a:solidFill>
              </a:rPr>
              <a:t>Much of a model's reasoning is visible in its chain of thought, so we can read it.</a:t>
            </a:r>
            <a:endParaRPr lang="en-US" sz="1500" dirty="0"/>
          </a:p>
        </p:txBody>
      </p:sp>
      <p:sp>
        <p:nvSpPr>
          <p:cNvPr id="12" name="Shape 10"/>
          <p:cNvSpPr/>
          <p:nvPr/>
        </p:nvSpPr>
        <p:spPr>
          <a:xfrm>
            <a:off x="3984650" y="2944368"/>
            <a:ext cx="356616" cy="914"/>
          </a:xfrm>
          <a:prstGeom prst="line">
            <a:avLst/>
          </a:prstGeom>
          <a:noFill/>
          <a:ln w="25400">
            <a:solidFill>
              <a:schemeClr val="accent5"/>
            </a:solidFill>
            <a:prstDash val="solid"/>
            <a:tailEnd type="triangle"/>
          </a:ln>
        </p:spPr>
      </p:sp>
      <p:sp>
        <p:nvSpPr>
          <p:cNvPr id="13" name="Shape 11"/>
          <p:cNvSpPr/>
          <p:nvPr/>
        </p:nvSpPr>
        <p:spPr>
          <a:xfrm>
            <a:off x="4414418" y="1828800"/>
            <a:ext cx="3362858" cy="2240280"/>
          </a:xfrm>
          <a:prstGeom prst="roundRect">
            <a:avLst>
              <a:gd name="adj" fmla="val 3265"/>
            </a:avLst>
          </a:prstGeom>
          <a:solidFill>
            <a:schemeClr val="bg2"/>
          </a:solidFill>
          <a:ln w="12700">
            <a:solidFill>
              <a:schemeClr val="bg2"/>
            </a:solidFill>
            <a:prstDash val="solid"/>
          </a:ln>
        </p:spPr>
      </p:sp>
      <p:sp>
        <p:nvSpPr>
          <p:cNvPr id="14" name="Shape 12"/>
          <p:cNvSpPr/>
          <p:nvPr/>
        </p:nvSpPr>
        <p:spPr>
          <a:xfrm>
            <a:off x="4615586" y="2011680"/>
            <a:ext cx="384048" cy="384048"/>
          </a:xfrm>
          <a:prstGeom prst="ellipse">
            <a:avLst/>
          </a:prstGeom>
          <a:solidFill>
            <a:schemeClr val="accent5"/>
          </a:solidFill>
          <a:ln w="12700">
            <a:solidFill>
              <a:schemeClr val="accent5"/>
            </a:solidFill>
            <a:prstDash val="solid"/>
          </a:ln>
        </p:spPr>
      </p:sp>
      <p:sp>
        <p:nvSpPr>
          <p:cNvPr id="15" name="Text 13"/>
          <p:cNvSpPr txBox="1"/>
          <p:nvPr/>
        </p:nvSpPr>
        <p:spPr>
          <a:xfrm>
            <a:off x="4615586"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4"/>
          <p:cNvSpPr txBox="1"/>
          <p:nvPr/>
        </p:nvSpPr>
        <p:spPr>
          <a:xfrm>
            <a:off x="5127650" y="2029968"/>
            <a:ext cx="2448458"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Tomorrow</a:t>
            </a:r>
            <a:endParaRPr lang="en-US" sz="1900" dirty="0"/>
          </a:p>
        </p:txBody>
      </p:sp>
      <p:sp>
        <p:nvSpPr>
          <p:cNvPr id="17" name="Text 15"/>
          <p:cNvSpPr txBox="1"/>
          <p:nvPr/>
        </p:nvSpPr>
        <p:spPr>
          <a:xfrm>
            <a:off x="4615586" y="2606040"/>
            <a:ext cx="2960522" cy="1371600"/>
          </a:xfrm>
          <a:prstGeom prst="rect">
            <a:avLst/>
          </a:prstGeom>
          <a:noFill/>
          <a:ln/>
        </p:spPr>
        <p:txBody>
          <a:bodyPr wrap="square" lIns="0" tIns="0" rIns="0" bIns="0" rtlCol="0" anchor="t"/>
          <a:lstStyle/>
          <a:p>
            <a:pPr indent="0" marL="0">
              <a:buNone/>
            </a:pPr>
            <a:r>
              <a:rPr lang="en-US" sz="1500" dirty="0">
                <a:solidFill>
                  <a:schemeClr val="tx1"/>
                </a:solidFill>
              </a:rPr>
              <a:t>Reasoning may go silent: no CoT, latent reasoning, or CoT that is not faithful.</a:t>
            </a:r>
            <a:endParaRPr lang="en-US" sz="1500" dirty="0"/>
          </a:p>
        </p:txBody>
      </p:sp>
      <p:sp>
        <p:nvSpPr>
          <p:cNvPr id="18" name="Shape 16"/>
          <p:cNvSpPr/>
          <p:nvPr/>
        </p:nvSpPr>
        <p:spPr>
          <a:xfrm>
            <a:off x="7850429" y="2944368"/>
            <a:ext cx="356616" cy="914"/>
          </a:xfrm>
          <a:prstGeom prst="line">
            <a:avLst/>
          </a:prstGeom>
          <a:noFill/>
          <a:ln w="25400">
            <a:solidFill>
              <a:schemeClr val="accent5"/>
            </a:solidFill>
            <a:prstDash val="solid"/>
            <a:tailEnd type="triangle"/>
          </a:ln>
        </p:spPr>
      </p:sp>
      <p:sp>
        <p:nvSpPr>
          <p:cNvPr id="19" name="Shape 17"/>
          <p:cNvSpPr/>
          <p:nvPr/>
        </p:nvSpPr>
        <p:spPr>
          <a:xfrm>
            <a:off x="8280197" y="1828800"/>
            <a:ext cx="3362858" cy="2240280"/>
          </a:xfrm>
          <a:prstGeom prst="roundRect">
            <a:avLst>
              <a:gd name="adj" fmla="val 3265"/>
            </a:avLst>
          </a:prstGeom>
          <a:solidFill>
            <a:schemeClr val="accent1">
              <a:alpha val="15000"/>
            </a:schemeClr>
          </a:solidFill>
          <a:ln w="15875">
            <a:solidFill>
              <a:schemeClr val="accent1"/>
            </a:solidFill>
            <a:prstDash val="solid"/>
          </a:ln>
        </p:spPr>
      </p:sp>
      <p:sp>
        <p:nvSpPr>
          <p:cNvPr id="20" name="Shape 18"/>
          <p:cNvSpPr/>
          <p:nvPr/>
        </p:nvSpPr>
        <p:spPr>
          <a:xfrm>
            <a:off x="8481365" y="201168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8481365"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20"/>
          <p:cNvSpPr txBox="1"/>
          <p:nvPr/>
        </p:nvSpPr>
        <p:spPr>
          <a:xfrm>
            <a:off x="8993429" y="2029968"/>
            <a:ext cx="2448458"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Then we need</a:t>
            </a:r>
            <a:endParaRPr lang="en-US" sz="1900" dirty="0"/>
          </a:p>
        </p:txBody>
      </p:sp>
      <p:sp>
        <p:nvSpPr>
          <p:cNvPr id="23" name="Text 21"/>
          <p:cNvSpPr txBox="1"/>
          <p:nvPr/>
        </p:nvSpPr>
        <p:spPr>
          <a:xfrm>
            <a:off x="8481365" y="2606040"/>
            <a:ext cx="2960522" cy="1371600"/>
          </a:xfrm>
          <a:prstGeom prst="rect">
            <a:avLst/>
          </a:prstGeom>
          <a:noFill/>
          <a:ln/>
        </p:spPr>
        <p:txBody>
          <a:bodyPr wrap="square" lIns="0" tIns="0" rIns="0" bIns="0" rtlCol="0" anchor="t"/>
          <a:lstStyle/>
          <a:p>
            <a:pPr indent="0" marL="0">
              <a:buNone/>
            </a:pPr>
            <a:r>
              <a:rPr lang="en-US" sz="1500" dirty="0">
                <a:solidFill>
                  <a:schemeClr val="tx1"/>
                </a:solidFill>
              </a:rPr>
              <a:t>Readers that report what the model computed but never said. Neel's doc calls this preparing for a world without monitorable CoT.</a:t>
            </a:r>
            <a:endParaRPr lang="en-US" sz="1500" dirty="0"/>
          </a:p>
        </p:txBody>
      </p:sp>
      <p:sp>
        <p:nvSpPr>
          <p:cNvPr id="24" name="Shape 22"/>
          <p:cNvSpPr/>
          <p:nvPr/>
        </p:nvSpPr>
        <p:spPr>
          <a:xfrm>
            <a:off x="548640" y="4526280"/>
            <a:ext cx="11094415" cy="1143000"/>
          </a:xfrm>
          <a:prstGeom prst="roundRect">
            <a:avLst>
              <a:gd name="adj" fmla="val 6400"/>
            </a:avLst>
          </a:prstGeom>
          <a:solidFill>
            <a:schemeClr val="bg1"/>
          </a:solidFill>
          <a:ln w="15875">
            <a:solidFill>
              <a:schemeClr val="accent4"/>
            </a:solidFill>
            <a:prstDash val="solid"/>
          </a:ln>
        </p:spPr>
      </p:sp>
      <p:sp>
        <p:nvSpPr>
          <p:cNvPr id="25" name="Text 23"/>
          <p:cNvSpPr txBox="1"/>
          <p:nvPr/>
        </p:nvSpPr>
        <p:spPr>
          <a:xfrm>
            <a:off x="822960" y="4617720"/>
            <a:ext cx="10545775" cy="960120"/>
          </a:xfrm>
          <a:prstGeom prst="rect">
            <a:avLst/>
          </a:prstGeom>
          <a:noFill/>
          <a:ln/>
        </p:spPr>
        <p:txBody>
          <a:bodyPr wrap="square" lIns="0" tIns="0" rIns="0" bIns="0" rtlCol="0" anchor="ctr"/>
          <a:lstStyle/>
          <a:p>
            <a:pPr indent="0" marL="0">
              <a:buNone/>
            </a:pPr>
            <a:r>
              <a:rPr lang="en-US" sz="1800" b="1" dirty="0">
                <a:solidFill>
                  <a:schemeClr val="tx1"/>
                </a:solidFill>
              </a:rPr>
              <a:t>The bar for usefulness: a reader must report content that a text-only model, given the same prompt, could not reconstruct.</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BACKGROUND 1 / 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 model's working memory: one 5,120-number vector per token, rewritten by each of 64 layers</a:t>
            </a:r>
            <a:endParaRPr lang="en-US" sz="2800" dirty="0"/>
          </a:p>
        </p:txBody>
      </p:sp>
      <p:sp>
        <p:nvSpPr>
          <p:cNvPr id="7" name="Shape 5"/>
          <p:cNvSpPr/>
          <p:nvPr/>
        </p:nvSpPr>
        <p:spPr>
          <a:xfrm>
            <a:off x="868680" y="1828800"/>
            <a:ext cx="914" cy="3749040"/>
          </a:xfrm>
          <a:prstGeom prst="line">
            <a:avLst/>
          </a:prstGeom>
          <a:noFill/>
          <a:ln w="12700">
            <a:solidFill>
              <a:schemeClr val="accent6"/>
            </a:solidFill>
            <a:prstDash val="solid"/>
          </a:ln>
        </p:spPr>
      </p:sp>
      <p:sp>
        <p:nvSpPr>
          <p:cNvPr id="8" name="Shape 6"/>
          <p:cNvSpPr/>
          <p:nvPr/>
        </p:nvSpPr>
        <p:spPr>
          <a:xfrm>
            <a:off x="548640" y="5623560"/>
            <a:ext cx="640080" cy="365760"/>
          </a:xfrm>
          <a:prstGeom prst="roundRect">
            <a:avLst>
              <a:gd name="adj" fmla="val 15000"/>
            </a:avLst>
          </a:prstGeom>
          <a:solidFill>
            <a:schemeClr val="bg2"/>
          </a:solidFill>
          <a:ln w="9525">
            <a:solidFill>
              <a:schemeClr val="accent6"/>
            </a:solidFill>
            <a:prstDash val="solid"/>
          </a:ln>
        </p:spPr>
      </p:sp>
      <p:sp>
        <p:nvSpPr>
          <p:cNvPr id="9" name="Text 7"/>
          <p:cNvSpPr txBox="1"/>
          <p:nvPr/>
        </p:nvSpPr>
        <p:spPr>
          <a:xfrm>
            <a:off x="5029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The</a:t>
            </a:r>
            <a:endParaRPr lang="en-US" sz="1100" dirty="0"/>
          </a:p>
        </p:txBody>
      </p:sp>
      <p:sp>
        <p:nvSpPr>
          <p:cNvPr id="10" name="Shape 8"/>
          <p:cNvSpPr/>
          <p:nvPr/>
        </p:nvSpPr>
        <p:spPr>
          <a:xfrm>
            <a:off x="1554480" y="1828800"/>
            <a:ext cx="914" cy="3749040"/>
          </a:xfrm>
          <a:prstGeom prst="line">
            <a:avLst/>
          </a:prstGeom>
          <a:noFill/>
          <a:ln w="12700">
            <a:solidFill>
              <a:schemeClr val="accent6"/>
            </a:solidFill>
            <a:prstDash val="solid"/>
          </a:ln>
        </p:spPr>
      </p:sp>
      <p:sp>
        <p:nvSpPr>
          <p:cNvPr id="11" name="Shape 9"/>
          <p:cNvSpPr/>
          <p:nvPr/>
        </p:nvSpPr>
        <p:spPr>
          <a:xfrm>
            <a:off x="1234440" y="5623560"/>
            <a:ext cx="640080" cy="365760"/>
          </a:xfrm>
          <a:prstGeom prst="roundRect">
            <a:avLst>
              <a:gd name="adj" fmla="val 15000"/>
            </a:avLst>
          </a:prstGeom>
          <a:solidFill>
            <a:schemeClr val="bg2"/>
          </a:solidFill>
          <a:ln w="9525">
            <a:solidFill>
              <a:schemeClr val="accent6"/>
            </a:solidFill>
            <a:prstDash val="solid"/>
          </a:ln>
        </p:spPr>
      </p:sp>
      <p:sp>
        <p:nvSpPr>
          <p:cNvPr id="12" name="Text 10"/>
          <p:cNvSpPr txBox="1"/>
          <p:nvPr/>
        </p:nvSpPr>
        <p:spPr>
          <a:xfrm>
            <a:off x="11887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capital</a:t>
            </a:r>
            <a:endParaRPr lang="en-US" sz="1100" dirty="0"/>
          </a:p>
        </p:txBody>
      </p:sp>
      <p:sp>
        <p:nvSpPr>
          <p:cNvPr id="13" name="Shape 11"/>
          <p:cNvSpPr/>
          <p:nvPr/>
        </p:nvSpPr>
        <p:spPr>
          <a:xfrm>
            <a:off x="2240280" y="1828800"/>
            <a:ext cx="914" cy="3749040"/>
          </a:xfrm>
          <a:prstGeom prst="line">
            <a:avLst/>
          </a:prstGeom>
          <a:noFill/>
          <a:ln w="12700">
            <a:solidFill>
              <a:schemeClr val="accent6"/>
            </a:solidFill>
            <a:prstDash val="solid"/>
          </a:ln>
        </p:spPr>
      </p:sp>
      <p:sp>
        <p:nvSpPr>
          <p:cNvPr id="14" name="Shape 12"/>
          <p:cNvSpPr/>
          <p:nvPr/>
        </p:nvSpPr>
        <p:spPr>
          <a:xfrm>
            <a:off x="1920240" y="5623560"/>
            <a:ext cx="640080" cy="365760"/>
          </a:xfrm>
          <a:prstGeom prst="roundRect">
            <a:avLst>
              <a:gd name="adj" fmla="val 15000"/>
            </a:avLst>
          </a:prstGeom>
          <a:solidFill>
            <a:schemeClr val="bg2"/>
          </a:solidFill>
          <a:ln w="9525">
            <a:solidFill>
              <a:schemeClr val="accent6"/>
            </a:solidFill>
            <a:prstDash val="solid"/>
          </a:ln>
        </p:spPr>
      </p:sp>
      <p:sp>
        <p:nvSpPr>
          <p:cNvPr id="15" name="Text 13"/>
          <p:cNvSpPr txBox="1"/>
          <p:nvPr/>
        </p:nvSpPr>
        <p:spPr>
          <a:xfrm>
            <a:off x="18745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of</a:t>
            </a:r>
            <a:endParaRPr lang="en-US" sz="1100" dirty="0"/>
          </a:p>
        </p:txBody>
      </p:sp>
      <p:sp>
        <p:nvSpPr>
          <p:cNvPr id="16" name="Shape 14"/>
          <p:cNvSpPr/>
          <p:nvPr/>
        </p:nvSpPr>
        <p:spPr>
          <a:xfrm>
            <a:off x="2926080" y="1828800"/>
            <a:ext cx="914" cy="3749040"/>
          </a:xfrm>
          <a:prstGeom prst="line">
            <a:avLst/>
          </a:prstGeom>
          <a:noFill/>
          <a:ln w="12700">
            <a:solidFill>
              <a:schemeClr val="accent6"/>
            </a:solidFill>
            <a:prstDash val="solid"/>
          </a:ln>
        </p:spPr>
      </p:sp>
      <p:sp>
        <p:nvSpPr>
          <p:cNvPr id="17" name="Shape 15"/>
          <p:cNvSpPr/>
          <p:nvPr/>
        </p:nvSpPr>
        <p:spPr>
          <a:xfrm>
            <a:off x="2606040" y="5623560"/>
            <a:ext cx="640080" cy="365760"/>
          </a:xfrm>
          <a:prstGeom prst="roundRect">
            <a:avLst>
              <a:gd name="adj" fmla="val 15000"/>
            </a:avLst>
          </a:prstGeom>
          <a:solidFill>
            <a:schemeClr val="bg2"/>
          </a:solidFill>
          <a:ln w="9525">
            <a:solidFill>
              <a:schemeClr val="accent6"/>
            </a:solidFill>
            <a:prstDash val="solid"/>
          </a:ln>
        </p:spPr>
      </p:sp>
      <p:sp>
        <p:nvSpPr>
          <p:cNvPr id="18" name="Text 16"/>
          <p:cNvSpPr txBox="1"/>
          <p:nvPr/>
        </p:nvSpPr>
        <p:spPr>
          <a:xfrm>
            <a:off x="25603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the</a:t>
            </a:r>
            <a:endParaRPr lang="en-US" sz="1100" dirty="0"/>
          </a:p>
        </p:txBody>
      </p:sp>
      <p:sp>
        <p:nvSpPr>
          <p:cNvPr id="19" name="Shape 17"/>
          <p:cNvSpPr/>
          <p:nvPr/>
        </p:nvSpPr>
        <p:spPr>
          <a:xfrm>
            <a:off x="3611880" y="1828800"/>
            <a:ext cx="914" cy="3749040"/>
          </a:xfrm>
          <a:prstGeom prst="line">
            <a:avLst/>
          </a:prstGeom>
          <a:noFill/>
          <a:ln w="12700">
            <a:solidFill>
              <a:schemeClr val="accent6"/>
            </a:solidFill>
            <a:prstDash val="solid"/>
          </a:ln>
        </p:spPr>
      </p:sp>
      <p:sp>
        <p:nvSpPr>
          <p:cNvPr id="20" name="Shape 18"/>
          <p:cNvSpPr/>
          <p:nvPr/>
        </p:nvSpPr>
        <p:spPr>
          <a:xfrm>
            <a:off x="3291840" y="5623560"/>
            <a:ext cx="640080" cy="365760"/>
          </a:xfrm>
          <a:prstGeom prst="roundRect">
            <a:avLst>
              <a:gd name="adj" fmla="val 15000"/>
            </a:avLst>
          </a:prstGeom>
          <a:solidFill>
            <a:schemeClr val="bg2"/>
          </a:solidFill>
          <a:ln w="9525">
            <a:solidFill>
              <a:schemeClr val="accent6"/>
            </a:solidFill>
            <a:prstDash val="solid"/>
          </a:ln>
        </p:spPr>
      </p:sp>
      <p:sp>
        <p:nvSpPr>
          <p:cNvPr id="21" name="Text 19"/>
          <p:cNvSpPr txBox="1"/>
          <p:nvPr/>
        </p:nvSpPr>
        <p:spPr>
          <a:xfrm>
            <a:off x="32461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country</a:t>
            </a:r>
            <a:endParaRPr lang="en-US" sz="1100" dirty="0"/>
          </a:p>
        </p:txBody>
      </p:sp>
      <p:sp>
        <p:nvSpPr>
          <p:cNvPr id="22" name="Shape 20"/>
          <p:cNvSpPr/>
          <p:nvPr/>
        </p:nvSpPr>
        <p:spPr>
          <a:xfrm>
            <a:off x="4297680" y="1828800"/>
            <a:ext cx="914" cy="3749040"/>
          </a:xfrm>
          <a:prstGeom prst="line">
            <a:avLst/>
          </a:prstGeom>
          <a:noFill/>
          <a:ln w="12700">
            <a:solidFill>
              <a:schemeClr val="accent6"/>
            </a:solidFill>
            <a:prstDash val="solid"/>
          </a:ln>
        </p:spPr>
      </p:sp>
      <p:sp>
        <p:nvSpPr>
          <p:cNvPr id="23" name="Shape 21"/>
          <p:cNvSpPr/>
          <p:nvPr/>
        </p:nvSpPr>
        <p:spPr>
          <a:xfrm>
            <a:off x="3977640" y="5623560"/>
            <a:ext cx="640080" cy="365760"/>
          </a:xfrm>
          <a:prstGeom prst="roundRect">
            <a:avLst>
              <a:gd name="adj" fmla="val 15000"/>
            </a:avLst>
          </a:prstGeom>
          <a:solidFill>
            <a:schemeClr val="bg2"/>
          </a:solidFill>
          <a:ln w="9525">
            <a:solidFill>
              <a:schemeClr val="accent6"/>
            </a:solidFill>
            <a:prstDash val="solid"/>
          </a:ln>
        </p:spPr>
      </p:sp>
      <p:sp>
        <p:nvSpPr>
          <p:cNvPr id="24" name="Text 22"/>
          <p:cNvSpPr txBox="1"/>
          <p:nvPr/>
        </p:nvSpPr>
        <p:spPr>
          <a:xfrm>
            <a:off x="39319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famous</a:t>
            </a:r>
            <a:endParaRPr lang="en-US" sz="1100" dirty="0"/>
          </a:p>
        </p:txBody>
      </p:sp>
      <p:sp>
        <p:nvSpPr>
          <p:cNvPr id="25" name="Shape 23"/>
          <p:cNvSpPr/>
          <p:nvPr/>
        </p:nvSpPr>
        <p:spPr>
          <a:xfrm>
            <a:off x="4983480" y="1828800"/>
            <a:ext cx="914" cy="3749040"/>
          </a:xfrm>
          <a:prstGeom prst="line">
            <a:avLst/>
          </a:prstGeom>
          <a:noFill/>
          <a:ln w="12700">
            <a:solidFill>
              <a:schemeClr val="accent6"/>
            </a:solidFill>
            <a:prstDash val="solid"/>
          </a:ln>
        </p:spPr>
      </p:sp>
      <p:sp>
        <p:nvSpPr>
          <p:cNvPr id="26" name="Shape 24"/>
          <p:cNvSpPr/>
          <p:nvPr/>
        </p:nvSpPr>
        <p:spPr>
          <a:xfrm>
            <a:off x="4663440" y="5623560"/>
            <a:ext cx="640080" cy="365760"/>
          </a:xfrm>
          <a:prstGeom prst="roundRect">
            <a:avLst>
              <a:gd name="adj" fmla="val 15000"/>
            </a:avLst>
          </a:prstGeom>
          <a:solidFill>
            <a:schemeClr val="bg2"/>
          </a:solidFill>
          <a:ln w="9525">
            <a:solidFill>
              <a:schemeClr val="accent6"/>
            </a:solidFill>
            <a:prstDash val="solid"/>
          </a:ln>
        </p:spPr>
      </p:sp>
      <p:sp>
        <p:nvSpPr>
          <p:cNvPr id="27" name="Text 25"/>
          <p:cNvSpPr txBox="1"/>
          <p:nvPr/>
        </p:nvSpPr>
        <p:spPr>
          <a:xfrm>
            <a:off x="46177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for</a:t>
            </a:r>
            <a:endParaRPr lang="en-US" sz="1100" dirty="0"/>
          </a:p>
        </p:txBody>
      </p:sp>
      <p:sp>
        <p:nvSpPr>
          <p:cNvPr id="28" name="Shape 26"/>
          <p:cNvSpPr/>
          <p:nvPr/>
        </p:nvSpPr>
        <p:spPr>
          <a:xfrm>
            <a:off x="5669280" y="1828800"/>
            <a:ext cx="914" cy="3749040"/>
          </a:xfrm>
          <a:prstGeom prst="line">
            <a:avLst/>
          </a:prstGeom>
          <a:noFill/>
          <a:ln w="12700">
            <a:solidFill>
              <a:schemeClr val="accent6"/>
            </a:solidFill>
            <a:prstDash val="solid"/>
          </a:ln>
        </p:spPr>
      </p:sp>
      <p:sp>
        <p:nvSpPr>
          <p:cNvPr id="29" name="Shape 27"/>
          <p:cNvSpPr/>
          <p:nvPr/>
        </p:nvSpPr>
        <p:spPr>
          <a:xfrm>
            <a:off x="5349240" y="5623560"/>
            <a:ext cx="640080" cy="365760"/>
          </a:xfrm>
          <a:prstGeom prst="roundRect">
            <a:avLst>
              <a:gd name="adj" fmla="val 15000"/>
            </a:avLst>
          </a:prstGeom>
          <a:solidFill>
            <a:schemeClr val="bg2"/>
          </a:solidFill>
          <a:ln w="9525">
            <a:solidFill>
              <a:schemeClr val="accent6"/>
            </a:solidFill>
            <a:prstDash val="solid"/>
          </a:ln>
        </p:spPr>
      </p:sp>
      <p:sp>
        <p:nvSpPr>
          <p:cNvPr id="30" name="Text 28"/>
          <p:cNvSpPr txBox="1"/>
          <p:nvPr/>
        </p:nvSpPr>
        <p:spPr>
          <a:xfrm>
            <a:off x="53035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the</a:t>
            </a:r>
            <a:endParaRPr lang="en-US" sz="1100" dirty="0"/>
          </a:p>
        </p:txBody>
      </p:sp>
      <p:sp>
        <p:nvSpPr>
          <p:cNvPr id="31" name="Shape 29"/>
          <p:cNvSpPr/>
          <p:nvPr/>
        </p:nvSpPr>
        <p:spPr>
          <a:xfrm>
            <a:off x="6355080" y="1828800"/>
            <a:ext cx="914" cy="3749040"/>
          </a:xfrm>
          <a:prstGeom prst="line">
            <a:avLst/>
          </a:prstGeom>
          <a:noFill/>
          <a:ln w="12700">
            <a:solidFill>
              <a:schemeClr val="accent6"/>
            </a:solidFill>
            <a:prstDash val="solid"/>
          </a:ln>
        </p:spPr>
      </p:sp>
      <p:sp>
        <p:nvSpPr>
          <p:cNvPr id="32" name="Shape 30"/>
          <p:cNvSpPr/>
          <p:nvPr/>
        </p:nvSpPr>
        <p:spPr>
          <a:xfrm>
            <a:off x="6035040" y="5623560"/>
            <a:ext cx="640080" cy="365760"/>
          </a:xfrm>
          <a:prstGeom prst="roundRect">
            <a:avLst>
              <a:gd name="adj" fmla="val 15000"/>
            </a:avLst>
          </a:prstGeom>
          <a:solidFill>
            <a:schemeClr val="bg2"/>
          </a:solidFill>
          <a:ln w="9525">
            <a:solidFill>
              <a:schemeClr val="accent6"/>
            </a:solidFill>
            <a:prstDash val="solid"/>
          </a:ln>
        </p:spPr>
      </p:sp>
      <p:sp>
        <p:nvSpPr>
          <p:cNvPr id="33" name="Text 31"/>
          <p:cNvSpPr txBox="1"/>
          <p:nvPr/>
        </p:nvSpPr>
        <p:spPr>
          <a:xfrm>
            <a:off x="59893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Eiffel</a:t>
            </a:r>
            <a:endParaRPr lang="en-US" sz="1100" dirty="0"/>
          </a:p>
        </p:txBody>
      </p:sp>
      <p:sp>
        <p:nvSpPr>
          <p:cNvPr id="34" name="Shape 32"/>
          <p:cNvSpPr/>
          <p:nvPr/>
        </p:nvSpPr>
        <p:spPr>
          <a:xfrm>
            <a:off x="7040880" y="1828800"/>
            <a:ext cx="914" cy="3749040"/>
          </a:xfrm>
          <a:prstGeom prst="line">
            <a:avLst/>
          </a:prstGeom>
          <a:noFill/>
          <a:ln w="12700">
            <a:solidFill>
              <a:schemeClr val="accent6"/>
            </a:solidFill>
            <a:prstDash val="solid"/>
          </a:ln>
        </p:spPr>
      </p:sp>
      <p:sp>
        <p:nvSpPr>
          <p:cNvPr id="35" name="Shape 33"/>
          <p:cNvSpPr/>
          <p:nvPr/>
        </p:nvSpPr>
        <p:spPr>
          <a:xfrm>
            <a:off x="6720840" y="5623560"/>
            <a:ext cx="640080" cy="365760"/>
          </a:xfrm>
          <a:prstGeom prst="roundRect">
            <a:avLst>
              <a:gd name="adj" fmla="val 15000"/>
            </a:avLst>
          </a:prstGeom>
          <a:solidFill>
            <a:schemeClr val="bg2"/>
          </a:solidFill>
          <a:ln w="9525">
            <a:solidFill>
              <a:schemeClr val="accent6"/>
            </a:solidFill>
            <a:prstDash val="solid"/>
          </a:ln>
        </p:spPr>
      </p:sp>
      <p:sp>
        <p:nvSpPr>
          <p:cNvPr id="36" name="Text 34"/>
          <p:cNvSpPr txBox="1"/>
          <p:nvPr/>
        </p:nvSpPr>
        <p:spPr>
          <a:xfrm>
            <a:off x="6675120" y="5623560"/>
            <a:ext cx="731520" cy="365760"/>
          </a:xfrm>
          <a:prstGeom prst="rect">
            <a:avLst/>
          </a:prstGeom>
          <a:noFill/>
          <a:ln/>
        </p:spPr>
        <p:txBody>
          <a:bodyPr wrap="square" lIns="0" tIns="0" rIns="0" bIns="0" rtlCol="0" anchor="ctr"/>
          <a:lstStyle/>
          <a:p>
            <a:pPr algn="ctr" indent="0" marL="0">
              <a:buNone/>
            </a:pPr>
            <a:r>
              <a:rPr lang="en-US" sz="1100" dirty="0">
                <a:solidFill>
                  <a:schemeClr val="tx1"/>
                </a:solidFill>
              </a:rPr>
              <a:t>Tower</a:t>
            </a:r>
            <a:endParaRPr lang="en-US" sz="1100" dirty="0"/>
          </a:p>
        </p:txBody>
      </p:sp>
      <p:sp>
        <p:nvSpPr>
          <p:cNvPr id="37" name="Shape 35"/>
          <p:cNvSpPr/>
          <p:nvPr/>
        </p:nvSpPr>
        <p:spPr>
          <a:xfrm>
            <a:off x="7726680" y="1828800"/>
            <a:ext cx="914" cy="3749040"/>
          </a:xfrm>
          <a:prstGeom prst="line">
            <a:avLst/>
          </a:prstGeom>
          <a:noFill/>
          <a:ln w="28575">
            <a:solidFill>
              <a:schemeClr val="tx1"/>
            </a:solidFill>
            <a:prstDash val="solid"/>
          </a:ln>
        </p:spPr>
      </p:sp>
      <p:sp>
        <p:nvSpPr>
          <p:cNvPr id="38" name="Shape 36"/>
          <p:cNvSpPr/>
          <p:nvPr/>
        </p:nvSpPr>
        <p:spPr>
          <a:xfrm>
            <a:off x="7406640" y="5623560"/>
            <a:ext cx="640080" cy="365760"/>
          </a:xfrm>
          <a:prstGeom prst="roundRect">
            <a:avLst>
              <a:gd name="adj" fmla="val 15000"/>
            </a:avLst>
          </a:prstGeom>
          <a:solidFill>
            <a:schemeClr val="tx1"/>
          </a:solidFill>
          <a:ln w="9525">
            <a:solidFill>
              <a:schemeClr val="tx1"/>
            </a:solidFill>
            <a:prstDash val="solid"/>
          </a:ln>
        </p:spPr>
      </p:sp>
      <p:sp>
        <p:nvSpPr>
          <p:cNvPr id="39" name="Text 37"/>
          <p:cNvSpPr txBox="1"/>
          <p:nvPr/>
        </p:nvSpPr>
        <p:spPr>
          <a:xfrm>
            <a:off x="7360920" y="5623560"/>
            <a:ext cx="731520" cy="365760"/>
          </a:xfrm>
          <a:prstGeom prst="rect">
            <a:avLst/>
          </a:prstGeom>
          <a:noFill/>
          <a:ln/>
        </p:spPr>
        <p:txBody>
          <a:bodyPr wrap="square" lIns="0" tIns="0" rIns="0" bIns="0" rtlCol="0" anchor="ctr"/>
          <a:lstStyle/>
          <a:p>
            <a:pPr algn="ctr" indent="0" marL="0">
              <a:buNone/>
            </a:pPr>
            <a:r>
              <a:rPr lang="en-US" sz="1100" dirty="0">
                <a:solidFill>
                  <a:schemeClr val="bg1"/>
                </a:solidFill>
              </a:rPr>
              <a:t>is</a:t>
            </a:r>
            <a:endParaRPr lang="en-US" sz="1100" dirty="0"/>
          </a:p>
        </p:txBody>
      </p:sp>
      <p:sp>
        <p:nvSpPr>
          <p:cNvPr id="40" name="Shape 38"/>
          <p:cNvSpPr/>
          <p:nvPr/>
        </p:nvSpPr>
        <p:spPr>
          <a:xfrm>
            <a:off x="7671816" y="5522976"/>
            <a:ext cx="109728" cy="109728"/>
          </a:xfrm>
          <a:prstGeom prst="ellipse">
            <a:avLst/>
          </a:prstGeom>
          <a:solidFill>
            <a:schemeClr val="tx1"/>
          </a:solidFill>
          <a:ln w="12700">
            <a:solidFill>
              <a:schemeClr val="tx1"/>
            </a:solidFill>
            <a:prstDash val="solid"/>
          </a:ln>
        </p:spPr>
      </p:sp>
      <p:sp>
        <p:nvSpPr>
          <p:cNvPr id="41" name="Shape 39"/>
          <p:cNvSpPr/>
          <p:nvPr/>
        </p:nvSpPr>
        <p:spPr>
          <a:xfrm>
            <a:off x="7671816" y="5054346"/>
            <a:ext cx="109728" cy="109728"/>
          </a:xfrm>
          <a:prstGeom prst="ellipse">
            <a:avLst/>
          </a:prstGeom>
          <a:solidFill>
            <a:schemeClr val="tx1"/>
          </a:solidFill>
          <a:ln w="12700">
            <a:solidFill>
              <a:schemeClr val="tx1"/>
            </a:solidFill>
            <a:prstDash val="solid"/>
          </a:ln>
        </p:spPr>
      </p:sp>
      <p:sp>
        <p:nvSpPr>
          <p:cNvPr id="42" name="Shape 40"/>
          <p:cNvSpPr/>
          <p:nvPr/>
        </p:nvSpPr>
        <p:spPr>
          <a:xfrm>
            <a:off x="7671816" y="4585716"/>
            <a:ext cx="109728" cy="109728"/>
          </a:xfrm>
          <a:prstGeom prst="ellipse">
            <a:avLst/>
          </a:prstGeom>
          <a:solidFill>
            <a:schemeClr val="tx1"/>
          </a:solidFill>
          <a:ln w="12700">
            <a:solidFill>
              <a:schemeClr val="tx1"/>
            </a:solidFill>
            <a:prstDash val="solid"/>
          </a:ln>
        </p:spPr>
      </p:sp>
      <p:sp>
        <p:nvSpPr>
          <p:cNvPr id="43" name="Shape 41"/>
          <p:cNvSpPr/>
          <p:nvPr/>
        </p:nvSpPr>
        <p:spPr>
          <a:xfrm>
            <a:off x="7671816" y="4117086"/>
            <a:ext cx="109728" cy="109728"/>
          </a:xfrm>
          <a:prstGeom prst="ellipse">
            <a:avLst/>
          </a:prstGeom>
          <a:solidFill>
            <a:schemeClr val="tx1"/>
          </a:solidFill>
          <a:ln w="12700">
            <a:solidFill>
              <a:schemeClr val="tx1"/>
            </a:solidFill>
            <a:prstDash val="solid"/>
          </a:ln>
        </p:spPr>
      </p:sp>
      <p:sp>
        <p:nvSpPr>
          <p:cNvPr id="44" name="Shape 42"/>
          <p:cNvSpPr/>
          <p:nvPr/>
        </p:nvSpPr>
        <p:spPr>
          <a:xfrm>
            <a:off x="7671816" y="3648456"/>
            <a:ext cx="109728" cy="109728"/>
          </a:xfrm>
          <a:prstGeom prst="ellipse">
            <a:avLst/>
          </a:prstGeom>
          <a:solidFill>
            <a:schemeClr val="tx1"/>
          </a:solidFill>
          <a:ln w="12700">
            <a:solidFill>
              <a:schemeClr val="tx1"/>
            </a:solidFill>
            <a:prstDash val="solid"/>
          </a:ln>
        </p:spPr>
      </p:sp>
      <p:sp>
        <p:nvSpPr>
          <p:cNvPr id="45" name="Shape 43"/>
          <p:cNvSpPr/>
          <p:nvPr/>
        </p:nvSpPr>
        <p:spPr>
          <a:xfrm>
            <a:off x="7671816" y="3179826"/>
            <a:ext cx="109728" cy="109728"/>
          </a:xfrm>
          <a:prstGeom prst="ellipse">
            <a:avLst/>
          </a:prstGeom>
          <a:solidFill>
            <a:schemeClr val="tx1"/>
          </a:solidFill>
          <a:ln w="12700">
            <a:solidFill>
              <a:schemeClr val="tx1"/>
            </a:solidFill>
            <a:prstDash val="solid"/>
          </a:ln>
        </p:spPr>
      </p:sp>
      <p:sp>
        <p:nvSpPr>
          <p:cNvPr id="46" name="Shape 44"/>
          <p:cNvSpPr/>
          <p:nvPr/>
        </p:nvSpPr>
        <p:spPr>
          <a:xfrm>
            <a:off x="7671816" y="2711196"/>
            <a:ext cx="109728" cy="109728"/>
          </a:xfrm>
          <a:prstGeom prst="ellipse">
            <a:avLst/>
          </a:prstGeom>
          <a:solidFill>
            <a:schemeClr val="tx1"/>
          </a:solidFill>
          <a:ln w="12700">
            <a:solidFill>
              <a:schemeClr val="tx1"/>
            </a:solidFill>
            <a:prstDash val="solid"/>
          </a:ln>
        </p:spPr>
      </p:sp>
      <p:sp>
        <p:nvSpPr>
          <p:cNvPr id="47" name="Shape 45"/>
          <p:cNvSpPr/>
          <p:nvPr/>
        </p:nvSpPr>
        <p:spPr>
          <a:xfrm>
            <a:off x="7671816" y="2242566"/>
            <a:ext cx="109728" cy="109728"/>
          </a:xfrm>
          <a:prstGeom prst="ellipse">
            <a:avLst/>
          </a:prstGeom>
          <a:solidFill>
            <a:schemeClr val="tx1"/>
          </a:solidFill>
          <a:ln w="12700">
            <a:solidFill>
              <a:schemeClr val="tx1"/>
            </a:solidFill>
            <a:prstDash val="solid"/>
          </a:ln>
        </p:spPr>
      </p:sp>
      <p:sp>
        <p:nvSpPr>
          <p:cNvPr id="48" name="Shape 46"/>
          <p:cNvSpPr/>
          <p:nvPr/>
        </p:nvSpPr>
        <p:spPr>
          <a:xfrm>
            <a:off x="7671816" y="1773936"/>
            <a:ext cx="109728" cy="109728"/>
          </a:xfrm>
          <a:prstGeom prst="ellipse">
            <a:avLst/>
          </a:prstGeom>
          <a:solidFill>
            <a:schemeClr val="tx1"/>
          </a:solidFill>
          <a:ln w="12700">
            <a:solidFill>
              <a:schemeClr val="tx1"/>
            </a:solidFill>
            <a:prstDash val="solid"/>
          </a:ln>
        </p:spPr>
      </p:sp>
      <p:sp>
        <p:nvSpPr>
          <p:cNvPr id="49" name="Shape 47"/>
          <p:cNvSpPr/>
          <p:nvPr/>
        </p:nvSpPr>
        <p:spPr>
          <a:xfrm>
            <a:off x="7543800" y="2895600"/>
            <a:ext cx="365760" cy="365760"/>
          </a:xfrm>
          <a:prstGeom prst="ellipse">
            <a:avLst/>
          </a:prstGeom>
          <a:solidFill>
            <a:schemeClr val="accent1"/>
          </a:solidFill>
          <a:ln w="25400">
            <a:solidFill>
              <a:schemeClr val="bg1"/>
            </a:solidFill>
            <a:prstDash val="solid"/>
          </a:ln>
        </p:spPr>
      </p:sp>
      <p:sp>
        <p:nvSpPr>
          <p:cNvPr id="50" name="Text 48"/>
          <p:cNvSpPr txBox="1"/>
          <p:nvPr/>
        </p:nvSpPr>
        <p:spPr>
          <a:xfrm>
            <a:off x="7927848" y="1691640"/>
            <a:ext cx="914400" cy="274320"/>
          </a:xfrm>
          <a:prstGeom prst="rect">
            <a:avLst/>
          </a:prstGeom>
          <a:noFill/>
          <a:ln/>
        </p:spPr>
        <p:txBody>
          <a:bodyPr wrap="square" lIns="0" tIns="0" rIns="0" bIns="0" rtlCol="0" anchor="t"/>
          <a:lstStyle/>
          <a:p>
            <a:pPr indent="0" marL="0">
              <a:buNone/>
            </a:pPr>
            <a:r>
              <a:rPr lang="en-US" sz="1100" dirty="0">
                <a:solidFill>
                  <a:schemeClr val="accent5"/>
                </a:solidFill>
              </a:rPr>
              <a:t>layer 63</a:t>
            </a:r>
            <a:endParaRPr lang="en-US" sz="1100" dirty="0"/>
          </a:p>
        </p:txBody>
      </p:sp>
      <p:sp>
        <p:nvSpPr>
          <p:cNvPr id="51" name="Text 49"/>
          <p:cNvSpPr txBox="1"/>
          <p:nvPr/>
        </p:nvSpPr>
        <p:spPr>
          <a:xfrm>
            <a:off x="7927848" y="5257800"/>
            <a:ext cx="914400" cy="274320"/>
          </a:xfrm>
          <a:prstGeom prst="rect">
            <a:avLst/>
          </a:prstGeom>
          <a:noFill/>
          <a:ln/>
        </p:spPr>
        <p:txBody>
          <a:bodyPr wrap="square" lIns="0" tIns="0" rIns="0" bIns="0" rtlCol="0" anchor="t"/>
          <a:lstStyle/>
          <a:p>
            <a:pPr indent="0" marL="0">
              <a:buNone/>
            </a:pPr>
            <a:r>
              <a:rPr lang="en-US" sz="1100" dirty="0">
                <a:solidFill>
                  <a:schemeClr val="accent5"/>
                </a:solidFill>
              </a:rPr>
              <a:t>layer 0</a:t>
            </a:r>
            <a:endParaRPr lang="en-US" sz="1100" dirty="0"/>
          </a:p>
        </p:txBody>
      </p:sp>
      <p:sp>
        <p:nvSpPr>
          <p:cNvPr id="52" name="Shape 50"/>
          <p:cNvSpPr/>
          <p:nvPr/>
        </p:nvSpPr>
        <p:spPr>
          <a:xfrm>
            <a:off x="4480560" y="2694432"/>
            <a:ext cx="2926080" cy="768096"/>
          </a:xfrm>
          <a:prstGeom prst="roundRect">
            <a:avLst>
              <a:gd name="adj" fmla="val 9524"/>
            </a:avLst>
          </a:prstGeom>
          <a:solidFill>
            <a:schemeClr val="bg1"/>
          </a:solidFill>
          <a:ln w="15875">
            <a:solidFill>
              <a:schemeClr val="accent1"/>
            </a:solidFill>
            <a:prstDash val="solid"/>
          </a:ln>
        </p:spPr>
      </p:sp>
      <p:sp>
        <p:nvSpPr>
          <p:cNvPr id="53" name="Text 51"/>
          <p:cNvSpPr txBox="1"/>
          <p:nvPr/>
        </p:nvSpPr>
        <p:spPr>
          <a:xfrm>
            <a:off x="4572000" y="2731008"/>
            <a:ext cx="2743200" cy="694944"/>
          </a:xfrm>
          <a:prstGeom prst="rect">
            <a:avLst/>
          </a:prstGeom>
          <a:noFill/>
          <a:ln/>
        </p:spPr>
        <p:txBody>
          <a:bodyPr wrap="square" lIns="0" tIns="0" rIns="0" bIns="0" rtlCol="0" anchor="ctr"/>
          <a:lstStyle/>
          <a:p>
            <a:pPr indent="0" marL="0">
              <a:buNone/>
            </a:pPr>
            <a:r>
              <a:rPr lang="en-US" sz="1300" b="1" dirty="0">
                <a:solidFill>
                  <a:schemeClr val="accent1"/>
                </a:solidFill>
              </a:rPr>
              <a:t>Read here: </a:t>
            </a:r>
            <a:pPr indent="0" marL="0">
              <a:buNone/>
            </a:pPr>
            <a:r>
              <a:rPr lang="en-US" sz="1300" dirty="0">
                <a:solidFill>
                  <a:schemeClr val="tx1"/>
                </a:solidFill>
              </a:rPr>
              <a:t>layer 42, last token → one vector of 5,120 numbers</a:t>
            </a:r>
            <a:endParaRPr lang="en-US" sz="1300" dirty="0"/>
          </a:p>
        </p:txBody>
      </p:sp>
      <p:sp>
        <p:nvSpPr>
          <p:cNvPr id="54" name="Shape 52"/>
          <p:cNvSpPr/>
          <p:nvPr/>
        </p:nvSpPr>
        <p:spPr>
          <a:xfrm>
            <a:off x="7406640" y="3078480"/>
            <a:ext cx="118872" cy="914"/>
          </a:xfrm>
          <a:prstGeom prst="line">
            <a:avLst/>
          </a:prstGeom>
          <a:noFill/>
          <a:ln w="19050">
            <a:solidFill>
              <a:schemeClr val="accent1"/>
            </a:solidFill>
            <a:prstDash val="solid"/>
            <a:tailEnd type="triangle"/>
          </a:ln>
        </p:spPr>
      </p:sp>
      <p:sp>
        <p:nvSpPr>
          <p:cNvPr id="55" name="Text 53"/>
          <p:cNvSpPr txBox="1"/>
          <p:nvPr/>
        </p:nvSpPr>
        <p:spPr>
          <a:xfrm>
            <a:off x="8732520" y="1828800"/>
            <a:ext cx="2910535" cy="41148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Each token carries a 5,120-dimensional vector (the residual stream).</a:t>
            </a:r>
            <a:endParaRPr lang="en-US" sz="1600" dirty="0"/>
          </a:p>
          <a:p>
            <a:pPr marL="203200" indent="-203200">
              <a:spcAft>
                <a:spcPts val="1400"/>
              </a:spcAft>
              <a:buSzPct val="100000"/>
              <a:buChar char="•"/>
            </a:pPr>
            <a:r>
              <a:rPr lang="en-US" sz="1600" dirty="0">
                <a:solidFill>
                  <a:schemeClr val="tx1"/>
                </a:solidFill>
              </a:rPr>
              <a:t>Each layer reads it and adds its update; what the model 'knows' at a point is spread through it.</a:t>
            </a:r>
            <a:endParaRPr lang="en-US" sz="1600" dirty="0"/>
          </a:p>
          <a:p>
            <a:pPr marL="203200" indent="-203200">
              <a:spcAft>
                <a:spcPts val="1400"/>
              </a:spcAft>
              <a:buSzPct val="100000"/>
              <a:buChar char="•"/>
            </a:pPr>
            <a:r>
              <a:rPr lang="en-US" sz="1600" dirty="0">
                <a:solidFill>
                  <a:schemeClr val="tx1"/>
                </a:solidFill>
              </a:rPr>
              <a:t>Every reader in this talk gets one vector: layer 42 (about two-thirds deep), last token.</a:t>
            </a:r>
            <a:endParaRPr lang="en-US" sz="16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BACKGROUND 2 / 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'workspace' idea: a small set of directions holds what the model is poised to say</a:t>
            </a:r>
            <a:endParaRPr lang="en-US" sz="2800" dirty="0"/>
          </a:p>
        </p:txBody>
      </p:sp>
      <p:sp>
        <p:nvSpPr>
          <p:cNvPr id="7" name="Shape 5"/>
          <p:cNvSpPr/>
          <p:nvPr/>
        </p:nvSpPr>
        <p:spPr>
          <a:xfrm>
            <a:off x="548640" y="1737360"/>
            <a:ext cx="5120640" cy="4434840"/>
          </a:xfrm>
          <a:prstGeom prst="roundRect">
            <a:avLst>
              <a:gd name="adj" fmla="val 1649"/>
            </a:avLst>
          </a:prstGeom>
          <a:solidFill>
            <a:schemeClr val="bg2"/>
          </a:solidFill>
          <a:ln w="12700">
            <a:solidFill>
              <a:schemeClr val="bg2"/>
            </a:solidFill>
            <a:prstDash val="solid"/>
          </a:ln>
        </p:spPr>
      </p:sp>
      <p:sp>
        <p:nvSpPr>
          <p:cNvPr id="8" name="Text 6"/>
          <p:cNvSpPr txBox="1"/>
          <p:nvPr/>
        </p:nvSpPr>
        <p:spPr>
          <a:xfrm>
            <a:off x="777240" y="1874520"/>
            <a:ext cx="4663440" cy="320040"/>
          </a:xfrm>
          <a:prstGeom prst="rect">
            <a:avLst/>
          </a:prstGeom>
          <a:noFill/>
          <a:ln/>
        </p:spPr>
        <p:txBody>
          <a:bodyPr wrap="square" lIns="0" tIns="0" rIns="0" bIns="0" rtlCol="0" anchor="t"/>
          <a:lstStyle/>
          <a:p>
            <a:pPr indent="0" marL="0">
              <a:buNone/>
            </a:pPr>
            <a:r>
              <a:rPr lang="en-US" sz="1400" b="1" dirty="0">
                <a:solidFill>
                  <a:schemeClr val="accent5"/>
                </a:solidFill>
              </a:rPr>
              <a:t>Residual stream · 5,120 dimensions</a:t>
            </a:r>
            <a:endParaRPr lang="en-US" sz="1400" dirty="0"/>
          </a:p>
        </p:txBody>
      </p:sp>
      <p:sp>
        <p:nvSpPr>
          <p:cNvPr id="9" name="Shape 7"/>
          <p:cNvSpPr/>
          <p:nvPr/>
        </p:nvSpPr>
        <p:spPr>
          <a:xfrm>
            <a:off x="1737360" y="2514600"/>
            <a:ext cx="2743200" cy="2011680"/>
          </a:xfrm>
          <a:prstGeom prst="ellipse">
            <a:avLst/>
          </a:prstGeom>
          <a:solidFill>
            <a:schemeClr val="accent3">
              <a:alpha val="90000"/>
            </a:schemeClr>
          </a:solidFill>
          <a:ln w="12700">
            <a:solidFill>
              <a:schemeClr val="accent3"/>
            </a:solidFill>
            <a:prstDash val="solid"/>
          </a:ln>
        </p:spPr>
      </p:sp>
      <p:sp>
        <p:nvSpPr>
          <p:cNvPr id="10" name="Text 8"/>
          <p:cNvSpPr txBox="1"/>
          <p:nvPr/>
        </p:nvSpPr>
        <p:spPr>
          <a:xfrm>
            <a:off x="1737360" y="2926080"/>
            <a:ext cx="2743200" cy="1188720"/>
          </a:xfrm>
          <a:prstGeom prst="rect">
            <a:avLst/>
          </a:prstGeom>
          <a:noFill/>
          <a:ln/>
        </p:spPr>
        <p:txBody>
          <a:bodyPr wrap="square" lIns="0" tIns="0" rIns="0" bIns="0" rtlCol="0" anchor="ctr"/>
          <a:lstStyle/>
          <a:p>
            <a:pPr algn="ctr" indent="0" marL="0">
              <a:buNone/>
            </a:pPr>
            <a:r>
              <a:rPr lang="en-US" sz="1800" b="1" dirty="0">
                <a:solidFill>
                  <a:schemeClr val="bg1"/>
                </a:solidFill>
              </a:rPr>
              <a:t>J-space</a:t>
            </a:r>
            <a:endParaRPr lang="en-US" sz="1800" dirty="0"/>
          </a:p>
          <a:p>
            <a:pPr algn="ctr" indent="0" marL="0">
              <a:buNone/>
            </a:pPr>
            <a:r>
              <a:rPr lang="en-US" sz="1800" b="1" dirty="0">
                <a:solidFill>
                  <a:schemeClr val="bg1"/>
                </a:solidFill>
              </a:rPr>
              <a:t>top-384 of 5,120</a:t>
            </a:r>
            <a:endParaRPr lang="en-US" sz="1800" dirty="0"/>
          </a:p>
        </p:txBody>
      </p:sp>
      <p:sp>
        <p:nvSpPr>
          <p:cNvPr id="11" name="Text 9"/>
          <p:cNvSpPr txBox="1"/>
          <p:nvPr/>
        </p:nvSpPr>
        <p:spPr>
          <a:xfrm>
            <a:off x="914400" y="4617720"/>
            <a:ext cx="4389120" cy="320040"/>
          </a:xfrm>
          <a:prstGeom prst="rect">
            <a:avLst/>
          </a:prstGeom>
          <a:noFill/>
          <a:ln/>
        </p:spPr>
        <p:txBody>
          <a:bodyPr wrap="square" lIns="0" tIns="0" rIns="0" bIns="0" rtlCol="0" anchor="t"/>
          <a:lstStyle/>
          <a:p>
            <a:pPr algn="ctr" indent="0" marL="0">
              <a:buNone/>
            </a:pPr>
            <a:r>
              <a:rPr lang="en-US" sz="1300" i="1" dirty="0">
                <a:solidFill>
                  <a:schemeClr val="accent3"/>
                </a:solidFill>
              </a:rPr>
              <a:t>verbalizable: poised to be said</a:t>
            </a:r>
            <a:endParaRPr lang="en-US" sz="1300" dirty="0"/>
          </a:p>
        </p:txBody>
      </p:sp>
      <p:sp>
        <p:nvSpPr>
          <p:cNvPr id="12" name="Text 10"/>
          <p:cNvSpPr txBox="1"/>
          <p:nvPr/>
        </p:nvSpPr>
        <p:spPr>
          <a:xfrm>
            <a:off x="777240" y="5623560"/>
            <a:ext cx="4663440" cy="411480"/>
          </a:xfrm>
          <a:prstGeom prst="rect">
            <a:avLst/>
          </a:prstGeom>
          <a:noFill/>
          <a:ln/>
        </p:spPr>
        <p:txBody>
          <a:bodyPr wrap="square" lIns="0" tIns="0" rIns="0" bIns="0" rtlCol="0" anchor="t"/>
          <a:lstStyle/>
          <a:p>
            <a:pPr indent="0" marL="0">
              <a:buNone/>
            </a:pPr>
            <a:r>
              <a:rPr lang="en-US" sz="1300" i="1" dirty="0">
                <a:solidFill>
                  <a:schemeClr val="accent5"/>
                </a:solidFill>
              </a:rPr>
              <a:t>everything else: syntax, position, counts, …</a:t>
            </a:r>
            <a:endParaRPr lang="en-US" sz="1300" dirty="0"/>
          </a:p>
        </p:txBody>
      </p:sp>
      <p:sp>
        <p:nvSpPr>
          <p:cNvPr id="13" name="Text 11"/>
          <p:cNvSpPr txBox="1"/>
          <p:nvPr/>
        </p:nvSpPr>
        <p:spPr>
          <a:xfrm>
            <a:off x="6035040" y="1783080"/>
            <a:ext cx="5608015" cy="4389120"/>
          </a:xfrm>
          <a:prstGeom prst="rect">
            <a:avLst/>
          </a:prstGeom>
          <a:noFill/>
          <a:ln/>
        </p:spPr>
        <p:txBody>
          <a:bodyPr wrap="square" lIns="0" tIns="0" rIns="0" bIns="0" rtlCol="0" anchor="t"/>
          <a:lstStyle/>
          <a:p>
            <a:pPr marL="203200" indent="-203200">
              <a:spcAft>
                <a:spcPts val="1600"/>
              </a:spcAft>
              <a:buSzPct val="100000"/>
              <a:buChar char="•"/>
            </a:pPr>
            <a:r>
              <a:rPr lang="en-US" sz="1600" b="1" dirty="0">
                <a:solidFill>
                  <a:schemeClr val="tx1"/>
                </a:solidFill>
              </a:rPr>
              <a:t>J-Lens: </a:t>
            </a:r>
            <a:pPr indent="0" marL="0">
              <a:spcAft>
                <a:spcPts val="1600"/>
              </a:spcAft>
              <a:buNone/>
            </a:pPr>
            <a:r>
              <a:rPr lang="en-US" sz="1600" dirty="0">
                <a:solidFill>
                  <a:schemeClr val="tx1"/>
                </a:solidFill>
              </a:rPr>
              <a:t>average the Jacobian from layer ℓ to the output, then unembed. It shows which tokens a direction would push the model to say, in general, not just here.</a:t>
            </a:r>
            <a:endParaRPr lang="en-US" sz="1600" dirty="0"/>
          </a:p>
          <a:p>
            <a:pPr marL="203200" indent="-203200">
              <a:spcAft>
                <a:spcPts val="1600"/>
              </a:spcAft>
              <a:buSzPct val="100000"/>
              <a:buChar char="•"/>
            </a:pPr>
            <a:r>
              <a:rPr lang="en-US" sz="1600" b="1" dirty="0">
                <a:solidFill>
                  <a:schemeClr val="tx1"/>
                </a:solidFill>
              </a:rPr>
              <a:t>J-space: </a:t>
            </a:r>
            <a:pPr indent="0" marL="0">
              <a:spcAft>
                <a:spcPts val="1600"/>
              </a:spcAft>
              <a:buNone/>
            </a:pPr>
            <a:r>
              <a:rPr lang="en-US" sz="1600" dirty="0">
                <a:solidFill>
                  <a:schemeClr val="tx1"/>
                </a:solidFill>
              </a:rPr>
              <a:t>the directions the J-Lens can read. We use the top-r singular directions, r* = 384 (and 4r* = 1,536) of 5,120.</a:t>
            </a:r>
            <a:endParaRPr lang="en-US" sz="1600" dirty="0"/>
          </a:p>
          <a:p>
            <a:pPr marL="203200" indent="-203200">
              <a:spcAft>
                <a:spcPts val="1600"/>
              </a:spcAft>
              <a:buSzPct val="100000"/>
              <a:buChar char="•"/>
            </a:pPr>
            <a:r>
              <a:rPr lang="en-US" sz="1600" b="1" dirty="0">
                <a:solidFill>
                  <a:schemeClr val="tx1"/>
                </a:solidFill>
              </a:rPr>
              <a:t>Most content is elsewhere: </a:t>
            </a:r>
            <a:pPr indent="0" marL="0">
              <a:spcAft>
                <a:spcPts val="1600"/>
              </a:spcAft>
              <a:buNone/>
            </a:pPr>
            <a:r>
              <a:rPr lang="en-US" sz="1600" dirty="0">
                <a:solidFill>
                  <a:schemeClr val="tx1"/>
                </a:solidFill>
              </a:rPr>
              <a:t>the J-space paper reports its excess variance explained 'never exceed[s] 10%'.</a:t>
            </a:r>
            <a:endParaRPr lang="en-US" sz="16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BACKGROUND 3 / 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Three readers turn that vector into words, with very different machinery</a:t>
            </a:r>
            <a:endParaRPr lang="en-US" sz="2800" dirty="0"/>
          </a:p>
        </p:txBody>
      </p:sp>
      <p:sp>
        <p:nvSpPr>
          <p:cNvPr id="7" name="Shape 5"/>
          <p:cNvSpPr/>
          <p:nvPr/>
        </p:nvSpPr>
        <p:spPr>
          <a:xfrm>
            <a:off x="4175608" y="1627632"/>
            <a:ext cx="3840480" cy="329184"/>
          </a:xfrm>
          <a:prstGeom prst="roundRect">
            <a:avLst>
              <a:gd name="adj" fmla="val 41667"/>
            </a:avLst>
          </a:prstGeom>
          <a:solidFill>
            <a:schemeClr val="tx2"/>
          </a:solidFill>
          <a:ln w="12700">
            <a:solidFill>
              <a:schemeClr val="tx2"/>
            </a:solidFill>
            <a:prstDash val="solid"/>
          </a:ln>
        </p:spPr>
      </p:sp>
      <p:sp>
        <p:nvSpPr>
          <p:cNvPr id="8" name="Text 6"/>
          <p:cNvSpPr txBox="1"/>
          <p:nvPr/>
        </p:nvSpPr>
        <p:spPr>
          <a:xfrm>
            <a:off x="4175608" y="1627632"/>
            <a:ext cx="3840480" cy="329184"/>
          </a:xfrm>
          <a:prstGeom prst="rect">
            <a:avLst/>
          </a:prstGeom>
          <a:noFill/>
          <a:ln/>
        </p:spPr>
        <p:txBody>
          <a:bodyPr wrap="square" lIns="0" tIns="0" rIns="0" bIns="0" rtlCol="0" anchor="ctr"/>
          <a:lstStyle/>
          <a:p>
            <a:pPr algn="ctr" indent="0" marL="0">
              <a:buNone/>
            </a:pPr>
            <a:r>
              <a:rPr lang="en-US" sz="1200" b="1" dirty="0">
                <a:solidFill>
                  <a:schemeClr val="bg1"/>
                </a:solidFill>
              </a:rPr>
              <a:t>one vector h · layer 42 · last token</a:t>
            </a:r>
            <a:endParaRPr lang="en-US" sz="1200" dirty="0"/>
          </a:p>
        </p:txBody>
      </p:sp>
      <p:sp>
        <p:nvSpPr>
          <p:cNvPr id="9" name="Shape 7"/>
          <p:cNvSpPr/>
          <p:nvPr/>
        </p:nvSpPr>
        <p:spPr>
          <a:xfrm flipH="1">
            <a:off x="2291029" y="1965960"/>
            <a:ext cx="3804818" cy="320040"/>
          </a:xfrm>
          <a:prstGeom prst="line">
            <a:avLst/>
          </a:prstGeom>
          <a:noFill/>
          <a:ln w="15875">
            <a:solidFill>
              <a:schemeClr val="accent6"/>
            </a:solidFill>
            <a:prstDash val="solid"/>
            <a:tailEnd type="triangle"/>
          </a:ln>
        </p:spPr>
      </p:sp>
      <p:sp>
        <p:nvSpPr>
          <p:cNvPr id="10" name="Shape 8"/>
          <p:cNvSpPr/>
          <p:nvPr/>
        </p:nvSpPr>
        <p:spPr>
          <a:xfrm>
            <a:off x="548640" y="2331720"/>
            <a:ext cx="3484778" cy="3886200"/>
          </a:xfrm>
          <a:prstGeom prst="roundRect">
            <a:avLst>
              <a:gd name="adj" fmla="val 2099"/>
            </a:avLst>
          </a:prstGeom>
          <a:solidFill>
            <a:schemeClr val="bg2"/>
          </a:solidFill>
          <a:ln w="12700">
            <a:solidFill>
              <a:schemeClr val="bg2"/>
            </a:solidFill>
            <a:prstDash val="solid"/>
          </a:ln>
        </p:spPr>
      </p:sp>
      <p:sp>
        <p:nvSpPr>
          <p:cNvPr id="11" name="Shape 9"/>
          <p:cNvSpPr/>
          <p:nvPr/>
        </p:nvSpPr>
        <p:spPr>
          <a:xfrm>
            <a:off x="749808" y="2514600"/>
            <a:ext cx="457200" cy="457200"/>
          </a:xfrm>
          <a:prstGeom prst="ellipse">
            <a:avLst/>
          </a:prstGeom>
          <a:solidFill>
            <a:schemeClr val="accent3"/>
          </a:solidFill>
          <a:ln w="12700">
            <a:solidFill>
              <a:schemeClr val="accent3"/>
            </a:solidFill>
            <a:prstDash val="solid"/>
          </a:ln>
        </p:spPr>
      </p:sp>
      <p:sp>
        <p:nvSpPr>
          <p:cNvPr id="12" name="Text 10"/>
          <p:cNvSpPr txBox="1"/>
          <p:nvPr/>
        </p:nvSpPr>
        <p:spPr>
          <a:xfrm>
            <a:off x="1325880" y="2487168"/>
            <a:ext cx="2570378" cy="347472"/>
          </a:xfrm>
          <a:prstGeom prst="rect">
            <a:avLst/>
          </a:prstGeom>
          <a:noFill/>
          <a:ln/>
        </p:spPr>
        <p:txBody>
          <a:bodyPr wrap="square" lIns="0" tIns="0" rIns="0" bIns="0" rtlCol="0" anchor="t"/>
          <a:lstStyle/>
          <a:p>
            <a:pPr indent="0" marL="0">
              <a:buNone/>
            </a:pPr>
            <a:r>
              <a:rPr lang="en-US" sz="2100" b="1" dirty="0">
                <a:solidFill>
                  <a:schemeClr val="accent3"/>
                </a:solidFill>
                <a:latin typeface="Cambria" pitchFamily="34" charset="0"/>
                <a:ea typeface="Cambria" pitchFamily="34" charset="-122"/>
                <a:cs typeface="Cambria" pitchFamily="34" charset="-120"/>
              </a:rPr>
              <a:t>J-Lens</a:t>
            </a:r>
            <a:endParaRPr lang="en-US" sz="2100" dirty="0"/>
          </a:p>
        </p:txBody>
      </p:sp>
      <p:sp>
        <p:nvSpPr>
          <p:cNvPr id="13" name="Text 11"/>
          <p:cNvSpPr txBox="1"/>
          <p:nvPr/>
        </p:nvSpPr>
        <p:spPr>
          <a:xfrm>
            <a:off x="1325880" y="2834640"/>
            <a:ext cx="2570378"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LINEAR TOKEN READOUT</a:t>
            </a:r>
            <a:endParaRPr lang="en-US" sz="1050" dirty="0"/>
          </a:p>
        </p:txBody>
      </p:sp>
      <p:sp>
        <p:nvSpPr>
          <p:cNvPr id="14" name="Text 12"/>
          <p:cNvSpPr txBox="1"/>
          <p:nvPr/>
        </p:nvSpPr>
        <p:spPr>
          <a:xfrm>
            <a:off x="749808" y="3246120"/>
            <a:ext cx="3082442"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Vector × average Jacobian × unembedding → top tokens</a:t>
            </a:r>
            <a:endParaRPr lang="en-US" sz="1400" dirty="0"/>
          </a:p>
          <a:p>
            <a:pPr marL="203200" indent="-203200">
              <a:spcAft>
                <a:spcPts val="600"/>
              </a:spcAft>
              <a:buSzPct val="100000"/>
              <a:buChar char="•"/>
            </a:pPr>
            <a:r>
              <a:rPr lang="en-US" sz="1400" dirty="0">
                <a:solidFill>
                  <a:schemeClr val="tx1"/>
                </a:solidFill>
              </a:rPr>
              <a:t>No training on explanations; neuronpedia n1000 lens</a:t>
            </a:r>
            <a:endParaRPr lang="en-US" sz="1400" dirty="0"/>
          </a:p>
          <a:p>
            <a:pPr marL="203200" indent="-203200">
              <a:spcAft>
                <a:spcPts val="600"/>
              </a:spcAft>
              <a:buSzPct val="100000"/>
              <a:buChar char="•"/>
            </a:pPr>
            <a:r>
              <a:rPr lang="en-US" sz="1400" dirty="0">
                <a:solidFill>
                  <a:schemeClr val="tx1"/>
                </a:solidFill>
              </a:rPr>
              <a:t>Output: a list of tokens</a:t>
            </a:r>
            <a:endParaRPr lang="en-US" sz="1400" dirty="0"/>
          </a:p>
        </p:txBody>
      </p:sp>
      <p:sp>
        <p:nvSpPr>
          <p:cNvPr id="15" name="Shape 13"/>
          <p:cNvSpPr/>
          <p:nvPr/>
        </p:nvSpPr>
        <p:spPr>
          <a:xfrm>
            <a:off x="685800" y="5349240"/>
            <a:ext cx="3210458" cy="731520"/>
          </a:xfrm>
          <a:prstGeom prst="roundRect">
            <a:avLst>
              <a:gd name="adj" fmla="val 10000"/>
            </a:avLst>
          </a:prstGeom>
          <a:solidFill>
            <a:schemeClr val="bg1"/>
          </a:solidFill>
          <a:ln w="12700">
            <a:solidFill>
              <a:schemeClr val="bg1"/>
            </a:solidFill>
            <a:prstDash val="solid"/>
          </a:ln>
        </p:spPr>
      </p:sp>
      <p:sp>
        <p:nvSpPr>
          <p:cNvPr id="16" name="Text 14"/>
          <p:cNvSpPr txBox="1"/>
          <p:nvPr/>
        </p:nvSpPr>
        <p:spPr>
          <a:xfrm>
            <a:off x="795528" y="5458968"/>
            <a:ext cx="2991002" cy="555955"/>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Competitor for in-J content; leak detector for non-J</a:t>
            </a:r>
            <a:endParaRPr lang="en-US" sz="1250" dirty="0"/>
          </a:p>
        </p:txBody>
      </p:sp>
      <p:sp>
        <p:nvSpPr>
          <p:cNvPr id="17" name="Shape 15"/>
          <p:cNvSpPr/>
          <p:nvPr/>
        </p:nvSpPr>
        <p:spPr>
          <a:xfrm>
            <a:off x="6095848" y="1965960"/>
            <a:ext cx="914" cy="320040"/>
          </a:xfrm>
          <a:prstGeom prst="line">
            <a:avLst/>
          </a:prstGeom>
          <a:noFill/>
          <a:ln w="15875">
            <a:solidFill>
              <a:schemeClr val="accent6"/>
            </a:solidFill>
            <a:prstDash val="solid"/>
            <a:tailEnd type="triangle"/>
          </a:ln>
        </p:spPr>
      </p:sp>
      <p:sp>
        <p:nvSpPr>
          <p:cNvPr id="18" name="Shape 16"/>
          <p:cNvSpPr/>
          <p:nvPr/>
        </p:nvSpPr>
        <p:spPr>
          <a:xfrm>
            <a:off x="4353458" y="2331720"/>
            <a:ext cx="3484778" cy="3886200"/>
          </a:xfrm>
          <a:prstGeom prst="roundRect">
            <a:avLst>
              <a:gd name="adj" fmla="val 2099"/>
            </a:avLst>
          </a:prstGeom>
          <a:solidFill>
            <a:schemeClr val="bg2"/>
          </a:solidFill>
          <a:ln w="12700">
            <a:solidFill>
              <a:schemeClr val="bg2"/>
            </a:solidFill>
            <a:prstDash val="solid"/>
          </a:ln>
        </p:spPr>
      </p:sp>
      <p:sp>
        <p:nvSpPr>
          <p:cNvPr id="19" name="Shape 17"/>
          <p:cNvSpPr/>
          <p:nvPr/>
        </p:nvSpPr>
        <p:spPr>
          <a:xfrm>
            <a:off x="4554626" y="251460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5130698" y="2487168"/>
            <a:ext cx="2570378" cy="347472"/>
          </a:xfrm>
          <a:prstGeom prst="rect">
            <a:avLst/>
          </a:prstGeom>
          <a:noFill/>
          <a:ln/>
        </p:spPr>
        <p:txBody>
          <a:bodyPr wrap="square" lIns="0" tIns="0" rIns="0" bIns="0" rtlCol="0" anchor="t"/>
          <a:lstStyle/>
          <a:p>
            <a:pPr indent="0" marL="0">
              <a:buNone/>
            </a:pPr>
            <a:r>
              <a:rPr lang="en-US" sz="2100" b="1" dirty="0">
                <a:solidFill>
                  <a:schemeClr val="accent2"/>
                </a:solidFill>
                <a:latin typeface="Cambria" pitchFamily="34" charset="0"/>
                <a:ea typeface="Cambria" pitchFamily="34" charset="-122"/>
                <a:cs typeface="Cambria" pitchFamily="34" charset="-120"/>
              </a:rPr>
              <a:t>Oracle Lens</a:t>
            </a:r>
            <a:endParaRPr lang="en-US" sz="2100" dirty="0"/>
          </a:p>
        </p:txBody>
      </p:sp>
      <p:sp>
        <p:nvSpPr>
          <p:cNvPr id="21" name="Text 19"/>
          <p:cNvSpPr txBox="1"/>
          <p:nvPr/>
        </p:nvSpPr>
        <p:spPr>
          <a:xfrm>
            <a:off x="5130698" y="2834640"/>
            <a:ext cx="2570378"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LORA VERBALIZER</a:t>
            </a:r>
            <a:endParaRPr lang="en-US" sz="1050" dirty="0"/>
          </a:p>
        </p:txBody>
      </p:sp>
      <p:sp>
        <p:nvSpPr>
          <p:cNvPr id="22" name="Text 20"/>
          <p:cNvSpPr txBox="1"/>
          <p:nvPr/>
        </p:nvSpPr>
        <p:spPr>
          <a:xfrm>
            <a:off x="4554626" y="3246120"/>
            <a:ext cx="3082442"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Vector injected as a token embedding (16000·unit(h))</a:t>
            </a:r>
            <a:endParaRPr lang="en-US" sz="1400" dirty="0"/>
          </a:p>
          <a:p>
            <a:pPr marL="203200" indent="-203200">
              <a:spcAft>
                <a:spcPts val="600"/>
              </a:spcAft>
              <a:buSzPct val="100000"/>
              <a:buChar char="•"/>
            </a:pPr>
            <a:r>
              <a:rPr lang="en-US" sz="1400" dirty="0">
                <a:solidFill>
                  <a:schemeClr val="tx1"/>
                </a:solidFill>
              </a:rPr>
              <a:t>RL-trained on layers 20–60, step 4 (42 is off-grid)</a:t>
            </a:r>
            <a:endParaRPr lang="en-US" sz="1400" dirty="0"/>
          </a:p>
          <a:p>
            <a:pPr marL="203200" indent="-203200">
              <a:spcAft>
                <a:spcPts val="600"/>
              </a:spcAft>
              <a:buSzPct val="100000"/>
              <a:buChar char="•"/>
            </a:pPr>
            <a:r>
              <a:rPr lang="en-US" sz="1400" dirty="0">
                <a:solidFill>
                  <a:schemeClr val="tx1"/>
                </a:solidFill>
              </a:rPr>
              <a:t>Output: '- ' concept bullets, often continuations</a:t>
            </a:r>
            <a:endParaRPr lang="en-US" sz="1400" dirty="0"/>
          </a:p>
        </p:txBody>
      </p:sp>
      <p:sp>
        <p:nvSpPr>
          <p:cNvPr id="23" name="Shape 21"/>
          <p:cNvSpPr/>
          <p:nvPr/>
        </p:nvSpPr>
        <p:spPr>
          <a:xfrm>
            <a:off x="4490618" y="5349240"/>
            <a:ext cx="3210458" cy="731520"/>
          </a:xfrm>
          <a:prstGeom prst="roundRect">
            <a:avLst>
              <a:gd name="adj" fmla="val 10000"/>
            </a:avLst>
          </a:prstGeom>
          <a:solidFill>
            <a:schemeClr val="bg1"/>
          </a:solidFill>
          <a:ln w="12700">
            <a:solidFill>
              <a:schemeClr val="bg1"/>
            </a:solidFill>
            <a:prstDash val="solid"/>
          </a:ln>
        </p:spPr>
      </p:sp>
      <p:sp>
        <p:nvSpPr>
          <p:cNvPr id="24" name="Text 22"/>
          <p:cNvSpPr txBox="1"/>
          <p:nvPr/>
        </p:nvSpPr>
        <p:spPr>
          <a:xfrm>
            <a:off x="4600346" y="5458968"/>
            <a:ext cx="2991002" cy="555955"/>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The model + a LoRA: it reads what the model reads and says what the model can say.</a:t>
            </a:r>
            <a:endParaRPr lang="en-US" sz="1250" dirty="0"/>
          </a:p>
        </p:txBody>
      </p:sp>
      <p:sp>
        <p:nvSpPr>
          <p:cNvPr id="25" name="Shape 23"/>
          <p:cNvSpPr/>
          <p:nvPr/>
        </p:nvSpPr>
        <p:spPr>
          <a:xfrm>
            <a:off x="6095848" y="1965960"/>
            <a:ext cx="3804818" cy="320040"/>
          </a:xfrm>
          <a:prstGeom prst="line">
            <a:avLst/>
          </a:prstGeom>
          <a:noFill/>
          <a:ln w="15875">
            <a:solidFill>
              <a:schemeClr val="accent6"/>
            </a:solidFill>
            <a:prstDash val="solid"/>
            <a:tailEnd type="triangle"/>
          </a:ln>
        </p:spPr>
      </p:sp>
      <p:sp>
        <p:nvSpPr>
          <p:cNvPr id="26" name="Shape 24"/>
          <p:cNvSpPr/>
          <p:nvPr/>
        </p:nvSpPr>
        <p:spPr>
          <a:xfrm>
            <a:off x="8158277" y="2331720"/>
            <a:ext cx="3484778" cy="3886200"/>
          </a:xfrm>
          <a:prstGeom prst="roundRect">
            <a:avLst>
              <a:gd name="adj" fmla="val 2099"/>
            </a:avLst>
          </a:prstGeom>
          <a:solidFill>
            <a:schemeClr val="bg2"/>
          </a:solidFill>
          <a:ln w="12700">
            <a:solidFill>
              <a:schemeClr val="bg2"/>
            </a:solidFill>
            <a:prstDash val="solid"/>
          </a:ln>
        </p:spPr>
      </p:sp>
      <p:sp>
        <p:nvSpPr>
          <p:cNvPr id="27" name="Shape 25"/>
          <p:cNvSpPr/>
          <p:nvPr/>
        </p:nvSpPr>
        <p:spPr>
          <a:xfrm>
            <a:off x="8359445" y="2514600"/>
            <a:ext cx="457200" cy="457200"/>
          </a:xfrm>
          <a:prstGeom prst="ellipse">
            <a:avLst/>
          </a:prstGeom>
          <a:solidFill>
            <a:schemeClr val="accent1"/>
          </a:solidFill>
          <a:ln w="12700">
            <a:solidFill>
              <a:schemeClr val="accent1"/>
            </a:solidFill>
            <a:prstDash val="solid"/>
          </a:ln>
        </p:spPr>
      </p:sp>
      <p:sp>
        <p:nvSpPr>
          <p:cNvPr id="28" name="Text 26"/>
          <p:cNvSpPr txBox="1"/>
          <p:nvPr/>
        </p:nvSpPr>
        <p:spPr>
          <a:xfrm>
            <a:off x="8935517" y="2487168"/>
            <a:ext cx="2570378" cy="347472"/>
          </a:xfrm>
          <a:prstGeom prst="rect">
            <a:avLst/>
          </a:prstGeom>
          <a:noFill/>
          <a:ln/>
        </p:spPr>
        <p:txBody>
          <a:bodyPr wrap="square" lIns="0" tIns="0" rIns="0" bIns="0" rtlCol="0" anchor="t"/>
          <a:lstStyle/>
          <a:p>
            <a:pPr indent="0" marL="0">
              <a:buNone/>
            </a:pPr>
            <a:r>
              <a:rPr lang="en-US" sz="2100" b="1" dirty="0">
                <a:solidFill>
                  <a:schemeClr val="accent1"/>
                </a:solidFill>
                <a:latin typeface="Cambria" pitchFamily="34" charset="0"/>
                <a:ea typeface="Cambria" pitchFamily="34" charset="-122"/>
                <a:cs typeface="Cambria" pitchFamily="34" charset="-120"/>
              </a:rPr>
              <a:t>NLA</a:t>
            </a:r>
            <a:endParaRPr lang="en-US" sz="2100" dirty="0"/>
          </a:p>
        </p:txBody>
      </p:sp>
      <p:sp>
        <p:nvSpPr>
          <p:cNvPr id="29" name="Text 27"/>
          <p:cNvSpPr txBox="1"/>
          <p:nvPr/>
        </p:nvSpPr>
        <p:spPr>
          <a:xfrm>
            <a:off x="8935517" y="2834640"/>
            <a:ext cx="2570378"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VERBALIZER + RECONSTRUCTOR</a:t>
            </a:r>
            <a:endParaRPr lang="en-US" sz="1050" dirty="0"/>
          </a:p>
        </p:txBody>
      </p:sp>
      <p:sp>
        <p:nvSpPr>
          <p:cNvPr id="30" name="Text 28"/>
          <p:cNvSpPr txBox="1"/>
          <p:nvPr/>
        </p:nvSpPr>
        <p:spPr>
          <a:xfrm>
            <a:off x="8359445" y="3246120"/>
            <a:ext cx="3082442"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Verbalizer writes an explanation; reconstructor rebuilds the vector</a:t>
            </a:r>
            <a:endParaRPr lang="en-US" sz="1400" dirty="0"/>
          </a:p>
          <a:p>
            <a:pPr marL="203200" indent="-203200">
              <a:spcAft>
                <a:spcPts val="600"/>
              </a:spcAft>
              <a:buSzPct val="100000"/>
              <a:buChar char="•"/>
            </a:pPr>
            <a:r>
              <a:rPr lang="en-US" sz="1400" dirty="0">
                <a:solidFill>
                  <a:schemeClr val="tx1"/>
                </a:solidFill>
              </a:rPr>
              <a:t>RL reward = reconstruction; FVE 0.761 (card 0.766)</a:t>
            </a:r>
            <a:endParaRPr lang="en-US" sz="1400" dirty="0"/>
          </a:p>
          <a:p>
            <a:pPr marL="203200" indent="-203200">
              <a:spcAft>
                <a:spcPts val="600"/>
              </a:spcAft>
              <a:buSzPct val="100000"/>
              <a:buChar char="•"/>
            </a:pPr>
            <a:r>
              <a:rPr lang="en-US" sz="1400" dirty="0">
                <a:solidFill>
                  <a:schemeClr val="tx1"/>
                </a:solidFill>
              </a:rPr>
              <a:t>Trained at layer 42 only</a:t>
            </a:r>
            <a:endParaRPr lang="en-US" sz="1400" dirty="0"/>
          </a:p>
        </p:txBody>
      </p:sp>
      <p:sp>
        <p:nvSpPr>
          <p:cNvPr id="31" name="Shape 29"/>
          <p:cNvSpPr/>
          <p:nvPr/>
        </p:nvSpPr>
        <p:spPr>
          <a:xfrm>
            <a:off x="8295437" y="5349240"/>
            <a:ext cx="3210458" cy="731520"/>
          </a:xfrm>
          <a:prstGeom prst="roundRect">
            <a:avLst>
              <a:gd name="adj" fmla="val 10000"/>
            </a:avLst>
          </a:prstGeom>
          <a:solidFill>
            <a:schemeClr val="bg1"/>
          </a:solidFill>
          <a:ln w="12700">
            <a:solidFill>
              <a:schemeClr val="bg1"/>
            </a:solidFill>
            <a:prstDash val="solid"/>
          </a:ln>
        </p:spPr>
      </p:sp>
      <p:sp>
        <p:nvSpPr>
          <p:cNvPr id="32" name="Text 30"/>
          <p:cNvSpPr txBox="1"/>
          <p:nvPr/>
        </p:nvSpPr>
        <p:spPr>
          <a:xfrm>
            <a:off x="8405165" y="5458968"/>
            <a:ext cx="2991002" cy="555955"/>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Example: "French descriptive sentence…"</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BACKGROUND 4A / 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'Non-workspace' content: the model uses it, a probe decodes it, but it sits outside the top-r J-space</a:t>
            </a:r>
            <a:endParaRPr lang="en-US" sz="2800" dirty="0"/>
          </a:p>
        </p:txBody>
      </p:sp>
      <p:sp>
        <p:nvSpPr>
          <p:cNvPr id="7" name="Shape 5"/>
          <p:cNvSpPr/>
          <p:nvPr/>
        </p:nvSpPr>
        <p:spPr>
          <a:xfrm>
            <a:off x="548640" y="1755648"/>
            <a:ext cx="457200" cy="457200"/>
          </a:xfrm>
          <a:prstGeom prst="ellipse">
            <a:avLst/>
          </a:prstGeom>
          <a:solidFill>
            <a:schemeClr val="tx1"/>
          </a:solidFill>
          <a:ln w="12700">
            <a:solidFill>
              <a:schemeClr val="tx1"/>
            </a:solidFill>
            <a:prstDash val="solid"/>
          </a:ln>
        </p:spPr>
      </p:sp>
      <p:sp>
        <p:nvSpPr>
          <p:cNvPr id="8" name="Text 6"/>
          <p:cNvSpPr txBox="1"/>
          <p:nvPr/>
        </p:nvSpPr>
        <p:spPr>
          <a:xfrm>
            <a:off x="548640" y="17556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G1</a:t>
            </a:r>
            <a:endParaRPr lang="en-US" sz="1400" dirty="0"/>
          </a:p>
        </p:txBody>
      </p:sp>
      <p:sp>
        <p:nvSpPr>
          <p:cNvPr id="9" name="Text 7"/>
          <p:cNvSpPr txBox="1"/>
          <p:nvPr/>
        </p:nvSpPr>
        <p:spPr>
          <a:xfrm>
            <a:off x="1188720" y="1737360"/>
            <a:ext cx="5394960" cy="320040"/>
          </a:xfrm>
          <a:prstGeom prst="rect">
            <a:avLst/>
          </a:prstGeom>
          <a:noFill/>
          <a:ln/>
        </p:spPr>
        <p:txBody>
          <a:bodyPr wrap="square" lIns="0" tIns="0" rIns="0" bIns="0" rtlCol="0" anchor="t"/>
          <a:lstStyle/>
          <a:p>
            <a:pPr indent="0" marL="0">
              <a:buNone/>
            </a:pPr>
            <a:r>
              <a:rPr lang="en-US" sz="1700" b="1" dirty="0">
                <a:solidFill>
                  <a:schemeClr val="tx1"/>
                </a:solidFill>
              </a:rPr>
              <a:t>Decodable</a:t>
            </a:r>
            <a:endParaRPr lang="en-US" sz="1700" dirty="0"/>
          </a:p>
        </p:txBody>
      </p:sp>
      <p:sp>
        <p:nvSpPr>
          <p:cNvPr id="10" name="Text 8"/>
          <p:cNvSpPr txBox="1"/>
          <p:nvPr/>
        </p:nvSpPr>
        <p:spPr>
          <a:xfrm>
            <a:off x="1188720" y="2066544"/>
            <a:ext cx="5394960" cy="685800"/>
          </a:xfrm>
          <a:prstGeom prst="rect">
            <a:avLst/>
          </a:prstGeom>
          <a:noFill/>
          <a:ln/>
        </p:spPr>
        <p:txBody>
          <a:bodyPr wrap="square" lIns="0" tIns="0" rIns="0" bIns="0" rtlCol="0" anchor="t"/>
          <a:lstStyle/>
          <a:p>
            <a:pPr indent="0" marL="0">
              <a:buNone/>
            </a:pPr>
            <a:r>
              <a:rPr lang="en-US" sz="1400" dirty="0">
                <a:solidFill>
                  <a:schemeClr val="tx1"/>
                </a:solidFill>
              </a:rPr>
              <a:t>A linear probe recovers it at layer 42 (G1).</a:t>
            </a:r>
            <a:endParaRPr lang="en-US" sz="1400" dirty="0"/>
          </a:p>
        </p:txBody>
      </p:sp>
      <p:sp>
        <p:nvSpPr>
          <p:cNvPr id="11" name="Shape 9"/>
          <p:cNvSpPr/>
          <p:nvPr/>
        </p:nvSpPr>
        <p:spPr>
          <a:xfrm>
            <a:off x="548640" y="2852928"/>
            <a:ext cx="457200" cy="457200"/>
          </a:xfrm>
          <a:prstGeom prst="ellipse">
            <a:avLst/>
          </a:prstGeom>
          <a:solidFill>
            <a:schemeClr val="tx1"/>
          </a:solidFill>
          <a:ln w="12700">
            <a:solidFill>
              <a:schemeClr val="tx1"/>
            </a:solidFill>
            <a:prstDash val="solid"/>
          </a:ln>
        </p:spPr>
      </p:sp>
      <p:sp>
        <p:nvSpPr>
          <p:cNvPr id="12" name="Text 10"/>
          <p:cNvSpPr txBox="1"/>
          <p:nvPr/>
        </p:nvSpPr>
        <p:spPr>
          <a:xfrm>
            <a:off x="548640" y="28529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G2</a:t>
            </a:r>
            <a:endParaRPr lang="en-US" sz="1400" dirty="0"/>
          </a:p>
        </p:txBody>
      </p:sp>
      <p:sp>
        <p:nvSpPr>
          <p:cNvPr id="13" name="Text 11"/>
          <p:cNvSpPr txBox="1"/>
          <p:nvPr/>
        </p:nvSpPr>
        <p:spPr>
          <a:xfrm>
            <a:off x="1188720" y="2834640"/>
            <a:ext cx="5394960" cy="320040"/>
          </a:xfrm>
          <a:prstGeom prst="rect">
            <a:avLst/>
          </a:prstGeom>
          <a:noFill/>
          <a:ln/>
        </p:spPr>
        <p:txBody>
          <a:bodyPr wrap="square" lIns="0" tIns="0" rIns="0" bIns="0" rtlCol="0" anchor="t"/>
          <a:lstStyle/>
          <a:p>
            <a:pPr indent="0" marL="0">
              <a:buNone/>
            </a:pPr>
            <a:r>
              <a:rPr lang="en-US" sz="1700" b="1" dirty="0">
                <a:solidFill>
                  <a:schemeClr val="tx1"/>
                </a:solidFill>
              </a:rPr>
              <a:t>Outside the top-r J-space</a:t>
            </a:r>
            <a:endParaRPr lang="en-US" sz="1700" dirty="0"/>
          </a:p>
        </p:txBody>
      </p:sp>
      <p:sp>
        <p:nvSpPr>
          <p:cNvPr id="14" name="Text 12"/>
          <p:cNvSpPr txBox="1"/>
          <p:nvPr/>
        </p:nvSpPr>
        <p:spPr>
          <a:xfrm>
            <a:off x="1188720" y="3163824"/>
            <a:ext cx="5394960" cy="685800"/>
          </a:xfrm>
          <a:prstGeom prst="rect">
            <a:avLst/>
          </a:prstGeom>
          <a:noFill/>
          <a:ln/>
        </p:spPr>
        <p:txBody>
          <a:bodyPr wrap="square" lIns="0" tIns="0" rIns="0" bIns="0" rtlCol="0" anchor="t"/>
          <a:lstStyle/>
          <a:p>
            <a:pPr indent="0" marL="0">
              <a:buNone/>
            </a:pPr>
            <a:r>
              <a:rPr lang="en-US" sz="1400" dirty="0">
                <a:solidFill>
                  <a:schemeClr val="tx1"/>
                </a:solidFill>
              </a:rPr>
              <a:t>Its direction is J-depleted (enrichment ≤ 1.5 at r* and 4r*) and the J-Lens readout does not track it (G2).</a:t>
            </a:r>
            <a:endParaRPr lang="en-US" sz="1400" dirty="0"/>
          </a:p>
        </p:txBody>
      </p:sp>
      <p:sp>
        <p:nvSpPr>
          <p:cNvPr id="15" name="Shape 13"/>
          <p:cNvSpPr/>
          <p:nvPr/>
        </p:nvSpPr>
        <p:spPr>
          <a:xfrm>
            <a:off x="548640" y="3950208"/>
            <a:ext cx="457200" cy="457200"/>
          </a:xfrm>
          <a:prstGeom prst="ellipse">
            <a:avLst/>
          </a:prstGeom>
          <a:solidFill>
            <a:schemeClr val="tx1"/>
          </a:solidFill>
          <a:ln w="12700">
            <a:solidFill>
              <a:schemeClr val="tx1"/>
            </a:solidFill>
            <a:prstDash val="solid"/>
          </a:ln>
        </p:spPr>
      </p:sp>
      <p:sp>
        <p:nvSpPr>
          <p:cNvPr id="16" name="Text 14"/>
          <p:cNvSpPr txBox="1"/>
          <p:nvPr/>
        </p:nvSpPr>
        <p:spPr>
          <a:xfrm>
            <a:off x="548640" y="39502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G4</a:t>
            </a:r>
            <a:endParaRPr lang="en-US" sz="1400" dirty="0"/>
          </a:p>
        </p:txBody>
      </p:sp>
      <p:sp>
        <p:nvSpPr>
          <p:cNvPr id="17" name="Text 15"/>
          <p:cNvSpPr txBox="1"/>
          <p:nvPr/>
        </p:nvSpPr>
        <p:spPr>
          <a:xfrm>
            <a:off x="1188720" y="3931920"/>
            <a:ext cx="5394960" cy="320040"/>
          </a:xfrm>
          <a:prstGeom prst="rect">
            <a:avLst/>
          </a:prstGeom>
          <a:noFill/>
          <a:ln/>
        </p:spPr>
        <p:txBody>
          <a:bodyPr wrap="square" lIns="0" tIns="0" rIns="0" bIns="0" rtlCol="0" anchor="t"/>
          <a:lstStyle/>
          <a:p>
            <a:pPr indent="0" marL="0">
              <a:buNone/>
            </a:pPr>
            <a:r>
              <a:rPr lang="en-US" sz="1700" b="1" dirty="0">
                <a:solidFill>
                  <a:schemeClr val="tx1"/>
                </a:solidFill>
              </a:rPr>
              <a:t>Causally used</a:t>
            </a:r>
            <a:endParaRPr lang="en-US" sz="1700" dirty="0"/>
          </a:p>
        </p:txBody>
      </p:sp>
      <p:sp>
        <p:nvSpPr>
          <p:cNvPr id="18" name="Text 16"/>
          <p:cNvSpPr txBox="1"/>
          <p:nvPr/>
        </p:nvSpPr>
        <p:spPr>
          <a:xfrm>
            <a:off x="1188720" y="4261104"/>
            <a:ext cx="5394960" cy="685800"/>
          </a:xfrm>
          <a:prstGeom prst="rect">
            <a:avLst/>
          </a:prstGeom>
          <a:noFill/>
          <a:ln/>
        </p:spPr>
        <p:txBody>
          <a:bodyPr wrap="square" lIns="0" tIns="0" rIns="0" bIns="0" rtlCol="0" anchor="t"/>
          <a:lstStyle/>
          <a:p>
            <a:pPr indent="0" marL="0">
              <a:buNone/>
            </a:pPr>
            <a:r>
              <a:rPr lang="en-US" sz="1400" dirty="0">
                <a:solidFill>
                  <a:schemeClr val="tx1"/>
                </a:solidFill>
              </a:rPr>
              <a:t>Steering along its J-removed direction changes behaviour far more than random directions do (G4).</a:t>
            </a:r>
            <a:endParaRPr lang="en-US" sz="1400" dirty="0"/>
          </a:p>
        </p:txBody>
      </p:sp>
      <p:sp>
        <p:nvSpPr>
          <p:cNvPr id="19" name="Shape 17"/>
          <p:cNvSpPr/>
          <p:nvPr/>
        </p:nvSpPr>
        <p:spPr>
          <a:xfrm>
            <a:off x="548640" y="5047488"/>
            <a:ext cx="457200" cy="457200"/>
          </a:xfrm>
          <a:prstGeom prst="ellipse">
            <a:avLst/>
          </a:prstGeom>
          <a:solidFill>
            <a:schemeClr val="accent6"/>
          </a:solidFill>
          <a:ln w="12700">
            <a:solidFill>
              <a:schemeClr val="accent6"/>
            </a:solidFill>
            <a:prstDash val="solid"/>
          </a:ln>
        </p:spPr>
      </p:sp>
      <p:sp>
        <p:nvSpPr>
          <p:cNvPr id="20" name="Text 18"/>
          <p:cNvSpPr txBox="1"/>
          <p:nvPr/>
        </p:nvSpPr>
        <p:spPr>
          <a:xfrm>
            <a:off x="548640" y="504748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1" name="Text 19"/>
          <p:cNvSpPr txBox="1"/>
          <p:nvPr/>
        </p:nvSpPr>
        <p:spPr>
          <a:xfrm>
            <a:off x="1188720" y="5029200"/>
            <a:ext cx="5394960" cy="320040"/>
          </a:xfrm>
          <a:prstGeom prst="rect">
            <a:avLst/>
          </a:prstGeom>
          <a:noFill/>
          <a:ln/>
        </p:spPr>
        <p:txBody>
          <a:bodyPr wrap="square" lIns="0" tIns="0" rIns="0" bIns="0" rtlCol="0" anchor="t"/>
          <a:lstStyle/>
          <a:p>
            <a:pPr indent="0" marL="0">
              <a:buNone/>
            </a:pPr>
            <a:r>
              <a:rPr lang="en-US" sz="1700" b="1" dirty="0">
                <a:solidFill>
                  <a:schemeClr val="accent5"/>
                </a:solidFill>
              </a:rPr>
              <a:t>Self-report (reported, not a gate)</a:t>
            </a:r>
            <a:endParaRPr lang="en-US" sz="1700" dirty="0"/>
          </a:p>
        </p:txBody>
      </p:sp>
      <p:sp>
        <p:nvSpPr>
          <p:cNvPr id="22" name="Text 20"/>
          <p:cNvSpPr txBox="1"/>
          <p:nvPr/>
        </p:nvSpPr>
        <p:spPr>
          <a:xfrm>
            <a:off x="1188720" y="5358384"/>
            <a:ext cx="5394960" cy="685800"/>
          </a:xfrm>
          <a:prstGeom prst="rect">
            <a:avLst/>
          </a:prstGeom>
          <a:noFill/>
          <a:ln/>
        </p:spPr>
        <p:txBody>
          <a:bodyPr wrap="square" lIns="0" tIns="0" rIns="0" bIns="0" rtlCol="0" anchor="t"/>
          <a:lstStyle/>
          <a:p>
            <a:pPr indent="0" marL="0">
              <a:buNone/>
            </a:pPr>
            <a:r>
              <a:rPr lang="en-US" sz="1400" dirty="0">
                <a:solidFill>
                  <a:schemeClr val="accent5"/>
                </a:solidFill>
              </a:rPr>
              <a:t>Self-report failures are often elicitation failures, so they can't define non-J.</a:t>
            </a:r>
            <a:endParaRPr lang="en-US" sz="1400" dirty="0"/>
          </a:p>
        </p:txBody>
      </p:sp>
      <p:sp>
        <p:nvSpPr>
          <p:cNvPr id="23" name="Shape 21"/>
          <p:cNvSpPr/>
          <p:nvPr/>
        </p:nvSpPr>
        <p:spPr>
          <a:xfrm>
            <a:off x="6995160" y="1737360"/>
            <a:ext cx="4647895" cy="4434840"/>
          </a:xfrm>
          <a:prstGeom prst="roundRect">
            <a:avLst>
              <a:gd name="adj" fmla="val 1649"/>
            </a:avLst>
          </a:prstGeom>
          <a:solidFill>
            <a:schemeClr val="bg2"/>
          </a:solidFill>
          <a:ln w="12700">
            <a:solidFill>
              <a:schemeClr val="bg2"/>
            </a:solidFill>
            <a:prstDash val="solid"/>
          </a:ln>
        </p:spPr>
      </p:sp>
      <p:sp>
        <p:nvSpPr>
          <p:cNvPr id="24" name="Text 22"/>
          <p:cNvSpPr txBox="1"/>
          <p:nvPr/>
        </p:nvSpPr>
        <p:spPr>
          <a:xfrm>
            <a:off x="7159752" y="1901952"/>
            <a:ext cx="4318711" cy="329184"/>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Our running example: col</a:t>
            </a:r>
            <a:endParaRPr lang="en-US" sz="1800" dirty="0"/>
          </a:p>
        </p:txBody>
      </p:sp>
      <p:sp>
        <p:nvSpPr>
          <p:cNvPr id="25" name="Text 23"/>
          <p:cNvSpPr txBox="1"/>
          <p:nvPr/>
        </p:nvSpPr>
        <p:spPr>
          <a:xfrm>
            <a:off x="7159752" y="2276856"/>
            <a:ext cx="4318711" cy="3796589"/>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In hard-wrapped text, col = characters since the last newline. The model tracks it to decide when to break the line. It is used, decodable, and invisible to the J-Lens.</a:t>
            </a:r>
            <a:endParaRPr lang="en-US" sz="1500" dirty="0"/>
          </a:p>
        </p:txBody>
      </p:sp>
      <p:sp>
        <p:nvSpPr>
          <p:cNvPr id="26" name="Shape 24"/>
          <p:cNvSpPr/>
          <p:nvPr/>
        </p:nvSpPr>
        <p:spPr>
          <a:xfrm>
            <a:off x="7178040" y="4160520"/>
            <a:ext cx="4282135" cy="914400"/>
          </a:xfrm>
          <a:prstGeom prst="roundRect">
            <a:avLst>
              <a:gd name="adj" fmla="val 6000"/>
            </a:avLst>
          </a:prstGeom>
          <a:solidFill>
            <a:schemeClr val="bg1"/>
          </a:solidFill>
          <a:ln w="12700">
            <a:solidFill>
              <a:schemeClr val="accent6"/>
            </a:solidFill>
            <a:prstDash val="solid"/>
          </a:ln>
        </p:spPr>
      </p:sp>
      <p:sp>
        <p:nvSpPr>
          <p:cNvPr id="27" name="Text 25"/>
          <p:cNvSpPr txBox="1"/>
          <p:nvPr/>
        </p:nvSpPr>
        <p:spPr>
          <a:xfrm>
            <a:off x="7287768" y="4206240"/>
            <a:ext cx="4099255" cy="82296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The quick brown fox jumps over the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lazy dog and keeps running across the▌</a:t>
            </a:r>
            <a:endParaRPr lang="en-US" sz="1200" dirty="0"/>
          </a:p>
        </p:txBody>
      </p:sp>
      <p:sp>
        <p:nvSpPr>
          <p:cNvPr id="28" name="Text 26"/>
          <p:cNvSpPr txBox="1"/>
          <p:nvPr/>
        </p:nvSpPr>
        <p:spPr>
          <a:xfrm>
            <a:off x="7178040" y="5212080"/>
            <a:ext cx="4282135" cy="548640"/>
          </a:xfrm>
          <a:prstGeom prst="rect">
            <a:avLst/>
          </a:prstGeom>
          <a:noFill/>
          <a:ln/>
        </p:spPr>
        <p:txBody>
          <a:bodyPr wrap="square" lIns="0" tIns="0" rIns="0" bIns="0" rtlCol="0" anchor="t"/>
          <a:lstStyle/>
          <a:p>
            <a:pPr indent="0" marL="0">
              <a:buNone/>
            </a:pPr>
            <a:r>
              <a:rPr lang="en-US" sz="1200" dirty="0">
                <a:solidFill>
                  <a:schemeClr val="accent5"/>
                </a:solidFill>
              </a:rPr>
              <a:t>col = 37 here ↑ (the model must track it to know a break is near)</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BACKGROUND 4B / 4: THE CORE CONFOUND</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 reader can be right without reading the latent: it can rebuild the prompt and re-solve it</a:t>
            </a:r>
            <a:endParaRPr lang="en-US" sz="2800" dirty="0"/>
          </a:p>
        </p:txBody>
      </p:sp>
      <p:sp>
        <p:nvSpPr>
          <p:cNvPr id="7" name="Shape 5"/>
          <p:cNvSpPr/>
          <p:nvPr/>
        </p:nvSpPr>
        <p:spPr>
          <a:xfrm>
            <a:off x="548640" y="2514600"/>
            <a:ext cx="2011680" cy="1234440"/>
          </a:xfrm>
          <a:prstGeom prst="roundRect">
            <a:avLst>
              <a:gd name="adj" fmla="val 5926"/>
            </a:avLst>
          </a:prstGeom>
          <a:solidFill>
            <a:schemeClr val="bg2"/>
          </a:solidFill>
          <a:ln w="15875">
            <a:solidFill>
              <a:schemeClr val="bg2"/>
            </a:solidFill>
            <a:prstDash val="solid"/>
          </a:ln>
        </p:spPr>
      </p:sp>
      <p:sp>
        <p:nvSpPr>
          <p:cNvPr id="8" name="Text 6"/>
          <p:cNvSpPr txBox="1"/>
          <p:nvPr/>
        </p:nvSpPr>
        <p:spPr>
          <a:xfrm>
            <a:off x="685800" y="2606040"/>
            <a:ext cx="173736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Prompt text</a:t>
            </a:r>
            <a:endParaRPr lang="en-US" sz="1600" dirty="0"/>
          </a:p>
        </p:txBody>
      </p:sp>
      <p:sp>
        <p:nvSpPr>
          <p:cNvPr id="9" name="Text 7"/>
          <p:cNvSpPr txBox="1"/>
          <p:nvPr/>
        </p:nvSpPr>
        <p:spPr>
          <a:xfrm>
            <a:off x="685800" y="2944368"/>
            <a:ext cx="1737360" cy="731520"/>
          </a:xfrm>
          <a:prstGeom prst="rect">
            <a:avLst/>
          </a:prstGeom>
          <a:noFill/>
          <a:ln/>
        </p:spPr>
        <p:txBody>
          <a:bodyPr wrap="square" lIns="0" tIns="0" rIns="0" bIns="0" rtlCol="0" anchor="t"/>
          <a:lstStyle/>
          <a:p>
            <a:pPr indent="0" marL="0">
              <a:buNone/>
            </a:pPr>
            <a:r>
              <a:rPr lang="en-US" sz="1300" dirty="0">
                <a:solidFill>
                  <a:schemeClr val="tx1"/>
                </a:solidFill>
              </a:rPr>
              <a:t>"…famous for the Eiffel Tower is"</a:t>
            </a:r>
            <a:endParaRPr lang="en-US" sz="1300" dirty="0"/>
          </a:p>
        </p:txBody>
      </p:sp>
      <p:sp>
        <p:nvSpPr>
          <p:cNvPr id="10" name="Shape 8"/>
          <p:cNvSpPr/>
          <p:nvPr/>
        </p:nvSpPr>
        <p:spPr>
          <a:xfrm>
            <a:off x="2606040" y="3127248"/>
            <a:ext cx="320040" cy="914"/>
          </a:xfrm>
          <a:prstGeom prst="line">
            <a:avLst/>
          </a:prstGeom>
          <a:noFill/>
          <a:ln w="25400">
            <a:solidFill>
              <a:schemeClr val="accent5"/>
            </a:solidFill>
            <a:prstDash val="solid"/>
            <a:tailEnd type="triangle"/>
          </a:ln>
        </p:spPr>
      </p:sp>
      <p:sp>
        <p:nvSpPr>
          <p:cNvPr id="11" name="Shape 9"/>
          <p:cNvSpPr/>
          <p:nvPr/>
        </p:nvSpPr>
        <p:spPr>
          <a:xfrm>
            <a:off x="2971800" y="2331720"/>
            <a:ext cx="2514600" cy="1600200"/>
          </a:xfrm>
          <a:prstGeom prst="roundRect">
            <a:avLst>
              <a:gd name="adj" fmla="val 4571"/>
            </a:avLst>
          </a:prstGeom>
          <a:solidFill>
            <a:schemeClr val="bg2"/>
          </a:solidFill>
          <a:ln w="15875">
            <a:solidFill>
              <a:schemeClr val="tx1"/>
            </a:solidFill>
            <a:prstDash val="solid"/>
          </a:ln>
        </p:spPr>
      </p:sp>
      <p:sp>
        <p:nvSpPr>
          <p:cNvPr id="12" name="Text 10"/>
          <p:cNvSpPr txBox="1"/>
          <p:nvPr/>
        </p:nvSpPr>
        <p:spPr>
          <a:xfrm>
            <a:off x="3108960" y="2423160"/>
            <a:ext cx="2240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Activation, layer 42</a:t>
            </a:r>
            <a:endParaRPr lang="en-US" sz="1600" dirty="0"/>
          </a:p>
        </p:txBody>
      </p:sp>
      <p:sp>
        <p:nvSpPr>
          <p:cNvPr id="13" name="Text 11"/>
          <p:cNvSpPr txBox="1"/>
          <p:nvPr/>
        </p:nvSpPr>
        <p:spPr>
          <a:xfrm>
            <a:off x="3108960" y="2761488"/>
            <a:ext cx="2240280" cy="1097280"/>
          </a:xfrm>
          <a:prstGeom prst="rect">
            <a:avLst/>
          </a:prstGeom>
          <a:noFill/>
          <a:ln/>
        </p:spPr>
        <p:txBody>
          <a:bodyPr wrap="square" lIns="0" tIns="0" rIns="0" bIns="0" rtlCol="0" anchor="t"/>
          <a:lstStyle/>
          <a:p>
            <a:pPr indent="0" marL="0">
              <a:buNone/>
            </a:pPr>
            <a:r>
              <a:rPr lang="en-US" sz="1300" dirty="0">
                <a:solidFill>
                  <a:schemeClr val="tx1"/>
                </a:solidFill>
              </a:rPr>
              <a:t>encodes the prompt and the features the model computed</a:t>
            </a:r>
            <a:endParaRPr lang="en-US" sz="1300" dirty="0"/>
          </a:p>
        </p:txBody>
      </p:sp>
      <p:sp>
        <p:nvSpPr>
          <p:cNvPr id="14" name="Shape 12"/>
          <p:cNvSpPr/>
          <p:nvPr/>
        </p:nvSpPr>
        <p:spPr>
          <a:xfrm>
            <a:off x="6172200" y="1691640"/>
            <a:ext cx="3063240" cy="1188720"/>
          </a:xfrm>
          <a:prstGeom prst="roundRect">
            <a:avLst>
              <a:gd name="adj" fmla="val 6154"/>
            </a:avLst>
          </a:prstGeom>
          <a:solidFill>
            <a:schemeClr val="accent1">
              <a:alpha val="15000"/>
            </a:schemeClr>
          </a:solidFill>
          <a:ln w="15875">
            <a:solidFill>
              <a:schemeClr val="accent1"/>
            </a:solidFill>
            <a:prstDash val="solid"/>
          </a:ln>
        </p:spPr>
      </p:sp>
      <p:sp>
        <p:nvSpPr>
          <p:cNvPr id="15" name="Text 13"/>
          <p:cNvSpPr txBox="1"/>
          <p:nvPr/>
        </p:nvSpPr>
        <p:spPr>
          <a:xfrm>
            <a:off x="6309360" y="1783080"/>
            <a:ext cx="278892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Reading</a:t>
            </a:r>
            <a:endParaRPr lang="en-US" sz="1600" dirty="0"/>
          </a:p>
        </p:txBody>
      </p:sp>
      <p:sp>
        <p:nvSpPr>
          <p:cNvPr id="16" name="Text 14"/>
          <p:cNvSpPr txBox="1"/>
          <p:nvPr/>
        </p:nvSpPr>
        <p:spPr>
          <a:xfrm>
            <a:off x="6309360" y="2121408"/>
            <a:ext cx="2788920" cy="685800"/>
          </a:xfrm>
          <a:prstGeom prst="rect">
            <a:avLst/>
          </a:prstGeom>
          <a:noFill/>
          <a:ln/>
        </p:spPr>
        <p:txBody>
          <a:bodyPr wrap="square" lIns="0" tIns="0" rIns="0" bIns="0" rtlCol="0" anchor="t"/>
          <a:lstStyle/>
          <a:p>
            <a:pPr indent="0" marL="0">
              <a:buNone/>
            </a:pPr>
            <a:r>
              <a:rPr lang="en-US" sz="1300" dirty="0">
                <a:solidFill>
                  <a:schemeClr val="tx1"/>
                </a:solidFill>
              </a:rPr>
              <a:t>Reports the feature straight from the activation.</a:t>
            </a:r>
            <a:endParaRPr lang="en-US" sz="1300" dirty="0"/>
          </a:p>
        </p:txBody>
      </p:sp>
      <p:sp>
        <p:nvSpPr>
          <p:cNvPr id="17" name="Shape 15"/>
          <p:cNvSpPr/>
          <p:nvPr/>
        </p:nvSpPr>
        <p:spPr>
          <a:xfrm>
            <a:off x="6172200" y="3337560"/>
            <a:ext cx="3063240" cy="1371600"/>
          </a:xfrm>
          <a:prstGeom prst="roundRect">
            <a:avLst>
              <a:gd name="adj" fmla="val 5333"/>
            </a:avLst>
          </a:prstGeom>
          <a:solidFill>
            <a:schemeClr val="accent4">
              <a:alpha val="18000"/>
            </a:schemeClr>
          </a:solidFill>
          <a:ln w="15875">
            <a:solidFill>
              <a:schemeClr val="accent4"/>
            </a:solidFill>
            <a:prstDash val="solid"/>
          </a:ln>
        </p:spPr>
      </p:sp>
      <p:sp>
        <p:nvSpPr>
          <p:cNvPr id="18" name="Text 16"/>
          <p:cNvSpPr txBox="1"/>
          <p:nvPr/>
        </p:nvSpPr>
        <p:spPr>
          <a:xfrm>
            <a:off x="6309360" y="3429000"/>
            <a:ext cx="278892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Re-solving</a:t>
            </a:r>
            <a:endParaRPr lang="en-US" sz="1600" dirty="0"/>
          </a:p>
        </p:txBody>
      </p:sp>
      <p:sp>
        <p:nvSpPr>
          <p:cNvPr id="19" name="Text 17"/>
          <p:cNvSpPr txBox="1"/>
          <p:nvPr/>
        </p:nvSpPr>
        <p:spPr>
          <a:xfrm>
            <a:off x="6309360" y="3767328"/>
            <a:ext cx="2788920" cy="868680"/>
          </a:xfrm>
          <a:prstGeom prst="rect">
            <a:avLst/>
          </a:prstGeom>
          <a:noFill/>
          <a:ln/>
        </p:spPr>
        <p:txBody>
          <a:bodyPr wrap="square" lIns="0" tIns="0" rIns="0" bIns="0" rtlCol="0" anchor="t"/>
          <a:lstStyle/>
          <a:p>
            <a:pPr indent="0" marL="0">
              <a:buNone/>
            </a:pPr>
            <a:r>
              <a:rPr lang="en-US" sz="1300" dirty="0">
                <a:solidFill>
                  <a:schemeClr val="tx1"/>
                </a:solidFill>
              </a:rPr>
              <a:t>Rebuilds the prompt from the activation, then works out the answer itself, like a text model would.</a:t>
            </a:r>
            <a:endParaRPr lang="en-US" sz="1300" dirty="0"/>
          </a:p>
        </p:txBody>
      </p:sp>
      <p:sp>
        <p:nvSpPr>
          <p:cNvPr id="20" name="Shape 18"/>
          <p:cNvSpPr/>
          <p:nvPr/>
        </p:nvSpPr>
        <p:spPr>
          <a:xfrm flipV="1">
            <a:off x="5532120" y="2331720"/>
            <a:ext cx="594360" cy="594360"/>
          </a:xfrm>
          <a:prstGeom prst="line">
            <a:avLst/>
          </a:prstGeom>
          <a:noFill/>
          <a:ln w="25400">
            <a:solidFill>
              <a:schemeClr val="accent1"/>
            </a:solidFill>
            <a:prstDash val="solid"/>
            <a:tailEnd type="triangle"/>
          </a:ln>
        </p:spPr>
      </p:sp>
      <p:sp>
        <p:nvSpPr>
          <p:cNvPr id="21" name="Shape 19"/>
          <p:cNvSpPr/>
          <p:nvPr/>
        </p:nvSpPr>
        <p:spPr>
          <a:xfrm>
            <a:off x="5532120" y="3337560"/>
            <a:ext cx="594360" cy="640080"/>
          </a:xfrm>
          <a:prstGeom prst="line">
            <a:avLst/>
          </a:prstGeom>
          <a:noFill/>
          <a:ln w="25400">
            <a:solidFill>
              <a:schemeClr val="accent4"/>
            </a:solidFill>
            <a:prstDash val="solid"/>
            <a:tailEnd type="triangle"/>
          </a:ln>
        </p:spPr>
      </p:sp>
      <p:sp>
        <p:nvSpPr>
          <p:cNvPr id="22" name="Shape 20"/>
          <p:cNvSpPr/>
          <p:nvPr/>
        </p:nvSpPr>
        <p:spPr>
          <a:xfrm>
            <a:off x="9875520" y="2514600"/>
            <a:ext cx="1764792" cy="1234440"/>
          </a:xfrm>
          <a:prstGeom prst="roundRect">
            <a:avLst>
              <a:gd name="adj" fmla="val 5926"/>
            </a:avLst>
          </a:prstGeom>
          <a:solidFill>
            <a:schemeClr val="bg2"/>
          </a:solidFill>
          <a:ln w="15875">
            <a:solidFill>
              <a:schemeClr val="bg2"/>
            </a:solidFill>
            <a:prstDash val="solid"/>
          </a:ln>
        </p:spPr>
      </p:sp>
      <p:sp>
        <p:nvSpPr>
          <p:cNvPr id="23" name="Text 21"/>
          <p:cNvSpPr txBox="1"/>
          <p:nvPr/>
        </p:nvSpPr>
        <p:spPr>
          <a:xfrm>
            <a:off x="10012680" y="2606040"/>
            <a:ext cx="1490472"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Same answer</a:t>
            </a:r>
            <a:endParaRPr lang="en-US" sz="1600" dirty="0"/>
          </a:p>
        </p:txBody>
      </p:sp>
      <p:sp>
        <p:nvSpPr>
          <p:cNvPr id="24" name="Text 22"/>
          <p:cNvSpPr txBox="1"/>
          <p:nvPr/>
        </p:nvSpPr>
        <p:spPr>
          <a:xfrm>
            <a:off x="10012680" y="2944368"/>
            <a:ext cx="1490472" cy="731520"/>
          </a:xfrm>
          <a:prstGeom prst="rect">
            <a:avLst/>
          </a:prstGeom>
          <a:noFill/>
          <a:ln/>
        </p:spPr>
        <p:txBody>
          <a:bodyPr wrap="square" lIns="0" tIns="0" rIns="0" bIns="0" rtlCol="0" anchor="t"/>
          <a:lstStyle/>
          <a:p>
            <a:pPr indent="0" marL="0">
              <a:buNone/>
            </a:pPr>
            <a:r>
              <a:rPr lang="en-US" sz="1300" dirty="0">
                <a:solidFill>
                  <a:schemeClr val="tx1"/>
                </a:solidFill>
              </a:rPr>
              <a:t>"France"</a:t>
            </a:r>
            <a:endParaRPr lang="en-US" sz="1300" dirty="0"/>
          </a:p>
        </p:txBody>
      </p:sp>
      <p:sp>
        <p:nvSpPr>
          <p:cNvPr id="25" name="Shape 23"/>
          <p:cNvSpPr/>
          <p:nvPr/>
        </p:nvSpPr>
        <p:spPr>
          <a:xfrm>
            <a:off x="9281160" y="2331720"/>
            <a:ext cx="548640" cy="594360"/>
          </a:xfrm>
          <a:prstGeom prst="line">
            <a:avLst/>
          </a:prstGeom>
          <a:noFill/>
          <a:ln w="19050">
            <a:solidFill>
              <a:schemeClr val="accent5"/>
            </a:solidFill>
            <a:prstDash val="solid"/>
            <a:tailEnd type="triangle"/>
          </a:ln>
        </p:spPr>
      </p:sp>
      <p:sp>
        <p:nvSpPr>
          <p:cNvPr id="26" name="Shape 24"/>
          <p:cNvSpPr/>
          <p:nvPr/>
        </p:nvSpPr>
        <p:spPr>
          <a:xfrm flipV="1">
            <a:off x="9281160" y="3337560"/>
            <a:ext cx="548640" cy="640080"/>
          </a:xfrm>
          <a:prstGeom prst="line">
            <a:avLst/>
          </a:prstGeom>
          <a:noFill/>
          <a:ln w="19050">
            <a:solidFill>
              <a:schemeClr val="accent5"/>
            </a:solidFill>
            <a:prstDash val="solid"/>
            <a:tailEnd type="triangle"/>
          </a:ln>
        </p:spPr>
      </p:sp>
      <p:sp>
        <p:nvSpPr>
          <p:cNvPr id="27" name="Shape 25"/>
          <p:cNvSpPr/>
          <p:nvPr/>
        </p:nvSpPr>
        <p:spPr>
          <a:xfrm>
            <a:off x="548640" y="4983480"/>
            <a:ext cx="11094415" cy="868680"/>
          </a:xfrm>
          <a:prstGeom prst="roundRect">
            <a:avLst>
              <a:gd name="adj" fmla="val 8421"/>
            </a:avLst>
          </a:prstGeom>
          <a:solidFill>
            <a:schemeClr val="bg2"/>
          </a:solidFill>
          <a:ln w="12700">
            <a:solidFill>
              <a:schemeClr val="bg2"/>
            </a:solidFill>
            <a:prstDash val="solid"/>
          </a:ln>
        </p:spPr>
      </p:sp>
      <p:sp>
        <p:nvSpPr>
          <p:cNvPr id="28" name="Text 26"/>
          <p:cNvSpPr txBox="1"/>
          <p:nvPr/>
        </p:nvSpPr>
        <p:spPr>
          <a:xfrm>
            <a:off x="731520" y="5029200"/>
            <a:ext cx="10728655" cy="777240"/>
          </a:xfrm>
          <a:prstGeom prst="rect">
            <a:avLst/>
          </a:prstGeom>
          <a:noFill/>
          <a:ln/>
        </p:spPr>
        <p:txBody>
          <a:bodyPr wrap="square" lIns="0" tIns="0" rIns="0" bIns="0" rtlCol="0" anchor="ctr"/>
          <a:lstStyle/>
          <a:p>
            <a:pPr indent="0" marL="0">
              <a:buNone/>
            </a:pPr>
            <a:r>
              <a:rPr lang="en-US" sz="1500" dirty="0">
                <a:solidFill>
                  <a:schemeClr val="tx1"/>
                </a:solidFill>
              </a:rPr>
              <a:t>On natural data both paths give the same, correct answer, so accuracy alone cannot tell them apart. </a:t>
            </a:r>
            <a:pPr indent="0" marL="0">
              <a:buNone/>
            </a:pPr>
            <a:r>
              <a:rPr lang="en-US" sz="1500" b="1" dirty="0">
                <a:solidFill>
                  <a:schemeClr val="accent1"/>
                </a:solidFill>
              </a:rPr>
              <a:t>The fix: change the feature in the activation while the text stays fixed. A reader follows; a re-solver doesn't.</a:t>
            </a:r>
            <a:endParaRPr lang="en-US" sz="1500" dirty="0"/>
          </a:p>
        </p:txBody>
      </p:sp>
      <p:sp>
        <p:nvSpPr>
          <p:cNvPr id="29" name="Text 27"/>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Why worry: the NLA's warm-start explanations were written by Sonnet from the text prefix alone, with no activation.</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PRIOR WORK</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Prior work showed pieces; reading vs re-solving on natural features was still open</a:t>
            </a:r>
            <a:endParaRPr lang="en-US" sz="2800" dirty="0"/>
          </a:p>
        </p:txBody>
      </p:sp>
      <p:sp>
        <p:nvSpPr>
          <p:cNvPr id="7" name="Shape 5"/>
          <p:cNvSpPr/>
          <p:nvPr/>
        </p:nvSpPr>
        <p:spPr>
          <a:xfrm>
            <a:off x="548640" y="1691640"/>
            <a:ext cx="2567864" cy="3611880"/>
          </a:xfrm>
          <a:prstGeom prst="roundRect">
            <a:avLst>
              <a:gd name="adj" fmla="val 2849"/>
            </a:avLst>
          </a:prstGeom>
          <a:solidFill>
            <a:schemeClr val="bg2"/>
          </a:solidFill>
          <a:ln w="12700">
            <a:solidFill>
              <a:schemeClr val="bg2"/>
            </a:solidFill>
            <a:prstDash val="solid"/>
          </a:ln>
        </p:spPr>
      </p:sp>
      <p:sp>
        <p:nvSpPr>
          <p:cNvPr id="8" name="Text 6"/>
          <p:cNvSpPr txBox="1"/>
          <p:nvPr/>
        </p:nvSpPr>
        <p:spPr>
          <a:xfrm>
            <a:off x="694944" y="1810512"/>
            <a:ext cx="2275256"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Concurrent MATS pilot</a:t>
            </a:r>
            <a:endParaRPr lang="en-US" sz="1600" dirty="0"/>
          </a:p>
        </p:txBody>
      </p:sp>
      <p:sp>
        <p:nvSpPr>
          <p:cNvPr id="9" name="Text 7"/>
          <p:cNvSpPr txBox="1"/>
          <p:nvPr/>
        </p:nvSpPr>
        <p:spPr>
          <a:xfrm>
            <a:off x="694944" y="2139696"/>
            <a:ext cx="2275256" cy="274320"/>
          </a:xfrm>
          <a:prstGeom prst="rect">
            <a:avLst/>
          </a:prstGeom>
          <a:noFill/>
          <a:ln/>
        </p:spPr>
        <p:txBody>
          <a:bodyPr wrap="square" lIns="0" tIns="0" rIns="0" bIns="0" rtlCol="0" anchor="t"/>
          <a:lstStyle/>
          <a:p>
            <a:pPr indent="0" marL="0">
              <a:buNone/>
            </a:pPr>
            <a:r>
              <a:rPr lang="en-US" sz="1050" dirty="0">
                <a:solidFill>
                  <a:schemeClr val="accent5"/>
                </a:solidFill>
              </a:rPr>
              <a:t>LittleMeHere/nla-vs-lenses · Oct 2026</a:t>
            </a:r>
            <a:endParaRPr lang="en-US" sz="1050" dirty="0"/>
          </a:p>
        </p:txBody>
      </p:sp>
      <p:sp>
        <p:nvSpPr>
          <p:cNvPr id="10" name="Text 8"/>
          <p:cNvSpPr txBox="1"/>
          <p:nvPr/>
        </p:nvSpPr>
        <p:spPr>
          <a:xfrm>
            <a:off x="694944" y="2487168"/>
            <a:ext cx="2275256" cy="2743200"/>
          </a:xfrm>
          <a:prstGeom prst="rect">
            <a:avLst/>
          </a:prstGeom>
          <a:noFill/>
          <a:ln/>
        </p:spPr>
        <p:txBody>
          <a:bodyPr wrap="square" lIns="0" tIns="0" rIns="0" bIns="0" rtlCol="0" anchor="t"/>
          <a:lstStyle/>
          <a:p>
            <a:pPr indent="0" marL="0">
              <a:buNone/>
            </a:pPr>
            <a:r>
              <a:rPr lang="en-US" sz="1250" dirty="0">
                <a:solidFill>
                  <a:schemeClr val="tx1"/>
                </a:solidFill>
              </a:rPr>
              <a:t>Same model and readers. Multihop bridge named: J-Lens 39/100, OL 80, NLA 75. Readers mostly re-solve; 'on no task does the NLA find a hidden step the oracle lens misses'. Lists 'content known to be outside J-space' as not tested.</a:t>
            </a:r>
            <a:endParaRPr lang="en-US" sz="1250" dirty="0"/>
          </a:p>
        </p:txBody>
      </p:sp>
      <p:sp>
        <p:nvSpPr>
          <p:cNvPr id="11" name="Shape 9"/>
          <p:cNvSpPr/>
          <p:nvPr/>
        </p:nvSpPr>
        <p:spPr>
          <a:xfrm>
            <a:off x="3390824" y="1691640"/>
            <a:ext cx="2567864" cy="3611880"/>
          </a:xfrm>
          <a:prstGeom prst="roundRect">
            <a:avLst>
              <a:gd name="adj" fmla="val 2849"/>
            </a:avLst>
          </a:prstGeom>
          <a:solidFill>
            <a:schemeClr val="bg2"/>
          </a:solidFill>
          <a:ln w="12700">
            <a:solidFill>
              <a:schemeClr val="bg2"/>
            </a:solidFill>
            <a:prstDash val="solid"/>
          </a:ln>
        </p:spPr>
      </p:sp>
      <p:sp>
        <p:nvSpPr>
          <p:cNvPr id="12" name="Text 10"/>
          <p:cNvSpPr txBox="1"/>
          <p:nvPr/>
        </p:nvSpPr>
        <p:spPr>
          <a:xfrm>
            <a:off x="3537128" y="1810512"/>
            <a:ext cx="2275256"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Viswanath</a:t>
            </a:r>
            <a:endParaRPr lang="en-US" sz="1600" dirty="0"/>
          </a:p>
        </p:txBody>
      </p:sp>
      <p:sp>
        <p:nvSpPr>
          <p:cNvPr id="13" name="Text 11"/>
          <p:cNvSpPr txBox="1"/>
          <p:nvPr/>
        </p:nvSpPr>
        <p:spPr>
          <a:xfrm>
            <a:off x="3537128" y="2139696"/>
            <a:ext cx="2275256" cy="274320"/>
          </a:xfrm>
          <a:prstGeom prst="rect">
            <a:avLst/>
          </a:prstGeom>
          <a:noFill/>
          <a:ln/>
        </p:spPr>
        <p:txBody>
          <a:bodyPr wrap="square" lIns="0" tIns="0" rIns="0" bIns="0" rtlCol="0" anchor="t"/>
          <a:lstStyle/>
          <a:p>
            <a:pPr indent="0" marL="0">
              <a:buNone/>
            </a:pPr>
            <a:r>
              <a:rPr lang="en-US" sz="1050" dirty="0">
                <a:solidFill>
                  <a:schemeClr val="accent5"/>
                </a:solidFill>
              </a:rPr>
              <a:t>LessWrong · Jul 2026 · Llama-3.3-70B</a:t>
            </a:r>
            <a:endParaRPr lang="en-US" sz="1050" dirty="0"/>
          </a:p>
        </p:txBody>
      </p:sp>
      <p:sp>
        <p:nvSpPr>
          <p:cNvPr id="14" name="Text 12"/>
          <p:cNvSpPr txBox="1"/>
          <p:nvPr/>
        </p:nvSpPr>
        <p:spPr>
          <a:xfrm>
            <a:off x="3537128" y="2487168"/>
            <a:ext cx="2275256" cy="2743200"/>
          </a:xfrm>
          <a:prstGeom prst="rect">
            <a:avLst/>
          </a:prstGeom>
          <a:noFill/>
          <a:ln/>
        </p:spPr>
        <p:txBody>
          <a:bodyPr wrap="square" lIns="0" tIns="0" rIns="0" bIns="0" rtlCol="0" anchor="t"/>
          <a:lstStyle/>
          <a:p>
            <a:pPr indent="0" marL="0">
              <a:buNone/>
            </a:pPr>
            <a:r>
              <a:rPr lang="en-US" sz="1250" dirty="0">
                <a:solidFill>
                  <a:schemeClr val="tx1"/>
                </a:solidFill>
              </a:rPr>
              <a:t>Injected split vectors: the model names the J part 80%, the non-J part 0%; the NLA names both 100%. Follow-up: natural safety contrasts are mostly non-J (enrichment 1.45). Open caveat: 'thematic residue' vs decoding. No Oracle Lens.</a:t>
            </a:r>
            <a:endParaRPr lang="en-US" sz="1250" dirty="0"/>
          </a:p>
        </p:txBody>
      </p:sp>
      <p:sp>
        <p:nvSpPr>
          <p:cNvPr id="15" name="Shape 13"/>
          <p:cNvSpPr/>
          <p:nvPr/>
        </p:nvSpPr>
        <p:spPr>
          <a:xfrm>
            <a:off x="6233008" y="1691640"/>
            <a:ext cx="2567864" cy="3611880"/>
          </a:xfrm>
          <a:prstGeom prst="roundRect">
            <a:avLst>
              <a:gd name="adj" fmla="val 2849"/>
            </a:avLst>
          </a:prstGeom>
          <a:solidFill>
            <a:schemeClr val="bg2"/>
          </a:solidFill>
          <a:ln w="12700">
            <a:solidFill>
              <a:schemeClr val="bg2"/>
            </a:solidFill>
            <a:prstDash val="solid"/>
          </a:ln>
        </p:spPr>
      </p:sp>
      <p:sp>
        <p:nvSpPr>
          <p:cNvPr id="16" name="Text 14"/>
          <p:cNvSpPr txBox="1"/>
          <p:nvPr/>
        </p:nvSpPr>
        <p:spPr>
          <a:xfrm>
            <a:off x="6379312" y="1810512"/>
            <a:ext cx="2275256"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Hong</a:t>
            </a:r>
            <a:endParaRPr lang="en-US" sz="1600" dirty="0"/>
          </a:p>
        </p:txBody>
      </p:sp>
      <p:sp>
        <p:nvSpPr>
          <p:cNvPr id="17" name="Text 15"/>
          <p:cNvSpPr txBox="1"/>
          <p:nvPr/>
        </p:nvSpPr>
        <p:spPr>
          <a:xfrm>
            <a:off x="6379312" y="2139696"/>
            <a:ext cx="2275256" cy="274320"/>
          </a:xfrm>
          <a:prstGeom prst="rect">
            <a:avLst/>
          </a:prstGeom>
          <a:noFill/>
          <a:ln/>
        </p:spPr>
        <p:txBody>
          <a:bodyPr wrap="square" lIns="0" tIns="0" rIns="0" bIns="0" rtlCol="0" anchor="t"/>
          <a:lstStyle/>
          <a:p>
            <a:pPr indent="0" marL="0">
              <a:buNone/>
            </a:pPr>
            <a:r>
              <a:rPr lang="en-US" sz="1050" dirty="0">
                <a:solidFill>
                  <a:schemeClr val="accent5"/>
                </a:solidFill>
              </a:rPr>
              <a:t>LessWrong · Jul 2026 · Qwen3.6-27B</a:t>
            </a:r>
            <a:endParaRPr lang="en-US" sz="1050" dirty="0"/>
          </a:p>
        </p:txBody>
      </p:sp>
      <p:sp>
        <p:nvSpPr>
          <p:cNvPr id="18" name="Text 16"/>
          <p:cNvSpPr txBox="1"/>
          <p:nvPr/>
        </p:nvSpPr>
        <p:spPr>
          <a:xfrm>
            <a:off x="6379312" y="2487168"/>
            <a:ext cx="2275256" cy="2743200"/>
          </a:xfrm>
          <a:prstGeom prst="rect">
            <a:avLst/>
          </a:prstGeom>
          <a:noFill/>
          <a:ln/>
        </p:spPr>
        <p:txBody>
          <a:bodyPr wrap="square" lIns="0" tIns="0" rIns="0" bIns="0" rtlCol="0" anchor="t"/>
          <a:lstStyle/>
          <a:p>
            <a:pPr indent="0" marL="0">
              <a:buNone/>
            </a:pPr>
            <a:r>
              <a:rPr lang="en-US" sz="1250" dirty="0">
                <a:solidFill>
                  <a:schemeClr val="tx1"/>
                </a:solidFill>
              </a:rPr>
              <a:t>About 95% of the NLA's RL reconstruction gain lies outside the J-space, but about 90% of its specific claims are unsupported.</a:t>
            </a:r>
            <a:endParaRPr lang="en-US" sz="1250" dirty="0"/>
          </a:p>
        </p:txBody>
      </p:sp>
      <p:sp>
        <p:nvSpPr>
          <p:cNvPr id="19" name="Shape 17"/>
          <p:cNvSpPr/>
          <p:nvPr/>
        </p:nvSpPr>
        <p:spPr>
          <a:xfrm>
            <a:off x="9075191" y="1691640"/>
            <a:ext cx="2567864" cy="3611880"/>
          </a:xfrm>
          <a:prstGeom prst="roundRect">
            <a:avLst>
              <a:gd name="adj" fmla="val 2849"/>
            </a:avLst>
          </a:prstGeom>
          <a:solidFill>
            <a:schemeClr val="bg2"/>
          </a:solidFill>
          <a:ln w="12700">
            <a:solidFill>
              <a:schemeClr val="bg2"/>
            </a:solidFill>
            <a:prstDash val="solid"/>
          </a:ln>
        </p:spPr>
      </p:sp>
      <p:sp>
        <p:nvSpPr>
          <p:cNvPr id="20" name="Text 18"/>
          <p:cNvSpPr txBox="1"/>
          <p:nvPr/>
        </p:nvSpPr>
        <p:spPr>
          <a:xfrm>
            <a:off x="9221495" y="1810512"/>
            <a:ext cx="2275256"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Global workspace paper</a:t>
            </a:r>
            <a:endParaRPr lang="en-US" sz="1600" dirty="0"/>
          </a:p>
        </p:txBody>
      </p:sp>
      <p:sp>
        <p:nvSpPr>
          <p:cNvPr id="21" name="Text 19"/>
          <p:cNvSpPr txBox="1"/>
          <p:nvPr/>
        </p:nvSpPr>
        <p:spPr>
          <a:xfrm>
            <a:off x="9221495" y="2139696"/>
            <a:ext cx="2275256" cy="274320"/>
          </a:xfrm>
          <a:prstGeom prst="rect">
            <a:avLst/>
          </a:prstGeom>
          <a:noFill/>
          <a:ln/>
        </p:spPr>
        <p:txBody>
          <a:bodyPr wrap="square" lIns="0" tIns="0" rIns="0" bIns="0" rtlCol="0" anchor="t"/>
          <a:lstStyle/>
          <a:p>
            <a:pPr indent="0" marL="0">
              <a:buNone/>
            </a:pPr>
            <a:r>
              <a:rPr lang="en-US" sz="1050" dirty="0">
                <a:solidFill>
                  <a:schemeClr val="accent5"/>
                </a:solidFill>
              </a:rPr>
              <a:t>Anthropic · Jul 2026</a:t>
            </a:r>
            <a:endParaRPr lang="en-US" sz="1050" dirty="0"/>
          </a:p>
        </p:txBody>
      </p:sp>
      <p:sp>
        <p:nvSpPr>
          <p:cNvPr id="22" name="Text 20"/>
          <p:cNvSpPr txBox="1"/>
          <p:nvPr/>
        </p:nvSpPr>
        <p:spPr>
          <a:xfrm>
            <a:off x="9221495" y="2487168"/>
            <a:ext cx="2275256" cy="2743200"/>
          </a:xfrm>
          <a:prstGeom prst="rect">
            <a:avLst/>
          </a:prstGeom>
          <a:noFill/>
          <a:ln/>
        </p:spPr>
        <p:txBody>
          <a:bodyPr wrap="square" lIns="0" tIns="0" rIns="0" bIns="0" rtlCol="0" anchor="t"/>
          <a:lstStyle/>
          <a:p>
            <a:pPr indent="0" marL="0">
              <a:buNone/>
            </a:pPr>
            <a:r>
              <a:rPr lang="en-US" sz="1250" dirty="0">
                <a:solidFill>
                  <a:schemeClr val="tx1"/>
                </a:solidFill>
              </a:rPr>
              <a:t>Reports features used but not in J: part of speech, tense, and the character count during line wrapping. A source of natural ground truth.</a:t>
            </a:r>
            <a:endParaRPr lang="en-US" sz="1250" dirty="0"/>
          </a:p>
        </p:txBody>
      </p:sp>
      <p:sp>
        <p:nvSpPr>
          <p:cNvPr id="23" name="Shape 21"/>
          <p:cNvSpPr/>
          <p:nvPr/>
        </p:nvSpPr>
        <p:spPr>
          <a:xfrm>
            <a:off x="548640" y="5486400"/>
            <a:ext cx="11094415" cy="777240"/>
          </a:xfrm>
          <a:prstGeom prst="roundRect">
            <a:avLst>
              <a:gd name="adj" fmla="val 9412"/>
            </a:avLst>
          </a:prstGeom>
          <a:solidFill>
            <a:schemeClr val="bg1"/>
          </a:solidFill>
          <a:ln w="15875">
            <a:solidFill>
              <a:schemeClr val="accent1"/>
            </a:solidFill>
            <a:prstDash val="solid"/>
          </a:ln>
        </p:spPr>
      </p:sp>
      <p:sp>
        <p:nvSpPr>
          <p:cNvPr id="24" name="Text 22"/>
          <p:cNvSpPr txBox="1"/>
          <p:nvPr/>
        </p:nvSpPr>
        <p:spPr>
          <a:xfrm>
            <a:off x="731520" y="5522976"/>
            <a:ext cx="10728655" cy="704088"/>
          </a:xfrm>
          <a:prstGeom prst="rect">
            <a:avLst/>
          </a:prstGeom>
          <a:noFill/>
          <a:ln/>
        </p:spPr>
        <p:txBody>
          <a:bodyPr wrap="square" lIns="0" tIns="0" rIns="0" bIns="0" rtlCol="0" anchor="ctr"/>
          <a:lstStyle/>
          <a:p>
            <a:pPr indent="0" marL="0">
              <a:buNone/>
            </a:pPr>
            <a:r>
              <a:rPr lang="en-US" sz="1400" b="1" dirty="0">
                <a:solidFill>
                  <a:schemeClr val="tx1"/>
                </a:solidFill>
              </a:rPr>
              <a:t>Still open: (1) natural features with known values, (2) a causal test that separates reading from re-solving, (3) all three readers, including the Oracle Lens, on Qwen3.6-27B at a matched layer.</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THE FRAME</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We sort reader behaviour into a 2×2: where the content lives × what the reader tracks</a:t>
            </a:r>
            <a:endParaRPr lang="en-US" sz="2800" dirty="0"/>
          </a:p>
        </p:txBody>
      </p:sp>
      <p:sp>
        <p:nvSpPr>
          <p:cNvPr id="7" name="Text 5"/>
          <p:cNvSpPr txBox="1"/>
          <p:nvPr/>
        </p:nvSpPr>
        <p:spPr>
          <a:xfrm>
            <a:off x="2880360" y="1691640"/>
            <a:ext cx="4289908" cy="365760"/>
          </a:xfrm>
          <a:prstGeom prst="rect">
            <a:avLst/>
          </a:prstGeom>
          <a:noFill/>
          <a:ln/>
        </p:spPr>
        <p:txBody>
          <a:bodyPr wrap="square" lIns="0" tIns="0" rIns="0" bIns="0" rtlCol="0" anchor="t"/>
          <a:lstStyle/>
          <a:p>
            <a:pPr algn="ctr" indent="0" marL="0">
              <a:buNone/>
            </a:pPr>
            <a:r>
              <a:rPr lang="en-US" sz="1700" b="1" dirty="0">
                <a:solidFill>
                  <a:schemeClr val="accent1"/>
                </a:solidFill>
              </a:rPr>
              <a:t>Tracks the activation</a:t>
            </a:r>
            <a:endParaRPr lang="en-US" sz="1700" dirty="0"/>
          </a:p>
        </p:txBody>
      </p:sp>
      <p:sp>
        <p:nvSpPr>
          <p:cNvPr id="8" name="Text 6"/>
          <p:cNvSpPr txBox="1"/>
          <p:nvPr/>
        </p:nvSpPr>
        <p:spPr>
          <a:xfrm>
            <a:off x="2880360" y="2057400"/>
            <a:ext cx="4289908" cy="457200"/>
          </a:xfrm>
          <a:prstGeom prst="rect">
            <a:avLst/>
          </a:prstGeom>
          <a:noFill/>
          <a:ln/>
        </p:spPr>
        <p:txBody>
          <a:bodyPr wrap="square" lIns="0" tIns="0" rIns="0" bIns="0" rtlCol="0" anchor="t"/>
          <a:lstStyle/>
          <a:p>
            <a:pPr algn="ctr" indent="0" marL="0">
              <a:buNone/>
            </a:pPr>
            <a:r>
              <a:rPr lang="en-US" sz="1200" dirty="0">
                <a:solidFill>
                  <a:schemeClr val="accent5"/>
                </a:solidFill>
              </a:rPr>
              <a:t>output follows a feature moved with the text fixed</a:t>
            </a:r>
            <a:endParaRPr lang="en-US" sz="1200" dirty="0"/>
          </a:p>
        </p:txBody>
      </p:sp>
      <p:sp>
        <p:nvSpPr>
          <p:cNvPr id="9" name="Text 7"/>
          <p:cNvSpPr txBox="1"/>
          <p:nvPr/>
        </p:nvSpPr>
        <p:spPr>
          <a:xfrm>
            <a:off x="7353148" y="1691640"/>
            <a:ext cx="4289908" cy="365760"/>
          </a:xfrm>
          <a:prstGeom prst="rect">
            <a:avLst/>
          </a:prstGeom>
          <a:noFill/>
          <a:ln/>
        </p:spPr>
        <p:txBody>
          <a:bodyPr wrap="square" lIns="0" tIns="0" rIns="0" bIns="0" rtlCol="0" anchor="t"/>
          <a:lstStyle/>
          <a:p>
            <a:pPr algn="ctr" indent="0" marL="0">
              <a:buNone/>
            </a:pPr>
            <a:r>
              <a:rPr lang="en-US" sz="1700" b="1" dirty="0">
                <a:solidFill>
                  <a:schemeClr val="accent4"/>
                </a:solidFill>
              </a:rPr>
              <a:t>Tracks the text</a:t>
            </a:r>
            <a:endParaRPr lang="en-US" sz="1700" dirty="0"/>
          </a:p>
        </p:txBody>
      </p:sp>
      <p:sp>
        <p:nvSpPr>
          <p:cNvPr id="10" name="Text 8"/>
          <p:cNvSpPr txBox="1"/>
          <p:nvPr/>
        </p:nvSpPr>
        <p:spPr>
          <a:xfrm>
            <a:off x="7353148" y="2057400"/>
            <a:ext cx="4289908" cy="457200"/>
          </a:xfrm>
          <a:prstGeom prst="rect">
            <a:avLst/>
          </a:prstGeom>
          <a:noFill/>
          <a:ln/>
        </p:spPr>
        <p:txBody>
          <a:bodyPr wrap="square" lIns="0" tIns="0" rIns="0" bIns="0" rtlCol="0" anchor="t"/>
          <a:lstStyle/>
          <a:p>
            <a:pPr algn="ctr" indent="0" marL="0">
              <a:buNone/>
            </a:pPr>
            <a:r>
              <a:rPr lang="en-US" sz="1200" dirty="0">
                <a:solidFill>
                  <a:schemeClr val="accent5"/>
                </a:solidFill>
              </a:rPr>
              <a:t>output follows a text change with the feature clamped</a:t>
            </a:r>
            <a:endParaRPr lang="en-US" sz="1200" dirty="0"/>
          </a:p>
        </p:txBody>
      </p:sp>
      <p:sp>
        <p:nvSpPr>
          <p:cNvPr id="11" name="Text 9"/>
          <p:cNvSpPr txBox="1"/>
          <p:nvPr/>
        </p:nvSpPr>
        <p:spPr>
          <a:xfrm>
            <a:off x="548640" y="2606040"/>
            <a:ext cx="2148840" cy="1463040"/>
          </a:xfrm>
          <a:prstGeom prst="rect">
            <a:avLst/>
          </a:prstGeom>
          <a:noFill/>
          <a:ln/>
        </p:spPr>
        <p:txBody>
          <a:bodyPr wrap="square" lIns="0" tIns="0" rIns="0" bIns="0" rtlCol="0" anchor="ctr"/>
          <a:lstStyle/>
          <a:p>
            <a:pPr indent="0" marL="0">
              <a:buNone/>
            </a:pPr>
            <a:r>
              <a:rPr lang="en-US" sz="1600" b="1" dirty="0">
                <a:solidFill>
                  <a:schemeClr val="accent3"/>
                </a:solidFill>
              </a:rPr>
              <a:t>Content in the J-space</a:t>
            </a:r>
            <a:endParaRPr lang="en-US" sz="1600" dirty="0"/>
          </a:p>
        </p:txBody>
      </p:sp>
      <p:sp>
        <p:nvSpPr>
          <p:cNvPr id="12" name="Text 10"/>
          <p:cNvSpPr txBox="1"/>
          <p:nvPr/>
        </p:nvSpPr>
        <p:spPr>
          <a:xfrm>
            <a:off x="548640" y="4251960"/>
            <a:ext cx="2148840" cy="1463040"/>
          </a:xfrm>
          <a:prstGeom prst="rect">
            <a:avLst/>
          </a:prstGeom>
          <a:noFill/>
          <a:ln/>
        </p:spPr>
        <p:txBody>
          <a:bodyPr wrap="square" lIns="0" tIns="0" rIns="0" bIns="0" rtlCol="0" anchor="ctr"/>
          <a:lstStyle/>
          <a:p>
            <a:pPr indent="0" marL="0">
              <a:buNone/>
            </a:pPr>
            <a:r>
              <a:rPr lang="en-US" sz="1600" b="1" dirty="0">
                <a:solidFill>
                  <a:schemeClr val="tx1"/>
                </a:solidFill>
              </a:rPr>
              <a:t>Content outside the J-space</a:t>
            </a:r>
            <a:endParaRPr lang="en-US" sz="1600" dirty="0"/>
          </a:p>
        </p:txBody>
      </p:sp>
      <p:sp>
        <p:nvSpPr>
          <p:cNvPr id="13" name="Shape 11"/>
          <p:cNvSpPr/>
          <p:nvPr/>
        </p:nvSpPr>
        <p:spPr>
          <a:xfrm>
            <a:off x="2880360" y="2606040"/>
            <a:ext cx="4289908" cy="14630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3044952" y="2770632"/>
            <a:ext cx="3960724" cy="3291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Workspace reading</a:t>
            </a:r>
            <a:endParaRPr lang="en-US" sz="1700" dirty="0"/>
          </a:p>
        </p:txBody>
      </p:sp>
      <p:sp>
        <p:nvSpPr>
          <p:cNvPr id="15" name="Text 13"/>
          <p:cNvSpPr txBox="1"/>
          <p:nvPr/>
        </p:nvSpPr>
        <p:spPr>
          <a:xfrm>
            <a:off x="3044952" y="3145536"/>
            <a:ext cx="3960724" cy="824789"/>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Expected for all three readers: the calibration.</a:t>
            </a:r>
            <a:endParaRPr lang="en-US" sz="1400" dirty="0"/>
          </a:p>
        </p:txBody>
      </p:sp>
      <p:sp>
        <p:nvSpPr>
          <p:cNvPr id="16" name="Shape 14"/>
          <p:cNvSpPr/>
          <p:nvPr/>
        </p:nvSpPr>
        <p:spPr>
          <a:xfrm>
            <a:off x="7353148" y="2606040"/>
            <a:ext cx="4289908" cy="146304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7517740" y="2770632"/>
            <a:ext cx="3960724" cy="3291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Re-solving workspace-type content</a:t>
            </a:r>
            <a:endParaRPr lang="en-US" sz="1700" dirty="0"/>
          </a:p>
        </p:txBody>
      </p:sp>
      <p:sp>
        <p:nvSpPr>
          <p:cNvPr id="18" name="Text 16"/>
          <p:cNvSpPr txBox="1"/>
          <p:nvPr/>
        </p:nvSpPr>
        <p:spPr>
          <a:xfrm>
            <a:off x="7517740" y="3145536"/>
            <a:ext cx="3960724" cy="824789"/>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Rebuild the prompt, then describe or answer it.</a:t>
            </a:r>
            <a:endParaRPr lang="en-US" sz="1400" dirty="0"/>
          </a:p>
        </p:txBody>
      </p:sp>
      <p:sp>
        <p:nvSpPr>
          <p:cNvPr id="19" name="Shape 17"/>
          <p:cNvSpPr/>
          <p:nvPr/>
        </p:nvSpPr>
        <p:spPr>
          <a:xfrm>
            <a:off x="2880360" y="4251960"/>
            <a:ext cx="4289908" cy="1463040"/>
          </a:xfrm>
          <a:prstGeom prst="roundRect">
            <a:avLst>
              <a:gd name="adj" fmla="val 5000"/>
            </a:avLst>
          </a:prstGeom>
          <a:solidFill>
            <a:schemeClr val="accent1">
              <a:alpha val="18000"/>
            </a:schemeClr>
          </a:solidFill>
          <a:ln w="15875">
            <a:solidFill>
              <a:schemeClr val="accent1"/>
            </a:solidFill>
            <a:prstDash val="solid"/>
          </a:ln>
        </p:spPr>
      </p:sp>
      <p:sp>
        <p:nvSpPr>
          <p:cNvPr id="20" name="Text 18"/>
          <p:cNvSpPr txBox="1"/>
          <p:nvPr/>
        </p:nvSpPr>
        <p:spPr>
          <a:xfrm>
            <a:off x="3044952" y="4416552"/>
            <a:ext cx="3960724" cy="3291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Non-workspace reading</a:t>
            </a:r>
            <a:endParaRPr lang="en-US" sz="1700" dirty="0"/>
          </a:p>
        </p:txBody>
      </p:sp>
      <p:sp>
        <p:nvSpPr>
          <p:cNvPr id="21" name="Text 19"/>
          <p:cNvSpPr txBox="1"/>
          <p:nvPr/>
        </p:nvSpPr>
        <p:spPr>
          <a:xfrm>
            <a:off x="3044952" y="4791456"/>
            <a:ext cx="3960724" cy="824789"/>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Neel's hypothesis for the NLA.</a:t>
            </a:r>
            <a:endParaRPr lang="en-US" sz="1400" dirty="0"/>
          </a:p>
        </p:txBody>
      </p:sp>
      <p:sp>
        <p:nvSpPr>
          <p:cNvPr id="22" name="Shape 20"/>
          <p:cNvSpPr/>
          <p:nvPr/>
        </p:nvSpPr>
        <p:spPr>
          <a:xfrm>
            <a:off x="7353148" y="4251960"/>
            <a:ext cx="4289908" cy="1463040"/>
          </a:xfrm>
          <a:prstGeom prst="roundRect">
            <a:avLst>
              <a:gd name="adj" fmla="val 5000"/>
            </a:avLst>
          </a:prstGeom>
          <a:solidFill>
            <a:schemeClr val="bg2"/>
          </a:solidFill>
          <a:ln w="12700">
            <a:solidFill>
              <a:schemeClr val="bg2"/>
            </a:solidFill>
            <a:prstDash val="solid"/>
          </a:ln>
        </p:spPr>
      </p:sp>
      <p:sp>
        <p:nvSpPr>
          <p:cNvPr id="23" name="Text 21"/>
          <p:cNvSpPr txBox="1"/>
          <p:nvPr/>
        </p:nvSpPr>
        <p:spPr>
          <a:xfrm>
            <a:off x="7517740" y="4416552"/>
            <a:ext cx="3960724" cy="3291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Re-solving non-J-type content</a:t>
            </a:r>
            <a:endParaRPr lang="en-US" sz="1700" dirty="0"/>
          </a:p>
        </p:txBody>
      </p:sp>
      <p:sp>
        <p:nvSpPr>
          <p:cNvPr id="24" name="Text 22"/>
          <p:cNvSpPr txBox="1"/>
          <p:nvPr/>
        </p:nvSpPr>
        <p:spPr>
          <a:xfrm>
            <a:off x="7517740" y="4791456"/>
            <a:ext cx="3960724" cy="824789"/>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e.g. counting characters in decoded text.</a:t>
            </a:r>
            <a:endParaRPr lang="en-US" sz="1400" dirty="0"/>
          </a:p>
        </p:txBody>
      </p:sp>
      <p:sp>
        <p:nvSpPr>
          <p:cNvPr id="25" name="Text 23"/>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dirty="0">
                <a:solidFill>
                  <a:schemeClr val="accent5"/>
                </a:solidFill>
              </a:rPr>
              <a:t>Plus 'unsupported': output that follows neither manipulation (confabulation). Measured at population level by intervention sensitivity.</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THREE TOOLS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Three tools attack the 2×2 from different sides</a:t>
            </a:r>
            <a:endParaRPr lang="en-US" sz="2800" dirty="0"/>
          </a:p>
        </p:txBody>
      </p:sp>
      <p:sp>
        <p:nvSpPr>
          <p:cNvPr id="7" name="Shape 5"/>
          <p:cNvSpPr/>
          <p:nvPr/>
        </p:nvSpPr>
        <p:spPr>
          <a:xfrm>
            <a:off x="548640" y="1691640"/>
            <a:ext cx="3484778" cy="3429000"/>
          </a:xfrm>
          <a:prstGeom prst="roundRect">
            <a:avLst>
              <a:gd name="adj" fmla="val 2133"/>
            </a:avLst>
          </a:prstGeom>
          <a:solidFill>
            <a:schemeClr val="bg2"/>
          </a:solidFill>
          <a:ln w="12700">
            <a:solidFill>
              <a:schemeClr val="bg2"/>
            </a:solidFill>
            <a:prstDash val="solid"/>
          </a:ln>
        </p:spPr>
      </p:sp>
      <p:sp>
        <p:nvSpPr>
          <p:cNvPr id="8" name="Shape 6"/>
          <p:cNvSpPr/>
          <p:nvPr/>
        </p:nvSpPr>
        <p:spPr>
          <a:xfrm>
            <a:off x="731520" y="1847088"/>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184708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0" name="Text 8"/>
          <p:cNvSpPr txBox="1"/>
          <p:nvPr/>
        </p:nvSpPr>
        <p:spPr>
          <a:xfrm>
            <a:off x="1371600" y="1828800"/>
            <a:ext cx="2524658" cy="5943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Natural non-J features + text-fixed steering</a:t>
            </a:r>
            <a:endParaRPr lang="en-US" sz="1600" dirty="0"/>
          </a:p>
        </p:txBody>
      </p:sp>
      <p:sp>
        <p:nvSpPr>
          <p:cNvPr id="11" name="Text 9"/>
          <p:cNvSpPr txBox="1"/>
          <p:nvPr/>
        </p:nvSpPr>
        <p:spPr>
          <a:xfrm>
            <a:off x="731520" y="2560320"/>
            <a:ext cx="3119018" cy="1920240"/>
          </a:xfrm>
          <a:prstGeom prst="rect">
            <a:avLst/>
          </a:prstGeom>
          <a:noFill/>
          <a:ln/>
        </p:spPr>
        <p:txBody>
          <a:bodyPr wrap="square" lIns="0" tIns="0" rIns="0" bIns="0" rtlCol="0" anchor="t"/>
          <a:lstStyle/>
          <a:p>
            <a:pPr indent="0" marL="0">
              <a:buNone/>
            </a:pPr>
            <a:r>
              <a:rPr lang="en-US" sz="1400" dirty="0">
                <a:solidFill>
                  <a:schemeClr val="tx1"/>
                </a:solidFill>
              </a:rPr>
              <a:t>Gate natural features for 'outside the top-r J-space' (Part A), then push the best one (col) up and down inside the activation with the text fixed (Part B).</a:t>
            </a:r>
            <a:endParaRPr lang="en-US" sz="1400" dirty="0"/>
          </a:p>
        </p:txBody>
      </p:sp>
      <p:sp>
        <p:nvSpPr>
          <p:cNvPr id="12" name="Text 10"/>
          <p:cNvSpPr txBox="1"/>
          <p:nvPr/>
        </p:nvSpPr>
        <p:spPr>
          <a:xfrm>
            <a:off x="731520" y="4617720"/>
            <a:ext cx="3119018" cy="365760"/>
          </a:xfrm>
          <a:prstGeom prst="rect">
            <a:avLst/>
          </a:prstGeom>
          <a:noFill/>
          <a:ln/>
        </p:spPr>
        <p:txBody>
          <a:bodyPr wrap="square" lIns="0" tIns="0" rIns="0" bIns="0" rtlCol="0" anchor="t"/>
          <a:lstStyle/>
          <a:p>
            <a:pPr indent="0" marL="0">
              <a:buNone/>
            </a:pPr>
            <a:r>
              <a:rPr lang="en-US" sz="1200" b="1" dirty="0">
                <a:solidFill>
                  <a:schemeClr val="accent5"/>
                </a:solidFill>
              </a:rPr>
              <a:t>Targets: bottom-left cell</a:t>
            </a:r>
            <a:endParaRPr lang="en-US" sz="1200" dirty="0"/>
          </a:p>
        </p:txBody>
      </p:sp>
      <p:sp>
        <p:nvSpPr>
          <p:cNvPr id="13" name="Shape 11"/>
          <p:cNvSpPr/>
          <p:nvPr/>
        </p:nvSpPr>
        <p:spPr>
          <a:xfrm>
            <a:off x="4353458" y="1691640"/>
            <a:ext cx="3484778" cy="3429000"/>
          </a:xfrm>
          <a:prstGeom prst="roundRect">
            <a:avLst>
              <a:gd name="adj" fmla="val 2133"/>
            </a:avLst>
          </a:prstGeom>
          <a:solidFill>
            <a:schemeClr val="bg2"/>
          </a:solidFill>
          <a:ln w="12700">
            <a:solidFill>
              <a:schemeClr val="bg2"/>
            </a:solidFill>
            <a:prstDash val="solid"/>
          </a:ln>
        </p:spPr>
      </p:sp>
      <p:sp>
        <p:nvSpPr>
          <p:cNvPr id="14" name="Shape 12"/>
          <p:cNvSpPr/>
          <p:nvPr/>
        </p:nvSpPr>
        <p:spPr>
          <a:xfrm>
            <a:off x="4536338" y="1847088"/>
            <a:ext cx="502920" cy="502920"/>
          </a:xfrm>
          <a:prstGeom prst="ellipse">
            <a:avLst/>
          </a:prstGeom>
          <a:solidFill>
            <a:schemeClr val="tx1"/>
          </a:solidFill>
          <a:ln w="12700">
            <a:solidFill>
              <a:schemeClr val="tx1"/>
            </a:solidFill>
            <a:prstDash val="solid"/>
          </a:ln>
        </p:spPr>
      </p:sp>
      <p:sp>
        <p:nvSpPr>
          <p:cNvPr id="15" name="Text 13"/>
          <p:cNvSpPr txBox="1"/>
          <p:nvPr/>
        </p:nvSpPr>
        <p:spPr>
          <a:xfrm>
            <a:off x="4536338" y="184708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6" name="Text 14"/>
          <p:cNvSpPr txBox="1"/>
          <p:nvPr/>
        </p:nvSpPr>
        <p:spPr>
          <a:xfrm>
            <a:off x="5176418" y="1828800"/>
            <a:ext cx="2524658" cy="5943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Planted intermediates</a:t>
            </a:r>
            <a:endParaRPr lang="en-US" sz="1600" dirty="0"/>
          </a:p>
        </p:txBody>
      </p:sp>
      <p:sp>
        <p:nvSpPr>
          <p:cNvPr id="17" name="Text 15"/>
          <p:cNvSpPr txBox="1"/>
          <p:nvPr/>
        </p:nvSpPr>
        <p:spPr>
          <a:xfrm>
            <a:off x="4536338" y="2560320"/>
            <a:ext cx="3119018" cy="1920240"/>
          </a:xfrm>
          <a:prstGeom prst="rect">
            <a:avLst/>
          </a:prstGeom>
          <a:noFill/>
          <a:ln/>
        </p:spPr>
        <p:txBody>
          <a:bodyPr wrap="square" lIns="0" tIns="0" rIns="0" bIns="0" rtlCol="0" anchor="t"/>
          <a:lstStyle/>
          <a:p>
            <a:pPr indent="0" marL="0">
              <a:buNone/>
            </a:pPr>
            <a:r>
              <a:rPr lang="en-US" sz="1400" dirty="0">
                <a:solidFill>
                  <a:schemeClr val="tx1"/>
                </a:solidFill>
              </a:rPr>
              <a:t>Swap the bridge entity of a two-hop fact inside the activation (Eiffel Tower → France becomes Sweden) with the prompt fixed, at a dose that flips the model's own answer.</a:t>
            </a:r>
            <a:endParaRPr lang="en-US" sz="1400" dirty="0"/>
          </a:p>
        </p:txBody>
      </p:sp>
      <p:sp>
        <p:nvSpPr>
          <p:cNvPr id="18" name="Text 16"/>
          <p:cNvSpPr txBox="1"/>
          <p:nvPr/>
        </p:nvSpPr>
        <p:spPr>
          <a:xfrm>
            <a:off x="4536338" y="4617720"/>
            <a:ext cx="3119018" cy="365760"/>
          </a:xfrm>
          <a:prstGeom prst="rect">
            <a:avLst/>
          </a:prstGeom>
          <a:noFill/>
          <a:ln/>
        </p:spPr>
        <p:txBody>
          <a:bodyPr wrap="square" lIns="0" tIns="0" rIns="0" bIns="0" rtlCol="0" anchor="t"/>
          <a:lstStyle/>
          <a:p>
            <a:pPr indent="0" marL="0">
              <a:buNone/>
            </a:pPr>
            <a:r>
              <a:rPr lang="en-US" sz="1200" b="1" dirty="0">
                <a:solidFill>
                  <a:schemeClr val="accent5"/>
                </a:solidFill>
              </a:rPr>
              <a:t>Role: in-J calibration, and a window on how the NLA builds its story</a:t>
            </a:r>
            <a:endParaRPr lang="en-US" sz="1200" dirty="0"/>
          </a:p>
        </p:txBody>
      </p:sp>
      <p:sp>
        <p:nvSpPr>
          <p:cNvPr id="19" name="Shape 17"/>
          <p:cNvSpPr/>
          <p:nvPr/>
        </p:nvSpPr>
        <p:spPr>
          <a:xfrm>
            <a:off x="8158277" y="1691640"/>
            <a:ext cx="3484778" cy="3429000"/>
          </a:xfrm>
          <a:prstGeom prst="roundRect">
            <a:avLst>
              <a:gd name="adj" fmla="val 2133"/>
            </a:avLst>
          </a:prstGeom>
          <a:solidFill>
            <a:schemeClr val="bg2"/>
          </a:solidFill>
          <a:ln w="12700">
            <a:solidFill>
              <a:schemeClr val="bg2"/>
            </a:solidFill>
            <a:prstDash val="solid"/>
          </a:ln>
        </p:spPr>
      </p:sp>
      <p:sp>
        <p:nvSpPr>
          <p:cNvPr id="20" name="Shape 18"/>
          <p:cNvSpPr/>
          <p:nvPr/>
        </p:nvSpPr>
        <p:spPr>
          <a:xfrm>
            <a:off x="8341157" y="1847088"/>
            <a:ext cx="502920" cy="502920"/>
          </a:xfrm>
          <a:prstGeom prst="ellipse">
            <a:avLst/>
          </a:prstGeom>
          <a:solidFill>
            <a:schemeClr val="accent4"/>
          </a:solidFill>
          <a:ln w="12700">
            <a:solidFill>
              <a:schemeClr val="accent4"/>
            </a:solidFill>
            <a:prstDash val="solid"/>
          </a:ln>
        </p:spPr>
      </p:sp>
      <p:sp>
        <p:nvSpPr>
          <p:cNvPr id="21" name="Text 19"/>
          <p:cNvSpPr txBox="1"/>
          <p:nvPr/>
        </p:nvSpPr>
        <p:spPr>
          <a:xfrm>
            <a:off x="8341157" y="184708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2" name="Text 20"/>
          <p:cNvSpPr txBox="1"/>
          <p:nvPr/>
        </p:nvSpPr>
        <p:spPr>
          <a:xfrm>
            <a:off x="8981237" y="1828800"/>
            <a:ext cx="2524658" cy="5943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Re-solving decomposition</a:t>
            </a:r>
            <a:endParaRPr lang="en-US" sz="1600" dirty="0"/>
          </a:p>
        </p:txBody>
      </p:sp>
      <p:sp>
        <p:nvSpPr>
          <p:cNvPr id="23" name="Text 21"/>
          <p:cNvSpPr txBox="1"/>
          <p:nvPr/>
        </p:nvSpPr>
        <p:spPr>
          <a:xfrm>
            <a:off x="8341157" y="2560320"/>
            <a:ext cx="3119018" cy="1920240"/>
          </a:xfrm>
          <a:prstGeom prst="rect">
            <a:avLst/>
          </a:prstGeom>
          <a:noFill/>
          <a:ln/>
        </p:spPr>
        <p:txBody>
          <a:bodyPr wrap="square" lIns="0" tIns="0" rIns="0" bIns="0" rtlCol="0" anchor="t"/>
          <a:lstStyle/>
          <a:p>
            <a:pPr indent="0" marL="0">
              <a:buNone/>
            </a:pPr>
            <a:r>
              <a:rPr lang="en-US" sz="1400" dirty="0">
                <a:solidFill>
                  <a:schemeClr val="tx1"/>
                </a:solidFill>
              </a:rPr>
              <a:t>On WorkspaceBench, compare readers with text-only models that never see the activation, and with a model re-solving from the reader's own readout.</a:t>
            </a:r>
            <a:endParaRPr lang="en-US" sz="1400" dirty="0"/>
          </a:p>
        </p:txBody>
      </p:sp>
      <p:sp>
        <p:nvSpPr>
          <p:cNvPr id="24" name="Text 22"/>
          <p:cNvSpPr txBox="1"/>
          <p:nvPr/>
        </p:nvSpPr>
        <p:spPr>
          <a:xfrm>
            <a:off x="8341157" y="4617720"/>
            <a:ext cx="3119018" cy="365760"/>
          </a:xfrm>
          <a:prstGeom prst="rect">
            <a:avLst/>
          </a:prstGeom>
          <a:noFill/>
          <a:ln/>
        </p:spPr>
        <p:txBody>
          <a:bodyPr wrap="square" lIns="0" tIns="0" rIns="0" bIns="0" rtlCol="0" anchor="t"/>
          <a:lstStyle/>
          <a:p>
            <a:pPr indent="0" marL="0">
              <a:buNone/>
            </a:pPr>
            <a:r>
              <a:rPr lang="en-US" sz="1200" b="1" dirty="0">
                <a:solidFill>
                  <a:schemeClr val="accent5"/>
                </a:solidFill>
              </a:rPr>
              <a:t>Targets: right column (one consistency check open)</a:t>
            </a:r>
            <a:endParaRPr lang="en-US" sz="1200" dirty="0"/>
          </a:p>
        </p:txBody>
      </p:sp>
      <p:sp>
        <p:nvSpPr>
          <p:cNvPr id="25" name="Shape 23"/>
          <p:cNvSpPr/>
          <p:nvPr/>
        </p:nvSpPr>
        <p:spPr>
          <a:xfrm>
            <a:off x="548640" y="5349240"/>
            <a:ext cx="11094415" cy="868680"/>
          </a:xfrm>
          <a:prstGeom prst="roundRect">
            <a:avLst>
              <a:gd name="adj" fmla="val 8421"/>
            </a:avLst>
          </a:prstGeom>
          <a:solidFill>
            <a:schemeClr val="bg1"/>
          </a:solidFill>
          <a:ln w="15875">
            <a:solidFill>
              <a:schemeClr val="accent6"/>
            </a:solidFill>
            <a:prstDash val="solid"/>
          </a:ln>
        </p:spPr>
      </p:sp>
      <p:sp>
        <p:nvSpPr>
          <p:cNvPr id="26" name="Text 24"/>
          <p:cNvSpPr txBox="1"/>
          <p:nvPr/>
        </p:nvSpPr>
        <p:spPr>
          <a:xfrm>
            <a:off x="731520" y="5532120"/>
            <a:ext cx="10728655"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Common currency: paired log-odds of two candidate strings in each reader's native format, compared against null bands of K = 20 random directions of the same norm (never subtracted).</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THE DECISIVE MEASUREMENT</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Push a feature up or down inside the activation, keep the text, and ask whether the reader's words follow</a:t>
            </a:r>
            <a:endParaRPr lang="en-US" sz="2800" dirty="0"/>
          </a:p>
        </p:txBody>
      </p:sp>
      <p:sp>
        <p:nvSpPr>
          <p:cNvPr id="7" name="Shape 5"/>
          <p:cNvSpPr/>
          <p:nvPr/>
        </p:nvSpPr>
        <p:spPr>
          <a:xfrm>
            <a:off x="548640" y="1691640"/>
            <a:ext cx="2513000" cy="1783080"/>
          </a:xfrm>
          <a:prstGeom prst="roundRect">
            <a:avLst>
              <a:gd name="adj" fmla="val 4103"/>
            </a:avLst>
          </a:prstGeom>
          <a:solidFill>
            <a:schemeClr val="tx2"/>
          </a:solidFill>
          <a:ln w="12700">
            <a:solidFill>
              <a:schemeClr val="tx2"/>
            </a:solidFill>
            <a:prstDash val="solid"/>
          </a:ln>
        </p:spPr>
      </p:sp>
      <p:sp>
        <p:nvSpPr>
          <p:cNvPr id="8" name="Text 6"/>
          <p:cNvSpPr txBox="1"/>
          <p:nvPr/>
        </p:nvSpPr>
        <p:spPr>
          <a:xfrm>
            <a:off x="685800" y="1783080"/>
            <a:ext cx="2238680" cy="320040"/>
          </a:xfrm>
          <a:prstGeom prst="rect">
            <a:avLst/>
          </a:prstGeom>
          <a:noFill/>
          <a:ln/>
        </p:spPr>
        <p:txBody>
          <a:bodyPr wrap="square" lIns="0" tIns="0" rIns="0" bIns="0" rtlCol="0" anchor="t"/>
          <a:lstStyle/>
          <a:p>
            <a:pPr indent="0" marL="0">
              <a:buNone/>
            </a:pPr>
            <a:r>
              <a:rPr lang="en-US" sz="1500" b="1" dirty="0">
                <a:solidFill>
                  <a:schemeClr val="bg1"/>
                </a:solidFill>
              </a:rPr>
              <a:t>Same text, ± push</a:t>
            </a:r>
            <a:endParaRPr lang="en-US" sz="1500" dirty="0"/>
          </a:p>
        </p:txBody>
      </p:sp>
      <p:sp>
        <p:nvSpPr>
          <p:cNvPr id="9" name="Text 7"/>
          <p:cNvSpPr txBox="1"/>
          <p:nvPr/>
        </p:nvSpPr>
        <p:spPr>
          <a:xfrm>
            <a:off x="685800" y="2176272"/>
            <a:ext cx="2238680" cy="123444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h± = h − (v·h)v ± Δv</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(centred: equal norm on both sides)</a:t>
            </a:r>
            <a:endParaRPr lang="en-US" sz="1300" dirty="0"/>
          </a:p>
        </p:txBody>
      </p:sp>
      <p:sp>
        <p:nvSpPr>
          <p:cNvPr id="10" name="Shape 8"/>
          <p:cNvSpPr/>
          <p:nvPr/>
        </p:nvSpPr>
        <p:spPr>
          <a:xfrm>
            <a:off x="3107360" y="2578608"/>
            <a:ext cx="256032" cy="914"/>
          </a:xfrm>
          <a:prstGeom prst="line">
            <a:avLst/>
          </a:prstGeom>
          <a:noFill/>
          <a:ln w="25400">
            <a:solidFill>
              <a:schemeClr val="accent5"/>
            </a:solidFill>
            <a:prstDash val="solid"/>
            <a:tailEnd type="triangle"/>
          </a:ln>
        </p:spPr>
      </p:sp>
      <p:sp>
        <p:nvSpPr>
          <p:cNvPr id="11" name="Shape 9"/>
          <p:cNvSpPr/>
          <p:nvPr/>
        </p:nvSpPr>
        <p:spPr>
          <a:xfrm>
            <a:off x="3409112" y="1691640"/>
            <a:ext cx="2513000" cy="1783080"/>
          </a:xfrm>
          <a:prstGeom prst="roundRect">
            <a:avLst>
              <a:gd name="adj" fmla="val 4103"/>
            </a:avLst>
          </a:prstGeom>
          <a:solidFill>
            <a:schemeClr val="bg2"/>
          </a:solidFill>
          <a:ln w="12700">
            <a:solidFill>
              <a:schemeClr val="bg2"/>
            </a:solidFill>
            <a:prstDash val="solid"/>
          </a:ln>
        </p:spPr>
      </p:sp>
      <p:sp>
        <p:nvSpPr>
          <p:cNvPr id="12" name="Text 10"/>
          <p:cNvSpPr txBox="1"/>
          <p:nvPr/>
        </p:nvSpPr>
        <p:spPr>
          <a:xfrm>
            <a:off x="3546272" y="1783080"/>
            <a:ext cx="2238680" cy="320040"/>
          </a:xfrm>
          <a:prstGeom prst="rect">
            <a:avLst/>
          </a:prstGeom>
          <a:noFill/>
          <a:ln/>
        </p:spPr>
        <p:txBody>
          <a:bodyPr wrap="square" lIns="0" tIns="0" rIns="0" bIns="0" rtlCol="0" anchor="t"/>
          <a:lstStyle/>
          <a:p>
            <a:pPr indent="0" marL="0">
              <a:buNone/>
            </a:pPr>
            <a:r>
              <a:rPr lang="en-US" sz="1500" b="1" dirty="0">
                <a:solidFill>
                  <a:schemeClr val="tx1"/>
                </a:solidFill>
              </a:rPr>
              <a:t>Reader scores</a:t>
            </a:r>
            <a:endParaRPr lang="en-US" sz="1500" dirty="0"/>
          </a:p>
        </p:txBody>
      </p:sp>
      <p:sp>
        <p:nvSpPr>
          <p:cNvPr id="13" name="Text 11"/>
          <p:cNvSpPr txBox="1"/>
          <p:nvPr/>
        </p:nvSpPr>
        <p:spPr>
          <a:xfrm>
            <a:off x="3546272" y="2176272"/>
            <a:ext cx="2238680" cy="12344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log p("near the end of a long line") − log p("at the start of a line")</a:t>
            </a:r>
            <a:endParaRPr lang="en-US" sz="1300" dirty="0"/>
          </a:p>
        </p:txBody>
      </p:sp>
      <p:sp>
        <p:nvSpPr>
          <p:cNvPr id="14" name="Shape 12"/>
          <p:cNvSpPr/>
          <p:nvPr/>
        </p:nvSpPr>
        <p:spPr>
          <a:xfrm>
            <a:off x="5967832" y="2578608"/>
            <a:ext cx="256032" cy="914"/>
          </a:xfrm>
          <a:prstGeom prst="line">
            <a:avLst/>
          </a:prstGeom>
          <a:noFill/>
          <a:ln w="25400">
            <a:solidFill>
              <a:schemeClr val="accent5"/>
            </a:solidFill>
            <a:prstDash val="solid"/>
            <a:tailEnd type="triangle"/>
          </a:ln>
        </p:spPr>
      </p:sp>
      <p:sp>
        <p:nvSpPr>
          <p:cNvPr id="15" name="Shape 13"/>
          <p:cNvSpPr/>
          <p:nvPr/>
        </p:nvSpPr>
        <p:spPr>
          <a:xfrm>
            <a:off x="6269584" y="1691640"/>
            <a:ext cx="2513000" cy="1783080"/>
          </a:xfrm>
          <a:prstGeom prst="roundRect">
            <a:avLst>
              <a:gd name="adj" fmla="val 4103"/>
            </a:avLst>
          </a:prstGeom>
          <a:solidFill>
            <a:schemeClr val="bg2"/>
          </a:solidFill>
          <a:ln w="12700">
            <a:solidFill>
              <a:schemeClr val="bg2"/>
            </a:solidFill>
            <a:prstDash val="solid"/>
          </a:ln>
        </p:spPr>
      </p:sp>
      <p:sp>
        <p:nvSpPr>
          <p:cNvPr id="16" name="Text 14"/>
          <p:cNvSpPr txBox="1"/>
          <p:nvPr/>
        </p:nvSpPr>
        <p:spPr>
          <a:xfrm>
            <a:off x="6406744" y="1783080"/>
            <a:ext cx="2238680" cy="320040"/>
          </a:xfrm>
          <a:prstGeom prst="rect">
            <a:avLst/>
          </a:prstGeom>
          <a:noFill/>
          <a:ln/>
        </p:spPr>
        <p:txBody>
          <a:bodyPr wrap="square" lIns="0" tIns="0" rIns="0" bIns="0" rtlCol="0" anchor="t"/>
          <a:lstStyle/>
          <a:p>
            <a:pPr indent="0" marL="0">
              <a:buNone/>
            </a:pPr>
            <a:r>
              <a:rPr lang="en-US" sz="1500" b="1" dirty="0">
                <a:solidFill>
                  <a:schemeClr val="tx1"/>
                </a:solidFill>
              </a:rPr>
              <a:t>Does it follow?</a:t>
            </a:r>
            <a:endParaRPr lang="en-US" sz="1500" dirty="0"/>
          </a:p>
        </p:txBody>
      </p:sp>
      <p:sp>
        <p:nvSpPr>
          <p:cNvPr id="17" name="Text 15"/>
          <p:cNvSpPr txBox="1"/>
          <p:nvPr/>
        </p:nvSpPr>
        <p:spPr>
          <a:xfrm>
            <a:off x="6406744" y="2176272"/>
            <a:ext cx="2238680" cy="12344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paired win rate and mean shift over items</a:t>
            </a:r>
            <a:endParaRPr lang="en-US" sz="1300" dirty="0"/>
          </a:p>
        </p:txBody>
      </p:sp>
      <p:sp>
        <p:nvSpPr>
          <p:cNvPr id="18" name="Shape 16"/>
          <p:cNvSpPr/>
          <p:nvPr/>
        </p:nvSpPr>
        <p:spPr>
          <a:xfrm>
            <a:off x="8828303" y="2578608"/>
            <a:ext cx="256032" cy="914"/>
          </a:xfrm>
          <a:prstGeom prst="line">
            <a:avLst/>
          </a:prstGeom>
          <a:noFill/>
          <a:ln w="25400">
            <a:solidFill>
              <a:schemeClr val="accent5"/>
            </a:solidFill>
            <a:prstDash val="solid"/>
            <a:tailEnd type="triangle"/>
          </a:ln>
        </p:spPr>
      </p:sp>
      <p:sp>
        <p:nvSpPr>
          <p:cNvPr id="19" name="Shape 17"/>
          <p:cNvSpPr/>
          <p:nvPr/>
        </p:nvSpPr>
        <p:spPr>
          <a:xfrm>
            <a:off x="9130055" y="1691640"/>
            <a:ext cx="2513000" cy="1783080"/>
          </a:xfrm>
          <a:prstGeom prst="roundRect">
            <a:avLst>
              <a:gd name="adj" fmla="val 4103"/>
            </a:avLst>
          </a:prstGeom>
          <a:solidFill>
            <a:schemeClr val="bg2"/>
          </a:solidFill>
          <a:ln w="12700">
            <a:solidFill>
              <a:schemeClr val="bg2"/>
            </a:solidFill>
            <a:prstDash val="solid"/>
          </a:ln>
        </p:spPr>
      </p:sp>
      <p:sp>
        <p:nvSpPr>
          <p:cNvPr id="20" name="Text 18"/>
          <p:cNvSpPr txBox="1"/>
          <p:nvPr/>
        </p:nvSpPr>
        <p:spPr>
          <a:xfrm>
            <a:off x="9267215" y="1783080"/>
            <a:ext cx="2238680" cy="320040"/>
          </a:xfrm>
          <a:prstGeom prst="rect">
            <a:avLst/>
          </a:prstGeom>
          <a:noFill/>
          <a:ln/>
        </p:spPr>
        <p:txBody>
          <a:bodyPr wrap="square" lIns="0" tIns="0" rIns="0" bIns="0" rtlCol="0" anchor="t"/>
          <a:lstStyle/>
          <a:p>
            <a:pPr indent="0" marL="0">
              <a:buNone/>
            </a:pPr>
            <a:r>
              <a:rPr lang="en-US" sz="1500" b="1" dirty="0">
                <a:solidFill>
                  <a:schemeClr val="tx1"/>
                </a:solidFill>
              </a:rPr>
              <a:t>Against chance</a:t>
            </a:r>
            <a:endParaRPr lang="en-US" sz="1500" dirty="0"/>
          </a:p>
        </p:txBody>
      </p:sp>
      <p:sp>
        <p:nvSpPr>
          <p:cNvPr id="21" name="Text 19"/>
          <p:cNvSpPr txBox="1"/>
          <p:nvPr/>
        </p:nvSpPr>
        <p:spPr>
          <a:xfrm>
            <a:off x="9267215" y="2176272"/>
            <a:ext cx="2238680" cy="12344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z vs K = 20 random directions of the same norm (isotropic and J-complement)</a:t>
            </a:r>
            <a:endParaRPr lang="en-US" sz="1300" dirty="0"/>
          </a:p>
        </p:txBody>
      </p:sp>
      <p:sp>
        <p:nvSpPr>
          <p:cNvPr id="22" name="Text 20"/>
          <p:cNvSpPr txBox="1"/>
          <p:nvPr/>
        </p:nvSpPr>
        <p:spPr>
          <a:xfrm>
            <a:off x="548640" y="3703320"/>
            <a:ext cx="2743200" cy="274320"/>
          </a:xfrm>
          <a:prstGeom prst="rect">
            <a:avLst/>
          </a:prstGeom>
          <a:noFill/>
          <a:ln/>
        </p:spPr>
        <p:txBody>
          <a:bodyPr wrap="square" lIns="0" tIns="0" rIns="0" bIns="0" rtlCol="0" anchor="t"/>
          <a:lstStyle/>
          <a:p>
            <a:pPr indent="0" marL="0">
              <a:buNone/>
            </a:pPr>
            <a:r>
              <a:rPr lang="en-US" sz="1100" b="1" spc="150" kern="0" dirty="0">
                <a:solidFill>
                  <a:schemeClr val="accent5"/>
                </a:solidFill>
              </a:rPr>
              <a:t>GUARDS</a:t>
            </a:r>
            <a:endParaRPr lang="en-US" sz="1100" dirty="0"/>
          </a:p>
        </p:txBody>
      </p:sp>
      <p:sp>
        <p:nvSpPr>
          <p:cNvPr id="23" name="Shape 21"/>
          <p:cNvSpPr/>
          <p:nvPr/>
        </p:nvSpPr>
        <p:spPr>
          <a:xfrm>
            <a:off x="548640" y="4023360"/>
            <a:ext cx="3484778" cy="2194560"/>
          </a:xfrm>
          <a:prstGeom prst="roundRect">
            <a:avLst>
              <a:gd name="adj" fmla="val 3333"/>
            </a:avLst>
          </a:prstGeom>
          <a:solidFill>
            <a:schemeClr val="bg1"/>
          </a:solidFill>
          <a:ln w="15875">
            <a:solidFill>
              <a:schemeClr val="accent3"/>
            </a:solidFill>
            <a:prstDash val="solid"/>
          </a:ln>
        </p:spPr>
      </p:sp>
      <p:sp>
        <p:nvSpPr>
          <p:cNvPr id="24" name="Text 22"/>
          <p:cNvSpPr txBox="1"/>
          <p:nvPr/>
        </p:nvSpPr>
        <p:spPr>
          <a:xfrm>
            <a:off x="713232" y="4187952"/>
            <a:ext cx="3155594" cy="329184"/>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Leak detector</a:t>
            </a:r>
            <a:endParaRPr lang="en-US" sz="1600" dirty="0"/>
          </a:p>
        </p:txBody>
      </p:sp>
      <p:sp>
        <p:nvSpPr>
          <p:cNvPr id="25" name="Text 23"/>
          <p:cNvSpPr txBox="1"/>
          <p:nvPr/>
        </p:nvSpPr>
        <p:spPr>
          <a:xfrm>
            <a:off x="713232" y="4562856"/>
            <a:ext cx="3155594" cy="1556309"/>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The J-Lens must not move (two-sided, vs the J-complement band). If it moves, the content leaked into J and the dose is void for non-J claims.</a:t>
            </a:r>
            <a:endParaRPr lang="en-US" sz="1350" dirty="0"/>
          </a:p>
        </p:txBody>
      </p:sp>
      <p:sp>
        <p:nvSpPr>
          <p:cNvPr id="26" name="Shape 24"/>
          <p:cNvSpPr/>
          <p:nvPr/>
        </p:nvSpPr>
        <p:spPr>
          <a:xfrm>
            <a:off x="4353458" y="4023360"/>
            <a:ext cx="3484778" cy="2194560"/>
          </a:xfrm>
          <a:prstGeom prst="roundRect">
            <a:avLst>
              <a:gd name="adj" fmla="val 3333"/>
            </a:avLst>
          </a:prstGeom>
          <a:solidFill>
            <a:schemeClr val="bg1"/>
          </a:solidFill>
          <a:ln w="15875">
            <a:solidFill>
              <a:schemeClr val="accent4"/>
            </a:solidFill>
            <a:prstDash val="solid"/>
          </a:ln>
        </p:spPr>
      </p:sp>
      <p:sp>
        <p:nvSpPr>
          <p:cNvPr id="27" name="Text 25"/>
          <p:cNvSpPr txBox="1"/>
          <p:nvPr/>
        </p:nvSpPr>
        <p:spPr>
          <a:xfrm>
            <a:off x="4518050" y="4187952"/>
            <a:ext cx="3155594" cy="329184"/>
          </a:xfrm>
          <a:prstGeom prst="rect">
            <a:avLst/>
          </a:prstGeom>
          <a:noFill/>
          <a:ln/>
        </p:spPr>
        <p:txBody>
          <a:bodyPr wrap="square" lIns="0" tIns="0" rIns="0" bIns="0" rtlCol="0" anchor="t"/>
          <a:lstStyle/>
          <a:p>
            <a:pPr indent="0" marL="0">
              <a:buNone/>
            </a:pPr>
            <a:r>
              <a:rPr lang="en-US" sz="1600" b="1" dirty="0">
                <a:solidFill>
                  <a:schemeClr val="accent4"/>
                </a:solidFill>
                <a:latin typeface="Cambria" pitchFamily="34" charset="0"/>
                <a:ea typeface="Cambria" pitchFamily="34" charset="-122"/>
                <a:cs typeface="Cambria" pitchFamily="34" charset="-120"/>
              </a:rPr>
              <a:t>Dose in range</a:t>
            </a:r>
            <a:endParaRPr lang="en-US" sz="1600" dirty="0"/>
          </a:p>
        </p:txBody>
      </p:sp>
      <p:sp>
        <p:nvSpPr>
          <p:cNvPr id="28" name="Text 26"/>
          <p:cNvSpPr txBox="1"/>
          <p:nvPr/>
        </p:nvSpPr>
        <p:spPr>
          <a:xfrm>
            <a:off x="4518050" y="4562856"/>
            <a:ext cx="3155594" cy="1556309"/>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q90 of the natural projection: ‖Δ‖/‖h‖ ≈ 0.08–0.11 for col. FVE guard: the NLA's reconstruction must not degrade by &gt; 0.05.</a:t>
            </a:r>
            <a:endParaRPr lang="en-US" sz="1350" dirty="0"/>
          </a:p>
        </p:txBody>
      </p:sp>
      <p:sp>
        <p:nvSpPr>
          <p:cNvPr id="29" name="Shape 27"/>
          <p:cNvSpPr/>
          <p:nvPr/>
        </p:nvSpPr>
        <p:spPr>
          <a:xfrm>
            <a:off x="8158277" y="4023360"/>
            <a:ext cx="3484778" cy="2194560"/>
          </a:xfrm>
          <a:prstGeom prst="roundRect">
            <a:avLst>
              <a:gd name="adj" fmla="val 3333"/>
            </a:avLst>
          </a:prstGeom>
          <a:solidFill>
            <a:schemeClr val="bg1"/>
          </a:solidFill>
          <a:ln w="15875">
            <a:solidFill>
              <a:schemeClr val="tx1"/>
            </a:solidFill>
            <a:prstDash val="solid"/>
          </a:ln>
        </p:spPr>
      </p:sp>
      <p:sp>
        <p:nvSpPr>
          <p:cNvPr id="30" name="Text 28"/>
          <p:cNvSpPr txBox="1"/>
          <p:nvPr/>
        </p:nvSpPr>
        <p:spPr>
          <a:xfrm>
            <a:off x="8322869" y="4187952"/>
            <a:ext cx="3155594"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Direction</a:t>
            </a:r>
            <a:endParaRPr lang="en-US" sz="1600" dirty="0"/>
          </a:p>
        </p:txBody>
      </p:sp>
      <p:sp>
        <p:nvSpPr>
          <p:cNvPr id="31" name="Text 29"/>
          <p:cNvSpPr txBox="1"/>
          <p:nvPr/>
        </p:nvSpPr>
        <p:spPr>
          <a:xfrm>
            <a:off x="8322869" y="4562856"/>
            <a:ext cx="3155594" cy="1556309"/>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Steer along the J-removed direction (top-1,536 J-space projected out) so the push itself carries no J content.</a:t>
            </a:r>
            <a:endParaRPr lang="en-US" sz="13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HOW WE WORKED</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An adversarial research guide changed the design four times before any headline run</a:t>
            </a:r>
            <a:endParaRPr lang="en-US" sz="2800" dirty="0"/>
          </a:p>
        </p:txBody>
      </p:sp>
      <p:sp>
        <p:nvSpPr>
          <p:cNvPr id="7" name="Shape 5"/>
          <p:cNvSpPr/>
          <p:nvPr/>
        </p:nvSpPr>
        <p:spPr>
          <a:xfrm>
            <a:off x="3356240" y="2539796"/>
            <a:ext cx="635470" cy="510013"/>
          </a:xfrm>
          <a:prstGeom prst="line">
            <a:avLst/>
          </a:prstGeom>
          <a:noFill/>
          <a:ln w="22225">
            <a:solidFill>
              <a:schemeClr val="accent5"/>
            </a:solidFill>
            <a:prstDash val="solid"/>
            <a:tailEnd type="triangle"/>
          </a:ln>
        </p:spPr>
      </p:sp>
      <p:sp>
        <p:nvSpPr>
          <p:cNvPr id="8" name="Shape 6"/>
          <p:cNvSpPr/>
          <p:nvPr/>
        </p:nvSpPr>
        <p:spPr>
          <a:xfrm flipH="1">
            <a:off x="3957458" y="3758577"/>
            <a:ext cx="357485" cy="1215367"/>
          </a:xfrm>
          <a:prstGeom prst="line">
            <a:avLst/>
          </a:prstGeom>
          <a:noFill/>
          <a:ln w="22225">
            <a:solidFill>
              <a:schemeClr val="accent5"/>
            </a:solidFill>
            <a:prstDash val="solid"/>
            <a:tailEnd type="triangle"/>
          </a:ln>
        </p:spPr>
      </p:sp>
      <p:sp>
        <p:nvSpPr>
          <p:cNvPr id="9" name="Shape 7"/>
          <p:cNvSpPr/>
          <p:nvPr/>
        </p:nvSpPr>
        <p:spPr>
          <a:xfrm flipH="1">
            <a:off x="2925174" y="5337474"/>
            <a:ext cx="1812" cy="914"/>
          </a:xfrm>
          <a:prstGeom prst="line">
            <a:avLst/>
          </a:prstGeom>
          <a:noFill/>
          <a:ln w="22225">
            <a:solidFill>
              <a:schemeClr val="accent5"/>
            </a:solidFill>
            <a:prstDash val="solid"/>
            <a:tailEnd type="triangle"/>
          </a:ln>
        </p:spPr>
      </p:sp>
      <p:sp>
        <p:nvSpPr>
          <p:cNvPr id="10" name="Shape 8"/>
          <p:cNvSpPr/>
          <p:nvPr/>
        </p:nvSpPr>
        <p:spPr>
          <a:xfrm flipH="1" flipV="1">
            <a:off x="1537217" y="3758577"/>
            <a:ext cx="357485" cy="1215367"/>
          </a:xfrm>
          <a:prstGeom prst="line">
            <a:avLst/>
          </a:prstGeom>
          <a:noFill/>
          <a:ln w="22225">
            <a:solidFill>
              <a:schemeClr val="accent5"/>
            </a:solidFill>
            <a:prstDash val="solid"/>
            <a:tailEnd type="triangle"/>
          </a:ln>
        </p:spPr>
      </p:sp>
      <p:sp>
        <p:nvSpPr>
          <p:cNvPr id="11" name="Shape 9"/>
          <p:cNvSpPr/>
          <p:nvPr/>
        </p:nvSpPr>
        <p:spPr>
          <a:xfrm flipV="1">
            <a:off x="1860449" y="2539796"/>
            <a:ext cx="635470" cy="510013"/>
          </a:xfrm>
          <a:prstGeom prst="line">
            <a:avLst/>
          </a:prstGeom>
          <a:noFill/>
          <a:ln w="22225">
            <a:solidFill>
              <a:schemeClr val="accent5"/>
            </a:solidFill>
            <a:prstDash val="solid"/>
            <a:tailEnd type="triangle"/>
          </a:ln>
        </p:spPr>
      </p:sp>
      <p:sp>
        <p:nvSpPr>
          <p:cNvPr id="12" name="Shape 10"/>
          <p:cNvSpPr/>
          <p:nvPr/>
        </p:nvSpPr>
        <p:spPr>
          <a:xfrm>
            <a:off x="2103120" y="1938528"/>
            <a:ext cx="1645920" cy="512064"/>
          </a:xfrm>
          <a:prstGeom prst="roundRect">
            <a:avLst>
              <a:gd name="adj" fmla="val 17857"/>
            </a:avLst>
          </a:prstGeom>
          <a:solidFill>
            <a:schemeClr val="bg2"/>
          </a:solidFill>
          <a:ln w="12700">
            <a:solidFill>
              <a:schemeClr val="accent6"/>
            </a:solidFill>
            <a:prstDash val="solid"/>
          </a:ln>
        </p:spPr>
      </p:sp>
      <p:sp>
        <p:nvSpPr>
          <p:cNvPr id="13" name="Text 11"/>
          <p:cNvSpPr txBox="1"/>
          <p:nvPr/>
        </p:nvSpPr>
        <p:spPr>
          <a:xfrm>
            <a:off x="2148840" y="1938528"/>
            <a:ext cx="1554480" cy="512064"/>
          </a:xfrm>
          <a:prstGeom prst="rect">
            <a:avLst/>
          </a:prstGeom>
          <a:noFill/>
          <a:ln/>
        </p:spPr>
        <p:txBody>
          <a:bodyPr wrap="square" lIns="0" tIns="0" rIns="0" bIns="0" rtlCol="0" anchor="ctr"/>
          <a:lstStyle/>
          <a:p>
            <a:pPr algn="ctr" indent="0" marL="0">
              <a:buNone/>
            </a:pPr>
            <a:r>
              <a:rPr lang="en-US" sz="1200" b="1" dirty="0">
                <a:solidFill>
                  <a:schemeClr val="tx1"/>
                </a:solidFill>
              </a:rPr>
              <a:t>Plan + pre-register</a:t>
            </a:r>
            <a:endParaRPr lang="en-US" sz="1200" dirty="0"/>
          </a:p>
        </p:txBody>
      </p:sp>
      <p:sp>
        <p:nvSpPr>
          <p:cNvPr id="14" name="Shape 12"/>
          <p:cNvSpPr/>
          <p:nvPr/>
        </p:nvSpPr>
        <p:spPr>
          <a:xfrm>
            <a:off x="3598911" y="3139014"/>
            <a:ext cx="1645920" cy="512064"/>
          </a:xfrm>
          <a:prstGeom prst="roundRect">
            <a:avLst>
              <a:gd name="adj" fmla="val 17857"/>
            </a:avLst>
          </a:prstGeom>
          <a:solidFill>
            <a:schemeClr val="bg2"/>
          </a:solidFill>
          <a:ln w="12700">
            <a:solidFill>
              <a:schemeClr val="accent6"/>
            </a:solidFill>
            <a:prstDash val="solid"/>
          </a:ln>
        </p:spPr>
      </p:sp>
      <p:sp>
        <p:nvSpPr>
          <p:cNvPr id="15" name="Text 13"/>
          <p:cNvSpPr txBox="1"/>
          <p:nvPr/>
        </p:nvSpPr>
        <p:spPr>
          <a:xfrm>
            <a:off x="3644631" y="3139014"/>
            <a:ext cx="1554480" cy="512064"/>
          </a:xfrm>
          <a:prstGeom prst="rect">
            <a:avLst/>
          </a:prstGeom>
          <a:noFill/>
          <a:ln/>
        </p:spPr>
        <p:txBody>
          <a:bodyPr wrap="square" lIns="0" tIns="0" rIns="0" bIns="0" rtlCol="0" anchor="ctr"/>
          <a:lstStyle/>
          <a:p>
            <a:pPr algn="ctr" indent="0" marL="0">
              <a:buNone/>
            </a:pPr>
            <a:r>
              <a:rPr lang="en-US" sz="1200" b="1" dirty="0">
                <a:solidFill>
                  <a:schemeClr val="tx1"/>
                </a:solidFill>
              </a:rPr>
              <a:t>Agents run gates</a:t>
            </a:r>
            <a:endParaRPr lang="en-US" sz="1200" dirty="0"/>
          </a:p>
        </p:txBody>
      </p:sp>
      <p:sp>
        <p:nvSpPr>
          <p:cNvPr id="16" name="Shape 14"/>
          <p:cNvSpPr/>
          <p:nvPr/>
        </p:nvSpPr>
        <p:spPr>
          <a:xfrm>
            <a:off x="3027570" y="5081442"/>
            <a:ext cx="1645920" cy="512064"/>
          </a:xfrm>
          <a:prstGeom prst="roundRect">
            <a:avLst>
              <a:gd name="adj" fmla="val 17857"/>
            </a:avLst>
          </a:prstGeom>
          <a:solidFill>
            <a:schemeClr val="bg2"/>
          </a:solidFill>
          <a:ln w="12700">
            <a:solidFill>
              <a:schemeClr val="accent6"/>
            </a:solidFill>
            <a:prstDash val="solid"/>
          </a:ln>
        </p:spPr>
      </p:sp>
      <p:sp>
        <p:nvSpPr>
          <p:cNvPr id="17" name="Text 15"/>
          <p:cNvSpPr txBox="1"/>
          <p:nvPr/>
        </p:nvSpPr>
        <p:spPr>
          <a:xfrm>
            <a:off x="3073290" y="5081442"/>
            <a:ext cx="1554480" cy="512064"/>
          </a:xfrm>
          <a:prstGeom prst="rect">
            <a:avLst/>
          </a:prstGeom>
          <a:noFill/>
          <a:ln/>
        </p:spPr>
        <p:txBody>
          <a:bodyPr wrap="square" lIns="0" tIns="0" rIns="0" bIns="0" rtlCol="0" anchor="ctr"/>
          <a:lstStyle/>
          <a:p>
            <a:pPr algn="ctr" indent="0" marL="0">
              <a:buNone/>
            </a:pPr>
            <a:r>
              <a:rPr lang="en-US" sz="1200" b="1" dirty="0">
                <a:solidFill>
                  <a:schemeClr val="tx1"/>
                </a:solidFill>
              </a:rPr>
              <a:t>Decision log D1–D21</a:t>
            </a:r>
            <a:endParaRPr lang="en-US" sz="1200" dirty="0"/>
          </a:p>
        </p:txBody>
      </p:sp>
      <p:sp>
        <p:nvSpPr>
          <p:cNvPr id="18" name="Shape 16"/>
          <p:cNvSpPr/>
          <p:nvPr/>
        </p:nvSpPr>
        <p:spPr>
          <a:xfrm>
            <a:off x="1178670" y="5081442"/>
            <a:ext cx="1645920" cy="512064"/>
          </a:xfrm>
          <a:prstGeom prst="roundRect">
            <a:avLst>
              <a:gd name="adj" fmla="val 17857"/>
            </a:avLst>
          </a:prstGeom>
          <a:solidFill>
            <a:schemeClr val="accent2"/>
          </a:solidFill>
          <a:ln w="12700">
            <a:solidFill>
              <a:schemeClr val="accent2"/>
            </a:solidFill>
            <a:prstDash val="solid"/>
          </a:ln>
        </p:spPr>
      </p:sp>
      <p:sp>
        <p:nvSpPr>
          <p:cNvPr id="19" name="Text 17"/>
          <p:cNvSpPr txBox="1"/>
          <p:nvPr/>
        </p:nvSpPr>
        <p:spPr>
          <a:xfrm>
            <a:off x="1224390" y="5081442"/>
            <a:ext cx="1554480" cy="512064"/>
          </a:xfrm>
          <a:prstGeom prst="rect">
            <a:avLst/>
          </a:prstGeom>
          <a:noFill/>
          <a:ln/>
        </p:spPr>
        <p:txBody>
          <a:bodyPr wrap="square" lIns="0" tIns="0" rIns="0" bIns="0" rtlCol="0" anchor="ctr"/>
          <a:lstStyle/>
          <a:p>
            <a:pPr algn="ctr" indent="0" marL="0">
              <a:buNone/>
            </a:pPr>
            <a:r>
              <a:rPr lang="en-US" sz="1200" b="1" dirty="0">
                <a:solidFill>
                  <a:schemeClr val="bg1"/>
                </a:solidFill>
              </a:rPr>
              <a:t>Hand off to Fable</a:t>
            </a:r>
            <a:endParaRPr lang="en-US" sz="1200" dirty="0"/>
          </a:p>
        </p:txBody>
      </p:sp>
      <p:sp>
        <p:nvSpPr>
          <p:cNvPr id="20" name="Shape 18"/>
          <p:cNvSpPr/>
          <p:nvPr/>
        </p:nvSpPr>
        <p:spPr>
          <a:xfrm>
            <a:off x="607329" y="3139014"/>
            <a:ext cx="1645920" cy="512064"/>
          </a:xfrm>
          <a:prstGeom prst="roundRect">
            <a:avLst>
              <a:gd name="adj" fmla="val 17857"/>
            </a:avLst>
          </a:prstGeom>
          <a:solidFill>
            <a:schemeClr val="accent2"/>
          </a:solidFill>
          <a:ln w="12700">
            <a:solidFill>
              <a:schemeClr val="accent2"/>
            </a:solidFill>
            <a:prstDash val="solid"/>
          </a:ln>
        </p:spPr>
      </p:sp>
      <p:sp>
        <p:nvSpPr>
          <p:cNvPr id="21" name="Text 19"/>
          <p:cNvSpPr txBox="1"/>
          <p:nvPr/>
        </p:nvSpPr>
        <p:spPr>
          <a:xfrm>
            <a:off x="653049" y="3139014"/>
            <a:ext cx="1554480" cy="512064"/>
          </a:xfrm>
          <a:prstGeom prst="rect">
            <a:avLst/>
          </a:prstGeom>
          <a:noFill/>
          <a:ln/>
        </p:spPr>
        <p:txBody>
          <a:bodyPr wrap="square" lIns="0" tIns="0" rIns="0" bIns="0" rtlCol="0" anchor="ctr"/>
          <a:lstStyle/>
          <a:p>
            <a:pPr algn="ctr" indent="0" marL="0">
              <a:buNone/>
            </a:pPr>
            <a:r>
              <a:rPr lang="en-US" sz="1200" b="1" dirty="0">
                <a:solidFill>
                  <a:schemeClr val="bg1"/>
                </a:solidFill>
              </a:rPr>
              <a:t>Critique: accept or push back</a:t>
            </a:r>
            <a:endParaRPr lang="en-US" sz="1200" dirty="0"/>
          </a:p>
        </p:txBody>
      </p:sp>
      <p:sp>
        <p:nvSpPr>
          <p:cNvPr id="22" name="Shape 20"/>
          <p:cNvSpPr/>
          <p:nvPr/>
        </p:nvSpPr>
        <p:spPr>
          <a:xfrm>
            <a:off x="5486400" y="1719072"/>
            <a:ext cx="1051560" cy="274320"/>
          </a:xfrm>
          <a:prstGeom prst="roundRect">
            <a:avLst>
              <a:gd name="adj" fmla="val 50000"/>
            </a:avLst>
          </a:prstGeom>
          <a:solidFill>
            <a:schemeClr val="accent2"/>
          </a:solidFill>
          <a:ln w="12700">
            <a:solidFill>
              <a:schemeClr val="accent2"/>
            </a:solidFill>
            <a:prstDash val="solid"/>
          </a:ln>
        </p:spPr>
      </p:sp>
      <p:sp>
        <p:nvSpPr>
          <p:cNvPr id="23" name="Text 21"/>
          <p:cNvSpPr txBox="1"/>
          <p:nvPr/>
        </p:nvSpPr>
        <p:spPr>
          <a:xfrm>
            <a:off x="5486400" y="171907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Round 1</a:t>
            </a:r>
            <a:endParaRPr lang="en-US" sz="1100" dirty="0"/>
          </a:p>
        </p:txBody>
      </p:sp>
      <p:sp>
        <p:nvSpPr>
          <p:cNvPr id="24" name="Text 22"/>
          <p:cNvSpPr txBox="1"/>
          <p:nvPr/>
        </p:nvSpPr>
        <p:spPr>
          <a:xfrm>
            <a:off x="6675120" y="1691640"/>
            <a:ext cx="4967935" cy="475488"/>
          </a:xfrm>
          <a:prstGeom prst="rect">
            <a:avLst/>
          </a:prstGeom>
          <a:noFill/>
          <a:ln/>
        </p:spPr>
        <p:txBody>
          <a:bodyPr wrap="square" lIns="0" tIns="0" rIns="0" bIns="0" rtlCol="0" anchor="t"/>
          <a:lstStyle/>
          <a:p>
            <a:pPr indent="0" marL="0">
              <a:buNone/>
            </a:pPr>
            <a:r>
              <a:rPr lang="en-US" sz="1350" dirty="0">
                <a:solidFill>
                  <a:schemeClr val="tx1"/>
                </a:solidFill>
              </a:rPr>
              <a:t>Four attribution buckets weren't a partition (a character count is both non-J and text-computable).</a:t>
            </a:r>
            <a:endParaRPr lang="en-US" sz="1350" dirty="0"/>
          </a:p>
        </p:txBody>
      </p:sp>
      <p:sp>
        <p:nvSpPr>
          <p:cNvPr id="25" name="Text 23"/>
          <p:cNvSpPr txBox="1"/>
          <p:nvPr/>
        </p:nvSpPr>
        <p:spPr>
          <a:xfrm>
            <a:off x="6675120" y="2185416"/>
            <a:ext cx="4967935" cy="274320"/>
          </a:xfrm>
          <a:prstGeom prst="rect">
            <a:avLst/>
          </a:prstGeom>
          <a:noFill/>
          <a:ln/>
        </p:spPr>
        <p:txBody>
          <a:bodyPr wrap="square" lIns="0" tIns="0" rIns="0" bIns="0" rtlCol="0" anchor="t"/>
          <a:lstStyle/>
          <a:p>
            <a:pPr indent="0" marL="0">
              <a:buNone/>
            </a:pPr>
            <a:r>
              <a:rPr lang="en-US" sz="1350" b="1" dirty="0">
                <a:solidFill>
                  <a:schemeClr val="accent1"/>
                </a:solidFill>
              </a:rPr>
              <a:t>→ the 2×2 frame (D2)</a:t>
            </a:r>
            <a:endParaRPr lang="en-US" sz="1350" dirty="0"/>
          </a:p>
        </p:txBody>
      </p:sp>
      <p:sp>
        <p:nvSpPr>
          <p:cNvPr id="26" name="Shape 24"/>
          <p:cNvSpPr/>
          <p:nvPr/>
        </p:nvSpPr>
        <p:spPr>
          <a:xfrm>
            <a:off x="5486400" y="2724912"/>
            <a:ext cx="1051560" cy="274320"/>
          </a:xfrm>
          <a:prstGeom prst="roundRect">
            <a:avLst>
              <a:gd name="adj" fmla="val 50000"/>
            </a:avLst>
          </a:prstGeom>
          <a:solidFill>
            <a:schemeClr val="accent2"/>
          </a:solidFill>
          <a:ln w="12700">
            <a:solidFill>
              <a:schemeClr val="accent2"/>
            </a:solidFill>
            <a:prstDash val="solid"/>
          </a:ln>
        </p:spPr>
      </p:sp>
      <p:sp>
        <p:nvSpPr>
          <p:cNvPr id="27" name="Text 25"/>
          <p:cNvSpPr txBox="1"/>
          <p:nvPr/>
        </p:nvSpPr>
        <p:spPr>
          <a:xfrm>
            <a:off x="5486400" y="27249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Round 2</a:t>
            </a:r>
            <a:endParaRPr lang="en-US" sz="1100" dirty="0"/>
          </a:p>
        </p:txBody>
      </p:sp>
      <p:sp>
        <p:nvSpPr>
          <p:cNvPr id="28" name="Text 26"/>
          <p:cNvSpPr txBox="1"/>
          <p:nvPr/>
        </p:nvSpPr>
        <p:spPr>
          <a:xfrm>
            <a:off x="6675120" y="2697480"/>
            <a:ext cx="4967935" cy="475488"/>
          </a:xfrm>
          <a:prstGeom prst="rect">
            <a:avLst/>
          </a:prstGeom>
          <a:noFill/>
          <a:ln/>
        </p:spPr>
        <p:txBody>
          <a:bodyPr wrap="square" lIns="0" tIns="0" rIns="0" bIns="0" rtlCol="0" anchor="t"/>
          <a:lstStyle/>
          <a:p>
            <a:pPr indent="0" marL="0">
              <a:buNone/>
            </a:pPr>
            <a:r>
              <a:rPr lang="en-US" sz="1350" dirty="0">
                <a:solidFill>
                  <a:schemeClr val="tx1"/>
                </a:solidFill>
              </a:rPr>
              <a:t>Steering at layer 38 lets non-J content rotate into J before the read layers.</a:t>
            </a:r>
            <a:endParaRPr lang="en-US" sz="1350" dirty="0"/>
          </a:p>
        </p:txBody>
      </p:sp>
      <p:sp>
        <p:nvSpPr>
          <p:cNvPr id="29" name="Text 27"/>
          <p:cNvSpPr txBox="1"/>
          <p:nvPr/>
        </p:nvSpPr>
        <p:spPr>
          <a:xfrm>
            <a:off x="6675120" y="3191256"/>
            <a:ext cx="4967935" cy="274320"/>
          </a:xfrm>
          <a:prstGeom prst="rect">
            <a:avLst/>
          </a:prstGeom>
          <a:noFill/>
          <a:ln/>
        </p:spPr>
        <p:txBody>
          <a:bodyPr wrap="square" lIns="0" tIns="0" rIns="0" bIns="0" rtlCol="0" anchor="t"/>
          <a:lstStyle/>
          <a:p>
            <a:pPr indent="0" marL="0">
              <a:buNone/>
            </a:pPr>
            <a:r>
              <a:rPr lang="en-US" sz="1350" b="1" dirty="0">
                <a:solidFill>
                  <a:schemeClr val="accent1"/>
                </a:solidFill>
              </a:rPr>
              <a:t>→ J-removed directions, leak detector, read-layer steering (D4)</a:t>
            </a:r>
            <a:endParaRPr lang="en-US" sz="1350" dirty="0"/>
          </a:p>
        </p:txBody>
      </p:sp>
      <p:sp>
        <p:nvSpPr>
          <p:cNvPr id="30" name="Shape 28"/>
          <p:cNvSpPr/>
          <p:nvPr/>
        </p:nvSpPr>
        <p:spPr>
          <a:xfrm>
            <a:off x="5486400" y="3730752"/>
            <a:ext cx="1051560" cy="274320"/>
          </a:xfrm>
          <a:prstGeom prst="roundRect">
            <a:avLst>
              <a:gd name="adj" fmla="val 50000"/>
            </a:avLst>
          </a:prstGeom>
          <a:solidFill>
            <a:schemeClr val="accent2"/>
          </a:solidFill>
          <a:ln w="12700">
            <a:solidFill>
              <a:schemeClr val="accent2"/>
            </a:solidFill>
            <a:prstDash val="solid"/>
          </a:ln>
        </p:spPr>
      </p:sp>
      <p:sp>
        <p:nvSpPr>
          <p:cNvPr id="31" name="Text 29"/>
          <p:cNvSpPr txBox="1"/>
          <p:nvPr/>
        </p:nvSpPr>
        <p:spPr>
          <a:xfrm>
            <a:off x="5486400" y="373075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Round 3</a:t>
            </a:r>
            <a:endParaRPr lang="en-US" sz="1100" dirty="0"/>
          </a:p>
        </p:txBody>
      </p:sp>
      <p:sp>
        <p:nvSpPr>
          <p:cNvPr id="32" name="Text 30"/>
          <p:cNvSpPr txBox="1"/>
          <p:nvPr/>
        </p:nvSpPr>
        <p:spPr>
          <a:xfrm>
            <a:off x="6675120" y="3703320"/>
            <a:ext cx="4967935" cy="475488"/>
          </a:xfrm>
          <a:prstGeom prst="rect">
            <a:avLst/>
          </a:prstGeom>
          <a:noFill/>
          <a:ln/>
        </p:spPr>
        <p:txBody>
          <a:bodyPr wrap="square" lIns="0" tIns="0" rIns="0" bIns="0" rtlCol="0" anchor="t"/>
          <a:lstStyle/>
          <a:p>
            <a:pPr indent="0" marL="0">
              <a:buNone/>
            </a:pPr>
            <a:r>
              <a:rPr lang="en-US" sz="1350" dirty="0">
                <a:solidFill>
                  <a:schemeClr val="tx1"/>
                </a:solidFill>
              </a:rPr>
              <a:t>'Probe survives J-removal' passes topic and language too: it can't label anything.</a:t>
            </a:r>
            <a:endParaRPr lang="en-US" sz="1350" dirty="0"/>
          </a:p>
        </p:txBody>
      </p:sp>
      <p:sp>
        <p:nvSpPr>
          <p:cNvPr id="33" name="Text 31"/>
          <p:cNvSpPr txBox="1"/>
          <p:nvPr/>
        </p:nvSpPr>
        <p:spPr>
          <a:xfrm>
            <a:off x="6675120" y="4197096"/>
            <a:ext cx="4967935" cy="274320"/>
          </a:xfrm>
          <a:prstGeom prst="rect">
            <a:avLst/>
          </a:prstGeom>
          <a:noFill/>
          <a:ln/>
        </p:spPr>
        <p:txBody>
          <a:bodyPr wrap="square" lIns="0" tIns="0" rIns="0" bIns="0" rtlCol="0" anchor="t"/>
          <a:lstStyle/>
          <a:p>
            <a:pPr indent="0" marL="0">
              <a:buNone/>
            </a:pPr>
            <a:r>
              <a:rPr lang="en-US" sz="1350" b="1" dirty="0">
                <a:solidFill>
                  <a:schemeClr val="accent1"/>
                </a:solidFill>
              </a:rPr>
              <a:t>→ calibrated gate: enrichment + J-Lens readout (D8–D9)</a:t>
            </a:r>
            <a:endParaRPr lang="en-US" sz="1350" dirty="0"/>
          </a:p>
        </p:txBody>
      </p:sp>
      <p:sp>
        <p:nvSpPr>
          <p:cNvPr id="34" name="Shape 32"/>
          <p:cNvSpPr/>
          <p:nvPr/>
        </p:nvSpPr>
        <p:spPr>
          <a:xfrm>
            <a:off x="5486400" y="4736592"/>
            <a:ext cx="1051560" cy="274320"/>
          </a:xfrm>
          <a:prstGeom prst="roundRect">
            <a:avLst>
              <a:gd name="adj" fmla="val 50000"/>
            </a:avLst>
          </a:prstGeom>
          <a:solidFill>
            <a:schemeClr val="accent2"/>
          </a:solidFill>
          <a:ln w="12700">
            <a:solidFill>
              <a:schemeClr val="accent2"/>
            </a:solidFill>
            <a:prstDash val="solid"/>
          </a:ln>
        </p:spPr>
      </p:sp>
      <p:sp>
        <p:nvSpPr>
          <p:cNvPr id="35" name="Text 33"/>
          <p:cNvSpPr txBox="1"/>
          <p:nvPr/>
        </p:nvSpPr>
        <p:spPr>
          <a:xfrm>
            <a:off x="5486400" y="473659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Round 3–4</a:t>
            </a:r>
            <a:endParaRPr lang="en-US" sz="1100" dirty="0"/>
          </a:p>
        </p:txBody>
      </p:sp>
      <p:sp>
        <p:nvSpPr>
          <p:cNvPr id="36" name="Text 34"/>
          <p:cNvSpPr txBox="1"/>
          <p:nvPr/>
        </p:nvSpPr>
        <p:spPr>
          <a:xfrm>
            <a:off x="6675120" y="4709160"/>
            <a:ext cx="4967935" cy="475488"/>
          </a:xfrm>
          <a:prstGeom prst="rect">
            <a:avLst/>
          </a:prstGeom>
          <a:noFill/>
          <a:ln/>
        </p:spPr>
        <p:txBody>
          <a:bodyPr wrap="square" lIns="0" tIns="0" rIns="0" bIns="0" rtlCol="0" anchor="t"/>
          <a:lstStyle/>
          <a:p>
            <a:pPr indent="0" marL="0">
              <a:buNone/>
            </a:pPr>
            <a:r>
              <a:rPr lang="en-US" sz="1350" dirty="0">
                <a:solidFill>
                  <a:schemeClr val="tx1"/>
                </a:solidFill>
              </a:rPr>
              <a:t>The ± contrast isn't dilution-immune; OL's 'anti-tracking' might be an artefact.</a:t>
            </a:r>
            <a:endParaRPr lang="en-US" sz="1350" dirty="0"/>
          </a:p>
        </p:txBody>
      </p:sp>
      <p:sp>
        <p:nvSpPr>
          <p:cNvPr id="37" name="Text 35"/>
          <p:cNvSpPr txBox="1"/>
          <p:nvPr/>
        </p:nvSpPr>
        <p:spPr>
          <a:xfrm>
            <a:off x="6675120" y="5202936"/>
            <a:ext cx="4967935" cy="274320"/>
          </a:xfrm>
          <a:prstGeom prst="rect">
            <a:avLst/>
          </a:prstGeom>
          <a:noFill/>
          <a:ln/>
        </p:spPr>
        <p:txBody>
          <a:bodyPr wrap="square" lIns="0" tIns="0" rIns="0" bIns="0" rtlCol="0" anchor="t"/>
          <a:lstStyle/>
          <a:p>
            <a:pPr indent="0" marL="0">
              <a:buNone/>
            </a:pPr>
            <a:r>
              <a:rPr lang="en-US" sz="1350" b="1" dirty="0">
                <a:solidFill>
                  <a:schemeClr val="accent1"/>
                </a:solidFill>
              </a:rPr>
              <a:t>→ centred steering: OL 0.45 → 0.49 = chance (D9, D11)</a:t>
            </a:r>
            <a:endParaRPr lang="en-US" sz="1350" dirty="0"/>
          </a:p>
        </p:txBody>
      </p:sp>
      <p:sp>
        <p:nvSpPr>
          <p:cNvPr id="38" name="Text 36"/>
          <p:cNvSpPr txBox="1"/>
          <p:nvPr/>
        </p:nvSpPr>
        <p:spPr>
          <a:xfrm>
            <a:off x="5486400" y="5806440"/>
            <a:ext cx="6156655" cy="502920"/>
          </a:xfrm>
          <a:prstGeom prst="rect">
            <a:avLst/>
          </a:prstGeom>
          <a:noFill/>
          <a:ln/>
        </p:spPr>
        <p:txBody>
          <a:bodyPr wrap="square" lIns="0" tIns="0" rIns="0" bIns="0" rtlCol="0" anchor="t"/>
          <a:lstStyle/>
          <a:p>
            <a:pPr indent="0" marL="0">
              <a:buNone/>
            </a:pPr>
            <a:r>
              <a:rPr lang="en-US" sz="1200" i="1" dirty="0">
                <a:solidFill>
                  <a:schemeClr val="accent5"/>
                </a:solidFill>
              </a:rPr>
              <a:t>We pushed back too: a linear probe is a reference, not a ceiling; the FVE out-of-distribution check is partly circular (the reconstructor was co-trained).</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GATE K0 · NLA LAYER CONVENTION</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Gate K0: the NLA reads block-42 output, with 1.7% error against 20% for the neighbouring layer</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516128"/>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0.9999</a:t>
            </a:r>
            <a:endParaRPr lang="en-US" sz="3200" dirty="0"/>
          </a:p>
        </p:txBody>
      </p:sp>
      <p:sp>
        <p:nvSpPr>
          <p:cNvPr id="9" name="Text 6"/>
          <p:cNvSpPr txBox="1"/>
          <p:nvPr/>
        </p:nvSpPr>
        <p:spPr>
          <a:xfrm>
            <a:off x="7452360" y="223520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median cosine at block 42 (block 41: 0.979); best match on 64/64 examples</a:t>
            </a:r>
            <a:endParaRPr lang="en-US" sz="1300" dirty="0"/>
          </a:p>
        </p:txBody>
      </p:sp>
      <p:sp>
        <p:nvSpPr>
          <p:cNvPr id="10" name="Text 7"/>
          <p:cNvSpPr txBox="1"/>
          <p:nvPr/>
        </p:nvSpPr>
        <p:spPr>
          <a:xfrm>
            <a:off x="7452360" y="2875280"/>
            <a:ext cx="4190695" cy="516128"/>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0.761</a:t>
            </a:r>
            <a:endParaRPr lang="en-US" sz="3200" dirty="0"/>
          </a:p>
        </p:txBody>
      </p:sp>
      <p:sp>
        <p:nvSpPr>
          <p:cNvPr id="11" name="Text 8"/>
          <p:cNvSpPr txBox="1"/>
          <p:nvPr/>
        </p:nvSpPr>
        <p:spPr>
          <a:xfrm>
            <a:off x="7452360" y="341884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NLA FVE reproduced (model card 0.766; iter 300: 0.759 vs 0.756)</a:t>
            </a:r>
            <a:endParaRPr lang="en-US" sz="1300" dirty="0"/>
          </a:p>
        </p:txBody>
      </p:sp>
      <p:sp>
        <p:nvSpPr>
          <p:cNvPr id="12" name="Text 9"/>
          <p:cNvSpPr txBox="1"/>
          <p:nvPr/>
        </p:nvSpPr>
        <p:spPr>
          <a:xfrm>
            <a:off x="7452360" y="4058920"/>
            <a:ext cx="4190695" cy="439928"/>
          </a:xfrm>
          <a:prstGeom prst="rect">
            <a:avLst/>
          </a:prstGeom>
          <a:noFill/>
          <a:ln/>
        </p:spPr>
        <p:txBody>
          <a:bodyPr wrap="square" lIns="0" tIns="0" rIns="0" bIns="0" rtlCol="0" anchor="b"/>
          <a:lstStyle/>
          <a:p>
            <a:pPr indent="0" marL="0">
              <a:buNone/>
            </a:pPr>
            <a:r>
              <a:rPr lang="en-US" sz="2600" b="1" dirty="0">
                <a:solidFill>
                  <a:schemeClr val="tx1"/>
                </a:solidFill>
                <a:latin typeface="Cambria" pitchFamily="34" charset="0"/>
                <a:ea typeface="Cambria" pitchFamily="34" charset="-122"/>
                <a:cs typeface="Cambria" pitchFamily="34" charset="-120"/>
              </a:rPr>
              <a:t>0.760 vs 0.695</a:t>
            </a:r>
            <a:endParaRPr lang="en-US" sz="2600" dirty="0"/>
          </a:p>
        </p:txBody>
      </p:sp>
      <p:sp>
        <p:nvSpPr>
          <p:cNvPr id="13" name="Text 10"/>
          <p:cNvSpPr txBox="1"/>
          <p:nvPr/>
        </p:nvSpPr>
        <p:spPr>
          <a:xfrm>
            <a:off x="7452360" y="452628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functional test: FVE on block-42 vs block-41 captures</a:t>
            </a:r>
            <a:endParaRPr lang="en-US" sz="1300" dirty="0"/>
          </a:p>
        </p:txBody>
      </p:sp>
      <p:sp>
        <p:nvSpPr>
          <p:cNvPr id="14" name="Shape 11"/>
          <p:cNvSpPr/>
          <p:nvPr/>
        </p:nvSpPr>
        <p:spPr>
          <a:xfrm>
            <a:off x="7452360" y="5166360"/>
            <a:ext cx="4190695" cy="864108"/>
          </a:xfrm>
          <a:prstGeom prst="roundRect">
            <a:avLst>
              <a:gd name="adj" fmla="val 8466"/>
            </a:avLst>
          </a:prstGeom>
          <a:solidFill>
            <a:schemeClr val="bg2"/>
          </a:solidFill>
          <a:ln w="12700">
            <a:solidFill>
              <a:schemeClr val="bg2"/>
            </a:solidFill>
            <a:prstDash val="solid"/>
          </a:ln>
        </p:spPr>
      </p:sp>
      <p:sp>
        <p:nvSpPr>
          <p:cNvPr id="15" name="Text 12"/>
          <p:cNvSpPr txBox="1"/>
          <p:nvPr/>
        </p:nvSpPr>
        <p:spPr>
          <a:xfrm>
            <a:off x="7580376" y="5294376"/>
            <a:ext cx="3934663" cy="65928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Correction logged: an early handoff called the layer 'ambiguous, 0.974 vs 0.95'. The 0.974 was the wrong convention.</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GATE · WORKSPACEBENCH REPLICATION</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We reproduce all 12 published WorkspaceBench numbers inside our 95% confidence intervals</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516128"/>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12 / 12</a:t>
            </a:r>
            <a:endParaRPr lang="en-US" sz="3200" dirty="0"/>
          </a:p>
        </p:txBody>
      </p:sp>
      <p:sp>
        <p:nvSpPr>
          <p:cNvPr id="9" name="Text 6"/>
          <p:cNvSpPr txBox="1"/>
          <p:nvPr/>
        </p:nvSpPr>
        <p:spPr>
          <a:xfrm>
            <a:off x="7452360" y="223520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published values inside our 95% bootstrap CIs (largest gap: NLA multihop 0.15 vs 0.22, CI edge)</a:t>
            </a:r>
            <a:endParaRPr lang="en-US" sz="1300" dirty="0"/>
          </a:p>
        </p:txBody>
      </p:sp>
      <p:sp>
        <p:nvSpPr>
          <p:cNvPr id="10" name="Text 7"/>
          <p:cNvSpPr txBox="1"/>
          <p:nvPr/>
        </p:nvSpPr>
        <p:spPr>
          <a:xfrm>
            <a:off x="7452360" y="2875280"/>
            <a:ext cx="419069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$2.80</a:t>
            </a:r>
            <a:endParaRPr lang="en-US" sz="3000" dirty="0"/>
          </a:p>
        </p:txBody>
      </p:sp>
      <p:sp>
        <p:nvSpPr>
          <p:cNvPr id="11" name="Text 8"/>
          <p:cNvSpPr txBox="1"/>
          <p:nvPr/>
        </p:nvSpPr>
        <p:spPr>
          <a:xfrm>
            <a:off x="7452360" y="339344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of API calls plus ~1.5 GPU-h for the full replication</a:t>
            </a:r>
            <a:endParaRPr lang="en-US" sz="1300" dirty="0"/>
          </a:p>
        </p:txBody>
      </p:sp>
      <p:sp>
        <p:nvSpPr>
          <p:cNvPr id="12" name="Text 9"/>
          <p:cNvSpPr txBox="1"/>
          <p:nvPr/>
        </p:nvSpPr>
        <p:spPr>
          <a:xfrm>
            <a:off x="7452360" y="4033520"/>
            <a:ext cx="4190695" cy="640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Protocol as published: Oracle Lens and J-Lens best-of-11 layers; NLA at layer 42 only.</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GATE · A PROTOCOL ASYMMETRY</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Oracle Lens's published lead comes from scoring the best of 11 layers; at layer 42 the NLA ties or wins</a:t>
            </a:r>
            <a:endParaRPr lang="en-US" sz="2800" dirty="0"/>
          </a:p>
        </p:txBody>
      </p:sp>
      <p:graphicFrame>
        <p:nvGraphicFramePr>
          <p:cNvPr id="7" name="Chart 0" descr=""/>
          <p:cNvGraphicFramePr/>
          <p:nvPr/>
        </p:nvGraphicFramePr>
        <p:xfrm>
          <a:off x="548640" y="1645920"/>
          <a:ext cx="5364328"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278728" y="1645920"/>
          <a:ext cx="5364328" cy="342900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48640" y="5257800"/>
            <a:ext cx="3515258" cy="1005840"/>
          </a:xfrm>
          <a:prstGeom prst="roundRect">
            <a:avLst>
              <a:gd name="adj" fmla="val 7273"/>
            </a:avLst>
          </a:prstGeom>
          <a:solidFill>
            <a:schemeClr val="bg2"/>
          </a:solidFill>
          <a:ln w="12700">
            <a:solidFill>
              <a:schemeClr val="bg2"/>
            </a:solidFill>
            <a:prstDash val="solid"/>
          </a:ln>
        </p:spPr>
      </p:sp>
      <p:sp>
        <p:nvSpPr>
          <p:cNvPr id="10" name="Text 6"/>
          <p:cNvSpPr txBox="1"/>
          <p:nvPr/>
        </p:nvSpPr>
        <p:spPr>
          <a:xfrm>
            <a:off x="676656" y="5385816"/>
            <a:ext cx="3259226" cy="80101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Published rule = per-item any-layer: an item passes if any of 11 layers hits. That is layer selection plus a best-of-11-samples bonus.</a:t>
            </a:r>
            <a:endParaRPr lang="en-US" sz="1250" dirty="0"/>
          </a:p>
        </p:txBody>
      </p:sp>
      <p:sp>
        <p:nvSpPr>
          <p:cNvPr id="11" name="Shape 7"/>
          <p:cNvSpPr/>
          <p:nvPr/>
        </p:nvSpPr>
        <p:spPr>
          <a:xfrm>
            <a:off x="4338218" y="5257800"/>
            <a:ext cx="3515258" cy="1005840"/>
          </a:xfrm>
          <a:prstGeom prst="roundRect">
            <a:avLst>
              <a:gd name="adj" fmla="val 7273"/>
            </a:avLst>
          </a:prstGeom>
          <a:solidFill>
            <a:schemeClr val="bg2"/>
          </a:solidFill>
          <a:ln w="12700">
            <a:solidFill>
              <a:schemeClr val="bg2"/>
            </a:solidFill>
            <a:prstDash val="solid"/>
          </a:ln>
        </p:spPr>
      </p:sp>
      <p:sp>
        <p:nvSpPr>
          <p:cNvPr id="12" name="Text 8"/>
          <p:cNvSpPr txBox="1"/>
          <p:nvPr/>
        </p:nvSpPr>
        <p:spPr>
          <a:xfrm>
            <a:off x="4466234" y="5385816"/>
            <a:ext cx="3259226" cy="80101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At OL's best single layer (mostly L56) it slightly exceeds the NLA, within noise: typo .78 vs .73, multilingual .43 vs .42, basic .62 vs .57.</a:t>
            </a:r>
            <a:endParaRPr lang="en-US" sz="1250" dirty="0"/>
          </a:p>
        </p:txBody>
      </p:sp>
      <p:sp>
        <p:nvSpPr>
          <p:cNvPr id="13" name="Shape 9"/>
          <p:cNvSpPr/>
          <p:nvPr/>
        </p:nvSpPr>
        <p:spPr>
          <a:xfrm>
            <a:off x="8127797" y="5257800"/>
            <a:ext cx="3515258" cy="1005840"/>
          </a:xfrm>
          <a:prstGeom prst="roundRect">
            <a:avLst>
              <a:gd name="adj" fmla="val 7273"/>
            </a:avLst>
          </a:prstGeom>
          <a:solidFill>
            <a:schemeClr val="bg2"/>
          </a:solidFill>
          <a:ln w="12700">
            <a:solidFill>
              <a:schemeClr val="bg2"/>
            </a:solidFill>
            <a:prstDash val="solid"/>
          </a:ln>
        </p:spPr>
      </p:sp>
      <p:sp>
        <p:nvSpPr>
          <p:cNvPr id="14" name="Text 10"/>
          <p:cNvSpPr txBox="1"/>
          <p:nvPr/>
        </p:nvSpPr>
        <p:spPr>
          <a:xfrm>
            <a:off x="8255813" y="5385816"/>
            <a:ext cx="3259226" cy="80101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Decision (D7): layer 42 is the primary layer for every reader; OL at 40/44 is sensitivity.</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RUNNING ANCHOR · WHAT WE KNOW SO FAR</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we know so far (1 / 4): the instruments work</a:t>
            </a:r>
            <a:endParaRPr lang="en-US" sz="2800" dirty="0"/>
          </a:p>
        </p:txBody>
      </p:sp>
      <p:sp>
        <p:nvSpPr>
          <p:cNvPr id="7" name="Shape 5"/>
          <p:cNvSpPr/>
          <p:nvPr/>
        </p:nvSpPr>
        <p:spPr>
          <a:xfrm>
            <a:off x="548640" y="5486400"/>
            <a:ext cx="11094415" cy="640080"/>
          </a:xfrm>
          <a:prstGeom prst="roundRect">
            <a:avLst>
              <a:gd name="adj" fmla="val 11429"/>
            </a:avLst>
          </a:prstGeom>
          <a:solidFill>
            <a:schemeClr val="bg1"/>
          </a:solidFill>
          <a:ln w="15875">
            <a:solidFill>
              <a:schemeClr val="accent4"/>
            </a:solidFill>
            <a:prstDash val="solid"/>
          </a:ln>
        </p:spPr>
      </p:sp>
      <p:sp>
        <p:nvSpPr>
          <p:cNvPr id="8" name="Text 6"/>
          <p:cNvSpPr txBox="1"/>
          <p:nvPr/>
        </p:nvSpPr>
        <p:spPr>
          <a:xfrm>
            <a:off x="713232" y="5650992"/>
            <a:ext cx="10765231" cy="376733"/>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Next → Part A: what even counts as non-workspace content?</a:t>
            </a:r>
            <a:endParaRPr lang="en-US" sz="1600" dirty="0"/>
          </a:p>
        </p:txBody>
      </p:sp>
      <p:sp>
        <p:nvSpPr>
          <p:cNvPr id="9" name="Shape 7"/>
          <p:cNvSpPr/>
          <p:nvPr/>
        </p:nvSpPr>
        <p:spPr>
          <a:xfrm>
            <a:off x="548640" y="1700784"/>
            <a:ext cx="1325880" cy="256032"/>
          </a:xfrm>
          <a:prstGeom prst="roundRect">
            <a:avLst>
              <a:gd name="adj" fmla="val 53571"/>
            </a:avLst>
          </a:prstGeom>
          <a:solidFill>
            <a:schemeClr val="tx1"/>
          </a:solidFill>
          <a:ln w="12700">
            <a:solidFill>
              <a:schemeClr val="tx1"/>
            </a:solidFill>
            <a:prstDash val="solid"/>
          </a:ln>
        </p:spPr>
      </p:sp>
      <p:sp>
        <p:nvSpPr>
          <p:cNvPr id="10" name="Text 8"/>
          <p:cNvSpPr txBox="1"/>
          <p:nvPr/>
        </p:nvSpPr>
        <p:spPr>
          <a:xfrm>
            <a:off x="548640" y="170078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1" name="Text 9"/>
          <p:cNvSpPr txBox="1"/>
          <p:nvPr/>
        </p:nvSpPr>
        <p:spPr>
          <a:xfrm>
            <a:off x="2103120" y="1664208"/>
            <a:ext cx="9539935" cy="530352"/>
          </a:xfrm>
          <a:prstGeom prst="rect">
            <a:avLst/>
          </a:prstGeom>
          <a:noFill/>
          <a:ln/>
        </p:spPr>
        <p:txBody>
          <a:bodyPr wrap="square" lIns="0" tIns="0" rIns="0" bIns="0" rtlCol="0" anchor="t"/>
          <a:lstStyle/>
          <a:p>
            <a:pPr indent="0" marL="0">
              <a:buNone/>
            </a:pPr>
            <a:r>
              <a:rPr lang="en-US" sz="1500" b="1" dirty="0">
                <a:solidFill>
                  <a:schemeClr val="tx1"/>
                </a:solidFill>
              </a:rPr>
              <a:t>The instruments are sound: NLA layer convention pinned (block 42), FVE 0.761 reproduced, WorkspaceBench 12/12 replicated.</a:t>
            </a:r>
            <a:endParaRPr lang="en-US" sz="1500" dirty="0"/>
          </a:p>
        </p:txBody>
      </p:sp>
      <p:sp>
        <p:nvSpPr>
          <p:cNvPr id="12" name="Shape 10"/>
          <p:cNvSpPr/>
          <p:nvPr/>
        </p:nvSpPr>
        <p:spPr>
          <a:xfrm>
            <a:off x="548640" y="2267712"/>
            <a:ext cx="1325880" cy="256032"/>
          </a:xfrm>
          <a:prstGeom prst="roundRect">
            <a:avLst>
              <a:gd name="adj" fmla="val 53571"/>
            </a:avLst>
          </a:prstGeom>
          <a:solidFill>
            <a:schemeClr val="tx1"/>
          </a:solidFill>
          <a:ln w="12700">
            <a:solidFill>
              <a:schemeClr val="tx1"/>
            </a:solidFill>
            <a:prstDash val="solid"/>
          </a:ln>
        </p:spPr>
      </p:sp>
      <p:sp>
        <p:nvSpPr>
          <p:cNvPr id="13" name="Text 11"/>
          <p:cNvSpPr txBox="1"/>
          <p:nvPr/>
        </p:nvSpPr>
        <p:spPr>
          <a:xfrm>
            <a:off x="548640" y="2267712"/>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4" name="Text 12"/>
          <p:cNvSpPr txBox="1"/>
          <p:nvPr/>
        </p:nvSpPr>
        <p:spPr>
          <a:xfrm>
            <a:off x="2103120" y="2231136"/>
            <a:ext cx="9539935" cy="530352"/>
          </a:xfrm>
          <a:prstGeom prst="rect">
            <a:avLst/>
          </a:prstGeom>
          <a:noFill/>
          <a:ln/>
        </p:spPr>
        <p:txBody>
          <a:bodyPr wrap="square" lIns="0" tIns="0" rIns="0" bIns="0" rtlCol="0" anchor="t"/>
          <a:lstStyle/>
          <a:p>
            <a:pPr indent="0" marL="0">
              <a:buNone/>
            </a:pPr>
            <a:r>
              <a:rPr lang="en-US" sz="1500" b="1" dirty="0">
                <a:solidFill>
                  <a:schemeClr val="tx1"/>
                </a:solidFill>
              </a:rPr>
              <a:t>At the same layer (42) the NLA ties or beats the Oracle Lens; OL's published lead comes from a best-of-11-layers protocol.</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188720"/>
            <a:ext cx="274320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01</a:t>
            </a:r>
            <a:endParaRPr lang="en-US" sz="5400" dirty="0"/>
          </a:p>
        </p:txBody>
      </p:sp>
      <p:sp>
        <p:nvSpPr>
          <p:cNvPr id="3" name="Text 0"/>
          <p:cNvSpPr/>
          <p:nvPr>
            <p:ph idx="100" type="title" hasCustomPrompt="1"/>
          </p:nvPr>
        </p:nvSpPr>
        <p:spPr>
          <a:xfrm>
            <a:off x="731520" y="214884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Part A: what even counts as non-workspace?</a:t>
            </a:r>
            <a:endParaRPr lang="en-US" sz="4000" dirty="0"/>
          </a:p>
        </p:txBody>
      </p:sp>
      <p:sp>
        <p:nvSpPr>
          <p:cNvPr id="4" name="Text 0"/>
          <p:cNvSpPr/>
          <p:nvPr>
            <p:ph idx="101" type="body" hasCustomPrompt="1"/>
          </p:nvPr>
        </p:nvSpPr>
        <p:spPr>
          <a:xfrm>
            <a:off x="731520" y="3657600"/>
            <a:ext cx="1005840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The standard test is uninformative; a calibrated gate leaves one clean feature</a:t>
            </a:r>
            <a:endParaRPr lang="en-US" sz="1800" dirty="0"/>
          </a:p>
        </p:txBody>
      </p:sp>
      <p:sp>
        <p:nvSpPr>
          <p:cNvPr id="5" name="Shape 3"/>
          <p:cNvSpPr/>
          <p:nvPr/>
        </p:nvSpPr>
        <p:spPr>
          <a:xfrm>
            <a:off x="731520" y="5715000"/>
            <a:ext cx="10728655" cy="914"/>
          </a:xfrm>
          <a:prstGeom prst="line">
            <a:avLst/>
          </a:prstGeom>
          <a:noFill/>
          <a:ln w="15875">
            <a:solidFill>
              <a:schemeClr val="accent5"/>
            </a:solidFill>
            <a:prstDash val="solid"/>
          </a:ln>
        </p:spPr>
      </p:sp>
      <p:sp>
        <p:nvSpPr>
          <p:cNvPr id="6" name="Shape 4"/>
          <p:cNvSpPr/>
          <p:nvPr/>
        </p:nvSpPr>
        <p:spPr>
          <a:xfrm>
            <a:off x="690372" y="567385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67385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67385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67385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67385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67385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67385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67385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67385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67385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67385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67385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67385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67385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67385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67385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61441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61441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61441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587959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A · THE STANDARD TEST</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standard test, 'does a probe survive removing the J-space?', passes every feature, topic included</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465328"/>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0.849 → 0.834</a:t>
            </a:r>
            <a:endParaRPr lang="en-US" sz="2800" dirty="0"/>
          </a:p>
        </p:txBody>
      </p:sp>
      <p:sp>
        <p:nvSpPr>
          <p:cNvPr id="9" name="Text 6"/>
          <p:cNvSpPr txBox="1"/>
          <p:nvPr/>
        </p:nvSpPr>
        <p:spPr>
          <a:xfrm>
            <a:off x="7452360" y="218440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topic probe accuracy after removing the top-1,536 J-space (language: 0.966 → 0.966)</a:t>
            </a:r>
            <a:endParaRPr lang="en-US" sz="1300" dirty="0"/>
          </a:p>
        </p:txBody>
      </p:sp>
      <p:sp>
        <p:nvSpPr>
          <p:cNvPr id="10" name="Text 7"/>
          <p:cNvSpPr txBox="1"/>
          <p:nvPr/>
        </p:nvSpPr>
        <p:spPr>
          <a:xfrm>
            <a:off x="7452360" y="2824480"/>
            <a:ext cx="4190695" cy="465328"/>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0.900 → 0.880</a:t>
            </a:r>
            <a:endParaRPr lang="en-US" sz="2800" dirty="0"/>
          </a:p>
        </p:txBody>
      </p:sp>
      <p:sp>
        <p:nvSpPr>
          <p:cNvPr id="11" name="Text 8"/>
          <p:cNvSpPr txBox="1"/>
          <p:nvPr/>
        </p:nvSpPr>
        <p:spPr>
          <a:xfrm>
            <a:off x="7452360" y="3317240"/>
            <a:ext cx="4190695" cy="676656"/>
          </a:xfrm>
          <a:prstGeom prst="rect">
            <a:avLst/>
          </a:prstGeom>
          <a:noFill/>
          <a:ln/>
        </p:spPr>
        <p:txBody>
          <a:bodyPr wrap="square" lIns="0" tIns="0" rIns="0" bIns="0" rtlCol="0" anchor="t"/>
          <a:lstStyle/>
          <a:p>
            <a:pPr indent="0" marL="0">
              <a:buNone/>
            </a:pPr>
            <a:r>
              <a:rPr lang="en-US" sz="1300" dirty="0">
                <a:solidFill>
                  <a:schemeClr val="accent5"/>
                </a:solidFill>
              </a:rPr>
              <a:t>topic under the J-space paper's own recipe (25 J atoms projected out); tense .853 → .848, POS .908 → .904</a:t>
            </a:r>
            <a:endParaRPr lang="en-US" sz="1300" dirty="0"/>
          </a:p>
        </p:txBody>
      </p:sp>
      <p:sp>
        <p:nvSpPr>
          <p:cNvPr id="12" name="Shape 9"/>
          <p:cNvSpPr/>
          <p:nvPr/>
        </p:nvSpPr>
        <p:spPr>
          <a:xfrm>
            <a:off x="7452360" y="4167632"/>
            <a:ext cx="4190695" cy="864108"/>
          </a:xfrm>
          <a:prstGeom prst="roundRect">
            <a:avLst>
              <a:gd name="adj" fmla="val 8466"/>
            </a:avLst>
          </a:prstGeom>
          <a:solidFill>
            <a:schemeClr val="bg2"/>
          </a:solidFill>
          <a:ln w="12700">
            <a:solidFill>
              <a:schemeClr val="bg2"/>
            </a:solidFill>
            <a:prstDash val="solid"/>
          </a:ln>
        </p:spPr>
      </p:sp>
      <p:sp>
        <p:nvSpPr>
          <p:cNvPr id="13" name="Text 10"/>
          <p:cNvSpPr txBox="1"/>
          <p:nvPr/>
        </p:nvSpPr>
        <p:spPr>
          <a:xfrm>
            <a:off x="7580376" y="4295648"/>
            <a:ext cx="3934663" cy="65928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Why: strong features are redundantly encoded. Removing any 384 or 1,536 of 5,120 dimensions, random ones included, leaves them decodable.</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A · A CALIBRATED GATE</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 calibrated gate does separate them: the count features are J-depleted, the rest J-enriched</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28575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chemeClr val="tx1"/>
                </a:solidFill>
              </a:rPr>
              <a:t>Geometric: </a:t>
            </a:r>
            <a:pPr indent="0" marL="0">
              <a:spcAft>
                <a:spcPts val="600"/>
              </a:spcAft>
              <a:buNone/>
            </a:pPr>
            <a:r>
              <a:rPr lang="en-US" sz="1400" dirty="0">
                <a:solidFill>
                  <a:schemeClr val="tx1"/>
                </a:solidFill>
              </a:rPr>
              <a:t>how concentrated the feature's direction is in the top-r J-space (≤ 1.5 at both ranks = non-J). Generic activation directions are 2.2× at r*.</a:t>
            </a:r>
            <a:endParaRPr lang="en-US" sz="1400" dirty="0"/>
          </a:p>
          <a:p>
            <a:pPr marL="203200" indent="-203200">
              <a:spcAft>
                <a:spcPts val="600"/>
              </a:spcAft>
              <a:buSzPct val="100000"/>
              <a:buChar char="•"/>
            </a:pPr>
            <a:r>
              <a:rPr lang="en-US" sz="1400" b="1" dirty="0">
                <a:solidFill>
                  <a:schemeClr val="tx1"/>
                </a:solidFill>
              </a:rPr>
              <a:t>Functional: </a:t>
            </a:r>
            <a:pPr indent="0" marL="0">
              <a:spcAft>
                <a:spcPts val="600"/>
              </a:spcAft>
              <a:buNone/>
            </a:pPr>
            <a:r>
              <a:rPr lang="en-US" sz="1400" dirty="0">
                <a:solidFill>
                  <a:schemeClr val="tx1"/>
                </a:solidFill>
              </a:rPr>
              <a:t>does the full J-Lens readout track the value, in the form the lens emits, beyond a shuffled-label null band?</a:t>
            </a:r>
            <a:endParaRPr lang="en-US" sz="1400" dirty="0"/>
          </a:p>
          <a:p>
            <a:pPr marL="203200" indent="-203200">
              <a:spcAft>
                <a:spcPts val="600"/>
              </a:spcAft>
              <a:buSzPct val="100000"/>
              <a:buChar char="•"/>
            </a:pPr>
            <a:r>
              <a:rPr lang="en-US" sz="1400" b="1" dirty="0">
                <a:solidFill>
                  <a:schemeClr val="tx1"/>
                </a:solidFill>
              </a:rPr>
              <a:t>J-Lens readout AUROC: </a:t>
            </a:r>
            <a:pPr indent="0" marL="0">
              <a:spcAft>
                <a:spcPts val="600"/>
              </a:spcAft>
              <a:buNone/>
            </a:pPr>
            <a:r>
              <a:rPr lang="en-US" sz="1400" dirty="0">
                <a:solidFill>
                  <a:schemeClr val="tx1"/>
                </a:solidFill>
              </a:rPr>
              <a:t>col 0.500 [0.499, 0.501] · depth 0.5035 (just above) · tense 0.52 · language 0.62 · topic 0.83 · POS (token classes) 0.664.</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A · THE GATE TABLE</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Only one feature is cleanly non-J, and the label survives a change of J-Lens</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325880"/>
                <a:gridCol w="2423160"/>
                <a:gridCol w="1600200"/>
                <a:gridCol w="1234440"/>
                <a:gridCol w="1508760"/>
                <a:gridCol w="1463040"/>
                <a:gridCol w="1536192"/>
              </a:tblGrid>
              <a:tr h="402336">
                <a:tc>
                  <a:txBody>
                    <a:bodyPr/>
                    <a:lstStyle/>
                    <a:p>
                      <a:pPr indent="0" marL="0">
                        <a:buNone/>
                      </a:pPr>
                      <a:r>
                        <a:rPr lang="en-US" sz="1250" b="1" dirty="0">
                          <a:solidFill>
                            <a:srgbClr val="FFFFFF"/>
                          </a:solidFill>
                          <a:latin typeface="Arial" pitchFamily="34" charset="0"/>
                          <a:ea typeface="Arial" pitchFamily="34" charset="-122"/>
                          <a:cs typeface="Arial" pitchFamily="34" charset="-120"/>
                        </a:rPr>
                        <a:t>Feature</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it is</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Enrichment r* / 4r* (n1000 lens)</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(25-prompt lens)</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J-Lens readout</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Causal effect kept after J-removal</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Label</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col</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characters since the last newline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0.67 / 1.10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0.82 / 1.41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0.500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79%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NON-J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15222C"/>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col_report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same count, asked explicitly</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0.59 / 0.86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0.50 / 0.93</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0.500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91%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NON-J*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15222C"/>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bracket depth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nesting level of brackets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0.57 / 1.16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0.5035</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41%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DIFFUSE</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5E6E78"/>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pred. POS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predicted next-word part of speech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2.62 / 1.56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1.41 / 1.61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0.664 (token classes)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33%</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F9D8A"/>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tense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past vs present at verb slots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5.60 / 2.31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4.36 / 2.37</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0.52</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F9D8A"/>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language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Russian vs Polish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3.32 / 1.73</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2.74 / 1.83</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0.62</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F9D8A"/>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topic</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reference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5.98 / 2.34</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0.83</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IN-J</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F9D8A"/>
                    </a:solidFill>
                  </a:tcPr>
                </a:tc>
              </a:tr>
            </a:tbl>
          </a:graphicData>
        </a:graphic>
      </p:graphicFrame>
      <p:sp>
        <p:nvSpPr>
          <p:cNvPr id="8" name="Text 5"/>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200" dirty="0">
                <a:solidFill>
                  <a:schemeClr val="accent5"/>
                </a:solidFill>
              </a:rPr>
              <a:t>* col_report was meant to be the in-J count calibration; it stayed non-J (Qwen doesn't pull the count into J on request). r* = 384, 4r* = 1,536 at layer 42.</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A · A SURVEY OF ~12 FEATURES (EXPERIMENTS 02 + 04)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Survey: no natural non-count feature is outside J; the non-J content Qwen uses looks like positional bookkeeping</a:t>
            </a:r>
            <a:endParaRPr lang="en-US" sz="2800" dirty="0"/>
          </a:p>
        </p:txBody>
      </p:sp>
      <p:graphicFrame>
        <p:nvGraphicFramePr>
          <p:cNvPr id="7" name="Chart 0" descr=""/>
          <p:cNvGraphicFramePr/>
          <p:nvPr/>
        </p:nvGraphicFramePr>
        <p:xfrm>
          <a:off x="457200" y="164592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78040" y="1755648"/>
            <a:ext cx="146304" cy="146304"/>
          </a:xfrm>
          <a:prstGeom prst="ellipse">
            <a:avLst/>
          </a:prstGeom>
          <a:solidFill>
            <a:schemeClr val="accent3"/>
          </a:solidFill>
          <a:ln w="12700">
            <a:solidFill>
              <a:schemeClr val="accent3"/>
            </a:solidFill>
            <a:prstDash val="solid"/>
          </a:ln>
        </p:spPr>
      </p:sp>
      <p:sp>
        <p:nvSpPr>
          <p:cNvPr id="9" name="Text 6"/>
          <p:cNvSpPr txBox="1"/>
          <p:nvPr/>
        </p:nvSpPr>
        <p:spPr>
          <a:xfrm>
            <a:off x="7452360" y="1691640"/>
            <a:ext cx="4190695" cy="429768"/>
          </a:xfrm>
          <a:prstGeom prst="rect">
            <a:avLst/>
          </a:prstGeom>
          <a:noFill/>
          <a:ln/>
        </p:spPr>
        <p:txBody>
          <a:bodyPr wrap="square" lIns="0" tIns="0" rIns="0" bIns="0" rtlCol="0" anchor="t"/>
          <a:lstStyle/>
          <a:p>
            <a:pPr indent="0" marL="0">
              <a:buNone/>
            </a:pPr>
            <a:r>
              <a:rPr lang="en-US" sz="1300" b="1" dirty="0">
                <a:solidFill>
                  <a:schemeClr val="tx1"/>
                </a:solidFill>
              </a:rPr>
              <a:t>Capitalisation · in-quote  </a:t>
            </a:r>
            <a:pPr indent="0" marL="0">
              <a:buNone/>
            </a:pPr>
            <a:r>
              <a:rPr lang="en-US" sz="1300" dirty="0">
                <a:solidFill>
                  <a:schemeClr val="accent5"/>
                </a:solidFill>
              </a:rPr>
              <a:t>IN-J (enrichment 2.71 · 2.22)</a:t>
            </a:r>
            <a:endParaRPr lang="en-US" sz="1300" dirty="0"/>
          </a:p>
        </p:txBody>
      </p:sp>
      <p:sp>
        <p:nvSpPr>
          <p:cNvPr id="10" name="Shape 7"/>
          <p:cNvSpPr/>
          <p:nvPr/>
        </p:nvSpPr>
        <p:spPr>
          <a:xfrm>
            <a:off x="7178040" y="2231136"/>
            <a:ext cx="146304" cy="146304"/>
          </a:xfrm>
          <a:prstGeom prst="ellipse">
            <a:avLst/>
          </a:prstGeom>
          <a:solidFill>
            <a:schemeClr val="accent5"/>
          </a:solidFill>
          <a:ln w="12700">
            <a:solidFill>
              <a:schemeClr val="accent5"/>
            </a:solidFill>
            <a:prstDash val="solid"/>
          </a:ln>
        </p:spPr>
      </p:sp>
      <p:sp>
        <p:nvSpPr>
          <p:cNvPr id="11" name="Text 8"/>
          <p:cNvSpPr txBox="1"/>
          <p:nvPr/>
        </p:nvSpPr>
        <p:spPr>
          <a:xfrm>
            <a:off x="7452360" y="2167128"/>
            <a:ext cx="4190695" cy="630936"/>
          </a:xfrm>
          <a:prstGeom prst="rect">
            <a:avLst/>
          </a:prstGeom>
          <a:noFill/>
          <a:ln/>
        </p:spPr>
        <p:txBody>
          <a:bodyPr wrap="square" lIns="0" tIns="0" rIns="0" bIns="0" rtlCol="0" anchor="t"/>
          <a:lstStyle/>
          <a:p>
            <a:pPr indent="0" marL="0">
              <a:buNone/>
            </a:pPr>
            <a:r>
              <a:rPr lang="en-US" sz="1300" b="1" dirty="0">
                <a:solidFill>
                  <a:schemeClr val="tx1"/>
                </a:solidFill>
              </a:rPr>
              <a:t>Coding language  </a:t>
            </a:r>
            <a:pPr indent="0" marL="0">
              <a:buNone/>
            </a:pPr>
            <a:r>
              <a:rPr lang="en-US" sz="1300" dirty="0">
                <a:solidFill>
                  <a:schemeClr val="accent5"/>
                </a:solidFill>
              </a:rPr>
              <a:t>DIFFUSE-BUT-J-READABLE; its steering leaks into J (z 2.4–5.8)</a:t>
            </a:r>
            <a:endParaRPr lang="en-US" sz="1300" dirty="0"/>
          </a:p>
        </p:txBody>
      </p:sp>
      <p:sp>
        <p:nvSpPr>
          <p:cNvPr id="12" name="Shape 9"/>
          <p:cNvSpPr/>
          <p:nvPr/>
        </p:nvSpPr>
        <p:spPr>
          <a:xfrm>
            <a:off x="7178040" y="2907792"/>
            <a:ext cx="146304" cy="146304"/>
          </a:xfrm>
          <a:prstGeom prst="ellipse">
            <a:avLst/>
          </a:prstGeom>
          <a:solidFill>
            <a:schemeClr val="accent4"/>
          </a:solidFill>
          <a:ln w="12700">
            <a:solidFill>
              <a:schemeClr val="accent4"/>
            </a:solidFill>
            <a:prstDash val="solid"/>
          </a:ln>
        </p:spPr>
      </p:sp>
      <p:sp>
        <p:nvSpPr>
          <p:cNvPr id="13" name="Text 10"/>
          <p:cNvSpPr txBox="1"/>
          <p:nvPr/>
        </p:nvSpPr>
        <p:spPr>
          <a:xfrm>
            <a:off x="7452360" y="2843784"/>
            <a:ext cx="4190695" cy="429768"/>
          </a:xfrm>
          <a:prstGeom prst="rect">
            <a:avLst/>
          </a:prstGeom>
          <a:noFill/>
          <a:ln/>
        </p:spPr>
        <p:txBody>
          <a:bodyPr wrap="square" lIns="0" tIns="0" rIns="0" bIns="0" rtlCol="0" anchor="t"/>
          <a:lstStyle/>
          <a:p>
            <a:pPr indent="0" marL="0">
              <a:buNone/>
            </a:pPr>
            <a:r>
              <a:rPr lang="en-US" sz="1300" b="1" dirty="0">
                <a:solidFill>
                  <a:schemeClr val="tx1"/>
                </a:solidFill>
              </a:rPr>
              <a:t>French gender  </a:t>
            </a:r>
            <a:pPr indent="0" marL="0">
              <a:buNone/>
            </a:pPr>
            <a:r>
              <a:rPr lang="en-US" sz="1300" dirty="0">
                <a:solidFill>
                  <a:schemeClr val="accent5"/>
                </a:solidFill>
              </a:rPr>
              <a:t>fails decodability (AUROC 0.60)</a:t>
            </a:r>
            <a:endParaRPr lang="en-US" sz="1300" dirty="0"/>
          </a:p>
        </p:txBody>
      </p:sp>
      <p:sp>
        <p:nvSpPr>
          <p:cNvPr id="14" name="Shape 11"/>
          <p:cNvSpPr/>
          <p:nvPr/>
        </p:nvSpPr>
        <p:spPr>
          <a:xfrm>
            <a:off x="7178040" y="3383280"/>
            <a:ext cx="146304" cy="146304"/>
          </a:xfrm>
          <a:prstGeom prst="ellipse">
            <a:avLst/>
          </a:prstGeom>
          <a:solidFill>
            <a:schemeClr val="tx1"/>
          </a:solidFill>
          <a:ln w="12700">
            <a:solidFill>
              <a:schemeClr val="tx1"/>
            </a:solidFill>
            <a:prstDash val="solid"/>
          </a:ln>
        </p:spPr>
      </p:sp>
      <p:sp>
        <p:nvSpPr>
          <p:cNvPr id="15" name="Text 12"/>
          <p:cNvSpPr txBox="1"/>
          <p:nvPr/>
        </p:nvSpPr>
        <p:spPr>
          <a:xfrm>
            <a:off x="7452360" y="3319272"/>
            <a:ext cx="4190695" cy="630936"/>
          </a:xfrm>
          <a:prstGeom prst="rect">
            <a:avLst/>
          </a:prstGeom>
          <a:noFill/>
          <a:ln/>
        </p:spPr>
        <p:txBody>
          <a:bodyPr wrap="square" lIns="0" tIns="0" rIns="0" bIns="0" rtlCol="0" anchor="t"/>
          <a:lstStyle/>
          <a:p>
            <a:pPr indent="0" marL="0">
              <a:buNone/>
            </a:pPr>
            <a:r>
              <a:rPr lang="en-US" sz="1300" b="1" dirty="0">
                <a:solidFill>
                  <a:schemeClr val="tx1"/>
                </a:solidFill>
              </a:rPr>
              <a:t>Indentation  </a:t>
            </a:r>
            <a:pPr indent="0" marL="0">
              <a:buNone/>
            </a:pPr>
            <a:r>
              <a:rPr lang="en-US" sz="1300" dirty="0">
                <a:solidFill>
                  <a:schemeClr val="accent5"/>
                </a:solidFill>
              </a:rPr>
              <a:t>non-J (1.11 / 1.14) but unused: steering doesn't move it</a:t>
            </a:r>
            <a:endParaRPr lang="en-US" sz="1300" dirty="0"/>
          </a:p>
        </p:txBody>
      </p:sp>
      <p:sp>
        <p:nvSpPr>
          <p:cNvPr id="16" name="Shape 13"/>
          <p:cNvSpPr/>
          <p:nvPr/>
        </p:nvSpPr>
        <p:spPr>
          <a:xfrm>
            <a:off x="7178040" y="4059936"/>
            <a:ext cx="146304" cy="146304"/>
          </a:xfrm>
          <a:prstGeom prst="ellipse">
            <a:avLst/>
          </a:prstGeom>
          <a:solidFill>
            <a:schemeClr val="accent5"/>
          </a:solidFill>
          <a:ln w="12700">
            <a:solidFill>
              <a:schemeClr val="accent5"/>
            </a:solidFill>
            <a:prstDash val="solid"/>
          </a:ln>
        </p:spPr>
      </p:sp>
      <p:sp>
        <p:nvSpPr>
          <p:cNvPr id="17" name="Text 14"/>
          <p:cNvSpPr txBox="1"/>
          <p:nvPr/>
        </p:nvSpPr>
        <p:spPr>
          <a:xfrm>
            <a:off x="7452360" y="3995928"/>
            <a:ext cx="4190695" cy="429768"/>
          </a:xfrm>
          <a:prstGeom prst="rect">
            <a:avLst/>
          </a:prstGeom>
          <a:noFill/>
          <a:ln/>
        </p:spPr>
        <p:txBody>
          <a:bodyPr wrap="square" lIns="0" tIns="0" rIns="0" bIns="0" rtlCol="0" anchor="t"/>
          <a:lstStyle/>
          <a:p>
            <a:pPr indent="0" marL="0">
              <a:buNone/>
            </a:pPr>
            <a:r>
              <a:rPr lang="en-US" sz="1300" b="1" dirty="0">
                <a:solidFill>
                  <a:schemeClr val="tx1"/>
                </a:solidFill>
              </a:rPr>
              <a:t>Words since sentence start  </a:t>
            </a:r>
            <a:pPr indent="0" marL="0">
              <a:buNone/>
            </a:pPr>
            <a:r>
              <a:rPr lang="en-US" sz="1300" dirty="0">
                <a:solidFill>
                  <a:schemeClr val="accent5"/>
                </a:solidFill>
              </a:rPr>
              <a:t>J-depleted (1.03 / 1.09) but J-Lens-readable</a:t>
            </a:r>
            <a:endParaRPr lang="en-US" sz="1300" dirty="0"/>
          </a:p>
        </p:txBody>
      </p:sp>
      <p:sp>
        <p:nvSpPr>
          <p:cNvPr id="18" name="Shape 15"/>
          <p:cNvSpPr/>
          <p:nvPr/>
        </p:nvSpPr>
        <p:spPr>
          <a:xfrm>
            <a:off x="7178040" y="4535424"/>
            <a:ext cx="146304" cy="146304"/>
          </a:xfrm>
          <a:prstGeom prst="ellipse">
            <a:avLst/>
          </a:prstGeom>
          <a:solidFill>
            <a:schemeClr val="accent4"/>
          </a:solidFill>
          <a:ln w="12700">
            <a:solidFill>
              <a:schemeClr val="accent4"/>
            </a:solidFill>
            <a:prstDash val="solid"/>
          </a:ln>
        </p:spPr>
      </p:sp>
      <p:sp>
        <p:nvSpPr>
          <p:cNvPr id="19" name="Text 16"/>
          <p:cNvSpPr txBox="1"/>
          <p:nvPr/>
        </p:nvSpPr>
        <p:spPr>
          <a:xfrm>
            <a:off x="7452360" y="4471416"/>
            <a:ext cx="4190695" cy="630936"/>
          </a:xfrm>
          <a:prstGeom prst="rect">
            <a:avLst/>
          </a:prstGeom>
          <a:noFill/>
          <a:ln/>
        </p:spPr>
        <p:txBody>
          <a:bodyPr wrap="square" lIns="0" tIns="0" rIns="0" bIns="0" rtlCol="0" anchor="t"/>
          <a:lstStyle/>
          <a:p>
            <a:pPr indent="0" marL="0">
              <a:buNone/>
            </a:pPr>
            <a:r>
              <a:rPr lang="en-US" sz="1300" b="1" dirty="0">
                <a:solidFill>
                  <a:schemeClr val="tx1"/>
                </a:solidFill>
              </a:rPr>
              <a:t>List index with numerals  </a:t>
            </a:r>
            <a:pPr indent="0" marL="0">
              <a:buNone/>
            </a:pPr>
            <a:r>
              <a:rPr lang="en-US" sz="1300" dirty="0">
                <a:solidFill>
                  <a:schemeClr val="accent5"/>
                </a:solidFill>
              </a:rPr>
              <a:t>the in-J count control FAILED: digits never reach the J-Lens</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RUNNING ANCHOR · WHAT WE KNOW SO FAR</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we know so far (2 / 4): one clean non-workspace feature, and it is a count</a:t>
            </a:r>
            <a:endParaRPr lang="en-US" sz="2800" dirty="0"/>
          </a:p>
        </p:txBody>
      </p:sp>
      <p:sp>
        <p:nvSpPr>
          <p:cNvPr id="7" name="Shape 5"/>
          <p:cNvSpPr/>
          <p:nvPr/>
        </p:nvSpPr>
        <p:spPr>
          <a:xfrm>
            <a:off x="548640" y="5486400"/>
            <a:ext cx="11094415" cy="640080"/>
          </a:xfrm>
          <a:prstGeom prst="roundRect">
            <a:avLst>
              <a:gd name="adj" fmla="val 11429"/>
            </a:avLst>
          </a:prstGeom>
          <a:solidFill>
            <a:schemeClr val="bg1"/>
          </a:solidFill>
          <a:ln w="15875">
            <a:solidFill>
              <a:schemeClr val="accent4"/>
            </a:solidFill>
            <a:prstDash val="solid"/>
          </a:ln>
        </p:spPr>
      </p:sp>
      <p:sp>
        <p:nvSpPr>
          <p:cNvPr id="8" name="Text 6"/>
          <p:cNvSpPr txBox="1"/>
          <p:nvPr/>
        </p:nvSpPr>
        <p:spPr>
          <a:xfrm>
            <a:off x="713232" y="5650992"/>
            <a:ext cx="10765231" cy="376733"/>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Next → Part B: does any reader follow col when we push it inside the activation?</a:t>
            </a:r>
            <a:endParaRPr lang="en-US" sz="1600" dirty="0"/>
          </a:p>
        </p:txBody>
      </p:sp>
      <p:sp>
        <p:nvSpPr>
          <p:cNvPr id="9" name="Shape 7"/>
          <p:cNvSpPr/>
          <p:nvPr/>
        </p:nvSpPr>
        <p:spPr>
          <a:xfrm>
            <a:off x="548640" y="1700784"/>
            <a:ext cx="1325880" cy="256032"/>
          </a:xfrm>
          <a:prstGeom prst="roundRect">
            <a:avLst>
              <a:gd name="adj" fmla="val 53571"/>
            </a:avLst>
          </a:prstGeom>
          <a:solidFill>
            <a:schemeClr val="tx1"/>
          </a:solidFill>
          <a:ln w="12700">
            <a:solidFill>
              <a:schemeClr val="tx1"/>
            </a:solidFill>
            <a:prstDash val="solid"/>
          </a:ln>
        </p:spPr>
      </p:sp>
      <p:sp>
        <p:nvSpPr>
          <p:cNvPr id="10" name="Text 8"/>
          <p:cNvSpPr txBox="1"/>
          <p:nvPr/>
        </p:nvSpPr>
        <p:spPr>
          <a:xfrm>
            <a:off x="548640" y="170078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1" name="Text 9"/>
          <p:cNvSpPr txBox="1"/>
          <p:nvPr/>
        </p:nvSpPr>
        <p:spPr>
          <a:xfrm>
            <a:off x="2103120" y="1664208"/>
            <a:ext cx="9539935" cy="530352"/>
          </a:xfrm>
          <a:prstGeom prst="rect">
            <a:avLst/>
          </a:prstGeom>
          <a:noFill/>
          <a:ln/>
        </p:spPr>
        <p:txBody>
          <a:bodyPr wrap="square" lIns="0" tIns="0" rIns="0" bIns="0" rtlCol="0" anchor="t"/>
          <a:lstStyle/>
          <a:p>
            <a:pPr indent="0" marL="0">
              <a:buNone/>
            </a:pPr>
            <a:r>
              <a:rPr lang="en-US" sz="1500" dirty="0">
                <a:solidFill>
                  <a:schemeClr val="accent5"/>
                </a:solidFill>
              </a:rPr>
              <a:t>The instruments are sound: NLA layer convention pinned (block 42), FVE 0.761 reproduced, WorkspaceBench 12/12 replicated.</a:t>
            </a:r>
            <a:endParaRPr lang="en-US" sz="1500" dirty="0"/>
          </a:p>
        </p:txBody>
      </p:sp>
      <p:sp>
        <p:nvSpPr>
          <p:cNvPr id="12" name="Shape 10"/>
          <p:cNvSpPr/>
          <p:nvPr/>
        </p:nvSpPr>
        <p:spPr>
          <a:xfrm>
            <a:off x="548640" y="2267712"/>
            <a:ext cx="1325880" cy="256032"/>
          </a:xfrm>
          <a:prstGeom prst="roundRect">
            <a:avLst>
              <a:gd name="adj" fmla="val 53571"/>
            </a:avLst>
          </a:prstGeom>
          <a:solidFill>
            <a:schemeClr val="tx1"/>
          </a:solidFill>
          <a:ln w="12700">
            <a:solidFill>
              <a:schemeClr val="tx1"/>
            </a:solidFill>
            <a:prstDash val="solid"/>
          </a:ln>
        </p:spPr>
      </p:sp>
      <p:sp>
        <p:nvSpPr>
          <p:cNvPr id="13" name="Text 11"/>
          <p:cNvSpPr txBox="1"/>
          <p:nvPr/>
        </p:nvSpPr>
        <p:spPr>
          <a:xfrm>
            <a:off x="548640" y="2267712"/>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4" name="Text 12"/>
          <p:cNvSpPr txBox="1"/>
          <p:nvPr/>
        </p:nvSpPr>
        <p:spPr>
          <a:xfrm>
            <a:off x="2103120" y="2231136"/>
            <a:ext cx="9539935" cy="530352"/>
          </a:xfrm>
          <a:prstGeom prst="rect">
            <a:avLst/>
          </a:prstGeom>
          <a:noFill/>
          <a:ln/>
        </p:spPr>
        <p:txBody>
          <a:bodyPr wrap="square" lIns="0" tIns="0" rIns="0" bIns="0" rtlCol="0" anchor="t"/>
          <a:lstStyle/>
          <a:p>
            <a:pPr indent="0" marL="0">
              <a:buNone/>
            </a:pPr>
            <a:r>
              <a:rPr lang="en-US" sz="1500" dirty="0">
                <a:solidFill>
                  <a:schemeClr val="accent5"/>
                </a:solidFill>
              </a:rPr>
              <a:t>At the same layer (42) the NLA ties or beats the Oracle Lens; OL's published lead comes from a best-of-11-layers protocol.</a:t>
            </a:r>
            <a:endParaRPr lang="en-US" sz="1500" dirty="0"/>
          </a:p>
        </p:txBody>
      </p:sp>
      <p:sp>
        <p:nvSpPr>
          <p:cNvPr id="15" name="Shape 13"/>
          <p:cNvSpPr/>
          <p:nvPr/>
        </p:nvSpPr>
        <p:spPr>
          <a:xfrm>
            <a:off x="548640" y="2834640"/>
            <a:ext cx="1325880" cy="256032"/>
          </a:xfrm>
          <a:prstGeom prst="roundRect">
            <a:avLst>
              <a:gd name="adj" fmla="val 53571"/>
            </a:avLst>
          </a:prstGeom>
          <a:solidFill>
            <a:schemeClr val="tx1"/>
          </a:solidFill>
          <a:ln w="12700">
            <a:solidFill>
              <a:schemeClr val="tx1"/>
            </a:solidFill>
            <a:prstDash val="solid"/>
          </a:ln>
        </p:spPr>
      </p:sp>
      <p:sp>
        <p:nvSpPr>
          <p:cNvPr id="16" name="Text 14"/>
          <p:cNvSpPr txBox="1"/>
          <p:nvPr/>
        </p:nvSpPr>
        <p:spPr>
          <a:xfrm>
            <a:off x="548640" y="2834640"/>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7" name="Text 15"/>
          <p:cNvSpPr txBox="1"/>
          <p:nvPr/>
        </p:nvSpPr>
        <p:spPr>
          <a:xfrm>
            <a:off x="2103120" y="2798064"/>
            <a:ext cx="9539935" cy="530352"/>
          </a:xfrm>
          <a:prstGeom prst="rect">
            <a:avLst/>
          </a:prstGeom>
          <a:noFill/>
          <a:ln/>
        </p:spPr>
        <p:txBody>
          <a:bodyPr wrap="square" lIns="0" tIns="0" rIns="0" bIns="0" rtlCol="0" anchor="t"/>
          <a:lstStyle/>
          <a:p>
            <a:pPr indent="0" marL="0">
              <a:buNone/>
            </a:pPr>
            <a:r>
              <a:rPr lang="en-US" sz="1500" b="1" dirty="0">
                <a:solidFill>
                  <a:schemeClr val="tx1"/>
                </a:solidFill>
              </a:rPr>
              <a:t>The standard 'probe survives J-removal' test cannot tell in-J from non-J: topic and language pass it too.</a:t>
            </a:r>
            <a:endParaRPr lang="en-US" sz="1500" dirty="0"/>
          </a:p>
        </p:txBody>
      </p:sp>
      <p:sp>
        <p:nvSpPr>
          <p:cNvPr id="18" name="Shape 16"/>
          <p:cNvSpPr/>
          <p:nvPr/>
        </p:nvSpPr>
        <p:spPr>
          <a:xfrm>
            <a:off x="548640" y="3401568"/>
            <a:ext cx="1325880" cy="256032"/>
          </a:xfrm>
          <a:prstGeom prst="roundRect">
            <a:avLst>
              <a:gd name="adj" fmla="val 53571"/>
            </a:avLst>
          </a:prstGeom>
          <a:solidFill>
            <a:schemeClr val="tx1"/>
          </a:solidFill>
          <a:ln w="12700">
            <a:solidFill>
              <a:schemeClr val="tx1"/>
            </a:solidFill>
            <a:prstDash val="solid"/>
          </a:ln>
        </p:spPr>
      </p:sp>
      <p:sp>
        <p:nvSpPr>
          <p:cNvPr id="19" name="Text 17"/>
          <p:cNvSpPr txBox="1"/>
          <p:nvPr/>
        </p:nvSpPr>
        <p:spPr>
          <a:xfrm>
            <a:off x="548640" y="3401568"/>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20" name="Text 18"/>
          <p:cNvSpPr txBox="1"/>
          <p:nvPr/>
        </p:nvSpPr>
        <p:spPr>
          <a:xfrm>
            <a:off x="2103120" y="3364992"/>
            <a:ext cx="9539935" cy="530352"/>
          </a:xfrm>
          <a:prstGeom prst="rect">
            <a:avLst/>
          </a:prstGeom>
          <a:noFill/>
          <a:ln/>
        </p:spPr>
        <p:txBody>
          <a:bodyPr wrap="square" lIns="0" tIns="0" rIns="0" bIns="0" rtlCol="0" anchor="t"/>
          <a:lstStyle/>
          <a:p>
            <a:pPr indent="0" marL="0">
              <a:buNone/>
            </a:pPr>
            <a:r>
              <a:rPr lang="en-US" sz="1500" b="1" dirty="0">
                <a:solidFill>
                  <a:schemeClr val="tx1"/>
                </a:solidFill>
              </a:rPr>
              <a:t>Under a calibrated gate only col (characters since newline) is cleanly non-J; POS, tense, capitalisation, quotes, code language are J-enriched or J-readable.</a:t>
            </a:r>
            <a:endParaRPr lang="en-US" sz="1500" dirty="0"/>
          </a:p>
        </p:txBody>
      </p:sp>
      <p:sp>
        <p:nvSpPr>
          <p:cNvPr id="21" name="Shape 19"/>
          <p:cNvSpPr/>
          <p:nvPr/>
        </p:nvSpPr>
        <p:spPr>
          <a:xfrm>
            <a:off x="548640" y="3968496"/>
            <a:ext cx="1325880" cy="256032"/>
          </a:xfrm>
          <a:prstGeom prst="roundRect">
            <a:avLst>
              <a:gd name="adj" fmla="val 53571"/>
            </a:avLst>
          </a:prstGeom>
          <a:solidFill>
            <a:schemeClr val="tx1"/>
          </a:solidFill>
          <a:ln w="12700">
            <a:solidFill>
              <a:schemeClr val="tx1"/>
            </a:solidFill>
            <a:prstDash val="solid"/>
          </a:ln>
        </p:spPr>
      </p:sp>
      <p:sp>
        <p:nvSpPr>
          <p:cNvPr id="22" name="Text 20"/>
          <p:cNvSpPr txBox="1"/>
          <p:nvPr/>
        </p:nvSpPr>
        <p:spPr>
          <a:xfrm>
            <a:off x="548640" y="3968496"/>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23" name="Text 21"/>
          <p:cNvSpPr txBox="1"/>
          <p:nvPr/>
        </p:nvSpPr>
        <p:spPr>
          <a:xfrm>
            <a:off x="2103120" y="3931920"/>
            <a:ext cx="9539935" cy="530352"/>
          </a:xfrm>
          <a:prstGeom prst="rect">
            <a:avLst/>
          </a:prstGeom>
          <a:noFill/>
          <a:ln/>
        </p:spPr>
        <p:txBody>
          <a:bodyPr wrap="square" lIns="0" tIns="0" rIns="0" bIns="0" rtlCol="0" anchor="t"/>
          <a:lstStyle/>
          <a:p>
            <a:pPr indent="0" marL="0">
              <a:buNone/>
            </a:pPr>
            <a:r>
              <a:rPr lang="en-US" sz="1500" b="1" dirty="0">
                <a:solidFill>
                  <a:schemeClr val="tx1"/>
                </a:solidFill>
              </a:rPr>
              <a:t>Survey of ~12 features: non-J content the model uses on Qwen L42 looks like positional bookkeeping; numbers never enter the J-space.</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1188720"/>
            <a:ext cx="274320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02</a:t>
            </a:r>
            <a:endParaRPr lang="en-US" sz="5400" dirty="0"/>
          </a:p>
        </p:txBody>
      </p:sp>
      <p:sp>
        <p:nvSpPr>
          <p:cNvPr id="3" name="Text 0"/>
          <p:cNvSpPr/>
          <p:nvPr>
            <p:ph idx="100" type="title" hasCustomPrompt="1"/>
          </p:nvPr>
        </p:nvSpPr>
        <p:spPr>
          <a:xfrm>
            <a:off x="731520" y="214884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Part B: col has no robust descriptive reading</a:t>
            </a:r>
            <a:endParaRPr lang="en-US" sz="4000" dirty="0"/>
          </a:p>
        </p:txBody>
      </p:sp>
      <p:sp>
        <p:nvSpPr>
          <p:cNvPr id="4" name="Text 0"/>
          <p:cNvSpPr/>
          <p:nvPr>
            <p:ph idx="101" type="body" hasCustomPrompt="1"/>
          </p:nvPr>
        </p:nvSpPr>
        <p:spPr>
          <a:xfrm>
            <a:off x="731520" y="3657600"/>
            <a:ext cx="1005840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…although both decoders read workspace features at the same dose; two candidate narrow channels go to confirmation</a:t>
            </a:r>
            <a:endParaRPr lang="en-US" sz="1800" dirty="0"/>
          </a:p>
        </p:txBody>
      </p:sp>
      <p:sp>
        <p:nvSpPr>
          <p:cNvPr id="5" name="Shape 3"/>
          <p:cNvSpPr/>
          <p:nvPr/>
        </p:nvSpPr>
        <p:spPr>
          <a:xfrm>
            <a:off x="731520" y="5715000"/>
            <a:ext cx="10728655" cy="914"/>
          </a:xfrm>
          <a:prstGeom prst="line">
            <a:avLst/>
          </a:prstGeom>
          <a:noFill/>
          <a:ln w="15875">
            <a:solidFill>
              <a:schemeClr val="accent5"/>
            </a:solidFill>
            <a:prstDash val="solid"/>
          </a:ln>
        </p:spPr>
      </p:sp>
      <p:sp>
        <p:nvSpPr>
          <p:cNvPr id="6" name="Shape 4"/>
          <p:cNvSpPr/>
          <p:nvPr/>
        </p:nvSpPr>
        <p:spPr>
          <a:xfrm>
            <a:off x="690372" y="567385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67385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67385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67385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67385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67385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67385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67385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67385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67385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67385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67385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67385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67385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67385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67385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61441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61441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61441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587959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WHY COL</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col is a doubly clean test: the model relies on it, and Qwen can't recompute it from the text</a:t>
            </a:r>
            <a:endParaRPr lang="en-US" sz="2800" dirty="0"/>
          </a:p>
        </p:txBody>
      </p:sp>
      <p:graphicFrame>
        <p:nvGraphicFramePr>
          <p:cNvPr id="7" name="Chart 0" descr=""/>
          <p:cNvGraphicFramePr/>
          <p:nvPr/>
        </p:nvGraphicFramePr>
        <p:xfrm>
          <a:off x="457200" y="16459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903720" y="1691640"/>
            <a:ext cx="4739335" cy="541528"/>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49×</a:t>
            </a:r>
            <a:endParaRPr lang="en-US" sz="3400" dirty="0"/>
          </a:p>
        </p:txBody>
      </p:sp>
      <p:sp>
        <p:nvSpPr>
          <p:cNvPr id="9" name="Text 6"/>
          <p:cNvSpPr txBox="1"/>
          <p:nvPr/>
        </p:nvSpPr>
        <p:spPr>
          <a:xfrm>
            <a:off x="6903720" y="2260600"/>
            <a:ext cx="4739335" cy="466344"/>
          </a:xfrm>
          <a:prstGeom prst="rect">
            <a:avLst/>
          </a:prstGeom>
          <a:noFill/>
          <a:ln/>
        </p:spPr>
        <p:txBody>
          <a:bodyPr wrap="square" lIns="0" tIns="0" rIns="0" bIns="0" rtlCol="0" anchor="t"/>
          <a:lstStyle/>
          <a:p>
            <a:pPr indent="0" marL="0">
              <a:buNone/>
            </a:pPr>
            <a:r>
              <a:rPr lang="en-US" sz="1300" dirty="0">
                <a:solidFill>
                  <a:schemeClr val="accent5"/>
                </a:solidFill>
              </a:rPr>
              <a:t>col's J-removed steering moves newline log-odds +0.99 vs ≤ 0.02 for random directions</a:t>
            </a:r>
            <a:endParaRPr lang="en-US" sz="1300" dirty="0"/>
          </a:p>
        </p:txBody>
      </p:sp>
      <p:sp>
        <p:nvSpPr>
          <p:cNvPr id="10" name="Text 7"/>
          <p:cNvSpPr txBox="1"/>
          <p:nvPr/>
        </p:nvSpPr>
        <p:spPr>
          <a:xfrm>
            <a:off x="6903720" y="2900680"/>
            <a:ext cx="4739335" cy="541528"/>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7%</a:t>
            </a:r>
            <a:endParaRPr lang="en-US" sz="3400" dirty="0"/>
          </a:p>
        </p:txBody>
      </p:sp>
      <p:sp>
        <p:nvSpPr>
          <p:cNvPr id="11" name="Text 8"/>
          <p:cNvSpPr txBox="1"/>
          <p:nvPr/>
        </p:nvSpPr>
        <p:spPr>
          <a:xfrm>
            <a:off x="6903720" y="3469640"/>
            <a:ext cx="4739335" cy="466344"/>
          </a:xfrm>
          <a:prstGeom prst="rect">
            <a:avLst/>
          </a:prstGeom>
          <a:noFill/>
          <a:ln/>
        </p:spPr>
        <p:txBody>
          <a:bodyPr wrap="square" lIns="0" tIns="0" rIns="0" bIns="0" rtlCol="0" anchor="t"/>
          <a:lstStyle/>
          <a:p>
            <a:pPr indent="0" marL="0">
              <a:buNone/>
            </a:pPr>
            <a:r>
              <a:rPr lang="en-US" sz="1300" dirty="0">
                <a:solidFill>
                  <a:schemeClr val="accent5"/>
                </a:solidFill>
              </a:rPr>
              <a:t>Qwen's exact accuracy when asked to count characters without chain of thought</a:t>
            </a:r>
            <a:endParaRPr lang="en-US" sz="1300" dirty="0"/>
          </a:p>
        </p:txBody>
      </p:sp>
      <p:sp>
        <p:nvSpPr>
          <p:cNvPr id="12" name="Text 9"/>
          <p:cNvSpPr txBox="1"/>
          <p:nvPr/>
        </p:nvSpPr>
        <p:spPr>
          <a:xfrm>
            <a:off x="6903720" y="4109720"/>
            <a:ext cx="4739335" cy="541528"/>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ρ 0.42</a:t>
            </a:r>
            <a:endParaRPr lang="en-US" sz="3400" dirty="0"/>
          </a:p>
        </p:txBody>
      </p:sp>
      <p:sp>
        <p:nvSpPr>
          <p:cNvPr id="13" name="Text 10"/>
          <p:cNvSpPr txBox="1"/>
          <p:nvPr/>
        </p:nvSpPr>
        <p:spPr>
          <a:xfrm>
            <a:off x="6903720" y="4678680"/>
            <a:ext cx="4739335" cy="466344"/>
          </a:xfrm>
          <a:prstGeom prst="rect">
            <a:avLst/>
          </a:prstGeom>
          <a:noFill/>
          <a:ln/>
        </p:spPr>
        <p:txBody>
          <a:bodyPr wrap="square" lIns="0" tIns="0" rIns="0" bIns="0" rtlCol="0" anchor="t"/>
          <a:lstStyle/>
          <a:p>
            <a:pPr indent="0" marL="0">
              <a:buNone/>
            </a:pPr>
            <a:r>
              <a:rPr lang="en-US" sz="1300" dirty="0">
                <a:solidFill>
                  <a:schemeClr val="accent5"/>
                </a:solidFill>
              </a:rPr>
              <a:t>free self-report vs truth; error no better than guessing the mean (MAE 16.4 vs 15.7)</a:t>
            </a:r>
            <a:endParaRPr lang="en-US" sz="1300" dirty="0"/>
          </a:p>
        </p:txBody>
      </p:sp>
      <p:sp>
        <p:nvSpPr>
          <p:cNvPr id="14" name="Shape 11"/>
          <p:cNvSpPr/>
          <p:nvPr/>
        </p:nvSpPr>
        <p:spPr>
          <a:xfrm>
            <a:off x="6903720" y="5318760"/>
            <a:ext cx="4739335" cy="864108"/>
          </a:xfrm>
          <a:prstGeom prst="roundRect">
            <a:avLst>
              <a:gd name="adj" fmla="val 8466"/>
            </a:avLst>
          </a:prstGeom>
          <a:solidFill>
            <a:schemeClr val="bg2"/>
          </a:solidFill>
          <a:ln w="12700">
            <a:solidFill>
              <a:schemeClr val="bg2"/>
            </a:solidFill>
            <a:prstDash val="solid"/>
          </a:ln>
        </p:spPr>
      </p:sp>
      <p:sp>
        <p:nvSpPr>
          <p:cNvPr id="15" name="Text 12"/>
          <p:cNvSpPr txBox="1"/>
          <p:nvPr/>
        </p:nvSpPr>
        <p:spPr>
          <a:xfrm>
            <a:off x="7031736" y="5446776"/>
            <a:ext cx="4483303" cy="65928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So a Qwen decoder can't re-solve col by counting. Nuance: the newline decision col feeds is weakly J-visible (soft newline mass AUROC 0.58).</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METHOD LESSON 1</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Method lesson: an apparent NLA-vs-Oracle Lens contrast was partly an artefact of how we steered</a:t>
            </a:r>
            <a:endParaRPr lang="en-US" sz="2800" dirty="0"/>
          </a:p>
        </p:txBody>
      </p:sp>
      <p:graphicFrame>
        <p:nvGraphicFramePr>
          <p:cNvPr id="7" name="Chart 0" descr=""/>
          <p:cNvGraphicFramePr/>
          <p:nvPr/>
        </p:nvGraphicFramePr>
        <p:xfrm>
          <a:off x="457200" y="164592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720840" y="1691640"/>
            <a:ext cx="4922215" cy="256032"/>
          </a:xfrm>
          <a:prstGeom prst="rect">
            <a:avLst/>
          </a:prstGeom>
          <a:noFill/>
          <a:ln/>
        </p:spPr>
        <p:txBody>
          <a:bodyPr wrap="square" lIns="0" tIns="0" rIns="0" bIns="0" rtlCol="0" anchor="t"/>
          <a:lstStyle/>
          <a:p>
            <a:pPr indent="0" marL="0">
              <a:buNone/>
            </a:pPr>
            <a:r>
              <a:rPr lang="en-US" sz="1400" b="1" dirty="0">
                <a:solidFill>
                  <a:schemeClr val="tx1"/>
                </a:solidFill>
              </a:rPr>
              <a:t>1 · The puzzle</a:t>
            </a:r>
            <a:endParaRPr lang="en-US" sz="1400" dirty="0"/>
          </a:p>
        </p:txBody>
      </p:sp>
      <p:sp>
        <p:nvSpPr>
          <p:cNvPr id="9" name="Text 6"/>
          <p:cNvSpPr txBox="1"/>
          <p:nvPr/>
        </p:nvSpPr>
        <p:spPr>
          <a:xfrm>
            <a:off x="6720840" y="1947672"/>
            <a:ext cx="4922215" cy="438912"/>
          </a:xfrm>
          <a:prstGeom prst="rect">
            <a:avLst/>
          </a:prstGeom>
          <a:noFill/>
          <a:ln/>
        </p:spPr>
        <p:txBody>
          <a:bodyPr wrap="square" lIns="0" tIns="0" rIns="0" bIns="0" rtlCol="0" anchor="t"/>
          <a:lstStyle/>
          <a:p>
            <a:pPr indent="0" marL="0">
              <a:buNone/>
            </a:pPr>
            <a:r>
              <a:rPr lang="en-US" sz="1300" dirty="0">
                <a:solidFill>
                  <a:schemeClr val="tx1"/>
                </a:solidFill>
              </a:rPr>
              <a:t>Oracle Lens anti-tracked the J-removed direction (0.45); the NLA tracked it (0.60).</a:t>
            </a:r>
            <a:endParaRPr lang="en-US" sz="1300" dirty="0"/>
          </a:p>
        </p:txBody>
      </p:sp>
      <p:sp>
        <p:nvSpPr>
          <p:cNvPr id="10" name="Text 7"/>
          <p:cNvSpPr txBox="1"/>
          <p:nvPr/>
        </p:nvSpPr>
        <p:spPr>
          <a:xfrm>
            <a:off x="6720840" y="2514600"/>
            <a:ext cx="4922215" cy="256032"/>
          </a:xfrm>
          <a:prstGeom prst="rect">
            <a:avLst/>
          </a:prstGeom>
          <a:noFill/>
          <a:ln/>
        </p:spPr>
        <p:txBody>
          <a:bodyPr wrap="square" lIns="0" tIns="0" rIns="0" bIns="0" rtlCol="0" anchor="t"/>
          <a:lstStyle/>
          <a:p>
            <a:pPr indent="0" marL="0">
              <a:buNone/>
            </a:pPr>
            <a:r>
              <a:rPr lang="en-US" sz="1400" b="1" dirty="0">
                <a:solidFill>
                  <a:schemeClr val="tx1"/>
                </a:solidFill>
              </a:rPr>
              <a:t>2 · Fable's test</a:t>
            </a:r>
            <a:endParaRPr lang="en-US" sz="1400" dirty="0"/>
          </a:p>
        </p:txBody>
      </p:sp>
      <p:sp>
        <p:nvSpPr>
          <p:cNvPr id="11" name="Text 8"/>
          <p:cNvSpPr txBox="1"/>
          <p:nvPr/>
        </p:nvSpPr>
        <p:spPr>
          <a:xfrm>
            <a:off x="6720840" y="2770632"/>
            <a:ext cx="4922215" cy="438912"/>
          </a:xfrm>
          <a:prstGeom prst="rect">
            <a:avLst/>
          </a:prstGeom>
          <a:noFill/>
          <a:ln/>
        </p:spPr>
        <p:txBody>
          <a:bodyPr wrap="square" lIns="0" tIns="0" rIns="0" bIns="0" rtlCol="0" anchor="t"/>
          <a:lstStyle/>
          <a:p>
            <a:pPr indent="0" marL="0">
              <a:buNone/>
            </a:pPr>
            <a:r>
              <a:rPr lang="en-US" sz="1300" dirty="0">
                <a:solidFill>
                  <a:schemeClr val="tx1"/>
                </a:solidFill>
              </a:rPr>
              <a:t>Norm-preserving steering changed nothing: both decoders renormalise their input anyway.</a:t>
            </a:r>
            <a:endParaRPr lang="en-US" sz="1300" dirty="0"/>
          </a:p>
        </p:txBody>
      </p:sp>
      <p:sp>
        <p:nvSpPr>
          <p:cNvPr id="12" name="Text 9"/>
          <p:cNvSpPr txBox="1"/>
          <p:nvPr/>
        </p:nvSpPr>
        <p:spPr>
          <a:xfrm>
            <a:off x="6720840" y="3337560"/>
            <a:ext cx="4922215" cy="256032"/>
          </a:xfrm>
          <a:prstGeom prst="rect">
            <a:avLst/>
          </a:prstGeom>
          <a:noFill/>
          <a:ln/>
        </p:spPr>
        <p:txBody>
          <a:bodyPr wrap="square" lIns="0" tIns="0" rIns="0" bIns="0" rtlCol="0" anchor="t"/>
          <a:lstStyle/>
          <a:p>
            <a:pPr indent="0" marL="0">
              <a:buNone/>
            </a:pPr>
            <a:r>
              <a:rPr lang="en-US" sz="1400" b="1" dirty="0">
                <a:solidFill>
                  <a:schemeClr val="tx1"/>
                </a:solidFill>
              </a:rPr>
              <a:t>3 · Real cause</a:t>
            </a:r>
            <a:endParaRPr lang="en-US" sz="1400" dirty="0"/>
          </a:p>
        </p:txBody>
      </p:sp>
      <p:sp>
        <p:nvSpPr>
          <p:cNvPr id="13" name="Text 10"/>
          <p:cNvSpPr txBox="1"/>
          <p:nvPr/>
        </p:nvSpPr>
        <p:spPr>
          <a:xfrm>
            <a:off x="6720840" y="3593592"/>
            <a:ext cx="4922215" cy="438912"/>
          </a:xfrm>
          <a:prstGeom prst="rect">
            <a:avLst/>
          </a:prstGeom>
          <a:noFill/>
          <a:ln/>
        </p:spPr>
        <p:txBody>
          <a:bodyPr wrap="square" lIns="0" tIns="0" rIns="0" bIns="0" rtlCol="0" anchor="t"/>
          <a:lstStyle/>
          <a:p>
            <a:pPr indent="0" marL="0">
              <a:buNone/>
            </a:pPr>
            <a:r>
              <a:rPr lang="en-US" sz="1300" dirty="0">
                <a:solidFill>
                  <a:schemeClr val="tx1"/>
                </a:solidFill>
              </a:rPr>
              <a:t>Unequal dilution when the item already carries the feature. Fix: centred steering, equal norm on both sides.</a:t>
            </a:r>
            <a:endParaRPr lang="en-US" sz="1300" dirty="0"/>
          </a:p>
        </p:txBody>
      </p:sp>
      <p:sp>
        <p:nvSpPr>
          <p:cNvPr id="14" name="Text 11"/>
          <p:cNvSpPr txBox="1"/>
          <p:nvPr/>
        </p:nvSpPr>
        <p:spPr>
          <a:xfrm>
            <a:off x="6720840" y="4160520"/>
            <a:ext cx="4922215" cy="256032"/>
          </a:xfrm>
          <a:prstGeom prst="rect">
            <a:avLst/>
          </a:prstGeom>
          <a:noFill/>
          <a:ln/>
        </p:spPr>
        <p:txBody>
          <a:bodyPr wrap="square" lIns="0" tIns="0" rIns="0" bIns="0" rtlCol="0" anchor="t"/>
          <a:lstStyle/>
          <a:p>
            <a:pPr indent="0" marL="0">
              <a:buNone/>
            </a:pPr>
            <a:r>
              <a:rPr lang="en-US" sz="1400" b="1" dirty="0">
                <a:solidFill>
                  <a:schemeClr val="tx1"/>
                </a:solidFill>
              </a:rPr>
              <a:t>4 · Result</a:t>
            </a:r>
            <a:endParaRPr lang="en-US" sz="1400" dirty="0"/>
          </a:p>
        </p:txBody>
      </p:sp>
      <p:sp>
        <p:nvSpPr>
          <p:cNvPr id="15" name="Text 12"/>
          <p:cNvSpPr txBox="1"/>
          <p:nvPr/>
        </p:nvSpPr>
        <p:spPr>
          <a:xfrm>
            <a:off x="6720840" y="4416552"/>
            <a:ext cx="4922215" cy="649224"/>
          </a:xfrm>
          <a:prstGeom prst="rect">
            <a:avLst/>
          </a:prstGeom>
          <a:noFill/>
          <a:ln/>
        </p:spPr>
        <p:txBody>
          <a:bodyPr wrap="square" lIns="0" tIns="0" rIns="0" bIns="0" rtlCol="0" anchor="t"/>
          <a:lstStyle/>
          <a:p>
            <a:pPr indent="0" marL="0">
              <a:buNone/>
            </a:pPr>
            <a:r>
              <a:rPr lang="en-US" sz="1300" dirty="0">
                <a:solidFill>
                  <a:schemeClr val="tx1"/>
                </a:solidFill>
              </a:rPr>
              <a:t>OL → 0.49, inside the null band. NLA 0.62 (+8.3 SD). J-Lens still anti-tracks: a real leak, so by our own rule the toy is not a non-J read.</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METHOD LESSON 2</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Method lesson: removing the top-384 J-space isn't enough for col; removing 1,536 is leak-free at layer 42</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9" name="Chart 0" descr=""/>
          <p:cNvGraphicFramePr/>
          <p:nvPr/>
        </p:nvGraphicFramePr>
        <p:xfrm>
          <a:off x="457200" y="16459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903720" y="1691640"/>
            <a:ext cx="4739335" cy="2633472"/>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chemeClr val="tx1"/>
                </a:solidFill>
              </a:rPr>
              <a:t>Leak: </a:t>
            </a:r>
            <a:pPr indent="0" marL="0">
              <a:spcAft>
                <a:spcPts val="600"/>
              </a:spcAft>
              <a:buNone/>
            </a:pPr>
            <a:r>
              <a:rPr lang="en-US" sz="1400" dirty="0">
                <a:solidFill>
                  <a:schemeClr val="tx1"/>
                </a:solidFill>
              </a:rPr>
              <a:t>at r* the J-removed col direction still pushes the J-Lens towards newline (z +2.6 to +3.0). The main run steers at 4r* at layer 42.</a:t>
            </a:r>
            <a:endParaRPr lang="en-US" sz="1400" dirty="0"/>
          </a:p>
          <a:p>
            <a:pPr marL="203200" indent="-203200">
              <a:spcAft>
                <a:spcPts val="600"/>
              </a:spcAft>
              <a:buSzPct val="100000"/>
              <a:buChar char="•"/>
            </a:pPr>
            <a:r>
              <a:rPr lang="en-US" sz="1400" b="1" dirty="0">
                <a:solidFill>
                  <a:schemeClr val="tx1"/>
                </a:solidFill>
              </a:rPr>
              <a:t>'CI excludes 0.5' is too weak: </a:t>
            </a:r>
            <a:pPr indent="0" marL="0">
              <a:spcAft>
                <a:spcPts val="600"/>
              </a:spcAft>
              <a:buNone/>
            </a:pPr>
            <a:r>
              <a:rPr lang="en-US" sz="1400" dirty="0">
                <a:solidFill>
                  <a:schemeClr val="tx1"/>
                </a:solidFill>
              </a:rPr>
              <a:t>the NLA's numeral template at r* gave 0.54 [0.53, 0.57], but random directions move it as much (z +1.4 / +1.8). The null band must be part of every primary test.</a:t>
            </a:r>
            <a:endParaRPr lang="en-US" sz="1400" dirty="0"/>
          </a:p>
          <a:p>
            <a:pPr marL="203200" indent="-203200">
              <a:spcAft>
                <a:spcPts val="600"/>
              </a:spcAft>
              <a:buSzPct val="100000"/>
              <a:buChar char="•"/>
            </a:pPr>
            <a:r>
              <a:rPr lang="en-US" sz="1400" b="1" dirty="0">
                <a:solidFill>
                  <a:schemeClr val="tx1"/>
                </a:solidFill>
              </a:rPr>
              <a:t>The FVE guard measures norm: </a:t>
            </a:r>
            <a:pPr indent="0" marL="0">
              <a:spcAft>
                <a:spcPts val="600"/>
              </a:spcAft>
              <a:buNone/>
            </a:pPr>
            <a:r>
              <a:rPr lang="en-US" sz="1400" dirty="0">
                <a:solidFill>
                  <a:schemeClr val="tx1"/>
                </a:solidFill>
              </a:rPr>
              <a:t>at q99 random directions also fail it (−0.045 to −0.062). q90 is primary.</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THE COL RESULT</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With the fixed pilot templates, no reader follows col beyond what random directions do</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9" name="Chart 0" descr=""/>
          <p:cNvGraphicFramePr/>
          <p:nvPr/>
        </p:nvGraphicFramePr>
        <p:xfrm>
          <a:off x="457200" y="164592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635240" y="1691640"/>
            <a:ext cx="4007815" cy="4907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0.50–0.53</a:t>
            </a:r>
            <a:endParaRPr lang="en-US" sz="3000" dirty="0"/>
          </a:p>
        </p:txBody>
      </p:sp>
      <p:sp>
        <p:nvSpPr>
          <p:cNvPr id="11" name="Text 8"/>
          <p:cNvSpPr txBox="1"/>
          <p:nvPr/>
        </p:nvSpPr>
        <p:spPr>
          <a:xfrm>
            <a:off x="7635240" y="2209800"/>
            <a:ext cx="4007815" cy="466344"/>
          </a:xfrm>
          <a:prstGeom prst="rect">
            <a:avLst/>
          </a:prstGeom>
          <a:noFill/>
          <a:ln/>
        </p:spPr>
        <p:txBody>
          <a:bodyPr wrap="square" lIns="0" tIns="0" rIns="0" bIns="0" rtlCol="0" anchor="t"/>
          <a:lstStyle/>
          <a:p>
            <a:pPr indent="0" marL="0">
              <a:buNone/>
            </a:pPr>
            <a:r>
              <a:rPr lang="en-US" sz="1300" dirty="0">
                <a:solidFill>
                  <a:schemeClr val="accent5"/>
                </a:solidFill>
              </a:rPr>
              <a:t>NLA AUROC across template families (Oracle Lens 0.49–0.51)</a:t>
            </a:r>
            <a:endParaRPr lang="en-US" sz="1300" dirty="0"/>
          </a:p>
        </p:txBody>
      </p:sp>
      <p:sp>
        <p:nvSpPr>
          <p:cNvPr id="12" name="Text 9"/>
          <p:cNvSpPr txBox="1"/>
          <p:nvPr/>
        </p:nvSpPr>
        <p:spPr>
          <a:xfrm>
            <a:off x="7635240" y="2849880"/>
            <a:ext cx="4007815" cy="4907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 0.12</a:t>
            </a:r>
            <a:endParaRPr lang="en-US" sz="3000" dirty="0"/>
          </a:p>
        </p:txBody>
      </p:sp>
      <p:sp>
        <p:nvSpPr>
          <p:cNvPr id="13" name="Text 10"/>
          <p:cNvSpPr txBox="1"/>
          <p:nvPr/>
        </p:nvSpPr>
        <p:spPr>
          <a:xfrm>
            <a:off x="7635240" y="3368040"/>
            <a:ext cx="4007815" cy="466344"/>
          </a:xfrm>
          <a:prstGeom prst="rect">
            <a:avLst/>
          </a:prstGeom>
          <a:noFill/>
          <a:ln/>
        </p:spPr>
        <p:txBody>
          <a:bodyPr wrap="square" lIns="0" tIns="0" rIns="0" bIns="0" rtlCol="0" anchor="t"/>
          <a:lstStyle/>
          <a:p>
            <a:pPr indent="0" marL="0">
              <a:buNone/>
            </a:pPr>
            <a:r>
              <a:rPr lang="en-US" sz="1300" dirty="0">
                <a:solidFill>
                  <a:schemeClr val="accent5"/>
                </a:solidFill>
              </a:rPr>
              <a:t>NLA fraction of probe information (OL ≤ 0.03; pre-registered bar 0.25)</a:t>
            </a:r>
            <a:endParaRPr lang="en-US" sz="1300" dirty="0"/>
          </a:p>
        </p:txBody>
      </p:sp>
      <p:sp>
        <p:nvSpPr>
          <p:cNvPr id="14" name="Text 11"/>
          <p:cNvSpPr txBox="1"/>
          <p:nvPr/>
        </p:nvSpPr>
        <p:spPr>
          <a:xfrm>
            <a:off x="7635240" y="4008120"/>
            <a:ext cx="400781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0 / 5,760</a:t>
            </a:r>
            <a:endParaRPr lang="en-US" sz="3000" dirty="0"/>
          </a:p>
        </p:txBody>
      </p:sp>
      <p:sp>
        <p:nvSpPr>
          <p:cNvPr id="15" name="Text 12"/>
          <p:cNvSpPr txBox="1"/>
          <p:nvPr/>
        </p:nvSpPr>
        <p:spPr>
          <a:xfrm>
            <a:off x="7635240" y="4526280"/>
            <a:ext cx="4007815" cy="466344"/>
          </a:xfrm>
          <a:prstGeom prst="rect">
            <a:avLst/>
          </a:prstGeom>
          <a:noFill/>
          <a:ln/>
        </p:spPr>
        <p:txBody>
          <a:bodyPr wrap="square" lIns="0" tIns="0" rIns="0" bIns="0" rtlCol="0" anchor="t"/>
          <a:lstStyle/>
          <a:p>
            <a:pPr indent="0" marL="0">
              <a:buNone/>
            </a:pPr>
            <a:r>
              <a:rPr lang="en-US" sz="1300" dirty="0">
                <a:solidFill>
                  <a:schemeClr val="accent5"/>
                </a:solidFill>
              </a:rPr>
              <a:t>free readouts mentioning line length (4,080 NLA, 1,680 OL)</a:t>
            </a:r>
            <a:endParaRPr lang="en-US" sz="1300" dirty="0"/>
          </a:p>
        </p:txBody>
      </p:sp>
      <p:sp>
        <p:nvSpPr>
          <p:cNvPr id="16" name="Shape 13"/>
          <p:cNvSpPr/>
          <p:nvPr/>
        </p:nvSpPr>
        <p:spPr>
          <a:xfrm>
            <a:off x="7635240" y="5166360"/>
            <a:ext cx="4007815" cy="1257300"/>
          </a:xfrm>
          <a:prstGeom prst="roundRect">
            <a:avLst>
              <a:gd name="adj" fmla="val 5818"/>
            </a:avLst>
          </a:prstGeom>
          <a:solidFill>
            <a:schemeClr val="bg2"/>
          </a:solidFill>
          <a:ln w="12700">
            <a:solidFill>
              <a:schemeClr val="bg2"/>
            </a:solidFill>
            <a:prstDash val="solid"/>
          </a:ln>
        </p:spPr>
      </p:sp>
      <p:sp>
        <p:nvSpPr>
          <p:cNvPr id="17" name="Text 14"/>
          <p:cNvSpPr txBox="1"/>
          <p:nvPr/>
        </p:nvSpPr>
        <p:spPr>
          <a:xfrm>
            <a:off x="7763256" y="5294376"/>
            <a:ext cx="3751783" cy="105247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Power: the null band, not n, limits col. NLA z at n → ∞ would be only +0.6 to +1.4, while language and tense clear the same band by 10–30 SD. NLA − OL ΔAUROC +0.015 to +0.028: H3 (bar 0.05) will likely fail for col.</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FIGURE 1 · MATCHED-DOSE CALIBRATION (K3: PASS)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readers do track workspace features at the same steering strength; with fixed templates, col stays at chance</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9" name="Chart 0" descr=""/>
          <p:cNvGraphicFramePr/>
          <p:nvPr/>
        </p:nvGraphicFramePr>
        <p:xfrm>
          <a:off x="457200" y="16459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818120" y="1755648"/>
            <a:ext cx="146304" cy="146304"/>
          </a:xfrm>
          <a:prstGeom prst="ellipse">
            <a:avLst/>
          </a:prstGeom>
          <a:solidFill>
            <a:schemeClr val="accent1"/>
          </a:solidFill>
          <a:ln w="12700">
            <a:solidFill>
              <a:schemeClr val="accent1"/>
            </a:solidFill>
            <a:prstDash val="solid"/>
          </a:ln>
        </p:spPr>
      </p:sp>
      <p:sp>
        <p:nvSpPr>
          <p:cNvPr id="11" name="Text 8"/>
          <p:cNvSpPr txBox="1"/>
          <p:nvPr/>
        </p:nvSpPr>
        <p:spPr>
          <a:xfrm>
            <a:off x="8092440" y="1691640"/>
            <a:ext cx="3550615" cy="832104"/>
          </a:xfrm>
          <a:prstGeom prst="rect">
            <a:avLst/>
          </a:prstGeom>
          <a:noFill/>
          <a:ln/>
        </p:spPr>
        <p:txBody>
          <a:bodyPr wrap="square" lIns="0" tIns="0" rIns="0" bIns="0" rtlCol="0" anchor="t"/>
          <a:lstStyle/>
          <a:p>
            <a:pPr indent="0" marL="0">
              <a:buNone/>
            </a:pPr>
            <a:r>
              <a:rPr lang="en-US" sz="1300" b="1" dirty="0">
                <a:solidFill>
                  <a:schemeClr val="tx1"/>
                </a:solidFill>
              </a:rPr>
              <a:t>NLA  </a:t>
            </a:r>
            <a:pPr indent="0" marL="0">
              <a:buNone/>
            </a:pPr>
            <a:r>
              <a:rPr lang="en-US" sz="1300" dirty="0">
                <a:solidFill>
                  <a:schemeClr val="accent5"/>
                </a:solidFill>
              </a:rPr>
              <a:t>language z +25 / +31, tense +12 / +18 (isotropic / J-complement bands); col inside both</a:t>
            </a:r>
            <a:endParaRPr lang="en-US" sz="1300" dirty="0"/>
          </a:p>
        </p:txBody>
      </p:sp>
      <p:sp>
        <p:nvSpPr>
          <p:cNvPr id="12" name="Shape 9"/>
          <p:cNvSpPr/>
          <p:nvPr/>
        </p:nvSpPr>
        <p:spPr>
          <a:xfrm>
            <a:off x="7818120" y="2633472"/>
            <a:ext cx="146304" cy="146304"/>
          </a:xfrm>
          <a:prstGeom prst="ellipse">
            <a:avLst/>
          </a:prstGeom>
          <a:solidFill>
            <a:schemeClr val="accent2"/>
          </a:solidFill>
          <a:ln w="12700">
            <a:solidFill>
              <a:schemeClr val="accent2"/>
            </a:solidFill>
            <a:prstDash val="solid"/>
          </a:ln>
        </p:spPr>
      </p:sp>
      <p:sp>
        <p:nvSpPr>
          <p:cNvPr id="13" name="Text 10"/>
          <p:cNvSpPr txBox="1"/>
          <p:nvPr/>
        </p:nvSpPr>
        <p:spPr>
          <a:xfrm>
            <a:off x="8092440" y="2569464"/>
            <a:ext cx="3550615" cy="630936"/>
          </a:xfrm>
          <a:prstGeom prst="rect">
            <a:avLst/>
          </a:prstGeom>
          <a:noFill/>
          <a:ln/>
        </p:spPr>
        <p:txBody>
          <a:bodyPr wrap="square" lIns="0" tIns="0" rIns="0" bIns="0" rtlCol="0" anchor="t"/>
          <a:lstStyle/>
          <a:p>
            <a:pPr indent="0" marL="0">
              <a:buNone/>
            </a:pPr>
            <a:r>
              <a:rPr lang="en-US" sz="1300" b="1" dirty="0">
                <a:solidFill>
                  <a:schemeClr val="tx1"/>
                </a:solidFill>
              </a:rPr>
              <a:t>Oracle Lens  </a:t>
            </a:r>
            <a:pPr indent="0" marL="0">
              <a:buNone/>
            </a:pPr>
            <a:r>
              <a:rPr lang="en-US" sz="1300" dirty="0">
                <a:solidFill>
                  <a:schemeClr val="accent5"/>
                </a:solidFill>
              </a:rPr>
              <a:t>language z +11 / +21; tense +2.3 / +2.5, below the 0.65 bar; col inside both</a:t>
            </a:r>
            <a:endParaRPr lang="en-US" sz="1300" dirty="0"/>
          </a:p>
        </p:txBody>
      </p:sp>
      <p:sp>
        <p:nvSpPr>
          <p:cNvPr id="14" name="Shape 11"/>
          <p:cNvSpPr/>
          <p:nvPr/>
        </p:nvSpPr>
        <p:spPr>
          <a:xfrm>
            <a:off x="7818120" y="3310128"/>
            <a:ext cx="146304" cy="146304"/>
          </a:xfrm>
          <a:prstGeom prst="ellipse">
            <a:avLst/>
          </a:prstGeom>
          <a:solidFill>
            <a:schemeClr val="accent3"/>
          </a:solidFill>
          <a:ln w="12700">
            <a:solidFill>
              <a:schemeClr val="accent3"/>
            </a:solidFill>
            <a:prstDash val="solid"/>
          </a:ln>
        </p:spPr>
      </p:sp>
      <p:sp>
        <p:nvSpPr>
          <p:cNvPr id="15" name="Text 12"/>
          <p:cNvSpPr txBox="1"/>
          <p:nvPr/>
        </p:nvSpPr>
        <p:spPr>
          <a:xfrm>
            <a:off x="8092440" y="3246120"/>
            <a:ext cx="3550615" cy="630936"/>
          </a:xfrm>
          <a:prstGeom prst="rect">
            <a:avLst/>
          </a:prstGeom>
          <a:noFill/>
          <a:ln/>
        </p:spPr>
        <p:txBody>
          <a:bodyPr wrap="square" lIns="0" tIns="0" rIns="0" bIns="0" rtlCol="0" anchor="t"/>
          <a:lstStyle/>
          <a:p>
            <a:pPr indent="0" marL="0">
              <a:buNone/>
            </a:pPr>
            <a:r>
              <a:rPr lang="en-US" sz="1300" b="1" dirty="0">
                <a:solidFill>
                  <a:schemeClr val="tx1"/>
                </a:solidFill>
              </a:rPr>
              <a:t>J-Lens  </a:t>
            </a:r>
            <a:pPr indent="0" marL="0">
              <a:buNone/>
            </a:pPr>
            <a:r>
              <a:rPr lang="en-US" sz="1300" dirty="0">
                <a:solidFill>
                  <a:schemeClr val="accent5"/>
                </a:solidFill>
              </a:rPr>
              <a:t>language z +3.3 / +24, tense +8.3 / +21 (a competitor for in-J content)</a:t>
            </a:r>
            <a:endParaRPr lang="en-US" sz="1300" dirty="0"/>
          </a:p>
        </p:txBody>
      </p:sp>
      <p:sp>
        <p:nvSpPr>
          <p:cNvPr id="16" name="Shape 13"/>
          <p:cNvSpPr/>
          <p:nvPr/>
        </p:nvSpPr>
        <p:spPr>
          <a:xfrm>
            <a:off x="7818120" y="3922776"/>
            <a:ext cx="3824935" cy="1060704"/>
          </a:xfrm>
          <a:prstGeom prst="roundRect">
            <a:avLst>
              <a:gd name="adj" fmla="val 6897"/>
            </a:avLst>
          </a:prstGeom>
          <a:solidFill>
            <a:schemeClr val="bg2"/>
          </a:solidFill>
          <a:ln w="12700">
            <a:solidFill>
              <a:schemeClr val="bg2"/>
            </a:solidFill>
            <a:prstDash val="solid"/>
          </a:ln>
        </p:spPr>
      </p:sp>
      <p:sp>
        <p:nvSpPr>
          <p:cNvPr id="17" name="Text 14"/>
          <p:cNvSpPr txBox="1"/>
          <p:nvPr/>
        </p:nvSpPr>
        <p:spPr>
          <a:xfrm>
            <a:off x="7946136" y="4050792"/>
            <a:ext cx="3568903" cy="855878"/>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Workspace features were steered slightly less (0.095 of ‖h‖) than col (0.108). K3 rule: OL or NLA ≥ 0.65 on ≥ 1 in-J feature at col's dose. Passed: NLA on both, OL on language.</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EQUAL RELATIVE NORM</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At exactly equal steering norm, the decoders track language and tense; col stays at chance</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9" name="Chart 0" descr=""/>
          <p:cNvGraphicFramePr/>
          <p:nvPr/>
        </p:nvGraphicFramePr>
        <p:xfrm>
          <a:off x="457200" y="1645920"/>
          <a:ext cx="7040880" cy="45720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909560" y="1691640"/>
            <a:ext cx="3733495" cy="465328"/>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z +18 to +31</a:t>
            </a:r>
            <a:endParaRPr lang="en-US" sz="2800" dirty="0"/>
          </a:p>
        </p:txBody>
      </p:sp>
      <p:sp>
        <p:nvSpPr>
          <p:cNvPr id="11" name="Text 8"/>
          <p:cNvSpPr txBox="1"/>
          <p:nvPr/>
        </p:nvSpPr>
        <p:spPr>
          <a:xfrm>
            <a:off x="7909560" y="2184400"/>
            <a:ext cx="3733495" cy="466344"/>
          </a:xfrm>
          <a:prstGeom prst="rect">
            <a:avLst/>
          </a:prstGeom>
          <a:noFill/>
          <a:ln/>
        </p:spPr>
        <p:txBody>
          <a:bodyPr wrap="square" lIns="0" tIns="0" rIns="0" bIns="0" rtlCol="0" anchor="t"/>
          <a:lstStyle/>
          <a:p>
            <a:pPr indent="0" marL="0">
              <a:buNone/>
            </a:pPr>
            <a:r>
              <a:rPr lang="en-US" sz="1300" dirty="0">
                <a:solidFill>
                  <a:schemeClr val="accent5"/>
                </a:solidFill>
              </a:rPr>
              <a:t>NLA on language and tense vs the same null directions; OL language z +20</a:t>
            </a:r>
            <a:endParaRPr lang="en-US" sz="1300" dirty="0"/>
          </a:p>
        </p:txBody>
      </p:sp>
      <p:sp>
        <p:nvSpPr>
          <p:cNvPr id="12" name="Text 9"/>
          <p:cNvSpPr txBox="1"/>
          <p:nvPr/>
        </p:nvSpPr>
        <p:spPr>
          <a:xfrm>
            <a:off x="7909560" y="2824480"/>
            <a:ext cx="3733495" cy="465328"/>
          </a:xfrm>
          <a:prstGeom prst="rect">
            <a:avLst/>
          </a:prstGeom>
          <a:noFill/>
          <a:ln/>
        </p:spPr>
        <p:txBody>
          <a:bodyPr wrap="square" lIns="0" tIns="0" rIns="0" bIns="0" rtlCol="0" anchor="b"/>
          <a:lstStyle/>
          <a:p>
            <a:pPr indent="0" marL="0">
              <a:buNone/>
            </a:pPr>
            <a:r>
              <a:rPr lang="en-US" sz="2800" b="1" dirty="0">
                <a:solidFill>
                  <a:schemeClr val="accent2"/>
                </a:solidFill>
                <a:latin typeface="Cambria" pitchFamily="34" charset="0"/>
                <a:ea typeface="Cambria" pitchFamily="34" charset="-122"/>
                <a:cs typeface="Cambria" pitchFamily="34" charset="-120"/>
              </a:rPr>
              <a:t>0.56–0.57</a:t>
            </a:r>
            <a:endParaRPr lang="en-US" sz="2800" dirty="0"/>
          </a:p>
        </p:txBody>
      </p:sp>
      <p:sp>
        <p:nvSpPr>
          <p:cNvPr id="13" name="Text 10"/>
          <p:cNvSpPr txBox="1"/>
          <p:nvPr/>
        </p:nvSpPr>
        <p:spPr>
          <a:xfrm>
            <a:off x="7909560" y="3317240"/>
            <a:ext cx="3733495" cy="676656"/>
          </a:xfrm>
          <a:prstGeom prst="rect">
            <a:avLst/>
          </a:prstGeom>
          <a:noFill/>
          <a:ln/>
        </p:spPr>
        <p:txBody>
          <a:bodyPr wrap="square" lIns="0" tIns="0" rIns="0" bIns="0" rtlCol="0" anchor="t"/>
          <a:lstStyle/>
          <a:p>
            <a:pPr indent="0" marL="0">
              <a:buNone/>
            </a:pPr>
            <a:r>
              <a:rPr lang="en-US" sz="1300" dirty="0">
                <a:solidFill>
                  <a:schemeClr val="accent5"/>
                </a:solidFill>
              </a:rPr>
              <a:t>OL on tense: out of band but below the 0.65 bar, so OL's col null is less secure than the NLA's</a:t>
            </a:r>
            <a:endParaRPr lang="en-US" sz="1300" dirty="0"/>
          </a:p>
        </p:txBody>
      </p:sp>
      <p:sp>
        <p:nvSpPr>
          <p:cNvPr id="14" name="Shape 11"/>
          <p:cNvSpPr/>
          <p:nvPr/>
        </p:nvSpPr>
        <p:spPr>
          <a:xfrm>
            <a:off x="7909560" y="4167632"/>
            <a:ext cx="3733495" cy="1060704"/>
          </a:xfrm>
          <a:prstGeom prst="roundRect">
            <a:avLst>
              <a:gd name="adj" fmla="val 6897"/>
            </a:avLst>
          </a:prstGeom>
          <a:solidFill>
            <a:schemeClr val="bg2"/>
          </a:solidFill>
          <a:ln w="12700">
            <a:solidFill>
              <a:schemeClr val="bg2"/>
            </a:solidFill>
            <a:prstDash val="solid"/>
          </a:ln>
        </p:spPr>
      </p:sp>
      <p:sp>
        <p:nvSpPr>
          <p:cNvPr id="15" name="Text 12"/>
          <p:cNvSpPr txBox="1"/>
          <p:nvPr/>
        </p:nvSpPr>
        <p:spPr>
          <a:xfrm>
            <a:off x="8037576" y="4295648"/>
            <a:ext cx="3477463" cy="855878"/>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Caveat: templates matter (OL tense 0.39–0.87 across templates), so the col claim is 'with the frozen col templates'. The main run adds continuation-style col candidates.</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BEHAVIOURAL VALIDATION AT THE CLAIMED DOSE</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J-removed col push changes what the model does, yet the J-Lens can't see it</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sp>
        <p:nvSpPr>
          <p:cNvPr id="9" name="Text 7"/>
          <p:cNvSpPr txBox="1"/>
          <p:nvPr/>
        </p:nvSpPr>
        <p:spPr>
          <a:xfrm>
            <a:off x="548640" y="1600200"/>
            <a:ext cx="3484778" cy="685800"/>
          </a:xfrm>
          <a:prstGeom prst="rect">
            <a:avLst/>
          </a:prstGeom>
          <a:noFill/>
          <a:ln/>
        </p:spPr>
        <p:txBody>
          <a:bodyPr wrap="square" lIns="0" tIns="0" rIns="0" bIns="0" rtlCol="0" anchor="b"/>
          <a:lstStyle/>
          <a:p>
            <a:pPr indent="0" marL="0">
              <a:buNone/>
            </a:pPr>
            <a:r>
              <a:rPr lang="en-US" sz="3800" b="1" dirty="0">
                <a:solidFill>
                  <a:schemeClr val="tx1"/>
                </a:solidFill>
                <a:latin typeface="Cambria" pitchFamily="34" charset="0"/>
                <a:ea typeface="Cambria" pitchFamily="34" charset="-122"/>
                <a:cs typeface="Cambria" pitchFamily="34" charset="-120"/>
              </a:rPr>
              <a:t>+0.72</a:t>
            </a:r>
            <a:endParaRPr lang="en-US" sz="3800" dirty="0"/>
          </a:p>
        </p:txBody>
      </p:sp>
      <p:sp>
        <p:nvSpPr>
          <p:cNvPr id="10" name="Text 8"/>
          <p:cNvSpPr txBox="1"/>
          <p:nvPr/>
        </p:nvSpPr>
        <p:spPr>
          <a:xfrm>
            <a:off x="548640"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newline log-odds shift from the J-removed (4r*) col push at q90, layer 42: z +55 (raw direction: +1.44, z +86)</a:t>
            </a:r>
            <a:endParaRPr lang="en-US" sz="1300" dirty="0"/>
          </a:p>
        </p:txBody>
      </p:sp>
      <p:sp>
        <p:nvSpPr>
          <p:cNvPr id="11" name="Text 9"/>
          <p:cNvSpPr txBox="1"/>
          <p:nvPr/>
        </p:nvSpPr>
        <p:spPr>
          <a:xfrm>
            <a:off x="4353458" y="1600200"/>
            <a:ext cx="3484778" cy="685800"/>
          </a:xfrm>
          <a:prstGeom prst="rect">
            <a:avLst/>
          </a:prstGeom>
          <a:noFill/>
          <a:ln/>
        </p:spPr>
        <p:txBody>
          <a:bodyPr wrap="square" lIns="0" tIns="0" rIns="0" bIns="0" rtlCol="0" anchor="b"/>
          <a:lstStyle/>
          <a:p>
            <a:pPr indent="0" marL="0">
              <a:buNone/>
            </a:pPr>
            <a:r>
              <a:rPr lang="en-US" sz="3800" b="1" dirty="0">
                <a:solidFill>
                  <a:schemeClr val="tx1"/>
                </a:solidFill>
                <a:latin typeface="Cambria" pitchFamily="34" charset="0"/>
                <a:ea typeface="Cambria" pitchFamily="34" charset="-122"/>
                <a:cs typeface="Cambria" pitchFamily="34" charset="-120"/>
              </a:rPr>
              <a:t>−1.55 chars</a:t>
            </a:r>
            <a:endParaRPr lang="en-US" sz="3800" dirty="0"/>
          </a:p>
        </p:txBody>
      </p:sp>
      <p:sp>
        <p:nvSpPr>
          <p:cNvPr id="12" name="Text 10"/>
          <p:cNvSpPr txBox="1"/>
          <p:nvPr/>
        </p:nvSpPr>
        <p:spPr>
          <a:xfrm>
            <a:off x="4353458"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shift in where generation wraps the line under the same J-removed push (raw: −6.8 chars)</a:t>
            </a:r>
            <a:endParaRPr lang="en-US" sz="1300" dirty="0"/>
          </a:p>
        </p:txBody>
      </p:sp>
      <p:sp>
        <p:nvSpPr>
          <p:cNvPr id="13" name="Text 11"/>
          <p:cNvSpPr txBox="1"/>
          <p:nvPr/>
        </p:nvSpPr>
        <p:spPr>
          <a:xfrm>
            <a:off x="8158277" y="1600200"/>
            <a:ext cx="3484778" cy="685800"/>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0.50</a:t>
            </a:r>
            <a:endParaRPr lang="en-US" sz="3800" dirty="0"/>
          </a:p>
        </p:txBody>
      </p:sp>
      <p:sp>
        <p:nvSpPr>
          <p:cNvPr id="14" name="Text 12"/>
          <p:cNvSpPr txBox="1"/>
          <p:nvPr/>
        </p:nvSpPr>
        <p:spPr>
          <a:xfrm>
            <a:off x="8158277"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J-Lens newline readout under that push; label and content sets clean (|z| ≤ 2.1)</a:t>
            </a:r>
            <a:endParaRPr lang="en-US" sz="1300" dirty="0"/>
          </a:p>
        </p:txBody>
      </p:sp>
      <p:sp>
        <p:nvSpPr>
          <p:cNvPr id="15" name="Shape 13"/>
          <p:cNvSpPr/>
          <p:nvPr/>
        </p:nvSpPr>
        <p:spPr>
          <a:xfrm>
            <a:off x="548640" y="3246120"/>
            <a:ext cx="3484778" cy="1463040"/>
          </a:xfrm>
          <a:prstGeom prst="roundRect">
            <a:avLst>
              <a:gd name="adj" fmla="val 5000"/>
            </a:avLst>
          </a:prstGeom>
          <a:solidFill>
            <a:schemeClr val="bg2"/>
          </a:solidFill>
          <a:ln w="12700">
            <a:solidFill>
              <a:schemeClr val="bg2"/>
            </a:solidFill>
            <a:prstDash val="solid"/>
          </a:ln>
        </p:spPr>
      </p:sp>
      <p:sp>
        <p:nvSpPr>
          <p:cNvPr id="16" name="Text 14"/>
          <p:cNvSpPr txBox="1"/>
          <p:nvPr/>
        </p:nvSpPr>
        <p:spPr>
          <a:xfrm>
            <a:off x="713232"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Why this matters</a:t>
            </a:r>
            <a:endParaRPr lang="en-US" sz="1500" dirty="0"/>
          </a:p>
        </p:txBody>
      </p:sp>
      <p:sp>
        <p:nvSpPr>
          <p:cNvPr id="17" name="Text 15"/>
          <p:cNvSpPr txBox="1"/>
          <p:nvPr/>
        </p:nvSpPr>
        <p:spPr>
          <a:xfrm>
            <a:off x="713232"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the dose at which we test the readers really moves the model's behaviour, so a reader that ignores it is ignoring used content.</a:t>
            </a:r>
            <a:endParaRPr lang="en-US" sz="1300" dirty="0"/>
          </a:p>
        </p:txBody>
      </p:sp>
      <p:sp>
        <p:nvSpPr>
          <p:cNvPr id="18" name="Shape 16"/>
          <p:cNvSpPr/>
          <p:nvPr/>
        </p:nvSpPr>
        <p:spPr>
          <a:xfrm>
            <a:off x="4353458" y="3246120"/>
            <a:ext cx="3484778" cy="1463040"/>
          </a:xfrm>
          <a:prstGeom prst="roundRect">
            <a:avLst>
              <a:gd name="adj" fmla="val 5000"/>
            </a:avLst>
          </a:prstGeom>
          <a:solidFill>
            <a:schemeClr val="bg2"/>
          </a:solidFill>
          <a:ln w="12700">
            <a:solidFill>
              <a:schemeClr val="bg2"/>
            </a:solidFill>
            <a:prstDash val="solid"/>
          </a:ln>
        </p:spPr>
      </p:sp>
      <p:sp>
        <p:nvSpPr>
          <p:cNvPr id="19" name="Text 17"/>
          <p:cNvSpPr txBox="1"/>
          <p:nvPr/>
        </p:nvSpPr>
        <p:spPr>
          <a:xfrm>
            <a:off x="4518050"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Invisible to the J-Lens</a:t>
            </a:r>
            <a:endParaRPr lang="en-US" sz="1500" dirty="0"/>
          </a:p>
        </p:txBody>
      </p:sp>
      <p:sp>
        <p:nvSpPr>
          <p:cNvPr id="20" name="Text 18"/>
          <p:cNvSpPr txBox="1"/>
          <p:nvPr/>
        </p:nvSpPr>
        <p:spPr>
          <a:xfrm>
            <a:off x="4518050"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this is exactly 'non-workspace' content: used by the model, outside what the J-Lens reads.</a:t>
            </a:r>
            <a:endParaRPr lang="en-US" sz="1300" dirty="0"/>
          </a:p>
        </p:txBody>
      </p:sp>
      <p:sp>
        <p:nvSpPr>
          <p:cNvPr id="21" name="Shape 19"/>
          <p:cNvSpPr/>
          <p:nvPr/>
        </p:nvSpPr>
        <p:spPr>
          <a:xfrm>
            <a:off x="8158277" y="3246120"/>
            <a:ext cx="3484778" cy="1463040"/>
          </a:xfrm>
          <a:prstGeom prst="roundRect">
            <a:avLst>
              <a:gd name="adj" fmla="val 5000"/>
            </a:avLst>
          </a:prstGeom>
          <a:solidFill>
            <a:schemeClr val="bg2"/>
          </a:solidFill>
          <a:ln w="12700">
            <a:solidFill>
              <a:schemeClr val="bg2"/>
            </a:solidFill>
            <a:prstDash val="solid"/>
          </a:ln>
        </p:spPr>
      </p:sp>
      <p:sp>
        <p:nvSpPr>
          <p:cNvPr id="22" name="Text 20"/>
          <p:cNvSpPr txBox="1"/>
          <p:nvPr/>
        </p:nvSpPr>
        <p:spPr>
          <a:xfrm>
            <a:off x="8322869"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Dose fork closed (D25)</a:t>
            </a:r>
            <a:endParaRPr lang="en-US" sz="1500" dirty="0"/>
          </a:p>
        </p:txBody>
      </p:sp>
      <p:sp>
        <p:nvSpPr>
          <p:cNvPr id="23" name="Text 21"/>
          <p:cNvSpPr txBox="1"/>
          <p:nvPr/>
        </p:nvSpPr>
        <p:spPr>
          <a:xfrm>
            <a:off x="8322869"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q90 is the primary dose, behaviourally validated; r11 is sensitivity only.</a:t>
            </a:r>
            <a:endParaRPr lang="en-US" sz="1300" dirty="0"/>
          </a:p>
        </p:txBody>
      </p:sp>
      <p:sp>
        <p:nvSpPr>
          <p:cNvPr id="24" name="Shape 22"/>
          <p:cNvSpPr/>
          <p:nvPr/>
        </p:nvSpPr>
        <p:spPr>
          <a:xfrm>
            <a:off x="548640" y="4983480"/>
            <a:ext cx="11094415" cy="1143000"/>
          </a:xfrm>
          <a:prstGeom prst="roundRect">
            <a:avLst>
              <a:gd name="adj" fmla="val 6400"/>
            </a:avLst>
          </a:prstGeom>
          <a:solidFill>
            <a:schemeClr val="bg1"/>
          </a:solidFill>
          <a:ln w="15875">
            <a:solidFill>
              <a:schemeClr val="accent4"/>
            </a:solidFill>
            <a:prstDash val="solid"/>
          </a:ln>
        </p:spPr>
      </p:sp>
      <p:sp>
        <p:nvSpPr>
          <p:cNvPr id="25" name="Text 23"/>
          <p:cNvSpPr txBox="1"/>
          <p:nvPr/>
        </p:nvSpPr>
        <p:spPr>
          <a:xfrm>
            <a:off x="731520" y="5166360"/>
            <a:ext cx="10728655" cy="8503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So the question for the readers is well posed: the content is present, used and J-invisible at the dose we test.</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TWO CANDIDATE NARROW CHANNELS (RETRACTS D21)</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With native phrasings, two narrow channels do follow col: candidates, not findings</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1463040"/>
                <a:gridCol w="2194560"/>
                <a:gridCol w="3291840"/>
                <a:gridCol w="1371600"/>
              </a:tblGrid>
              <a:tr h="402336">
                <a:tc>
                  <a:txBody>
                    <a:bodyPr/>
                    <a:lstStyle/>
                    <a:p>
                      <a:pPr indent="0" marL="0">
                        <a:buNone/>
                      </a:pPr>
                      <a:r>
                        <a:rPr lang="en-US" sz="1250" b="1" dirty="0">
                          <a:solidFill>
                            <a:srgbClr val="FFFFFF"/>
                          </a:solidFill>
                          <a:latin typeface="Arial" pitchFamily="34" charset="0"/>
                          <a:ea typeface="Arial" pitchFamily="34" charset="-122"/>
                          <a:cs typeface="Arial" pitchFamily="34" charset="-120"/>
                        </a:rPr>
                        <a:t>Channel</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Raw direction</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J-removed (4r*)</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else we know</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Status</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OL next-token continuation (newline vs another word)</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0.76 (z +6.6)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0.67–0.72 (z ≈ +3.9)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linear in dose; adapter off: 0.40–0.44, so it needs the LoRA; keeps ~78% under J-removal vs the model's own ~70%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CANDIDATE</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C8921E"/>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NLA, one template: 'near the end of a hard-wrapped line'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0.71 (z +5.0)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q90 0.63 (z +3.0, borderline); r11 0.67 (z +3.7)</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rests mostly on this one template; fixed templates and the decision family are flat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CANDIDATE</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C8921E"/>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OL descriptive templates (line position, length)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flat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flat or anti-tracking</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pre-registered as a negative, with an equivalence test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NEGATIVE</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5E6E78"/>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Free text, both decoders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 of 5,760 readouts mention line length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NEGATIVE</a:t>
                      </a:r>
                      <a:endParaRPr lang="en-US" sz="12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5E6E78"/>
                    </a:solidFill>
                  </a:tcPr>
                </a:tc>
              </a:tr>
            </a:tbl>
          </a:graphicData>
        </a:graphic>
      </p:graphicFrame>
      <p:sp>
        <p:nvSpPr>
          <p:cNvPr id="10" name="Shape 7"/>
          <p:cNvSpPr/>
          <p:nvPr/>
        </p:nvSpPr>
        <p:spPr>
          <a:xfrm>
            <a:off x="548640" y="5349240"/>
            <a:ext cx="4023360" cy="310896"/>
          </a:xfrm>
          <a:prstGeom prst="roundRect">
            <a:avLst>
              <a:gd name="adj" fmla="val 44118"/>
            </a:avLst>
          </a:prstGeom>
          <a:solidFill>
            <a:schemeClr val="accent4"/>
          </a:solidFill>
          <a:ln w="12700">
            <a:solidFill>
              <a:schemeClr val="accent4"/>
            </a:solidFill>
            <a:prstDash val="solid"/>
          </a:ln>
        </p:spPr>
      </p:sp>
      <p:sp>
        <p:nvSpPr>
          <p:cNvPr id="11" name="Text 8"/>
          <p:cNvSpPr txBox="1"/>
          <p:nvPr/>
        </p:nvSpPr>
        <p:spPr>
          <a:xfrm>
            <a:off x="548640" y="5349240"/>
            <a:ext cx="4023360" cy="310896"/>
          </a:xfrm>
          <a:prstGeom prst="rect">
            <a:avLst/>
          </a:prstGeom>
          <a:noFill/>
          <a:ln/>
        </p:spPr>
        <p:txBody>
          <a:bodyPr wrap="square" lIns="0" tIns="0" rIns="0" bIns="0" rtlCol="0" anchor="ctr"/>
          <a:lstStyle/>
          <a:p>
            <a:pPr algn="ctr" indent="0" marL="0">
              <a:buNone/>
            </a:pPr>
            <a:r>
              <a:rPr lang="en-US" sz="1100" b="1" dirty="0">
                <a:solidFill>
                  <a:schemeClr val="bg1"/>
                </a:solidFill>
              </a:rPr>
              <a:t>MECHANISM TEST (EXP 09) RUNNING · PILOT</a:t>
            </a:r>
            <a:endParaRPr lang="en-US" sz="1100" dirty="0"/>
          </a:p>
        </p:txBody>
      </p:sp>
      <p:sp>
        <p:nvSpPr>
          <p:cNvPr id="12" name="Text 9"/>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200" dirty="0">
                <a:solidFill>
                  <a:schemeClr val="accent5"/>
                </a:solidFill>
              </a:rPr>
              <a:t>Oracle Lens is the model + a LoRA: it reads what the model reads and says what the model can say. The 78% vs 70% gain match favours re-instatement (the LoRA hands the activation back to Qwen's own newline circuitry) over reporting; indentation, gain-ratio and adapter-off tests are running as a pilot (experiment 09).</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B · FORKING PATHS, DISCLOSED</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Forking paths, disclosed: the pilot had many looks, so the main run confirms four named primaries</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sp>
        <p:nvSpPr>
          <p:cNvPr id="9" name="Shape 7"/>
          <p:cNvSpPr/>
          <p:nvPr/>
        </p:nvSpPr>
        <p:spPr>
          <a:xfrm>
            <a:off x="548640" y="1691640"/>
            <a:ext cx="2567864" cy="2194560"/>
          </a:xfrm>
          <a:prstGeom prst="roundRect">
            <a:avLst>
              <a:gd name="adj" fmla="val 3333"/>
            </a:avLst>
          </a:prstGeom>
          <a:solidFill>
            <a:schemeClr val="bg2"/>
          </a:solidFill>
          <a:ln w="12700">
            <a:solidFill>
              <a:schemeClr val="bg2"/>
            </a:solidFill>
            <a:prstDash val="solid"/>
          </a:ln>
        </p:spPr>
      </p:sp>
      <p:sp>
        <p:nvSpPr>
          <p:cNvPr id="10" name="Text 8"/>
          <p:cNvSpPr txBox="1"/>
          <p:nvPr/>
        </p:nvSpPr>
        <p:spPr>
          <a:xfrm>
            <a:off x="713232"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Many looks</a:t>
            </a:r>
            <a:endParaRPr lang="en-US" sz="1500" dirty="0"/>
          </a:p>
        </p:txBody>
      </p:sp>
      <p:sp>
        <p:nvSpPr>
          <p:cNvPr id="11" name="Text 9"/>
          <p:cNvSpPr txBox="1"/>
          <p:nvPr/>
        </p:nvSpPr>
        <p:spPr>
          <a:xfrm>
            <a:off x="713232"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 514 template-level cells and ≈ 2,000 z-values inspected across three pilot rounds. ≈ 0.5 false z ≥ 3 col cells expected by chance.</a:t>
            </a:r>
            <a:endParaRPr lang="en-US" sz="1300" dirty="0"/>
          </a:p>
        </p:txBody>
      </p:sp>
      <p:sp>
        <p:nvSpPr>
          <p:cNvPr id="12" name="Shape 10"/>
          <p:cNvSpPr/>
          <p:nvPr/>
        </p:nvSpPr>
        <p:spPr>
          <a:xfrm>
            <a:off x="3390824" y="1691640"/>
            <a:ext cx="2567864" cy="2194560"/>
          </a:xfrm>
          <a:prstGeom prst="roundRect">
            <a:avLst>
              <a:gd name="adj" fmla="val 3333"/>
            </a:avLst>
          </a:prstGeom>
          <a:solidFill>
            <a:schemeClr val="bg2"/>
          </a:solidFill>
          <a:ln w="12700">
            <a:solidFill>
              <a:schemeClr val="bg2"/>
            </a:solidFill>
            <a:prstDash val="solid"/>
          </a:ln>
        </p:spPr>
      </p:sp>
      <p:sp>
        <p:nvSpPr>
          <p:cNvPr id="13" name="Text 11"/>
          <p:cNvSpPr txBox="1"/>
          <p:nvPr/>
        </p:nvSpPr>
        <p:spPr>
          <a:xfrm>
            <a:off x="3555416"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Primaries from the pilot</a:t>
            </a:r>
            <a:endParaRPr lang="en-US" sz="1500" dirty="0"/>
          </a:p>
        </p:txBody>
      </p:sp>
      <p:sp>
        <p:nvSpPr>
          <p:cNvPr id="14" name="Text 12"/>
          <p:cNvSpPr txBox="1"/>
          <p:nvPr/>
        </p:nvSpPr>
        <p:spPr>
          <a:xfrm>
            <a:off x="3555416"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P1 = the best of 11 NLA col templates; P2 = the only OL col family with signal. Chosen after seeing pilot data; the prereg says so.</a:t>
            </a:r>
            <a:endParaRPr lang="en-US" sz="1300" dirty="0"/>
          </a:p>
        </p:txBody>
      </p:sp>
      <p:sp>
        <p:nvSpPr>
          <p:cNvPr id="15" name="Shape 13"/>
          <p:cNvSpPr/>
          <p:nvPr/>
        </p:nvSpPr>
        <p:spPr>
          <a:xfrm>
            <a:off x="6233008" y="1691640"/>
            <a:ext cx="2567864" cy="2194560"/>
          </a:xfrm>
          <a:prstGeom prst="roundRect">
            <a:avLst>
              <a:gd name="adj" fmla="val 3333"/>
            </a:avLst>
          </a:prstGeom>
          <a:solidFill>
            <a:schemeClr val="bg2"/>
          </a:solidFill>
          <a:ln w="12700">
            <a:solidFill>
              <a:schemeClr val="bg2"/>
            </a:solidFill>
            <a:prstDash val="solid"/>
          </a:ln>
        </p:spPr>
      </p:sp>
      <p:sp>
        <p:nvSpPr>
          <p:cNvPr id="16" name="Text 14"/>
          <p:cNvSpPr txBox="1"/>
          <p:nvPr/>
        </p:nvSpPr>
        <p:spPr>
          <a:xfrm>
            <a:off x="6397600"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4 primaries, Holm</a:t>
            </a:r>
            <a:endParaRPr lang="en-US" sz="1500" dirty="0"/>
          </a:p>
        </p:txBody>
      </p:sp>
      <p:sp>
        <p:nvSpPr>
          <p:cNvPr id="17" name="Text 15"/>
          <p:cNvSpPr txBox="1"/>
          <p:nvPr/>
        </p:nvSpPr>
        <p:spPr>
          <a:xfrm>
            <a:off x="6397600"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NLA col (named template, q90, 4r*), OL col (continuation, q90, 4r*), OL tense 4r*, NLA tense 4r*. Holm over 4.</a:t>
            </a:r>
            <a:endParaRPr lang="en-US" sz="1300" dirty="0"/>
          </a:p>
        </p:txBody>
      </p:sp>
      <p:sp>
        <p:nvSpPr>
          <p:cNvPr id="18" name="Shape 16"/>
          <p:cNvSpPr/>
          <p:nvPr/>
        </p:nvSpPr>
        <p:spPr>
          <a:xfrm>
            <a:off x="9075191" y="1691640"/>
            <a:ext cx="2567864" cy="2194560"/>
          </a:xfrm>
          <a:prstGeom prst="roundRect">
            <a:avLst>
              <a:gd name="adj" fmla="val 3333"/>
            </a:avLst>
          </a:prstGeom>
          <a:solidFill>
            <a:schemeClr val="bg2"/>
          </a:solidFill>
          <a:ln w="12700">
            <a:solidFill>
              <a:schemeClr val="bg2"/>
            </a:solidFill>
            <a:prstDash val="solid"/>
          </a:ln>
        </p:spPr>
      </p:sp>
      <p:sp>
        <p:nvSpPr>
          <p:cNvPr id="19" name="Text 17"/>
          <p:cNvSpPr txBox="1"/>
          <p:nvPr/>
        </p:nvSpPr>
        <p:spPr>
          <a:xfrm>
            <a:off x="9239783"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Claim criterion</a:t>
            </a:r>
            <a:endParaRPr lang="en-US" sz="1500" dirty="0"/>
          </a:p>
        </p:txBody>
      </p:sp>
      <p:sp>
        <p:nvSpPr>
          <p:cNvPr id="20" name="Text 18"/>
          <p:cNvSpPr txBox="1"/>
          <p:nvPr/>
        </p:nvSpPr>
        <p:spPr>
          <a:xfrm>
            <a:off x="9239783"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z ≥ 3 against both bands (K = 100 null directions each), Holm over 4, sign agreement with the declared-secondary family.</a:t>
            </a:r>
            <a:endParaRPr lang="en-US" sz="1300" dirty="0"/>
          </a:p>
        </p:txBody>
      </p:sp>
      <p:sp>
        <p:nvSpPr>
          <p:cNvPr id="21" name="Shape 19"/>
          <p:cNvSpPr/>
          <p:nvPr/>
        </p:nvSpPr>
        <p:spPr>
          <a:xfrm>
            <a:off x="548640" y="4160520"/>
            <a:ext cx="2567864" cy="2194560"/>
          </a:xfrm>
          <a:prstGeom prst="roundRect">
            <a:avLst>
              <a:gd name="adj" fmla="val 3333"/>
            </a:avLst>
          </a:prstGeom>
          <a:solidFill>
            <a:schemeClr val="bg2"/>
          </a:solidFill>
          <a:ln w="12700">
            <a:solidFill>
              <a:schemeClr val="bg2"/>
            </a:solidFill>
            <a:prstDash val="solid"/>
          </a:ln>
        </p:spPr>
      </p:sp>
      <p:sp>
        <p:nvSpPr>
          <p:cNvPr id="22" name="Text 20"/>
          <p:cNvSpPr txBox="1"/>
          <p:nvPr/>
        </p:nvSpPr>
        <p:spPr>
          <a:xfrm>
            <a:off x="713232"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Fresh items</a:t>
            </a:r>
            <a:endParaRPr lang="en-US" sz="1500" dirty="0"/>
          </a:p>
        </p:txBody>
      </p:sp>
      <p:sp>
        <p:nvSpPr>
          <p:cNvPr id="23" name="Text 21"/>
          <p:cNvSpPr txBox="1"/>
          <p:nvPr/>
        </p:nvSpPr>
        <p:spPr>
          <a:xfrm>
            <a:off x="713232"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240 col, 160 tense, 120 language passages, disjoint from the pilot and template mining. No pilot number enters a test.</a:t>
            </a:r>
            <a:endParaRPr lang="en-US" sz="1300" dirty="0"/>
          </a:p>
        </p:txBody>
      </p:sp>
      <p:sp>
        <p:nvSpPr>
          <p:cNvPr id="24" name="Shape 22"/>
          <p:cNvSpPr/>
          <p:nvPr/>
        </p:nvSpPr>
        <p:spPr>
          <a:xfrm>
            <a:off x="3390824" y="4160520"/>
            <a:ext cx="2567864" cy="2194560"/>
          </a:xfrm>
          <a:prstGeom prst="roundRect">
            <a:avLst>
              <a:gd name="adj" fmla="val 3333"/>
            </a:avLst>
          </a:prstGeom>
          <a:solidFill>
            <a:schemeClr val="bg2"/>
          </a:solidFill>
          <a:ln w="12700">
            <a:solidFill>
              <a:schemeClr val="bg2"/>
            </a:solidFill>
            <a:prstDash val="solid"/>
          </a:ln>
        </p:spPr>
      </p:sp>
      <p:sp>
        <p:nvSpPr>
          <p:cNvPr id="25" name="Text 23"/>
          <p:cNvSpPr txBox="1"/>
          <p:nvPr/>
        </p:nvSpPr>
        <p:spPr>
          <a:xfrm>
            <a:off x="3555416"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Templates frozen literally</a:t>
            </a:r>
            <a:endParaRPr lang="en-US" sz="1500" dirty="0"/>
          </a:p>
        </p:txBody>
      </p:sp>
      <p:sp>
        <p:nvSpPr>
          <p:cNvPr id="26" name="Text 24"/>
          <p:cNvSpPr txBox="1"/>
          <p:nvPr/>
        </p:nvSpPr>
        <p:spPr>
          <a:xfrm>
            <a:off x="3555416"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 more mining, no new families.</a:t>
            </a:r>
            <a:endParaRPr lang="en-US" sz="1300" dirty="0"/>
          </a:p>
        </p:txBody>
      </p:sp>
      <p:sp>
        <p:nvSpPr>
          <p:cNvPr id="27" name="Shape 25"/>
          <p:cNvSpPr/>
          <p:nvPr/>
        </p:nvSpPr>
        <p:spPr>
          <a:xfrm>
            <a:off x="6233008" y="4160520"/>
            <a:ext cx="2567864" cy="2194560"/>
          </a:xfrm>
          <a:prstGeom prst="roundRect">
            <a:avLst>
              <a:gd name="adj" fmla="val 3333"/>
            </a:avLst>
          </a:prstGeom>
          <a:solidFill>
            <a:schemeClr val="bg2"/>
          </a:solidFill>
          <a:ln w="12700">
            <a:solidFill>
              <a:schemeClr val="bg2"/>
            </a:solidFill>
            <a:prstDash val="solid"/>
          </a:ln>
        </p:spPr>
      </p:sp>
      <p:sp>
        <p:nvSpPr>
          <p:cNvPr id="28" name="Text 26"/>
          <p:cNvSpPr txBox="1"/>
          <p:nvPr/>
        </p:nvSpPr>
        <p:spPr>
          <a:xfrm>
            <a:off x="6397600"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Pre-registered negatives</a:t>
            </a:r>
            <a:endParaRPr lang="en-US" sz="1500" dirty="0"/>
          </a:p>
        </p:txBody>
      </p:sp>
      <p:sp>
        <p:nvSpPr>
          <p:cNvPr id="29" name="Text 27"/>
          <p:cNvSpPr txBox="1"/>
          <p:nvPr/>
        </p:nvSpPr>
        <p:spPr>
          <a:xfrm>
            <a:off x="6397600"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OL descriptive col families N1–N5 flat: TOST, SESOI AUROC 0.55 (fraction of probe 0.10).</a:t>
            </a:r>
            <a:endParaRPr lang="en-US" sz="1300" dirty="0"/>
          </a:p>
        </p:txBody>
      </p:sp>
      <p:sp>
        <p:nvSpPr>
          <p:cNvPr id="30" name="Shape 28"/>
          <p:cNvSpPr/>
          <p:nvPr/>
        </p:nvSpPr>
        <p:spPr>
          <a:xfrm>
            <a:off x="9075191" y="4160520"/>
            <a:ext cx="2567864" cy="2194560"/>
          </a:xfrm>
          <a:prstGeom prst="roundRect">
            <a:avLst>
              <a:gd name="adj" fmla="val 3333"/>
            </a:avLst>
          </a:prstGeom>
          <a:solidFill>
            <a:schemeClr val="bg2"/>
          </a:solidFill>
          <a:ln w="12700">
            <a:solidFill>
              <a:schemeClr val="bg2"/>
            </a:solidFill>
            <a:prstDash val="solid"/>
          </a:ln>
        </p:spPr>
      </p:sp>
      <p:sp>
        <p:nvSpPr>
          <p:cNvPr id="31" name="Text 29"/>
          <p:cNvSpPr txBox="1"/>
          <p:nvPr/>
        </p:nvSpPr>
        <p:spPr>
          <a:xfrm>
            <a:off x="9239783"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Template-free check (T1)</a:t>
            </a:r>
            <a:endParaRPr lang="en-US" sz="1500" dirty="0"/>
          </a:p>
        </p:txBody>
      </p:sp>
      <p:sp>
        <p:nvSpPr>
          <p:cNvPr id="32" name="Text 30"/>
          <p:cNvSpPr txBox="1"/>
          <p:nvPr/>
        </p:nvSpPr>
        <p:spPr>
          <a:xfrm>
            <a:off x="9239783"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Two judges, one pre-written yes/no question, 6,720 free readouts on 120 fresh col passages.</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HOW WE'LL CONFIRM IT · PREREG REVISION 4</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Four pre-registered primaries, tested once on fresh items; P1 may well fail</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502920"/>
                <a:gridCol w="1051560"/>
                <a:gridCol w="2743200"/>
                <a:gridCol w="3977640"/>
                <a:gridCol w="1554480"/>
                <a:gridCol w="1234440"/>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ID</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Reader</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Cell (all L42, centred, top-1,536 J-space removed, q90)</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Frozen template(s), + vs −</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Pilot (excluded)</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Prior</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329184">
                <a:tc>
                  <a:txBody>
                    <a:bodyPr/>
                    <a:lstStyle/>
                    <a:p>
                      <a:pPr indent="0" marL="0">
                        <a:buNone/>
                      </a:pPr>
                      <a:r>
                        <a:rPr lang="en-US" sz="1150" b="1" dirty="0">
                          <a:solidFill>
                            <a:srgbClr val="15222C"/>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NLA</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col, 02 covariance direction; Δ = 7.098 (≈ 0.079 of ‖h‖)</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'Mid-sentence continuation located near the end / at the beginning of a hard-wrapped line.'</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0.63, z +5.6 / +3.5</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0.35</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5222C"/>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Oracle Lens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same as P1</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 ↵the' vs '- the'; '- ↵and' vs '- and'; '- ↵of' vs '- of' (↵ = newline; mean of 3)</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0.67, z +3.9 / +3.9</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0.55</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b="1" dirty="0">
                          <a:solidFill>
                            <a:srgbClr val="15222C"/>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Oracle Lens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tense (+ = past), 02 class-mean direction; Δ = 5.228 (≈ 0.059)</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 They were / are'; '- The village had / has'; '- It was / is'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0.66, z +12.5 / +16.6</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0.90</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5222C"/>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NLA</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same as P3</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'Historical / Descriptive register'; '… factual'; '… tone'</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0.59, z +7.5 / +9.2</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0.85</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bl>
          </a:graphicData>
        </a:graphic>
      </p:graphicFrame>
      <p:sp>
        <p:nvSpPr>
          <p:cNvPr id="8" name="Text 5"/>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200" dirty="0">
                <a:solidFill>
                  <a:schemeClr val="accent5"/>
                </a:solidFill>
              </a:rPr>
              <a:t>Claim = z ≥ 3 vs both bands (K = 100 each) and beats all 100 nulls · Holm over 4 · sign agreement with the declared-secondary family · not void (leak, FVE). Also pre-registered: PC1/PC2 positive controls (language, tense, r11), negatives N1–N5 (TOST, SESOI AUROC 0.55), template-free judge check T1. Honest prediction: P1's family-mean z is only +2.5–2.9, so winner's-curse shrinkage may fail it.</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RUNNING ANCHOR · WHAT WE KNOW SO FAR</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we know so far (3 / 4): workspace features yes; col only through candidate narrow channels</a:t>
            </a:r>
            <a:endParaRPr lang="en-US" sz="2800" dirty="0"/>
          </a:p>
        </p:txBody>
      </p:sp>
      <p:sp>
        <p:nvSpPr>
          <p:cNvPr id="7" name="Shape 5"/>
          <p:cNvSpPr/>
          <p:nvPr/>
        </p:nvSpPr>
        <p:spPr>
          <a:xfrm>
            <a:off x="548640" y="5486400"/>
            <a:ext cx="11094415" cy="640080"/>
          </a:xfrm>
          <a:prstGeom prst="roundRect">
            <a:avLst>
              <a:gd name="adj" fmla="val 11429"/>
            </a:avLst>
          </a:prstGeom>
          <a:solidFill>
            <a:schemeClr val="bg1"/>
          </a:solidFill>
          <a:ln w="15875">
            <a:solidFill>
              <a:schemeClr val="accent4"/>
            </a:solidFill>
            <a:prstDash val="solid"/>
          </a:ln>
        </p:spPr>
      </p:sp>
      <p:sp>
        <p:nvSpPr>
          <p:cNvPr id="8" name="Text 6"/>
          <p:cNvSpPr txBox="1"/>
          <p:nvPr/>
        </p:nvSpPr>
        <p:spPr>
          <a:xfrm>
            <a:off x="713232" y="5650992"/>
            <a:ext cx="10765231" cy="376733"/>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Next → Part C: so what do the decoders read beyond the workspace?</a:t>
            </a:r>
            <a:endParaRPr lang="en-US" sz="1600" dirty="0"/>
          </a:p>
        </p:txBody>
      </p:sp>
      <p:sp>
        <p:nvSpPr>
          <p:cNvPr id="9" name="Shape 7"/>
          <p:cNvSpPr/>
          <p:nvPr/>
        </p:nvSpPr>
        <p:spPr>
          <a:xfrm>
            <a:off x="548640" y="1700784"/>
            <a:ext cx="1325880" cy="256032"/>
          </a:xfrm>
          <a:prstGeom prst="roundRect">
            <a:avLst>
              <a:gd name="adj" fmla="val 53571"/>
            </a:avLst>
          </a:prstGeom>
          <a:solidFill>
            <a:schemeClr val="tx1"/>
          </a:solidFill>
          <a:ln w="12700">
            <a:solidFill>
              <a:schemeClr val="tx1"/>
            </a:solidFill>
            <a:prstDash val="solid"/>
          </a:ln>
        </p:spPr>
      </p:sp>
      <p:sp>
        <p:nvSpPr>
          <p:cNvPr id="10" name="Text 8"/>
          <p:cNvSpPr txBox="1"/>
          <p:nvPr/>
        </p:nvSpPr>
        <p:spPr>
          <a:xfrm>
            <a:off x="548640" y="170078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1" name="Text 9"/>
          <p:cNvSpPr txBox="1"/>
          <p:nvPr/>
        </p:nvSpPr>
        <p:spPr>
          <a:xfrm>
            <a:off x="2103120" y="1664208"/>
            <a:ext cx="9539935" cy="426339"/>
          </a:xfrm>
          <a:prstGeom prst="rect">
            <a:avLst/>
          </a:prstGeom>
          <a:noFill/>
          <a:ln/>
        </p:spPr>
        <p:txBody>
          <a:bodyPr wrap="square" lIns="0" tIns="0" rIns="0" bIns="0" rtlCol="0" anchor="t"/>
          <a:lstStyle/>
          <a:p>
            <a:pPr indent="0" marL="0">
              <a:buNone/>
            </a:pPr>
            <a:r>
              <a:rPr lang="en-US" sz="1350" dirty="0">
                <a:solidFill>
                  <a:schemeClr val="accent5"/>
                </a:solidFill>
              </a:rPr>
              <a:t>The instruments are sound: NLA layer convention pinned (block 42), FVE 0.761 reproduced, WorkspaceBench 12/12 replicated.</a:t>
            </a:r>
            <a:endParaRPr lang="en-US" sz="1350" dirty="0"/>
          </a:p>
        </p:txBody>
      </p:sp>
      <p:sp>
        <p:nvSpPr>
          <p:cNvPr id="12" name="Shape 10"/>
          <p:cNvSpPr/>
          <p:nvPr/>
        </p:nvSpPr>
        <p:spPr>
          <a:xfrm>
            <a:off x="548640" y="2163699"/>
            <a:ext cx="1325880" cy="256032"/>
          </a:xfrm>
          <a:prstGeom prst="roundRect">
            <a:avLst>
              <a:gd name="adj" fmla="val 53571"/>
            </a:avLst>
          </a:prstGeom>
          <a:solidFill>
            <a:schemeClr val="tx1"/>
          </a:solidFill>
          <a:ln w="12700">
            <a:solidFill>
              <a:schemeClr val="tx1"/>
            </a:solidFill>
            <a:prstDash val="solid"/>
          </a:ln>
        </p:spPr>
      </p:sp>
      <p:sp>
        <p:nvSpPr>
          <p:cNvPr id="13" name="Text 11"/>
          <p:cNvSpPr txBox="1"/>
          <p:nvPr/>
        </p:nvSpPr>
        <p:spPr>
          <a:xfrm>
            <a:off x="548640" y="216369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4" name="Text 12"/>
          <p:cNvSpPr txBox="1"/>
          <p:nvPr/>
        </p:nvSpPr>
        <p:spPr>
          <a:xfrm>
            <a:off x="2103120" y="2127123"/>
            <a:ext cx="9539935" cy="426339"/>
          </a:xfrm>
          <a:prstGeom prst="rect">
            <a:avLst/>
          </a:prstGeom>
          <a:noFill/>
          <a:ln/>
        </p:spPr>
        <p:txBody>
          <a:bodyPr wrap="square" lIns="0" tIns="0" rIns="0" bIns="0" rtlCol="0" anchor="t"/>
          <a:lstStyle/>
          <a:p>
            <a:pPr indent="0" marL="0">
              <a:buNone/>
            </a:pPr>
            <a:r>
              <a:rPr lang="en-US" sz="1350" dirty="0">
                <a:solidFill>
                  <a:schemeClr val="accent5"/>
                </a:solidFill>
              </a:rPr>
              <a:t>At the same layer (42) the NLA ties or beats the Oracle Lens; OL's published lead comes from a best-of-11-layers protocol.</a:t>
            </a:r>
            <a:endParaRPr lang="en-US" sz="1350" dirty="0"/>
          </a:p>
        </p:txBody>
      </p:sp>
      <p:sp>
        <p:nvSpPr>
          <p:cNvPr id="15" name="Shape 13"/>
          <p:cNvSpPr/>
          <p:nvPr/>
        </p:nvSpPr>
        <p:spPr>
          <a:xfrm>
            <a:off x="548640" y="2626614"/>
            <a:ext cx="1325880" cy="256032"/>
          </a:xfrm>
          <a:prstGeom prst="roundRect">
            <a:avLst>
              <a:gd name="adj" fmla="val 53571"/>
            </a:avLst>
          </a:prstGeom>
          <a:solidFill>
            <a:schemeClr val="tx1"/>
          </a:solidFill>
          <a:ln w="12700">
            <a:solidFill>
              <a:schemeClr val="tx1"/>
            </a:solidFill>
            <a:prstDash val="solid"/>
          </a:ln>
        </p:spPr>
      </p:sp>
      <p:sp>
        <p:nvSpPr>
          <p:cNvPr id="16" name="Text 14"/>
          <p:cNvSpPr txBox="1"/>
          <p:nvPr/>
        </p:nvSpPr>
        <p:spPr>
          <a:xfrm>
            <a:off x="548640" y="262661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7" name="Text 15"/>
          <p:cNvSpPr txBox="1"/>
          <p:nvPr/>
        </p:nvSpPr>
        <p:spPr>
          <a:xfrm>
            <a:off x="2103120" y="2590038"/>
            <a:ext cx="9539935" cy="426339"/>
          </a:xfrm>
          <a:prstGeom prst="rect">
            <a:avLst/>
          </a:prstGeom>
          <a:noFill/>
          <a:ln/>
        </p:spPr>
        <p:txBody>
          <a:bodyPr wrap="square" lIns="0" tIns="0" rIns="0" bIns="0" rtlCol="0" anchor="t"/>
          <a:lstStyle/>
          <a:p>
            <a:pPr indent="0" marL="0">
              <a:buNone/>
            </a:pPr>
            <a:r>
              <a:rPr lang="en-US" sz="1350" dirty="0">
                <a:solidFill>
                  <a:schemeClr val="accent5"/>
                </a:solidFill>
              </a:rPr>
              <a:t>The standard 'probe survives J-removal' test cannot tell in-J from non-J: topic and language pass it too.</a:t>
            </a:r>
            <a:endParaRPr lang="en-US" sz="1350" dirty="0"/>
          </a:p>
        </p:txBody>
      </p:sp>
      <p:sp>
        <p:nvSpPr>
          <p:cNvPr id="18" name="Shape 16"/>
          <p:cNvSpPr/>
          <p:nvPr/>
        </p:nvSpPr>
        <p:spPr>
          <a:xfrm>
            <a:off x="548640" y="3089529"/>
            <a:ext cx="1325880" cy="256032"/>
          </a:xfrm>
          <a:prstGeom prst="roundRect">
            <a:avLst>
              <a:gd name="adj" fmla="val 53571"/>
            </a:avLst>
          </a:prstGeom>
          <a:solidFill>
            <a:schemeClr val="tx1"/>
          </a:solidFill>
          <a:ln w="12700">
            <a:solidFill>
              <a:schemeClr val="tx1"/>
            </a:solidFill>
            <a:prstDash val="solid"/>
          </a:ln>
        </p:spPr>
      </p:sp>
      <p:sp>
        <p:nvSpPr>
          <p:cNvPr id="19" name="Text 17"/>
          <p:cNvSpPr txBox="1"/>
          <p:nvPr/>
        </p:nvSpPr>
        <p:spPr>
          <a:xfrm>
            <a:off x="548640" y="308952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20" name="Text 18"/>
          <p:cNvSpPr txBox="1"/>
          <p:nvPr/>
        </p:nvSpPr>
        <p:spPr>
          <a:xfrm>
            <a:off x="2103120" y="3052953"/>
            <a:ext cx="9539935" cy="426339"/>
          </a:xfrm>
          <a:prstGeom prst="rect">
            <a:avLst/>
          </a:prstGeom>
          <a:noFill/>
          <a:ln/>
        </p:spPr>
        <p:txBody>
          <a:bodyPr wrap="square" lIns="0" tIns="0" rIns="0" bIns="0" rtlCol="0" anchor="t"/>
          <a:lstStyle/>
          <a:p>
            <a:pPr indent="0" marL="0">
              <a:buNone/>
            </a:pPr>
            <a:r>
              <a:rPr lang="en-US" sz="1350" dirty="0">
                <a:solidFill>
                  <a:schemeClr val="accent5"/>
                </a:solidFill>
              </a:rPr>
              <a:t>Under a calibrated gate only col (characters since newline) is cleanly non-J; POS, tense, capitalisation, quotes, code language are J-enriched or J-readable.</a:t>
            </a:r>
            <a:endParaRPr lang="en-US" sz="1350" dirty="0"/>
          </a:p>
        </p:txBody>
      </p:sp>
      <p:sp>
        <p:nvSpPr>
          <p:cNvPr id="21" name="Shape 19"/>
          <p:cNvSpPr/>
          <p:nvPr/>
        </p:nvSpPr>
        <p:spPr>
          <a:xfrm>
            <a:off x="548640" y="3552444"/>
            <a:ext cx="1325880" cy="256032"/>
          </a:xfrm>
          <a:prstGeom prst="roundRect">
            <a:avLst>
              <a:gd name="adj" fmla="val 53571"/>
            </a:avLst>
          </a:prstGeom>
          <a:solidFill>
            <a:schemeClr val="tx1"/>
          </a:solidFill>
          <a:ln w="12700">
            <a:solidFill>
              <a:schemeClr val="tx1"/>
            </a:solidFill>
            <a:prstDash val="solid"/>
          </a:ln>
        </p:spPr>
      </p:sp>
      <p:sp>
        <p:nvSpPr>
          <p:cNvPr id="22" name="Text 20"/>
          <p:cNvSpPr txBox="1"/>
          <p:nvPr/>
        </p:nvSpPr>
        <p:spPr>
          <a:xfrm>
            <a:off x="548640" y="355244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23" name="Text 21"/>
          <p:cNvSpPr txBox="1"/>
          <p:nvPr/>
        </p:nvSpPr>
        <p:spPr>
          <a:xfrm>
            <a:off x="2103120" y="3515868"/>
            <a:ext cx="9539935" cy="426339"/>
          </a:xfrm>
          <a:prstGeom prst="rect">
            <a:avLst/>
          </a:prstGeom>
          <a:noFill/>
          <a:ln/>
        </p:spPr>
        <p:txBody>
          <a:bodyPr wrap="square" lIns="0" tIns="0" rIns="0" bIns="0" rtlCol="0" anchor="t"/>
          <a:lstStyle/>
          <a:p>
            <a:pPr indent="0" marL="0">
              <a:buNone/>
            </a:pPr>
            <a:r>
              <a:rPr lang="en-US" sz="1350" dirty="0">
                <a:solidFill>
                  <a:schemeClr val="accent5"/>
                </a:solidFill>
              </a:rPr>
              <a:t>Survey of ~12 features: non-J content the model uses on Qwen L42 looks like positional bookkeeping; numbers never enter the J-space.</a:t>
            </a:r>
            <a:endParaRPr lang="en-US" sz="1350" dirty="0"/>
          </a:p>
        </p:txBody>
      </p:sp>
      <p:sp>
        <p:nvSpPr>
          <p:cNvPr id="24" name="Shape 22"/>
          <p:cNvSpPr/>
          <p:nvPr/>
        </p:nvSpPr>
        <p:spPr>
          <a:xfrm>
            <a:off x="548640" y="4015359"/>
            <a:ext cx="1325880" cy="256032"/>
          </a:xfrm>
          <a:prstGeom prst="roundRect">
            <a:avLst>
              <a:gd name="adj" fmla="val 53571"/>
            </a:avLst>
          </a:prstGeom>
          <a:solidFill>
            <a:schemeClr val="accent4"/>
          </a:solidFill>
          <a:ln w="12700">
            <a:solidFill>
              <a:schemeClr val="accent4"/>
            </a:solidFill>
            <a:prstDash val="solid"/>
          </a:ln>
        </p:spPr>
      </p:sp>
      <p:sp>
        <p:nvSpPr>
          <p:cNvPr id="25" name="Text 23"/>
          <p:cNvSpPr txBox="1"/>
          <p:nvPr/>
        </p:nvSpPr>
        <p:spPr>
          <a:xfrm>
            <a:off x="548640" y="401535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26" name="Text 24"/>
          <p:cNvSpPr txBox="1"/>
          <p:nvPr/>
        </p:nvSpPr>
        <p:spPr>
          <a:xfrm>
            <a:off x="2103120" y="3978783"/>
            <a:ext cx="9539935" cy="426339"/>
          </a:xfrm>
          <a:prstGeom prst="rect">
            <a:avLst/>
          </a:prstGeom>
          <a:noFill/>
          <a:ln/>
        </p:spPr>
        <p:txBody>
          <a:bodyPr wrap="square" lIns="0" tIns="0" rIns="0" bIns="0" rtlCol="0" anchor="t"/>
          <a:lstStyle/>
          <a:p>
            <a:pPr indent="0" marL="0">
              <a:buNone/>
            </a:pPr>
            <a:r>
              <a:rPr lang="en-US" sz="1350" b="1" dirty="0">
                <a:solidFill>
                  <a:schemeClr val="tx1"/>
                </a:solidFill>
              </a:rPr>
              <a:t>No robust descriptive reading of col: fixed templates stay inside the null band (NLA ≤ 0.53, OL ≤ 0.51), and no readout mentions line length.</a:t>
            </a:r>
            <a:endParaRPr lang="en-US" sz="1350" dirty="0"/>
          </a:p>
        </p:txBody>
      </p:sp>
      <p:sp>
        <p:nvSpPr>
          <p:cNvPr id="27" name="Shape 25"/>
          <p:cNvSpPr/>
          <p:nvPr/>
        </p:nvSpPr>
        <p:spPr>
          <a:xfrm>
            <a:off x="548640" y="4478274"/>
            <a:ext cx="1325880" cy="256032"/>
          </a:xfrm>
          <a:prstGeom prst="roundRect">
            <a:avLst>
              <a:gd name="adj" fmla="val 53571"/>
            </a:avLst>
          </a:prstGeom>
          <a:solidFill>
            <a:schemeClr val="accent4"/>
          </a:solidFill>
          <a:ln w="12700">
            <a:solidFill>
              <a:schemeClr val="accent4"/>
            </a:solidFill>
            <a:prstDash val="solid"/>
          </a:ln>
        </p:spPr>
      </p:sp>
      <p:sp>
        <p:nvSpPr>
          <p:cNvPr id="28" name="Text 26"/>
          <p:cNvSpPr txBox="1"/>
          <p:nvPr/>
        </p:nvSpPr>
        <p:spPr>
          <a:xfrm>
            <a:off x="548640" y="447827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29" name="Text 27"/>
          <p:cNvSpPr txBox="1"/>
          <p:nvPr/>
        </p:nvSpPr>
        <p:spPr>
          <a:xfrm>
            <a:off x="2103120" y="4441698"/>
            <a:ext cx="9539935" cy="426339"/>
          </a:xfrm>
          <a:prstGeom prst="rect">
            <a:avLst/>
          </a:prstGeom>
          <a:noFill/>
          <a:ln/>
        </p:spPr>
        <p:txBody>
          <a:bodyPr wrap="square" lIns="0" tIns="0" rIns="0" bIns="0" rtlCol="0" anchor="t"/>
          <a:lstStyle/>
          <a:p>
            <a:pPr indent="0" marL="0">
              <a:buNone/>
            </a:pPr>
            <a:r>
              <a:rPr lang="en-US" sz="1350" b="1" dirty="0">
                <a:solidFill>
                  <a:schemeClr val="tx1"/>
                </a:solidFill>
              </a:rPr>
              <a:t>At the same dose the NLA tracks language and tense (0.83–0.92) and OL tracks language; col stays at 0.47–0.48. NLA's null is secure; OL's less so (tense 0.55, template-fragile).</a:t>
            </a:r>
            <a:endParaRPr lang="en-US" sz="1350" dirty="0"/>
          </a:p>
        </p:txBody>
      </p:sp>
      <p:sp>
        <p:nvSpPr>
          <p:cNvPr id="30" name="Shape 28"/>
          <p:cNvSpPr/>
          <p:nvPr/>
        </p:nvSpPr>
        <p:spPr>
          <a:xfrm>
            <a:off x="548640" y="4941189"/>
            <a:ext cx="1325880" cy="256032"/>
          </a:xfrm>
          <a:prstGeom prst="roundRect">
            <a:avLst>
              <a:gd name="adj" fmla="val 53571"/>
            </a:avLst>
          </a:prstGeom>
          <a:solidFill>
            <a:schemeClr val="accent4"/>
          </a:solidFill>
          <a:ln w="12700">
            <a:solidFill>
              <a:schemeClr val="accent4"/>
            </a:solidFill>
            <a:prstDash val="solid"/>
          </a:ln>
        </p:spPr>
      </p:sp>
      <p:sp>
        <p:nvSpPr>
          <p:cNvPr id="31" name="Text 29"/>
          <p:cNvSpPr txBox="1"/>
          <p:nvPr/>
        </p:nvSpPr>
        <p:spPr>
          <a:xfrm>
            <a:off x="548640" y="494118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32" name="Text 30"/>
          <p:cNvSpPr txBox="1"/>
          <p:nvPr/>
        </p:nvSpPr>
        <p:spPr>
          <a:xfrm>
            <a:off x="2103120" y="4904613"/>
            <a:ext cx="9539935" cy="426339"/>
          </a:xfrm>
          <a:prstGeom prst="rect">
            <a:avLst/>
          </a:prstGeom>
          <a:noFill/>
          <a:ln/>
        </p:spPr>
        <p:txBody>
          <a:bodyPr wrap="square" lIns="0" tIns="0" rIns="0" bIns="0" rtlCol="0" anchor="t"/>
          <a:lstStyle/>
          <a:p>
            <a:pPr indent="0" marL="0">
              <a:buNone/>
            </a:pPr>
            <a:r>
              <a:rPr lang="en-US" sz="1350" b="1" dirty="0">
                <a:solidFill>
                  <a:schemeClr val="tx1"/>
                </a:solidFill>
              </a:rPr>
              <a:t>Two candidate narrow channels, pre-registered for confirmation: OL's next-token continuation (J-removed 0.67–0.72, z ≈ +3.9; needs the adapter) and one NLA template (q90 0.63, borderline).</a:t>
            </a:r>
            <a:endParaRPr lang="en-US" sz="13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1188720"/>
            <a:ext cx="274320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03</a:t>
            </a:r>
            <a:endParaRPr lang="en-US" sz="5400" dirty="0"/>
          </a:p>
        </p:txBody>
      </p:sp>
      <p:sp>
        <p:nvSpPr>
          <p:cNvPr id="3" name="Text 0"/>
          <p:cNvSpPr/>
          <p:nvPr>
            <p:ph idx="100" type="title" hasCustomPrompt="1"/>
          </p:nvPr>
        </p:nvSpPr>
        <p:spPr>
          <a:xfrm>
            <a:off x="731520" y="214884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Part C: what the decoders do read beyond the workspace</a:t>
            </a:r>
            <a:endParaRPr lang="en-US" sz="4000" dirty="0"/>
          </a:p>
        </p:txBody>
      </p:sp>
      <p:sp>
        <p:nvSpPr>
          <p:cNvPr id="4" name="Text 0"/>
          <p:cNvSpPr/>
          <p:nvPr>
            <p:ph idx="101" type="body" hasCustomPrompt="1"/>
          </p:nvPr>
        </p:nvSpPr>
        <p:spPr>
          <a:xfrm>
            <a:off x="731520" y="3657600"/>
            <a:ext cx="1005840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The tail of verbalisable features, and a story generated from the latent</a:t>
            </a:r>
            <a:endParaRPr lang="en-US" sz="1800" dirty="0"/>
          </a:p>
        </p:txBody>
      </p:sp>
      <p:sp>
        <p:nvSpPr>
          <p:cNvPr id="5" name="Shape 3"/>
          <p:cNvSpPr/>
          <p:nvPr/>
        </p:nvSpPr>
        <p:spPr>
          <a:xfrm>
            <a:off x="731520" y="5715000"/>
            <a:ext cx="10728655" cy="914"/>
          </a:xfrm>
          <a:prstGeom prst="line">
            <a:avLst/>
          </a:prstGeom>
          <a:noFill/>
          <a:ln w="15875">
            <a:solidFill>
              <a:schemeClr val="accent5"/>
            </a:solidFill>
            <a:prstDash val="solid"/>
          </a:ln>
        </p:spPr>
      </p:sp>
      <p:sp>
        <p:nvSpPr>
          <p:cNvPr id="6" name="Shape 4"/>
          <p:cNvSpPr/>
          <p:nvPr/>
        </p:nvSpPr>
        <p:spPr>
          <a:xfrm>
            <a:off x="690372" y="567385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67385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67385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67385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67385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67385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67385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67385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67385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67385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67385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67385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67385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67385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67385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67385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61441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61441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61441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587959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C · THE TENSE TAIL (A MAIN-RUN PRIMARY)</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Both decoders read tense with the top-1,536 J-space removed; with mined templates OL ≥ NLA</a:t>
            </a:r>
            <a:endParaRPr lang="en-US" sz="2800" dirty="0"/>
          </a:p>
        </p:txBody>
      </p:sp>
      <p:sp>
        <p:nvSpPr>
          <p:cNvPr id="7" name="Shape 5"/>
          <p:cNvSpPr/>
          <p:nvPr/>
        </p:nvSpPr>
        <p:spPr>
          <a:xfrm>
            <a:off x="8488375" y="237744"/>
            <a:ext cx="3154680" cy="292608"/>
          </a:xfrm>
          <a:prstGeom prst="roundRect">
            <a:avLst>
              <a:gd name="adj" fmla="val 46875"/>
            </a:avLst>
          </a:prstGeom>
          <a:solidFill>
            <a:schemeClr val="accent4"/>
          </a:solidFill>
          <a:ln w="12700">
            <a:solidFill>
              <a:schemeClr val="accent4"/>
            </a:solidFill>
            <a:prstDash val="solid"/>
          </a:ln>
        </p:spPr>
      </p:sp>
      <p:sp>
        <p:nvSpPr>
          <p:cNvPr id="8" name="Text 6"/>
          <p:cNvSpPr txBox="1"/>
          <p:nvPr/>
        </p:nvSpPr>
        <p:spPr>
          <a:xfrm>
            <a:off x="8488375" y="237744"/>
            <a:ext cx="3154680" cy="292608"/>
          </a:xfrm>
          <a:prstGeom prst="rect">
            <a:avLst/>
          </a:prstGeom>
          <a:noFill/>
          <a:ln/>
        </p:spPr>
        <p:txBody>
          <a:bodyPr wrap="square" lIns="0" tIns="0" rIns="0" bIns="0" rtlCol="0" anchor="ctr"/>
          <a:lstStyle/>
          <a:p>
            <a:pPr algn="ctr" indent="0" marL="0">
              <a:buNone/>
            </a:pPr>
            <a:r>
              <a:rPr lang="en-US" sz="1100" b="1" dirty="0">
                <a:solidFill>
                  <a:schemeClr val="bg1"/>
                </a:solidFill>
              </a:rPr>
              <a:t>PILOT · excluded from main analysis</a:t>
            </a:r>
            <a:endParaRPr lang="en-US" sz="1100" dirty="0"/>
          </a:p>
        </p:txBody>
      </p:sp>
      <p:graphicFrame>
        <p:nvGraphicFramePr>
          <p:cNvPr id="9" name="Chart 0" descr=""/>
          <p:cNvGraphicFramePr/>
          <p:nvPr/>
        </p:nvGraphicFramePr>
        <p:xfrm>
          <a:off x="457200" y="16459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903720" y="1691640"/>
            <a:ext cx="4739335" cy="516128"/>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0.66–0.79</a:t>
            </a:r>
            <a:endParaRPr lang="en-US" sz="3200" dirty="0"/>
          </a:p>
        </p:txBody>
      </p:sp>
      <p:sp>
        <p:nvSpPr>
          <p:cNvPr id="11" name="Text 8"/>
          <p:cNvSpPr txBox="1"/>
          <p:nvPr/>
        </p:nvSpPr>
        <p:spPr>
          <a:xfrm>
            <a:off x="6903720" y="2235200"/>
            <a:ext cx="4739335" cy="466344"/>
          </a:xfrm>
          <a:prstGeom prst="rect">
            <a:avLst/>
          </a:prstGeom>
          <a:noFill/>
          <a:ln/>
        </p:spPr>
        <p:txBody>
          <a:bodyPr wrap="square" lIns="0" tIns="0" rIns="0" bIns="0" rtlCol="0" anchor="t"/>
          <a:lstStyle/>
          <a:p>
            <a:pPr indent="0" marL="0">
              <a:buNone/>
            </a:pPr>
            <a:r>
              <a:rPr lang="en-US" sz="1300" dirty="0">
                <a:solidFill>
                  <a:schemeClr val="accent5"/>
                </a:solidFill>
              </a:rPr>
              <a:t>Oracle Lens with mined (continuation) templates, z +12 to +17</a:t>
            </a:r>
            <a:endParaRPr lang="en-US" sz="1300" dirty="0"/>
          </a:p>
        </p:txBody>
      </p:sp>
      <p:sp>
        <p:nvSpPr>
          <p:cNvPr id="12" name="Text 9"/>
          <p:cNvSpPr txBox="1"/>
          <p:nvPr/>
        </p:nvSpPr>
        <p:spPr>
          <a:xfrm>
            <a:off x="6903720" y="2875280"/>
            <a:ext cx="4739335" cy="516128"/>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0.59–0.74</a:t>
            </a:r>
            <a:endParaRPr lang="en-US" sz="3200" dirty="0"/>
          </a:p>
        </p:txBody>
      </p:sp>
      <p:sp>
        <p:nvSpPr>
          <p:cNvPr id="13" name="Text 10"/>
          <p:cNvSpPr txBox="1"/>
          <p:nvPr/>
        </p:nvSpPr>
        <p:spPr>
          <a:xfrm>
            <a:off x="6903720" y="3418840"/>
            <a:ext cx="4739335" cy="466344"/>
          </a:xfrm>
          <a:prstGeom prst="rect">
            <a:avLst/>
          </a:prstGeom>
          <a:noFill/>
          <a:ln/>
        </p:spPr>
        <p:txBody>
          <a:bodyPr wrap="square" lIns="0" tIns="0" rIns="0" bIns="0" rtlCol="0" anchor="t"/>
          <a:lstStyle/>
          <a:p>
            <a:pPr indent="0" marL="0">
              <a:buNone/>
            </a:pPr>
            <a:r>
              <a:rPr lang="en-US" sz="1300" dirty="0">
                <a:solidFill>
                  <a:schemeClr val="accent5"/>
                </a:solidFill>
              </a:rPr>
              <a:t>NLA with mined templates. The earlier 'NLA &gt; OL on tense 4r*' does not survive</a:t>
            </a:r>
            <a:endParaRPr lang="en-US" sz="1300" dirty="0"/>
          </a:p>
        </p:txBody>
      </p:sp>
      <p:sp>
        <p:nvSpPr>
          <p:cNvPr id="14" name="Shape 11"/>
          <p:cNvSpPr/>
          <p:nvPr/>
        </p:nvSpPr>
        <p:spPr>
          <a:xfrm>
            <a:off x="6903720" y="4058920"/>
            <a:ext cx="4739335" cy="1257300"/>
          </a:xfrm>
          <a:prstGeom prst="roundRect">
            <a:avLst>
              <a:gd name="adj" fmla="val 5818"/>
            </a:avLst>
          </a:prstGeom>
          <a:solidFill>
            <a:schemeClr val="bg2"/>
          </a:solidFill>
          <a:ln w="12700">
            <a:solidFill>
              <a:schemeClr val="bg2"/>
            </a:solidFill>
            <a:prstDash val="solid"/>
          </a:ln>
        </p:spPr>
      </p:sp>
      <p:sp>
        <p:nvSpPr>
          <p:cNvPr id="15" name="Text 12"/>
          <p:cNvSpPr txBox="1"/>
          <p:nvPr/>
        </p:nvSpPr>
        <p:spPr>
          <a:xfrm>
            <a:off x="7031736" y="4186936"/>
            <a:ext cx="4483303" cy="105247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Leak-free at layer 42 (J-Lens label words and a 66-verb content set don't move). A geometric claim: tense is self-reported at 87%, so this is the tail of a verbalisable feature, not 'what the model can't say'. OL adapter-off check for tense still to run.</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C · PLANTED INTERMEDIATES = IN-J CALIBRATION</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In-J calibration: when we plant a different bridge entity, all three readers report the planted one</a:t>
            </a:r>
            <a:endParaRPr lang="en-US" sz="2800" dirty="0"/>
          </a:p>
        </p:txBody>
      </p:sp>
      <p:graphicFrame>
        <p:nvGraphicFramePr>
          <p:cNvPr id="7" name="Chart 0" descr=""/>
          <p:cNvGraphicFramePr/>
          <p:nvPr/>
        </p:nvGraphicFramePr>
        <p:xfrm>
          <a:off x="457200" y="16459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903720" y="1691640"/>
            <a:ext cx="473933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431 / 614</a:t>
            </a:r>
            <a:endParaRPr lang="en-US" sz="3000" dirty="0"/>
          </a:p>
        </p:txBody>
      </p:sp>
      <p:sp>
        <p:nvSpPr>
          <p:cNvPr id="9" name="Text 6"/>
          <p:cNvSpPr txBox="1"/>
          <p:nvPr/>
        </p:nvSpPr>
        <p:spPr>
          <a:xfrm>
            <a:off x="6903720" y="2209800"/>
            <a:ext cx="4739335" cy="676656"/>
          </a:xfrm>
          <a:prstGeom prst="rect">
            <a:avLst/>
          </a:prstGeom>
          <a:noFill/>
          <a:ln/>
        </p:spPr>
        <p:txBody>
          <a:bodyPr wrap="square" lIns="0" tIns="0" rIns="0" bIns="0" rtlCol="0" anchor="t"/>
          <a:lstStyle/>
          <a:p>
            <a:pPr indent="0" marL="0">
              <a:buNone/>
            </a:pPr>
            <a:r>
              <a:rPr lang="en-US" sz="1300" dirty="0">
                <a:solidFill>
                  <a:schemeClr val="accent5"/>
                </a:solidFill>
              </a:rPr>
              <a:t>items kept at layer 38: the model's answer flips, unrelated prompts barely change (KL ≤ 0.1), the prompt is still decodable</a:t>
            </a:r>
            <a:endParaRPr lang="en-US" sz="1300" dirty="0"/>
          </a:p>
        </p:txBody>
      </p:sp>
      <p:sp>
        <p:nvSpPr>
          <p:cNvPr id="10" name="Text 7"/>
          <p:cNvSpPr txBox="1"/>
          <p:nvPr/>
        </p:nvSpPr>
        <p:spPr>
          <a:xfrm>
            <a:off x="6903720" y="3060192"/>
            <a:ext cx="473933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z ≥ +84</a:t>
            </a:r>
            <a:endParaRPr lang="en-US" sz="3000" dirty="0"/>
          </a:p>
        </p:txBody>
      </p:sp>
      <p:sp>
        <p:nvSpPr>
          <p:cNvPr id="11" name="Text 8"/>
          <p:cNvSpPr txBox="1"/>
          <p:nvPr/>
        </p:nvSpPr>
        <p:spPr>
          <a:xfrm>
            <a:off x="6903720" y="3578352"/>
            <a:ext cx="4739335" cy="466344"/>
          </a:xfrm>
          <a:prstGeom prst="rect">
            <a:avLst/>
          </a:prstGeom>
          <a:noFill/>
          <a:ln/>
        </p:spPr>
        <p:txBody>
          <a:bodyPr wrap="square" lIns="0" tIns="0" rIns="0" bIns="0" rtlCol="0" anchor="t"/>
          <a:lstStyle/>
          <a:p>
            <a:pPr indent="0" marL="0">
              <a:buNone/>
            </a:pPr>
            <a:r>
              <a:rPr lang="en-US" sz="1300" dirty="0">
                <a:solidFill>
                  <a:schemeClr val="accent5"/>
                </a:solidFill>
              </a:rPr>
              <a:t>against random plants of the same size (OL +166, NLA +112, J-Lens +168 vs the isotropic band)</a:t>
            </a:r>
            <a:endParaRPr lang="en-US" sz="1300" dirty="0"/>
          </a:p>
        </p:txBody>
      </p:sp>
      <p:sp>
        <p:nvSpPr>
          <p:cNvPr id="12" name="Shape 9"/>
          <p:cNvSpPr/>
          <p:nvPr/>
        </p:nvSpPr>
        <p:spPr>
          <a:xfrm>
            <a:off x="6903720" y="4218432"/>
            <a:ext cx="4739335" cy="864108"/>
          </a:xfrm>
          <a:prstGeom prst="roundRect">
            <a:avLst>
              <a:gd name="adj" fmla="val 8466"/>
            </a:avLst>
          </a:prstGeom>
          <a:solidFill>
            <a:schemeClr val="bg2"/>
          </a:solidFill>
          <a:ln w="12700">
            <a:solidFill>
              <a:schemeClr val="bg2"/>
            </a:solidFill>
            <a:prstDash val="solid"/>
          </a:ln>
        </p:spPr>
      </p:sp>
      <p:sp>
        <p:nvSpPr>
          <p:cNvPr id="13" name="Text 10"/>
          <p:cNvSpPr txBox="1"/>
          <p:nvPr/>
        </p:nvSpPr>
        <p:spPr>
          <a:xfrm>
            <a:off x="7031736" y="4346448"/>
            <a:ext cx="4483303" cy="65928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This is in-J calibration, not non-J evidence: the swap direction is 6.5× J-enriched, and by layer 42 the model already encodes Y's answer.</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C · THE NLA GENERATES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NLA doesn't re-solve the text: it rewrites the clue to fit the planted bridge</a:t>
            </a:r>
            <a:endParaRPr lang="en-US" sz="2800" dirty="0"/>
          </a:p>
        </p:txBody>
      </p:sp>
      <p:sp>
        <p:nvSpPr>
          <p:cNvPr id="7" name="Text 5"/>
          <p:cNvSpPr txBox="1"/>
          <p:nvPr/>
        </p:nvSpPr>
        <p:spPr>
          <a:xfrm>
            <a:off x="548640" y="1691640"/>
            <a:ext cx="6400800" cy="256032"/>
          </a:xfrm>
          <a:prstGeom prst="rect">
            <a:avLst/>
          </a:prstGeom>
          <a:noFill/>
          <a:ln/>
        </p:spPr>
        <p:txBody>
          <a:bodyPr wrap="square" lIns="0" tIns="0" rIns="0" bIns="0" rtlCol="0" anchor="t"/>
          <a:lstStyle/>
          <a:p>
            <a:pPr indent="0" marL="0">
              <a:buNone/>
            </a:pPr>
            <a:r>
              <a:rPr lang="en-US" sz="1100" b="1" spc="150" kern="0" dirty="0">
                <a:solidFill>
                  <a:schemeClr val="accent5"/>
                </a:solidFill>
              </a:rPr>
              <a:t>PROMPT (UNCHANGED)</a:t>
            </a:r>
            <a:endParaRPr lang="en-US" sz="1100" dirty="0"/>
          </a:p>
        </p:txBody>
      </p:sp>
      <p:sp>
        <p:nvSpPr>
          <p:cNvPr id="8" name="Shape 6"/>
          <p:cNvSpPr/>
          <p:nvPr/>
        </p:nvSpPr>
        <p:spPr>
          <a:xfrm>
            <a:off x="548640" y="1965960"/>
            <a:ext cx="6400800" cy="685800"/>
          </a:xfrm>
          <a:prstGeom prst="roundRect">
            <a:avLst>
              <a:gd name="adj" fmla="val 10667"/>
            </a:avLst>
          </a:prstGeom>
          <a:solidFill>
            <a:schemeClr val="bg2"/>
          </a:solidFill>
          <a:ln w="12700">
            <a:solidFill>
              <a:schemeClr val="bg2"/>
            </a:solidFill>
            <a:prstDash val="solid"/>
          </a:ln>
        </p:spPr>
      </p:sp>
      <p:sp>
        <p:nvSpPr>
          <p:cNvPr id="9" name="Text 7"/>
          <p:cNvSpPr txBox="1"/>
          <p:nvPr/>
        </p:nvSpPr>
        <p:spPr>
          <a:xfrm>
            <a:off x="731520" y="2011680"/>
            <a:ext cx="6035040" cy="59436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Fact: The capital of the country famous for the Eiffel Tower is</a:t>
            </a:r>
            <a:endParaRPr lang="en-US" sz="1400" dirty="0"/>
          </a:p>
        </p:txBody>
      </p:sp>
      <p:sp>
        <p:nvSpPr>
          <p:cNvPr id="10" name="Text 8"/>
          <p:cNvSpPr txBox="1"/>
          <p:nvPr/>
        </p:nvSpPr>
        <p:spPr>
          <a:xfrm>
            <a:off x="548640" y="2743200"/>
            <a:ext cx="6400800" cy="502920"/>
          </a:xfrm>
          <a:prstGeom prst="rect">
            <a:avLst/>
          </a:prstGeom>
          <a:noFill/>
          <a:ln/>
        </p:spPr>
        <p:txBody>
          <a:bodyPr wrap="square" lIns="0" tIns="0" rIns="0" bIns="0" rtlCol="0" anchor="t"/>
          <a:lstStyle/>
          <a:p>
            <a:pPr indent="0" marL="0">
              <a:buNone/>
            </a:pPr>
            <a:r>
              <a:rPr lang="en-US" sz="1400" b="1" dirty="0">
                <a:solidFill>
                  <a:schemeClr val="accent5"/>
                </a:solidFill>
              </a:rPr>
              <a:t>Bridge planted inside the activation: Sweden (the text still says Eiffel Tower)</a:t>
            </a:r>
            <a:endParaRPr lang="en-US" sz="1400" dirty="0"/>
          </a:p>
        </p:txBody>
      </p:sp>
      <p:sp>
        <p:nvSpPr>
          <p:cNvPr id="11" name="Shape 9"/>
          <p:cNvSpPr/>
          <p:nvPr/>
        </p:nvSpPr>
        <p:spPr>
          <a:xfrm>
            <a:off x="3749040" y="3246120"/>
            <a:ext cx="914" cy="274320"/>
          </a:xfrm>
          <a:prstGeom prst="line">
            <a:avLst/>
          </a:prstGeom>
          <a:noFill/>
          <a:ln w="25400">
            <a:solidFill>
              <a:schemeClr val="accent1"/>
            </a:solidFill>
            <a:prstDash val="solid"/>
            <a:tailEnd type="triangle"/>
          </a:ln>
        </p:spPr>
      </p:sp>
      <p:sp>
        <p:nvSpPr>
          <p:cNvPr id="12" name="Shape 10"/>
          <p:cNvSpPr/>
          <p:nvPr/>
        </p:nvSpPr>
        <p:spPr>
          <a:xfrm>
            <a:off x="548640" y="3566160"/>
            <a:ext cx="6400800" cy="1143000"/>
          </a:xfrm>
          <a:prstGeom prst="roundRect">
            <a:avLst>
              <a:gd name="adj" fmla="val 6400"/>
            </a:avLst>
          </a:prstGeom>
          <a:solidFill>
            <a:schemeClr val="accent1">
              <a:alpha val="15000"/>
            </a:schemeClr>
          </a:solidFill>
          <a:ln w="15875">
            <a:solidFill>
              <a:schemeClr val="accent1"/>
            </a:solidFill>
            <a:prstDash val="solid"/>
          </a:ln>
        </p:spPr>
      </p:sp>
      <p:sp>
        <p:nvSpPr>
          <p:cNvPr id="13" name="Text 11"/>
          <p:cNvSpPr txBox="1"/>
          <p:nvPr/>
        </p:nvSpPr>
        <p:spPr>
          <a:xfrm>
            <a:off x="777240" y="3611880"/>
            <a:ext cx="5943600" cy="1051560"/>
          </a:xfrm>
          <a:prstGeom prst="rect">
            <a:avLst/>
          </a:prstGeom>
          <a:noFill/>
          <a:ln/>
        </p:spPr>
        <p:txBody>
          <a:bodyPr wrap="square" lIns="0" tIns="0" rIns="0" bIns="0" rtlCol="0" anchor="ctr"/>
          <a:lstStyle/>
          <a:p>
            <a:pPr indent="0" marL="0">
              <a:buNone/>
            </a:pPr>
            <a:r>
              <a:rPr lang="en-US" sz="2400" i="1" dirty="0">
                <a:solidFill>
                  <a:schemeClr val="tx1"/>
                </a:solidFill>
                <a:latin typeface="Cambria" pitchFamily="34" charset="0"/>
                <a:ea typeface="Cambria" pitchFamily="34" charset="-122"/>
                <a:cs typeface="Cambria" pitchFamily="34" charset="-120"/>
              </a:rPr>
              <a:t>"…the country whose CEO designed adopted Volvo… Sweden"</a:t>
            </a:r>
            <a:endParaRPr lang="en-US" sz="2400" dirty="0"/>
          </a:p>
        </p:txBody>
      </p:sp>
      <p:sp>
        <p:nvSpPr>
          <p:cNvPr id="14" name="Text 12"/>
          <p:cNvSpPr txBox="1"/>
          <p:nvPr/>
        </p:nvSpPr>
        <p:spPr>
          <a:xfrm>
            <a:off x="548640" y="4846320"/>
            <a:ext cx="6400800" cy="822960"/>
          </a:xfrm>
          <a:prstGeom prst="rect">
            <a:avLst/>
          </a:prstGeom>
          <a:noFill/>
          <a:ln/>
        </p:spPr>
        <p:txBody>
          <a:bodyPr wrap="square" lIns="0" tIns="0" rIns="0" bIns="0" rtlCol="0" anchor="t"/>
          <a:lstStyle/>
          <a:p>
            <a:pPr indent="0" marL="0">
              <a:buNone/>
            </a:pPr>
            <a:r>
              <a:rPr lang="en-US" sz="1250" dirty="0">
                <a:solidFill>
                  <a:schemeClr val="accent5"/>
                </a:solidFill>
              </a:rPr>
              <a:t>NLA free-form explanation of the planted activation (12 of 12 such explanations name the planted country and none the original; other rewrites include "…maple leaves (Canada)")</a:t>
            </a:r>
            <a:endParaRPr lang="en-US" sz="1250" dirty="0"/>
          </a:p>
        </p:txBody>
      </p:sp>
      <p:sp>
        <p:nvSpPr>
          <p:cNvPr id="15" name="Shape 13"/>
          <p:cNvSpPr/>
          <p:nvPr/>
        </p:nvSpPr>
        <p:spPr>
          <a:xfrm>
            <a:off x="7315200" y="1691640"/>
            <a:ext cx="4327855" cy="2103120"/>
          </a:xfrm>
          <a:prstGeom prst="roundRect">
            <a:avLst>
              <a:gd name="adj" fmla="val 3478"/>
            </a:avLst>
          </a:prstGeom>
          <a:solidFill>
            <a:schemeClr val="bg2"/>
          </a:solidFill>
          <a:ln w="12700">
            <a:solidFill>
              <a:schemeClr val="bg2"/>
            </a:solidFill>
            <a:prstDash val="solid"/>
          </a:ln>
        </p:spPr>
      </p:sp>
      <p:sp>
        <p:nvSpPr>
          <p:cNvPr id="16" name="Text 14"/>
          <p:cNvSpPr txBox="1"/>
          <p:nvPr/>
        </p:nvSpPr>
        <p:spPr>
          <a:xfrm>
            <a:off x="7479792" y="1856232"/>
            <a:ext cx="3998671"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it means</a:t>
            </a:r>
            <a:endParaRPr lang="en-US" sz="1600" dirty="0"/>
          </a:p>
        </p:txBody>
      </p:sp>
      <p:sp>
        <p:nvSpPr>
          <p:cNvPr id="17" name="Text 15"/>
          <p:cNvSpPr txBox="1"/>
          <p:nvPr/>
        </p:nvSpPr>
        <p:spPr>
          <a:xfrm>
            <a:off x="7479792" y="2231136"/>
            <a:ext cx="3998671" cy="1464869"/>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The NLA's 'prompt reconstruction' is generated from the latent. That rules out 'decode the text, then compute' as its mechanism: its language model writes a story consistent with the latent.</a:t>
            </a:r>
            <a:endParaRPr lang="en-US" sz="1350" dirty="0"/>
          </a:p>
        </p:txBody>
      </p:sp>
      <p:sp>
        <p:nvSpPr>
          <p:cNvPr id="18" name="Shape 16"/>
          <p:cNvSpPr/>
          <p:nvPr/>
        </p:nvSpPr>
        <p:spPr>
          <a:xfrm>
            <a:off x="7315200" y="3977640"/>
            <a:ext cx="4327855" cy="2103120"/>
          </a:xfrm>
          <a:prstGeom prst="roundRect">
            <a:avLst>
              <a:gd name="adj" fmla="val 3478"/>
            </a:avLst>
          </a:prstGeom>
          <a:solidFill>
            <a:schemeClr val="bg2"/>
          </a:solidFill>
          <a:ln w="12700">
            <a:solidFill>
              <a:schemeClr val="bg2"/>
            </a:solidFill>
            <a:prstDash val="solid"/>
          </a:ln>
        </p:spPr>
      </p:sp>
      <p:sp>
        <p:nvSpPr>
          <p:cNvPr id="19" name="Text 17"/>
          <p:cNvSpPr txBox="1"/>
          <p:nvPr/>
        </p:nvSpPr>
        <p:spPr>
          <a:xfrm>
            <a:off x="7479792" y="4142232"/>
            <a:ext cx="3998671" cy="32918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Dose caveat</a:t>
            </a:r>
            <a:endParaRPr lang="en-US" sz="1600" dirty="0"/>
          </a:p>
        </p:txBody>
      </p:sp>
      <p:sp>
        <p:nvSpPr>
          <p:cNvPr id="20" name="Text 18"/>
          <p:cNvSpPr txBox="1"/>
          <p:nvPr/>
        </p:nvSpPr>
        <p:spPr>
          <a:xfrm>
            <a:off x="7479792" y="4517136"/>
            <a:ext cx="3998671" cy="1464869"/>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Answer flips needed ‖Δ‖/‖h‖ ≈ 0.49 (q10–q90 0.33–0.71), 1.5–3× the natural France–Sweden distance. The main run makes α ≤ 1.5 (109 items) primary.</a:t>
            </a:r>
            <a:endParaRPr lang="en-US" sz="13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1188720"/>
            <a:ext cx="274320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04</a:t>
            </a:r>
            <a:endParaRPr lang="en-US" sz="5400" dirty="0"/>
          </a:p>
        </p:txBody>
      </p:sp>
      <p:sp>
        <p:nvSpPr>
          <p:cNvPr id="3" name="Text 0"/>
          <p:cNvSpPr/>
          <p:nvPr>
            <p:ph idx="100" type="title" hasCustomPrompt="1"/>
          </p:nvPr>
        </p:nvSpPr>
        <p:spPr>
          <a:xfrm>
            <a:off x="731520" y="214884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Part D: WorkspaceBench targets are recoverable from the prompt</a:t>
            </a:r>
            <a:endParaRPr lang="en-US" sz="4000" dirty="0"/>
          </a:p>
        </p:txBody>
      </p:sp>
      <p:sp>
        <p:nvSpPr>
          <p:cNvPr id="4" name="Text 0"/>
          <p:cNvSpPr/>
          <p:nvPr>
            <p:ph idx="101" type="body" hasCustomPrompt="1"/>
          </p:nvPr>
        </p:nvSpPr>
        <p:spPr>
          <a:xfrm>
            <a:off x="731520" y="3657600"/>
            <a:ext cx="1005840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Re-solving decomposition at layer 42 · 4 regex families · n = 400 items</a:t>
            </a:r>
            <a:endParaRPr lang="en-US" sz="1800" dirty="0"/>
          </a:p>
        </p:txBody>
      </p:sp>
      <p:sp>
        <p:nvSpPr>
          <p:cNvPr id="5" name="Shape 3"/>
          <p:cNvSpPr/>
          <p:nvPr/>
        </p:nvSpPr>
        <p:spPr>
          <a:xfrm>
            <a:off x="731520" y="5715000"/>
            <a:ext cx="10728655" cy="914"/>
          </a:xfrm>
          <a:prstGeom prst="line">
            <a:avLst/>
          </a:prstGeom>
          <a:noFill/>
          <a:ln w="15875">
            <a:solidFill>
              <a:schemeClr val="accent5"/>
            </a:solidFill>
            <a:prstDash val="solid"/>
          </a:ln>
        </p:spPr>
      </p:sp>
      <p:sp>
        <p:nvSpPr>
          <p:cNvPr id="6" name="Shape 4"/>
          <p:cNvSpPr/>
          <p:nvPr/>
        </p:nvSpPr>
        <p:spPr>
          <a:xfrm>
            <a:off x="690372" y="567385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67385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67385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67385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67385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67385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67385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67385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67385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67385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67385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67385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67385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67385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67385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67385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61441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61441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61441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587959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D · TEXT-ONLY BASELINES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 text-only Qwen that never sees the activation ties the NLA at k = 1: 0.46 vs 0.47</a:t>
            </a:r>
            <a:endParaRPr lang="en-US" sz="2800" dirty="0"/>
          </a:p>
        </p:txBody>
      </p:sp>
      <p:graphicFrame>
        <p:nvGraphicFramePr>
          <p:cNvPr id="7" name="Chart 0" descr=""/>
          <p:cNvGraphicFramePr/>
          <p:nvPr/>
        </p:nvGraphicFramePr>
        <p:xfrm>
          <a:off x="457200" y="164592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092440" y="1691640"/>
            <a:ext cx="355061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p = 0.75</a:t>
            </a:r>
            <a:endParaRPr lang="en-US" sz="3000" dirty="0"/>
          </a:p>
        </p:txBody>
      </p:sp>
      <p:sp>
        <p:nvSpPr>
          <p:cNvPr id="9" name="Text 6"/>
          <p:cNvSpPr txBox="1"/>
          <p:nvPr/>
        </p:nvSpPr>
        <p:spPr>
          <a:xfrm>
            <a:off x="8092440" y="2209800"/>
            <a:ext cx="3550615" cy="676656"/>
          </a:xfrm>
          <a:prstGeom prst="rect">
            <a:avLst/>
          </a:prstGeom>
          <a:noFill/>
          <a:ln/>
        </p:spPr>
        <p:txBody>
          <a:bodyPr wrap="square" lIns="0" tIns="0" rIns="0" bIns="0" rtlCol="0" anchor="t"/>
          <a:lstStyle/>
          <a:p>
            <a:pPr indent="0" marL="0">
              <a:buNone/>
            </a:pPr>
            <a:r>
              <a:rPr lang="en-US" sz="1300" dirty="0">
                <a:solidFill>
                  <a:schemeClr val="accent5"/>
                </a:solidFill>
              </a:rPr>
              <a:t>NLA vs text-only Qwen in the NLA's own style, sample-matched (McNemar); OL vs text: p = 0.09</a:t>
            </a:r>
            <a:endParaRPr lang="en-US" sz="1300" dirty="0"/>
          </a:p>
        </p:txBody>
      </p:sp>
      <p:sp>
        <p:nvSpPr>
          <p:cNvPr id="10" name="Text 7"/>
          <p:cNvSpPr txBox="1"/>
          <p:nvPr/>
        </p:nvSpPr>
        <p:spPr>
          <a:xfrm>
            <a:off x="8092440" y="3060192"/>
            <a:ext cx="3550615" cy="4907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187 vs 159</a:t>
            </a:r>
            <a:endParaRPr lang="en-US" sz="3000" dirty="0"/>
          </a:p>
        </p:txBody>
      </p:sp>
      <p:sp>
        <p:nvSpPr>
          <p:cNvPr id="11" name="Text 8"/>
          <p:cNvSpPr txBox="1"/>
          <p:nvPr/>
        </p:nvSpPr>
        <p:spPr>
          <a:xfrm>
            <a:off x="8092440" y="3578352"/>
            <a:ext cx="3550615" cy="466344"/>
          </a:xfrm>
          <a:prstGeom prst="rect">
            <a:avLst/>
          </a:prstGeom>
          <a:noFill/>
          <a:ln/>
        </p:spPr>
        <p:txBody>
          <a:bodyPr wrap="square" lIns="0" tIns="0" rIns="0" bIns="0" rtlCol="0" anchor="t"/>
          <a:lstStyle/>
          <a:p>
            <a:pPr indent="0" marL="0">
              <a:buNone/>
            </a:pPr>
            <a:r>
              <a:rPr lang="en-US" sz="1300" dirty="0">
                <a:solidFill>
                  <a:schemeClr val="accent5"/>
                </a:solidFill>
              </a:rPr>
              <a:t>same-layer hits, NLA vs Oracle Lens (p = 0.002)</a:t>
            </a:r>
            <a:endParaRPr lang="en-US" sz="1300" dirty="0"/>
          </a:p>
        </p:txBody>
      </p:sp>
      <p:sp>
        <p:nvSpPr>
          <p:cNvPr id="12" name="Text 9"/>
          <p:cNvSpPr txBox="1"/>
          <p:nvPr/>
        </p:nvSpPr>
        <p:spPr>
          <a:xfrm>
            <a:off x="8092440" y="4218432"/>
            <a:ext cx="3550615" cy="1312164"/>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Caveat: the 0.46 arm used the NLA's own instruction, which never asks for the answer. Same model, bench template: 0.76. The fair same-template comparison is on the next slide.</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D · SAME-TEMPLATE RE-SOLVER COMPARISON (CHECK E, RESOLVED)</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Given the prompt, a text model names the target more often than given the readout, and the readout adds nothing</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0.88 vs 0.89</a:t>
            </a:r>
            <a:endParaRPr lang="en-US" sz="3000" dirty="0"/>
          </a:p>
        </p:txBody>
      </p:sp>
      <p:sp>
        <p:nvSpPr>
          <p:cNvPr id="9" name="Text 6"/>
          <p:cNvSpPr txBox="1"/>
          <p:nvPr/>
        </p:nvSpPr>
        <p:spPr>
          <a:xfrm>
            <a:off x="7452360" y="220980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adding the readout to the prompt doesn't help (p = 0.38 NLA / 0.47 OL)</a:t>
            </a:r>
            <a:endParaRPr lang="en-US" sz="1300" dirty="0"/>
          </a:p>
        </p:txBody>
      </p:sp>
      <p:sp>
        <p:nvSpPr>
          <p:cNvPr id="10" name="Text 7"/>
          <p:cNvSpPr txBox="1"/>
          <p:nvPr/>
        </p:nvSpPr>
        <p:spPr>
          <a:xfrm>
            <a:off x="7452360" y="2849880"/>
            <a:ext cx="4190695" cy="490728"/>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4 · 2 of 400</a:t>
            </a:r>
            <a:endParaRPr lang="en-US" sz="3000" dirty="0"/>
          </a:p>
        </p:txBody>
      </p:sp>
      <p:sp>
        <p:nvSpPr>
          <p:cNvPr id="11" name="Text 8"/>
          <p:cNvSpPr txBox="1"/>
          <p:nvPr/>
        </p:nvSpPr>
        <p:spPr>
          <a:xfrm>
            <a:off x="7452360" y="336804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readout-only hits every prompt arm misses (NLA · OL), all regex-form artefacts</a:t>
            </a:r>
            <a:endParaRPr lang="en-US" sz="1300" dirty="0"/>
          </a:p>
        </p:txBody>
      </p:sp>
      <p:sp>
        <p:nvSpPr>
          <p:cNvPr id="12" name="Text 9"/>
          <p:cNvSpPr txBox="1"/>
          <p:nvPr/>
        </p:nvSpPr>
        <p:spPr>
          <a:xfrm>
            <a:off x="7452360" y="4008120"/>
            <a:ext cx="4190695" cy="4907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0 / 187</a:t>
            </a:r>
            <a:endParaRPr lang="en-US" sz="3000" dirty="0"/>
          </a:p>
        </p:txBody>
      </p:sp>
      <p:sp>
        <p:nvSpPr>
          <p:cNvPr id="13" name="Text 10"/>
          <p:cNvSpPr txBox="1"/>
          <p:nvPr/>
        </p:nvSpPr>
        <p:spPr>
          <a:xfrm>
            <a:off x="7452360" y="4526280"/>
            <a:ext cx="4190695" cy="466344"/>
          </a:xfrm>
          <a:prstGeom prst="rect">
            <a:avLst/>
          </a:prstGeom>
          <a:noFill/>
          <a:ln/>
        </p:spPr>
        <p:txBody>
          <a:bodyPr wrap="square" lIns="0" tIns="0" rIns="0" bIns="0" rtlCol="0" anchor="t"/>
          <a:lstStyle/>
          <a:p>
            <a:pPr indent="0" marL="0">
              <a:buNone/>
            </a:pPr>
            <a:r>
              <a:rPr lang="en-US" sz="1300" dirty="0">
                <a:solidFill>
                  <a:schemeClr val="accent5"/>
                </a:solidFill>
              </a:rPr>
              <a:t>NLA hits that no prompt-only text sample reaches (OL: 4 of 159, Chinese code-switching)</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D · CLAIM PRECISION</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Readers' claims are text-true less often than a text-only model's: precision 0.62 and 0.52 vs 0.92</a:t>
            </a:r>
            <a:endParaRPr lang="en-US" sz="2800" dirty="0"/>
          </a:p>
        </p:txBody>
      </p:sp>
      <p:graphicFrame>
        <p:nvGraphicFramePr>
          <p:cNvPr id="7" name="Chart 0" descr=""/>
          <p:cNvGraphicFramePr/>
          <p:nvPr/>
        </p:nvGraphicFramePr>
        <p:xfrm>
          <a:off x="457200" y="16459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818120" y="1691640"/>
            <a:ext cx="3824935" cy="465328"/>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0.62 · 0.52 · 0.92</a:t>
            </a:r>
            <a:endParaRPr lang="en-US" sz="2800" dirty="0"/>
          </a:p>
        </p:txBody>
      </p:sp>
      <p:sp>
        <p:nvSpPr>
          <p:cNvPr id="9" name="Text 6"/>
          <p:cNvSpPr txBox="1"/>
          <p:nvPr/>
        </p:nvSpPr>
        <p:spPr>
          <a:xfrm>
            <a:off x="7818120" y="2184400"/>
            <a:ext cx="3824935" cy="466344"/>
          </a:xfrm>
          <a:prstGeom prst="rect">
            <a:avLst/>
          </a:prstGeom>
          <a:noFill/>
          <a:ln/>
        </p:spPr>
        <p:txBody>
          <a:bodyPr wrap="square" lIns="0" tIns="0" rIns="0" bIns="0" rtlCol="0" anchor="t"/>
          <a:lstStyle/>
          <a:p>
            <a:pPr indent="0" marL="0">
              <a:buNone/>
            </a:pPr>
            <a:r>
              <a:rPr lang="en-US" sz="1300" dirty="0">
                <a:solidFill>
                  <a:schemeClr val="accent5"/>
                </a:solidFill>
              </a:rPr>
              <a:t>text-verifiable precision (NLA · OL · text-only), 100 readouts each</a:t>
            </a:r>
            <a:endParaRPr lang="en-US" sz="1300" dirty="0"/>
          </a:p>
        </p:txBody>
      </p:sp>
      <p:sp>
        <p:nvSpPr>
          <p:cNvPr id="10" name="Text 7"/>
          <p:cNvSpPr txBox="1"/>
          <p:nvPr/>
        </p:nvSpPr>
        <p:spPr>
          <a:xfrm>
            <a:off x="7818120" y="2824480"/>
            <a:ext cx="3824935" cy="2633472"/>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NLA errors are mostly misquotes of the prompt (246 of 301 contradicted claims look like quotes).</a:t>
            </a:r>
            <a:endParaRPr lang="en-US" sz="1400" dirty="0"/>
          </a:p>
          <a:p>
            <a:pPr marL="203200" indent="-203200">
              <a:spcAft>
                <a:spcPts val="600"/>
              </a:spcAft>
              <a:buSzPct val="100000"/>
              <a:buChar char="•"/>
            </a:pPr>
            <a:r>
              <a:rPr lang="en-US" sz="1400" dirty="0">
                <a:solidFill>
                  <a:schemeClr val="tx1"/>
                </a:solidFill>
              </a:rPr>
              <a:t>OL errors are wrong entities and facts; 28% of its claims are unsupported specifics.</a:t>
            </a:r>
            <a:endParaRPr lang="en-US" sz="1400" dirty="0"/>
          </a:p>
          <a:p>
            <a:pPr marL="203200" indent="-203200">
              <a:spcAft>
                <a:spcPts val="600"/>
              </a:spcAft>
              <a:buSzPct val="100000"/>
              <a:buChar char="•"/>
            </a:pPr>
            <a:r>
              <a:rPr lang="en-US" sz="1400" dirty="0">
                <a:solidFill>
                  <a:schemeClr val="tx1"/>
                </a:solidFill>
              </a:rPr>
              <a:t>Judge: Gemini 3.8 Flash; second judge kimi-k3 agrees at κ 0.72 (5-way) / 0.77 (3-way) on 40 claims. Human labels still to do.</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PART D · SIDE FINDING</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Side finding: the benchmark's frozen prompt-only floors appear about 0.14 too low</a:t>
            </a:r>
            <a:endParaRPr lang="en-US" sz="2800" dirty="0"/>
          </a:p>
        </p:txBody>
      </p:sp>
      <p:graphicFrame>
        <p:nvGraphicFramePr>
          <p:cNvPr id="7" name="Chart 0" descr=""/>
          <p:cNvGraphicFramePr/>
          <p:nvPr/>
        </p:nvGraphicFramePr>
        <p:xfrm>
          <a:off x="457200" y="16459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52360" y="1691640"/>
            <a:ext cx="4190695" cy="34061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Significant on 3 of 4 families (z ≈ +2.2 to +3.3); an earlier independent draw shows the same pattern.</a:t>
            </a:r>
            <a:endParaRPr lang="en-US" sz="1400" dirty="0"/>
          </a:p>
          <a:p>
            <a:pPr marL="203200" indent="-203200">
              <a:spcAft>
                <a:spcPts val="600"/>
              </a:spcAft>
              <a:buSzPct val="100000"/>
              <a:buChar char="•"/>
            </a:pPr>
            <a:r>
              <a:rPr lang="en-US" sz="1400" dirty="0">
                <a:solidFill>
                  <a:schemeClr val="tx1"/>
                </a:solidFill>
              </a:rPr>
              <a:t>Cause inconclusive: no rendering reproduces the frozen values; the frozen run has empty cells; the generator isn't public.</a:t>
            </a:r>
            <a:endParaRPr lang="en-US" sz="1400" dirty="0"/>
          </a:p>
          <a:p>
            <a:pPr marL="203200" indent="-203200">
              <a:spcAft>
                <a:spcPts val="600"/>
              </a:spcAft>
              <a:buSzPct val="100000"/>
              <a:buChar char="•"/>
            </a:pPr>
            <a:r>
              <a:rPr lang="en-US" sz="1400" dirty="0">
                <a:solidFill>
                  <a:schemeClr val="tx1"/>
                </a:solidFill>
              </a:rPr>
              <a:t>Implication: published reader-vs-floor gaps flatter the readers. Our conclusions use our own text arms, not the frozen floor.</a:t>
            </a:r>
            <a:endParaRPr lang="en-US" sz="1400" dirty="0"/>
          </a:p>
          <a:p>
            <a:pPr marL="203200" indent="-203200">
              <a:spcAft>
                <a:spcPts val="600"/>
              </a:spcAft>
              <a:buSzPct val="100000"/>
              <a:buChar char="•"/>
            </a:pPr>
            <a:r>
              <a:rPr lang="en-US" sz="1400" dirty="0">
                <a:solidFill>
                  <a:schemeClr val="tx1"/>
                </a:solidFill>
              </a:rPr>
              <a:t>Plan (D21): file a factual issue with the re-run table first, then one paragraph in the write-up. Outward-facing, so it needs Suraj's approval.</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RUNNING ANCHOR · WHAT WE KNOW SO FAR</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we know so far (4 / 4): the full ledger</a:t>
            </a:r>
            <a:endParaRPr lang="en-US" sz="2800" dirty="0"/>
          </a:p>
        </p:txBody>
      </p:sp>
      <p:sp>
        <p:nvSpPr>
          <p:cNvPr id="7" name="Shape 5"/>
          <p:cNvSpPr/>
          <p:nvPr/>
        </p:nvSpPr>
        <p:spPr>
          <a:xfrm>
            <a:off x="548640" y="1426464"/>
            <a:ext cx="1325880" cy="256032"/>
          </a:xfrm>
          <a:prstGeom prst="roundRect">
            <a:avLst>
              <a:gd name="adj" fmla="val 53571"/>
            </a:avLst>
          </a:prstGeom>
          <a:solidFill>
            <a:schemeClr val="tx1"/>
          </a:solidFill>
          <a:ln w="12700">
            <a:solidFill>
              <a:schemeClr val="tx1"/>
            </a:solidFill>
            <a:prstDash val="solid"/>
          </a:ln>
        </p:spPr>
      </p:sp>
      <p:sp>
        <p:nvSpPr>
          <p:cNvPr id="8" name="Text 6"/>
          <p:cNvSpPr txBox="1"/>
          <p:nvPr/>
        </p:nvSpPr>
        <p:spPr>
          <a:xfrm>
            <a:off x="548640" y="1426464"/>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9" name="Text 7"/>
          <p:cNvSpPr txBox="1"/>
          <p:nvPr/>
        </p:nvSpPr>
        <p:spPr>
          <a:xfrm>
            <a:off x="2103120" y="1389888"/>
            <a:ext cx="9539935" cy="412311"/>
          </a:xfrm>
          <a:prstGeom prst="rect">
            <a:avLst/>
          </a:prstGeom>
          <a:noFill/>
          <a:ln/>
        </p:spPr>
        <p:txBody>
          <a:bodyPr wrap="square" lIns="0" tIns="0" rIns="0" bIns="0" rtlCol="0" anchor="t"/>
          <a:lstStyle/>
          <a:p>
            <a:pPr indent="0" marL="0">
              <a:buNone/>
            </a:pPr>
            <a:r>
              <a:rPr lang="en-US" sz="1250" dirty="0">
                <a:solidFill>
                  <a:schemeClr val="tx1"/>
                </a:solidFill>
              </a:rPr>
              <a:t>The instruments are sound: NLA layer convention pinned (block 42), FVE 0.761 reproduced, WorkspaceBench 12/12 replicated.</a:t>
            </a:r>
            <a:endParaRPr lang="en-US" sz="1250" dirty="0"/>
          </a:p>
        </p:txBody>
      </p:sp>
      <p:sp>
        <p:nvSpPr>
          <p:cNvPr id="10" name="Shape 8"/>
          <p:cNvSpPr/>
          <p:nvPr/>
        </p:nvSpPr>
        <p:spPr>
          <a:xfrm>
            <a:off x="548640" y="1875351"/>
            <a:ext cx="1325880" cy="256032"/>
          </a:xfrm>
          <a:prstGeom prst="roundRect">
            <a:avLst>
              <a:gd name="adj" fmla="val 53571"/>
            </a:avLst>
          </a:prstGeom>
          <a:solidFill>
            <a:schemeClr val="tx1"/>
          </a:solidFill>
          <a:ln w="12700">
            <a:solidFill>
              <a:schemeClr val="tx1"/>
            </a:solidFill>
            <a:prstDash val="solid"/>
          </a:ln>
        </p:spPr>
      </p:sp>
      <p:sp>
        <p:nvSpPr>
          <p:cNvPr id="11" name="Text 9"/>
          <p:cNvSpPr txBox="1"/>
          <p:nvPr/>
        </p:nvSpPr>
        <p:spPr>
          <a:xfrm>
            <a:off x="548640" y="1875351"/>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2" name="Text 10"/>
          <p:cNvSpPr txBox="1"/>
          <p:nvPr/>
        </p:nvSpPr>
        <p:spPr>
          <a:xfrm>
            <a:off x="2103120" y="1838775"/>
            <a:ext cx="9539935" cy="412311"/>
          </a:xfrm>
          <a:prstGeom prst="rect">
            <a:avLst/>
          </a:prstGeom>
          <a:noFill/>
          <a:ln/>
        </p:spPr>
        <p:txBody>
          <a:bodyPr wrap="square" lIns="0" tIns="0" rIns="0" bIns="0" rtlCol="0" anchor="t"/>
          <a:lstStyle/>
          <a:p>
            <a:pPr indent="0" marL="0">
              <a:buNone/>
            </a:pPr>
            <a:r>
              <a:rPr lang="en-US" sz="1250" dirty="0">
                <a:solidFill>
                  <a:schemeClr val="tx1"/>
                </a:solidFill>
              </a:rPr>
              <a:t>At the same layer (42) the NLA ties or beats the Oracle Lens; OL's published lead comes from a best-of-11-layers protocol.</a:t>
            </a:r>
            <a:endParaRPr lang="en-US" sz="1250" dirty="0"/>
          </a:p>
        </p:txBody>
      </p:sp>
      <p:sp>
        <p:nvSpPr>
          <p:cNvPr id="13" name="Shape 11"/>
          <p:cNvSpPr/>
          <p:nvPr/>
        </p:nvSpPr>
        <p:spPr>
          <a:xfrm>
            <a:off x="548640" y="2324239"/>
            <a:ext cx="1325880" cy="256032"/>
          </a:xfrm>
          <a:prstGeom prst="roundRect">
            <a:avLst>
              <a:gd name="adj" fmla="val 53571"/>
            </a:avLst>
          </a:prstGeom>
          <a:solidFill>
            <a:schemeClr val="tx1"/>
          </a:solidFill>
          <a:ln w="12700">
            <a:solidFill>
              <a:schemeClr val="tx1"/>
            </a:solidFill>
            <a:prstDash val="solid"/>
          </a:ln>
        </p:spPr>
      </p:sp>
      <p:sp>
        <p:nvSpPr>
          <p:cNvPr id="14" name="Text 12"/>
          <p:cNvSpPr txBox="1"/>
          <p:nvPr/>
        </p:nvSpPr>
        <p:spPr>
          <a:xfrm>
            <a:off x="548640" y="232423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5" name="Text 13"/>
          <p:cNvSpPr txBox="1"/>
          <p:nvPr/>
        </p:nvSpPr>
        <p:spPr>
          <a:xfrm>
            <a:off x="2103120" y="2287663"/>
            <a:ext cx="9539935" cy="412311"/>
          </a:xfrm>
          <a:prstGeom prst="rect">
            <a:avLst/>
          </a:prstGeom>
          <a:noFill/>
          <a:ln/>
        </p:spPr>
        <p:txBody>
          <a:bodyPr wrap="square" lIns="0" tIns="0" rIns="0" bIns="0" rtlCol="0" anchor="t"/>
          <a:lstStyle/>
          <a:p>
            <a:pPr indent="0" marL="0">
              <a:buNone/>
            </a:pPr>
            <a:r>
              <a:rPr lang="en-US" sz="1250" dirty="0">
                <a:solidFill>
                  <a:schemeClr val="tx1"/>
                </a:solidFill>
              </a:rPr>
              <a:t>The standard 'probe survives J-removal' test cannot tell in-J from non-J: topic and language pass it too.</a:t>
            </a:r>
            <a:endParaRPr lang="en-US" sz="1250" dirty="0"/>
          </a:p>
        </p:txBody>
      </p:sp>
      <p:sp>
        <p:nvSpPr>
          <p:cNvPr id="16" name="Shape 14"/>
          <p:cNvSpPr/>
          <p:nvPr/>
        </p:nvSpPr>
        <p:spPr>
          <a:xfrm>
            <a:off x="548640" y="2773126"/>
            <a:ext cx="1325880" cy="256032"/>
          </a:xfrm>
          <a:prstGeom prst="roundRect">
            <a:avLst>
              <a:gd name="adj" fmla="val 53571"/>
            </a:avLst>
          </a:prstGeom>
          <a:solidFill>
            <a:schemeClr val="tx1"/>
          </a:solidFill>
          <a:ln w="12700">
            <a:solidFill>
              <a:schemeClr val="tx1"/>
            </a:solidFill>
            <a:prstDash val="solid"/>
          </a:ln>
        </p:spPr>
      </p:sp>
      <p:sp>
        <p:nvSpPr>
          <p:cNvPr id="17" name="Text 15"/>
          <p:cNvSpPr txBox="1"/>
          <p:nvPr/>
        </p:nvSpPr>
        <p:spPr>
          <a:xfrm>
            <a:off x="548640" y="2773126"/>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18" name="Text 16"/>
          <p:cNvSpPr txBox="1"/>
          <p:nvPr/>
        </p:nvSpPr>
        <p:spPr>
          <a:xfrm>
            <a:off x="2103120" y="2736550"/>
            <a:ext cx="9539935" cy="412311"/>
          </a:xfrm>
          <a:prstGeom prst="rect">
            <a:avLst/>
          </a:prstGeom>
          <a:noFill/>
          <a:ln/>
        </p:spPr>
        <p:txBody>
          <a:bodyPr wrap="square" lIns="0" tIns="0" rIns="0" bIns="0" rtlCol="0" anchor="t"/>
          <a:lstStyle/>
          <a:p>
            <a:pPr indent="0" marL="0">
              <a:buNone/>
            </a:pPr>
            <a:r>
              <a:rPr lang="en-US" sz="1250" dirty="0">
                <a:solidFill>
                  <a:schemeClr val="tx1"/>
                </a:solidFill>
              </a:rPr>
              <a:t>Under a calibrated gate only col (characters since newline) is cleanly non-J; POS, tense, capitalisation, quotes, code language are J-enriched or J-readable.</a:t>
            </a:r>
            <a:endParaRPr lang="en-US" sz="1250" dirty="0"/>
          </a:p>
        </p:txBody>
      </p:sp>
      <p:sp>
        <p:nvSpPr>
          <p:cNvPr id="19" name="Shape 17"/>
          <p:cNvSpPr/>
          <p:nvPr/>
        </p:nvSpPr>
        <p:spPr>
          <a:xfrm>
            <a:off x="548640" y="3222013"/>
            <a:ext cx="1325880" cy="256032"/>
          </a:xfrm>
          <a:prstGeom prst="roundRect">
            <a:avLst>
              <a:gd name="adj" fmla="val 53571"/>
            </a:avLst>
          </a:prstGeom>
          <a:solidFill>
            <a:schemeClr val="tx1"/>
          </a:solidFill>
          <a:ln w="12700">
            <a:solidFill>
              <a:schemeClr val="tx1"/>
            </a:solidFill>
            <a:prstDash val="solid"/>
          </a:ln>
        </p:spPr>
      </p:sp>
      <p:sp>
        <p:nvSpPr>
          <p:cNvPr id="20" name="Text 18"/>
          <p:cNvSpPr txBox="1"/>
          <p:nvPr/>
        </p:nvSpPr>
        <p:spPr>
          <a:xfrm>
            <a:off x="548640" y="3222013"/>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21" name="Text 19"/>
          <p:cNvSpPr txBox="1"/>
          <p:nvPr/>
        </p:nvSpPr>
        <p:spPr>
          <a:xfrm>
            <a:off x="2103120" y="3185437"/>
            <a:ext cx="9539935" cy="412311"/>
          </a:xfrm>
          <a:prstGeom prst="rect">
            <a:avLst/>
          </a:prstGeom>
          <a:noFill/>
          <a:ln/>
        </p:spPr>
        <p:txBody>
          <a:bodyPr wrap="square" lIns="0" tIns="0" rIns="0" bIns="0" rtlCol="0" anchor="t"/>
          <a:lstStyle/>
          <a:p>
            <a:pPr indent="0" marL="0">
              <a:buNone/>
            </a:pPr>
            <a:r>
              <a:rPr lang="en-US" sz="1250" dirty="0">
                <a:solidFill>
                  <a:schemeClr val="tx1"/>
                </a:solidFill>
              </a:rPr>
              <a:t>Survey of ~12 features: non-J content the model uses on Qwen L42 looks like positional bookkeeping; numbers never enter the J-space.</a:t>
            </a:r>
            <a:endParaRPr lang="en-US" sz="1250" dirty="0"/>
          </a:p>
        </p:txBody>
      </p:sp>
      <p:sp>
        <p:nvSpPr>
          <p:cNvPr id="22" name="Shape 20"/>
          <p:cNvSpPr/>
          <p:nvPr/>
        </p:nvSpPr>
        <p:spPr>
          <a:xfrm>
            <a:off x="548640" y="3670900"/>
            <a:ext cx="1325880" cy="256032"/>
          </a:xfrm>
          <a:prstGeom prst="roundRect">
            <a:avLst>
              <a:gd name="adj" fmla="val 53571"/>
            </a:avLst>
          </a:prstGeom>
          <a:solidFill>
            <a:schemeClr val="accent4"/>
          </a:solidFill>
          <a:ln w="12700">
            <a:solidFill>
              <a:schemeClr val="accent4"/>
            </a:solidFill>
            <a:prstDash val="solid"/>
          </a:ln>
        </p:spPr>
      </p:sp>
      <p:sp>
        <p:nvSpPr>
          <p:cNvPr id="23" name="Text 21"/>
          <p:cNvSpPr txBox="1"/>
          <p:nvPr/>
        </p:nvSpPr>
        <p:spPr>
          <a:xfrm>
            <a:off x="548640" y="3670900"/>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24" name="Text 22"/>
          <p:cNvSpPr txBox="1"/>
          <p:nvPr/>
        </p:nvSpPr>
        <p:spPr>
          <a:xfrm>
            <a:off x="2103120" y="3634324"/>
            <a:ext cx="9539935" cy="412311"/>
          </a:xfrm>
          <a:prstGeom prst="rect">
            <a:avLst/>
          </a:prstGeom>
          <a:noFill/>
          <a:ln/>
        </p:spPr>
        <p:txBody>
          <a:bodyPr wrap="square" lIns="0" tIns="0" rIns="0" bIns="0" rtlCol="0" anchor="t"/>
          <a:lstStyle/>
          <a:p>
            <a:pPr indent="0" marL="0">
              <a:buNone/>
            </a:pPr>
            <a:r>
              <a:rPr lang="en-US" sz="1250" dirty="0">
                <a:solidFill>
                  <a:schemeClr val="tx1"/>
                </a:solidFill>
              </a:rPr>
              <a:t>No robust descriptive reading of col: fixed templates stay inside the null band (NLA ≤ 0.53, OL ≤ 0.51), and no readout mentions line length.</a:t>
            </a:r>
            <a:endParaRPr lang="en-US" sz="1250" dirty="0"/>
          </a:p>
        </p:txBody>
      </p:sp>
      <p:sp>
        <p:nvSpPr>
          <p:cNvPr id="25" name="Shape 23"/>
          <p:cNvSpPr/>
          <p:nvPr/>
        </p:nvSpPr>
        <p:spPr>
          <a:xfrm>
            <a:off x="548640" y="4119788"/>
            <a:ext cx="1325880" cy="256032"/>
          </a:xfrm>
          <a:prstGeom prst="roundRect">
            <a:avLst>
              <a:gd name="adj" fmla="val 53571"/>
            </a:avLst>
          </a:prstGeom>
          <a:solidFill>
            <a:schemeClr val="accent4"/>
          </a:solidFill>
          <a:ln w="12700">
            <a:solidFill>
              <a:schemeClr val="accent4"/>
            </a:solidFill>
            <a:prstDash val="solid"/>
          </a:ln>
        </p:spPr>
      </p:sp>
      <p:sp>
        <p:nvSpPr>
          <p:cNvPr id="26" name="Text 24"/>
          <p:cNvSpPr txBox="1"/>
          <p:nvPr/>
        </p:nvSpPr>
        <p:spPr>
          <a:xfrm>
            <a:off x="548640" y="4119788"/>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27" name="Text 25"/>
          <p:cNvSpPr txBox="1"/>
          <p:nvPr/>
        </p:nvSpPr>
        <p:spPr>
          <a:xfrm>
            <a:off x="2103120" y="4083212"/>
            <a:ext cx="9539935" cy="412311"/>
          </a:xfrm>
          <a:prstGeom prst="rect">
            <a:avLst/>
          </a:prstGeom>
          <a:noFill/>
          <a:ln/>
        </p:spPr>
        <p:txBody>
          <a:bodyPr wrap="square" lIns="0" tIns="0" rIns="0" bIns="0" rtlCol="0" anchor="t"/>
          <a:lstStyle/>
          <a:p>
            <a:pPr indent="0" marL="0">
              <a:buNone/>
            </a:pPr>
            <a:r>
              <a:rPr lang="en-US" sz="1250" dirty="0">
                <a:solidFill>
                  <a:schemeClr val="tx1"/>
                </a:solidFill>
              </a:rPr>
              <a:t>At the same dose the NLA tracks language and tense (0.83–0.92) and OL tracks language; col stays at 0.47–0.48. NLA's null is secure; OL's less so (tense 0.55, template-fragile).</a:t>
            </a:r>
            <a:endParaRPr lang="en-US" sz="1250" dirty="0"/>
          </a:p>
        </p:txBody>
      </p:sp>
      <p:sp>
        <p:nvSpPr>
          <p:cNvPr id="28" name="Shape 26"/>
          <p:cNvSpPr/>
          <p:nvPr/>
        </p:nvSpPr>
        <p:spPr>
          <a:xfrm>
            <a:off x="548640" y="4568675"/>
            <a:ext cx="1325880" cy="256032"/>
          </a:xfrm>
          <a:prstGeom prst="roundRect">
            <a:avLst>
              <a:gd name="adj" fmla="val 53571"/>
            </a:avLst>
          </a:prstGeom>
          <a:solidFill>
            <a:schemeClr val="accent4"/>
          </a:solidFill>
          <a:ln w="12700">
            <a:solidFill>
              <a:schemeClr val="accent4"/>
            </a:solidFill>
            <a:prstDash val="solid"/>
          </a:ln>
        </p:spPr>
      </p:sp>
      <p:sp>
        <p:nvSpPr>
          <p:cNvPr id="29" name="Text 27"/>
          <p:cNvSpPr txBox="1"/>
          <p:nvPr/>
        </p:nvSpPr>
        <p:spPr>
          <a:xfrm>
            <a:off x="548640" y="4568675"/>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30" name="Text 28"/>
          <p:cNvSpPr txBox="1"/>
          <p:nvPr/>
        </p:nvSpPr>
        <p:spPr>
          <a:xfrm>
            <a:off x="2103120" y="4532099"/>
            <a:ext cx="9539935" cy="412311"/>
          </a:xfrm>
          <a:prstGeom prst="rect">
            <a:avLst/>
          </a:prstGeom>
          <a:noFill/>
          <a:ln/>
        </p:spPr>
        <p:txBody>
          <a:bodyPr wrap="square" lIns="0" tIns="0" rIns="0" bIns="0" rtlCol="0" anchor="t"/>
          <a:lstStyle/>
          <a:p>
            <a:pPr indent="0" marL="0">
              <a:buNone/>
            </a:pPr>
            <a:r>
              <a:rPr lang="en-US" sz="1250" dirty="0">
                <a:solidFill>
                  <a:schemeClr val="tx1"/>
                </a:solidFill>
              </a:rPr>
              <a:t>Two candidate narrow channels, pre-registered for confirmation: OL's next-token continuation (J-removed 0.67–0.72, z ≈ +3.9; needs the adapter) and one NLA template (q90 0.63, borderline).</a:t>
            </a:r>
            <a:endParaRPr lang="en-US" sz="1250" dirty="0"/>
          </a:p>
        </p:txBody>
      </p:sp>
      <p:sp>
        <p:nvSpPr>
          <p:cNvPr id="31" name="Shape 29"/>
          <p:cNvSpPr/>
          <p:nvPr/>
        </p:nvSpPr>
        <p:spPr>
          <a:xfrm>
            <a:off x="548640" y="5017562"/>
            <a:ext cx="1325880" cy="256032"/>
          </a:xfrm>
          <a:prstGeom prst="roundRect">
            <a:avLst>
              <a:gd name="adj" fmla="val 53571"/>
            </a:avLst>
          </a:prstGeom>
          <a:solidFill>
            <a:schemeClr val="accent4"/>
          </a:solidFill>
          <a:ln w="12700">
            <a:solidFill>
              <a:schemeClr val="accent4"/>
            </a:solidFill>
            <a:prstDash val="solid"/>
          </a:ln>
        </p:spPr>
      </p:sp>
      <p:sp>
        <p:nvSpPr>
          <p:cNvPr id="32" name="Text 30"/>
          <p:cNvSpPr txBox="1"/>
          <p:nvPr/>
        </p:nvSpPr>
        <p:spPr>
          <a:xfrm>
            <a:off x="548640" y="5017562"/>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PILOT</a:t>
            </a:r>
            <a:endParaRPr lang="en-US" sz="1000" dirty="0"/>
          </a:p>
        </p:txBody>
      </p:sp>
      <p:sp>
        <p:nvSpPr>
          <p:cNvPr id="33" name="Text 31"/>
          <p:cNvSpPr txBox="1"/>
          <p:nvPr/>
        </p:nvSpPr>
        <p:spPr>
          <a:xfrm>
            <a:off x="2103120" y="4980986"/>
            <a:ext cx="9539935" cy="412311"/>
          </a:xfrm>
          <a:prstGeom prst="rect">
            <a:avLst/>
          </a:prstGeom>
          <a:noFill/>
          <a:ln/>
        </p:spPr>
        <p:txBody>
          <a:bodyPr wrap="square" lIns="0" tIns="0" rIns="0" bIns="0" rtlCol="0" anchor="t"/>
          <a:lstStyle/>
          <a:p>
            <a:pPr indent="0" marL="0">
              <a:buNone/>
            </a:pPr>
            <a:r>
              <a:rPr lang="en-US" sz="1250" dirty="0">
                <a:solidFill>
                  <a:schemeClr val="tx1"/>
                </a:solidFill>
              </a:rPr>
              <a:t>Beyond the top-1,536 J-space both decoders track tense's tail; with mined templates OL ≥ NLA (0.66–0.79 vs 0.59–0.74). A primary in the main run.</a:t>
            </a:r>
            <a:endParaRPr lang="en-US" sz="1250" dirty="0"/>
          </a:p>
        </p:txBody>
      </p:sp>
      <p:sp>
        <p:nvSpPr>
          <p:cNvPr id="34" name="Shape 32"/>
          <p:cNvSpPr/>
          <p:nvPr/>
        </p:nvSpPr>
        <p:spPr>
          <a:xfrm>
            <a:off x="548640" y="5466449"/>
            <a:ext cx="1325880" cy="256032"/>
          </a:xfrm>
          <a:prstGeom prst="roundRect">
            <a:avLst>
              <a:gd name="adj" fmla="val 53571"/>
            </a:avLst>
          </a:prstGeom>
          <a:solidFill>
            <a:schemeClr val="tx1"/>
          </a:solidFill>
          <a:ln w="12700">
            <a:solidFill>
              <a:schemeClr val="tx1"/>
            </a:solidFill>
            <a:prstDash val="solid"/>
          </a:ln>
        </p:spPr>
      </p:sp>
      <p:sp>
        <p:nvSpPr>
          <p:cNvPr id="35" name="Text 33"/>
          <p:cNvSpPr txBox="1"/>
          <p:nvPr/>
        </p:nvSpPr>
        <p:spPr>
          <a:xfrm>
            <a:off x="548640" y="5466449"/>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36" name="Text 34"/>
          <p:cNvSpPr txBox="1"/>
          <p:nvPr/>
        </p:nvSpPr>
        <p:spPr>
          <a:xfrm>
            <a:off x="2103120" y="5429873"/>
            <a:ext cx="9539935" cy="412311"/>
          </a:xfrm>
          <a:prstGeom prst="rect">
            <a:avLst/>
          </a:prstGeom>
          <a:noFill/>
          <a:ln/>
        </p:spPr>
        <p:txBody>
          <a:bodyPr wrap="square" lIns="0" tIns="0" rIns="0" bIns="0" rtlCol="0" anchor="t"/>
          <a:lstStyle/>
          <a:p>
            <a:pPr indent="0" marL="0">
              <a:buNone/>
            </a:pPr>
            <a:r>
              <a:rPr lang="en-US" sz="1250" dirty="0">
                <a:solidFill>
                  <a:schemeClr val="tx1"/>
                </a:solidFill>
              </a:rPr>
              <a:t>The NLA generates its 'prompt' from the latent: under a planted bridge it rewrites the clue 12/12 times (Eiffel Tower → Volvo… Sweden).</a:t>
            </a:r>
            <a:endParaRPr lang="en-US" sz="1250" dirty="0"/>
          </a:p>
        </p:txBody>
      </p:sp>
      <p:sp>
        <p:nvSpPr>
          <p:cNvPr id="37" name="Shape 35"/>
          <p:cNvSpPr/>
          <p:nvPr/>
        </p:nvSpPr>
        <p:spPr>
          <a:xfrm>
            <a:off x="548640" y="5915337"/>
            <a:ext cx="1325880" cy="256032"/>
          </a:xfrm>
          <a:prstGeom prst="roundRect">
            <a:avLst>
              <a:gd name="adj" fmla="val 53571"/>
            </a:avLst>
          </a:prstGeom>
          <a:solidFill>
            <a:schemeClr val="tx1"/>
          </a:solidFill>
          <a:ln w="12700">
            <a:solidFill>
              <a:schemeClr val="tx1"/>
            </a:solidFill>
            <a:prstDash val="solid"/>
          </a:ln>
        </p:spPr>
      </p:sp>
      <p:sp>
        <p:nvSpPr>
          <p:cNvPr id="38" name="Text 36"/>
          <p:cNvSpPr txBox="1"/>
          <p:nvPr/>
        </p:nvSpPr>
        <p:spPr>
          <a:xfrm>
            <a:off x="548640" y="5915337"/>
            <a:ext cx="1325880" cy="256032"/>
          </a:xfrm>
          <a:prstGeom prst="rect">
            <a:avLst/>
          </a:prstGeom>
          <a:noFill/>
          <a:ln/>
        </p:spPr>
        <p:txBody>
          <a:bodyPr wrap="square" lIns="0" tIns="0" rIns="0" bIns="0" rtlCol="0" anchor="ctr"/>
          <a:lstStyle/>
          <a:p>
            <a:pPr algn="ctr" indent="0" marL="0">
              <a:buNone/>
            </a:pPr>
            <a:r>
              <a:rPr lang="en-US" sz="1000" b="1" dirty="0">
                <a:solidFill>
                  <a:schemeClr val="bg1"/>
                </a:solidFill>
              </a:rPr>
              <a:t>ESTABLISHED</a:t>
            </a:r>
            <a:endParaRPr lang="en-US" sz="1000" dirty="0"/>
          </a:p>
        </p:txBody>
      </p:sp>
      <p:sp>
        <p:nvSpPr>
          <p:cNvPr id="39" name="Text 37"/>
          <p:cNvSpPr txBox="1"/>
          <p:nvPr/>
        </p:nvSpPr>
        <p:spPr>
          <a:xfrm>
            <a:off x="2103120" y="5878761"/>
            <a:ext cx="9539935" cy="412311"/>
          </a:xfrm>
          <a:prstGeom prst="rect">
            <a:avLst/>
          </a:prstGeom>
          <a:noFill/>
          <a:ln/>
        </p:spPr>
        <p:txBody>
          <a:bodyPr wrap="square" lIns="0" tIns="0" rIns="0" bIns="0" rtlCol="0" anchor="t"/>
          <a:lstStyle/>
          <a:p>
            <a:pPr indent="0" marL="0">
              <a:buNone/>
            </a:pPr>
            <a:r>
              <a:rPr lang="en-US" sz="1250" dirty="0">
                <a:solidFill>
                  <a:schemeClr val="tx1"/>
                </a:solidFill>
              </a:rPr>
              <a:t>On WorkspaceBench the readouts' target information is recoverable from the prompt: re-solver 0.89 from prompt vs 0.60 / 0.56 from readouts; prompt + readout 0.88.</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OUR ANSWER TO THE TITLE QUESTION, ON BOTH BRANCHES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Do NLAs read what the model can't say? The main run decides between two pre-registered answers</a:t>
            </a:r>
            <a:endParaRPr lang="en-US" sz="2800" dirty="0"/>
          </a:p>
        </p:txBody>
      </p:sp>
      <p:sp>
        <p:nvSpPr>
          <p:cNvPr id="7" name="Shape 5"/>
          <p:cNvSpPr/>
          <p:nvPr/>
        </p:nvSpPr>
        <p:spPr>
          <a:xfrm>
            <a:off x="548640" y="1645920"/>
            <a:ext cx="5364328" cy="2514600"/>
          </a:xfrm>
          <a:prstGeom prst="roundRect">
            <a:avLst>
              <a:gd name="adj" fmla="val 2909"/>
            </a:avLst>
          </a:prstGeom>
          <a:solidFill>
            <a:schemeClr val="tx2"/>
          </a:solidFill>
          <a:ln w="12700">
            <a:solidFill>
              <a:schemeClr val="tx2"/>
            </a:solidFill>
            <a:prstDash val="solid"/>
          </a:ln>
        </p:spPr>
      </p:sp>
      <p:sp>
        <p:nvSpPr>
          <p:cNvPr id="8" name="Text 6"/>
          <p:cNvSpPr txBox="1"/>
          <p:nvPr/>
        </p:nvSpPr>
        <p:spPr>
          <a:xfrm>
            <a:off x="777240" y="1783080"/>
            <a:ext cx="4907128" cy="274320"/>
          </a:xfrm>
          <a:prstGeom prst="rect">
            <a:avLst/>
          </a:prstGeom>
          <a:noFill/>
          <a:ln/>
        </p:spPr>
        <p:txBody>
          <a:bodyPr wrap="square" lIns="0" tIns="0" rIns="0" bIns="0" rtlCol="0" anchor="t"/>
          <a:lstStyle/>
          <a:p>
            <a:pPr indent="0" marL="0">
              <a:buNone/>
            </a:pPr>
            <a:r>
              <a:rPr lang="en-US" sz="1200" b="1" spc="120" kern="0" dirty="0">
                <a:solidFill>
                  <a:schemeClr val="accent4"/>
                </a:solidFill>
              </a:rPr>
              <a:t>IF THE CANDIDATE CHANNELS REPLICATE</a:t>
            </a:r>
            <a:endParaRPr lang="en-US" sz="1200" dirty="0"/>
          </a:p>
        </p:txBody>
      </p:sp>
      <p:sp>
        <p:nvSpPr>
          <p:cNvPr id="9" name="Text 7"/>
          <p:cNvSpPr txBox="1"/>
          <p:nvPr/>
        </p:nvSpPr>
        <p:spPr>
          <a:xfrm>
            <a:off x="777240" y="2103120"/>
            <a:ext cx="4907128" cy="109728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Barely, in narrow channels, and not in the language they use to describe what they read.</a:t>
            </a:r>
            <a:endParaRPr lang="en-US" sz="2100" dirty="0"/>
          </a:p>
        </p:txBody>
      </p:sp>
      <p:sp>
        <p:nvSpPr>
          <p:cNvPr id="10" name="Text 8"/>
          <p:cNvSpPr txBox="1"/>
          <p:nvPr/>
        </p:nvSpPr>
        <p:spPr>
          <a:xfrm>
            <a:off x="777240" y="3246120"/>
            <a:ext cx="4907128" cy="822960"/>
          </a:xfrm>
          <a:prstGeom prst="rect">
            <a:avLst/>
          </a:prstGeom>
          <a:noFill/>
          <a:ln/>
        </p:spPr>
        <p:txBody>
          <a:bodyPr wrap="square" lIns="0" tIns="0" rIns="0" bIns="0" rtlCol="0" anchor="t"/>
          <a:lstStyle/>
          <a:p>
            <a:pPr indent="0" marL="0">
              <a:buNone/>
            </a:pPr>
            <a:r>
              <a:rPr lang="en-US" sz="1350" dirty="0">
                <a:solidFill>
                  <a:schemeClr val="accent6"/>
                </a:solidFill>
              </a:rPr>
              <a:t>Say 'channel-specific sensitivity', never 'reads'. OL's channel likely re-instates the activation for Qwen's own newline circuitry.</a:t>
            </a:r>
            <a:endParaRPr lang="en-US" sz="1350" dirty="0"/>
          </a:p>
        </p:txBody>
      </p:sp>
      <p:sp>
        <p:nvSpPr>
          <p:cNvPr id="11" name="Shape 9"/>
          <p:cNvSpPr/>
          <p:nvPr/>
        </p:nvSpPr>
        <p:spPr>
          <a:xfrm>
            <a:off x="6278728" y="1645920"/>
            <a:ext cx="5364328" cy="2514600"/>
          </a:xfrm>
          <a:prstGeom prst="roundRect">
            <a:avLst>
              <a:gd name="adj" fmla="val 2909"/>
            </a:avLst>
          </a:prstGeom>
          <a:solidFill>
            <a:schemeClr val="bg2"/>
          </a:solidFill>
          <a:ln w="12700">
            <a:solidFill>
              <a:schemeClr val="bg2"/>
            </a:solidFill>
            <a:prstDash val="solid"/>
          </a:ln>
        </p:spPr>
      </p:sp>
      <p:sp>
        <p:nvSpPr>
          <p:cNvPr id="12" name="Text 10"/>
          <p:cNvSpPr txBox="1"/>
          <p:nvPr/>
        </p:nvSpPr>
        <p:spPr>
          <a:xfrm>
            <a:off x="6507328" y="1783080"/>
            <a:ext cx="4907128" cy="274320"/>
          </a:xfrm>
          <a:prstGeom prst="rect">
            <a:avLst/>
          </a:prstGeom>
          <a:noFill/>
          <a:ln/>
        </p:spPr>
        <p:txBody>
          <a:bodyPr wrap="square" lIns="0" tIns="0" rIns="0" bIns="0" rtlCol="0" anchor="t"/>
          <a:lstStyle/>
          <a:p>
            <a:pPr indent="0" marL="0">
              <a:buNone/>
            </a:pPr>
            <a:r>
              <a:rPr lang="en-US" sz="1200" b="1" spc="120" kern="0" dirty="0">
                <a:solidFill>
                  <a:schemeClr val="accent4"/>
                </a:solidFill>
              </a:rPr>
              <a:t>IF THEY DON'T</a:t>
            </a:r>
            <a:endParaRPr lang="en-US" sz="1200" dirty="0"/>
          </a:p>
        </p:txBody>
      </p:sp>
      <p:sp>
        <p:nvSpPr>
          <p:cNvPr id="13" name="Text 11"/>
          <p:cNvSpPr txBox="1"/>
          <p:nvPr/>
        </p:nvSpPr>
        <p:spPr>
          <a:xfrm>
            <a:off x="6507328" y="2103120"/>
            <a:ext cx="4907128" cy="10972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No, on the one natural non-J feature the model uses.</a:t>
            </a:r>
            <a:endParaRPr lang="en-US" sz="2100" dirty="0"/>
          </a:p>
        </p:txBody>
      </p:sp>
      <p:sp>
        <p:nvSpPr>
          <p:cNvPr id="14" name="Text 12"/>
          <p:cNvSpPr txBox="1"/>
          <p:nvPr/>
        </p:nvSpPr>
        <p:spPr>
          <a:xfrm>
            <a:off x="6507328" y="3246120"/>
            <a:ext cx="4907128" cy="822960"/>
          </a:xfrm>
          <a:prstGeom prst="rect">
            <a:avLst/>
          </a:prstGeom>
          <a:noFill/>
          <a:ln/>
        </p:spPr>
        <p:txBody>
          <a:bodyPr wrap="square" lIns="0" tIns="0" rIns="0" bIns="0" rtlCol="0" anchor="t"/>
          <a:lstStyle/>
          <a:p>
            <a:pPr indent="0" marL="0">
              <a:buNone/>
            </a:pPr>
            <a:r>
              <a:rPr lang="en-US" sz="1350" dirty="0">
                <a:solidFill>
                  <a:schemeClr val="accent5"/>
                </a:solidFill>
              </a:rPr>
              <a:t>Both decoders read workspace features at the same dose, so the null is interpretable (with the template caveat).</a:t>
            </a:r>
            <a:endParaRPr lang="en-US" sz="1350" dirty="0"/>
          </a:p>
        </p:txBody>
      </p:sp>
      <p:sp>
        <p:nvSpPr>
          <p:cNvPr id="15" name="Text 13"/>
          <p:cNvSpPr txBox="1"/>
          <p:nvPr/>
        </p:nvSpPr>
        <p:spPr>
          <a:xfrm>
            <a:off x="548640" y="4343400"/>
            <a:ext cx="5486400" cy="274320"/>
          </a:xfrm>
          <a:prstGeom prst="rect">
            <a:avLst/>
          </a:prstGeom>
          <a:noFill/>
          <a:ln/>
        </p:spPr>
        <p:txBody>
          <a:bodyPr wrap="square" lIns="0" tIns="0" rIns="0" bIns="0" rtlCol="0" anchor="t"/>
          <a:lstStyle/>
          <a:p>
            <a:pPr indent="0" marL="0">
              <a:buNone/>
            </a:pPr>
            <a:r>
              <a:rPr lang="en-US" sz="1200" b="1" spc="120" kern="0" dirty="0">
                <a:solidFill>
                  <a:schemeClr val="accent3"/>
                </a:solidFill>
              </a:rPr>
              <a:t>STANDS ON EITHER BRANCH</a:t>
            </a:r>
            <a:endParaRPr lang="en-US" sz="1200" dirty="0"/>
          </a:p>
        </p:txBody>
      </p:sp>
      <p:sp>
        <p:nvSpPr>
          <p:cNvPr id="16" name="Shape 14"/>
          <p:cNvSpPr/>
          <p:nvPr/>
        </p:nvSpPr>
        <p:spPr>
          <a:xfrm>
            <a:off x="548640" y="4663440"/>
            <a:ext cx="3515258" cy="1051560"/>
          </a:xfrm>
          <a:prstGeom prst="roundRect">
            <a:avLst>
              <a:gd name="adj" fmla="val 6957"/>
            </a:avLst>
          </a:prstGeom>
          <a:solidFill>
            <a:schemeClr val="bg1"/>
          </a:solidFill>
          <a:ln w="15875">
            <a:solidFill>
              <a:schemeClr val="accent3"/>
            </a:solidFill>
            <a:prstDash val="solid"/>
          </a:ln>
        </p:spPr>
      </p:sp>
      <p:sp>
        <p:nvSpPr>
          <p:cNvPr id="17" name="Text 15"/>
          <p:cNvSpPr txBox="1"/>
          <p:nvPr/>
        </p:nvSpPr>
        <p:spPr>
          <a:xfrm>
            <a:off x="685800" y="4800600"/>
            <a:ext cx="3240938" cy="832104"/>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Part A: the standard non-J test is uninformative; non-J content on Qwen L42 looks like positional bookkeeping (a ~12-feature survey).</a:t>
            </a:r>
            <a:endParaRPr lang="en-US" sz="1300" dirty="0"/>
          </a:p>
        </p:txBody>
      </p:sp>
      <p:sp>
        <p:nvSpPr>
          <p:cNvPr id="18" name="Shape 16"/>
          <p:cNvSpPr/>
          <p:nvPr/>
        </p:nvSpPr>
        <p:spPr>
          <a:xfrm>
            <a:off x="4338218" y="4663440"/>
            <a:ext cx="3515258" cy="1051560"/>
          </a:xfrm>
          <a:prstGeom prst="roundRect">
            <a:avLst>
              <a:gd name="adj" fmla="val 6957"/>
            </a:avLst>
          </a:prstGeom>
          <a:solidFill>
            <a:schemeClr val="bg1"/>
          </a:solidFill>
          <a:ln w="15875">
            <a:solidFill>
              <a:schemeClr val="accent3"/>
            </a:solidFill>
            <a:prstDash val="solid"/>
          </a:ln>
        </p:spPr>
      </p:sp>
      <p:sp>
        <p:nvSpPr>
          <p:cNvPr id="19" name="Text 17"/>
          <p:cNvSpPr txBox="1"/>
          <p:nvPr/>
        </p:nvSpPr>
        <p:spPr>
          <a:xfrm>
            <a:off x="4475378" y="4800600"/>
            <a:ext cx="3240938" cy="832104"/>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Part D: WorkspaceBench readouts' targets are recoverable from the prompt (0.89 vs 0.60 / 0.56).</a:t>
            </a:r>
            <a:endParaRPr lang="en-US" sz="1300" dirty="0"/>
          </a:p>
        </p:txBody>
      </p:sp>
      <p:sp>
        <p:nvSpPr>
          <p:cNvPr id="20" name="Shape 18"/>
          <p:cNvSpPr/>
          <p:nvPr/>
        </p:nvSpPr>
        <p:spPr>
          <a:xfrm>
            <a:off x="8127797" y="4663440"/>
            <a:ext cx="3515258" cy="1051560"/>
          </a:xfrm>
          <a:prstGeom prst="roundRect">
            <a:avLst>
              <a:gd name="adj" fmla="val 6957"/>
            </a:avLst>
          </a:prstGeom>
          <a:solidFill>
            <a:schemeClr val="bg1"/>
          </a:solidFill>
          <a:ln w="15875">
            <a:solidFill>
              <a:schemeClr val="accent3"/>
            </a:solidFill>
            <a:prstDash val="solid"/>
          </a:ln>
        </p:spPr>
      </p:sp>
      <p:sp>
        <p:nvSpPr>
          <p:cNvPr id="21" name="Text 19"/>
          <p:cNvSpPr txBox="1"/>
          <p:nvPr/>
        </p:nvSpPr>
        <p:spPr>
          <a:xfrm>
            <a:off x="8264957" y="4800600"/>
            <a:ext cx="3240938" cy="832104"/>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Part C: the NLA generates its 'prompt' from the latent (12/12 clue rewrites).</a:t>
            </a:r>
            <a:endParaRPr lang="en-US" sz="1300" dirty="0"/>
          </a:p>
        </p:txBody>
      </p:sp>
      <p:sp>
        <p:nvSpPr>
          <p:cNvPr id="22" name="Text 20"/>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200" dirty="0">
                <a:solidFill>
                  <a:schemeClr val="accent5"/>
                </a:solidFill>
              </a:rPr>
              <a:t>Caveats on both: n = 1 clean non-J feature · pilot numbers with many looks · OL is template-fragile · count-verbalisation gap open.</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OPEN CHECKS BEFORE THE PRE-REGISTRATION FREEZES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Pre-freeze checks: three done, three still open</a:t>
            </a:r>
            <a:endParaRPr lang="en-US" sz="2800" dirty="0"/>
          </a:p>
        </p:txBody>
      </p:sp>
      <p:sp>
        <p:nvSpPr>
          <p:cNvPr id="7" name="Shape 5"/>
          <p:cNvSpPr/>
          <p:nvPr/>
        </p:nvSpPr>
        <p:spPr>
          <a:xfrm>
            <a:off x="457200" y="1609344"/>
            <a:ext cx="11277295" cy="768096"/>
          </a:xfrm>
          <a:prstGeom prst="roundRect">
            <a:avLst>
              <a:gd name="adj" fmla="val 9524"/>
            </a:avLst>
          </a:prstGeom>
          <a:solidFill>
            <a:schemeClr val="bg2"/>
          </a:solidFill>
          <a:ln w="12700">
            <a:solidFill>
              <a:schemeClr val="bg2"/>
            </a:solidFill>
            <a:prstDash val="solid"/>
          </a:ln>
        </p:spPr>
      </p:sp>
      <p:sp>
        <p:nvSpPr>
          <p:cNvPr id="8" name="Shape 6"/>
          <p:cNvSpPr/>
          <p:nvPr/>
        </p:nvSpPr>
        <p:spPr>
          <a:xfrm>
            <a:off x="548640" y="1783080"/>
            <a:ext cx="420624" cy="420624"/>
          </a:xfrm>
          <a:prstGeom prst="ellipse">
            <a:avLst/>
          </a:prstGeom>
          <a:solidFill>
            <a:schemeClr val="accent3"/>
          </a:solidFill>
          <a:ln w="12700">
            <a:solidFill>
              <a:schemeClr val="accent3"/>
            </a:solidFill>
            <a:prstDash val="solid"/>
          </a:ln>
        </p:spPr>
      </p:sp>
      <p:sp>
        <p:nvSpPr>
          <p:cNvPr id="9" name="Text 7"/>
          <p:cNvSpPr txBox="1"/>
          <p:nvPr/>
        </p:nvSpPr>
        <p:spPr>
          <a:xfrm>
            <a:off x="548640"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0" name="Text 8"/>
          <p:cNvSpPr txBox="1"/>
          <p:nvPr/>
        </p:nvSpPr>
        <p:spPr>
          <a:xfrm>
            <a:off x="1143000" y="1645920"/>
            <a:ext cx="2743200" cy="685800"/>
          </a:xfrm>
          <a:prstGeom prst="rect">
            <a:avLst/>
          </a:prstGeom>
          <a:noFill/>
          <a:ln/>
        </p:spPr>
        <p:txBody>
          <a:bodyPr wrap="square" lIns="0" tIns="0" rIns="0" bIns="0" rtlCol="0" anchor="ctr"/>
          <a:lstStyle/>
          <a:p>
            <a:pPr indent="0" marL="0">
              <a:buNone/>
            </a:pPr>
            <a:r>
              <a:rPr lang="en-US" sz="1500" b="1" dirty="0">
                <a:solidFill>
                  <a:schemeClr val="accent3"/>
                </a:solidFill>
              </a:rPr>
              <a:t>Re-solver consistency: DONE</a:t>
            </a:r>
            <a:endParaRPr lang="en-US" sz="1500" dirty="0"/>
          </a:p>
        </p:txBody>
      </p:sp>
      <p:sp>
        <p:nvSpPr>
          <p:cNvPr id="11" name="Text 9"/>
          <p:cNvSpPr txBox="1"/>
          <p:nvPr/>
        </p:nvSpPr>
        <p:spPr>
          <a:xfrm>
            <a:off x="3977640" y="1645920"/>
            <a:ext cx="7665415" cy="713232"/>
          </a:xfrm>
          <a:prstGeom prst="rect">
            <a:avLst/>
          </a:prstGeom>
          <a:noFill/>
          <a:ln/>
        </p:spPr>
        <p:txBody>
          <a:bodyPr wrap="square" lIns="0" tIns="0" rIns="0" bIns="0" rtlCol="0" anchor="ctr"/>
          <a:lstStyle/>
          <a:p>
            <a:pPr indent="0" marL="0">
              <a:buNone/>
            </a:pPr>
            <a:r>
              <a:rPr lang="en-US" sz="1350" dirty="0">
                <a:solidFill>
                  <a:schemeClr val="accent5"/>
                </a:solidFill>
              </a:rPr>
              <a:t>An instruction mismatch (D22). Same template: prompt 0.89 vs readout 0.60 / 0.56; prompt + readout 0.88.</a:t>
            </a:r>
            <a:endParaRPr lang="en-US" sz="1350" dirty="0"/>
          </a:p>
        </p:txBody>
      </p:sp>
      <p:sp>
        <p:nvSpPr>
          <p:cNvPr id="12" name="Shape 10"/>
          <p:cNvSpPr/>
          <p:nvPr/>
        </p:nvSpPr>
        <p:spPr>
          <a:xfrm>
            <a:off x="457200" y="2395728"/>
            <a:ext cx="11277295" cy="768096"/>
          </a:xfrm>
          <a:prstGeom prst="roundRect">
            <a:avLst>
              <a:gd name="adj" fmla="val 9524"/>
            </a:avLst>
          </a:prstGeom>
          <a:solidFill>
            <a:schemeClr val="bg2"/>
          </a:solidFill>
          <a:ln w="12700">
            <a:solidFill>
              <a:schemeClr val="bg2"/>
            </a:solidFill>
            <a:prstDash val="solid"/>
          </a:ln>
        </p:spPr>
      </p:sp>
      <p:sp>
        <p:nvSpPr>
          <p:cNvPr id="13" name="Shape 11"/>
          <p:cNvSpPr/>
          <p:nvPr/>
        </p:nvSpPr>
        <p:spPr>
          <a:xfrm>
            <a:off x="548640" y="2569464"/>
            <a:ext cx="420624" cy="420624"/>
          </a:xfrm>
          <a:prstGeom prst="ellipse">
            <a:avLst/>
          </a:prstGeom>
          <a:solidFill>
            <a:schemeClr val="accent3"/>
          </a:solidFill>
          <a:ln w="12700">
            <a:solidFill>
              <a:schemeClr val="accent3"/>
            </a:solidFill>
            <a:prstDash val="solid"/>
          </a:ln>
        </p:spPr>
      </p:sp>
      <p:sp>
        <p:nvSpPr>
          <p:cNvPr id="14" name="Text 12"/>
          <p:cNvSpPr txBox="1"/>
          <p:nvPr/>
        </p:nvSpPr>
        <p:spPr>
          <a:xfrm>
            <a:off x="548640" y="25694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13"/>
          <p:cNvSpPr txBox="1"/>
          <p:nvPr/>
        </p:nvSpPr>
        <p:spPr>
          <a:xfrm>
            <a:off x="1143000" y="2432304"/>
            <a:ext cx="2743200" cy="685800"/>
          </a:xfrm>
          <a:prstGeom prst="rect">
            <a:avLst/>
          </a:prstGeom>
          <a:noFill/>
          <a:ln/>
        </p:spPr>
        <p:txBody>
          <a:bodyPr wrap="square" lIns="0" tIns="0" rIns="0" bIns="0" rtlCol="0" anchor="ctr"/>
          <a:lstStyle/>
          <a:p>
            <a:pPr indent="0" marL="0">
              <a:buNone/>
            </a:pPr>
            <a:r>
              <a:rPr lang="en-US" sz="1500" b="1" dirty="0">
                <a:solidFill>
                  <a:schemeClr val="accent3"/>
                </a:solidFill>
              </a:rPr>
              <a:t>q90 behavioural check: DONE</a:t>
            </a:r>
            <a:endParaRPr lang="en-US" sz="1500" dirty="0"/>
          </a:p>
        </p:txBody>
      </p:sp>
      <p:sp>
        <p:nvSpPr>
          <p:cNvPr id="16" name="Text 14"/>
          <p:cNvSpPr txBox="1"/>
          <p:nvPr/>
        </p:nvSpPr>
        <p:spPr>
          <a:xfrm>
            <a:off x="3977640" y="2432304"/>
            <a:ext cx="7665415" cy="713232"/>
          </a:xfrm>
          <a:prstGeom prst="rect">
            <a:avLst/>
          </a:prstGeom>
          <a:noFill/>
          <a:ln/>
        </p:spPr>
        <p:txBody>
          <a:bodyPr wrap="square" lIns="0" tIns="0" rIns="0" bIns="0" rtlCol="0" anchor="ctr"/>
          <a:lstStyle/>
          <a:p>
            <a:pPr indent="0" marL="0">
              <a:buNone/>
            </a:pPr>
            <a:r>
              <a:rPr lang="en-US" sz="1350" dirty="0">
                <a:solidFill>
                  <a:schemeClr val="accent5"/>
                </a:solidFill>
              </a:rPr>
              <a:t>J-removed col push: newline log-odds +0.72 (z +55), wrap −1.55 chars, J-Lens unmoved (D24).</a:t>
            </a:r>
            <a:endParaRPr lang="en-US" sz="1350" dirty="0"/>
          </a:p>
        </p:txBody>
      </p:sp>
      <p:sp>
        <p:nvSpPr>
          <p:cNvPr id="17" name="Shape 15"/>
          <p:cNvSpPr/>
          <p:nvPr/>
        </p:nvSpPr>
        <p:spPr>
          <a:xfrm>
            <a:off x="457200" y="3182112"/>
            <a:ext cx="11277295" cy="768096"/>
          </a:xfrm>
          <a:prstGeom prst="roundRect">
            <a:avLst>
              <a:gd name="adj" fmla="val 9524"/>
            </a:avLst>
          </a:prstGeom>
          <a:solidFill>
            <a:schemeClr val="bg2"/>
          </a:solidFill>
          <a:ln w="12700">
            <a:solidFill>
              <a:schemeClr val="bg2"/>
            </a:solidFill>
            <a:prstDash val="solid"/>
          </a:ln>
        </p:spPr>
      </p:sp>
      <p:sp>
        <p:nvSpPr>
          <p:cNvPr id="18" name="Shape 16"/>
          <p:cNvSpPr/>
          <p:nvPr/>
        </p:nvSpPr>
        <p:spPr>
          <a:xfrm>
            <a:off x="548640" y="3355848"/>
            <a:ext cx="420624" cy="420624"/>
          </a:xfrm>
          <a:prstGeom prst="ellipse">
            <a:avLst/>
          </a:prstGeom>
          <a:solidFill>
            <a:schemeClr val="accent3"/>
          </a:solidFill>
          <a:ln w="12700">
            <a:solidFill>
              <a:schemeClr val="accent3"/>
            </a:solidFill>
            <a:prstDash val="solid"/>
          </a:ln>
        </p:spPr>
      </p:sp>
      <p:sp>
        <p:nvSpPr>
          <p:cNvPr id="19" name="Text 17"/>
          <p:cNvSpPr txBox="1"/>
          <p:nvPr/>
        </p:nvSpPr>
        <p:spPr>
          <a:xfrm>
            <a:off x="548640" y="33558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0" name="Text 18"/>
          <p:cNvSpPr txBox="1"/>
          <p:nvPr/>
        </p:nvSpPr>
        <p:spPr>
          <a:xfrm>
            <a:off x="1143000" y="3218688"/>
            <a:ext cx="2743200" cy="685800"/>
          </a:xfrm>
          <a:prstGeom prst="rect">
            <a:avLst/>
          </a:prstGeom>
          <a:noFill/>
          <a:ln/>
        </p:spPr>
        <p:txBody>
          <a:bodyPr wrap="square" lIns="0" tIns="0" rIns="0" bIns="0" rtlCol="0" anchor="ctr"/>
          <a:lstStyle/>
          <a:p>
            <a:pPr indent="0" marL="0">
              <a:buNone/>
            </a:pPr>
            <a:r>
              <a:rPr lang="en-US" sz="1500" b="1" dirty="0">
                <a:solidFill>
                  <a:schemeClr val="accent3"/>
                </a:solidFill>
              </a:rPr>
              <a:t>Natural col vs text: DONE</a:t>
            </a:r>
            <a:endParaRPr lang="en-US" sz="1500" dirty="0"/>
          </a:p>
        </p:txBody>
      </p:sp>
      <p:sp>
        <p:nvSpPr>
          <p:cNvPr id="21" name="Text 19"/>
          <p:cNvSpPr txBox="1"/>
          <p:nvPr/>
        </p:nvSpPr>
        <p:spPr>
          <a:xfrm>
            <a:off x="3977640" y="3218688"/>
            <a:ext cx="7665415" cy="713232"/>
          </a:xfrm>
          <a:prstGeom prst="rect">
            <a:avLst/>
          </a:prstGeom>
          <a:noFill/>
          <a:ln/>
        </p:spPr>
        <p:txBody>
          <a:bodyPr wrap="square" lIns="0" tIns="0" rIns="0" bIns="0" rtlCol="0" anchor="ctr"/>
          <a:lstStyle/>
          <a:p>
            <a:pPr indent="0" marL="0">
              <a:buNone/>
            </a:pPr>
            <a:r>
              <a:rPr lang="en-US" sz="1350" dirty="0">
                <a:solidFill>
                  <a:schemeClr val="accent5"/>
                </a:solidFill>
              </a:rPr>
              <a:t>Text-only Gemini 0.97; the NLA's 0.60 falls to 0.51 after regressing out text (D23).</a:t>
            </a:r>
            <a:endParaRPr lang="en-US" sz="1350" dirty="0"/>
          </a:p>
        </p:txBody>
      </p:sp>
      <p:sp>
        <p:nvSpPr>
          <p:cNvPr id="22" name="Shape 20"/>
          <p:cNvSpPr/>
          <p:nvPr/>
        </p:nvSpPr>
        <p:spPr>
          <a:xfrm>
            <a:off x="548640" y="4142232"/>
            <a:ext cx="420624" cy="420624"/>
          </a:xfrm>
          <a:prstGeom prst="ellipse">
            <a:avLst/>
          </a:prstGeom>
          <a:solidFill>
            <a:schemeClr val="tx1"/>
          </a:solidFill>
          <a:ln w="12700">
            <a:solidFill>
              <a:schemeClr val="tx1"/>
            </a:solidFill>
            <a:prstDash val="solid"/>
          </a:ln>
        </p:spPr>
      </p:sp>
      <p:sp>
        <p:nvSpPr>
          <p:cNvPr id="23" name="Text 21"/>
          <p:cNvSpPr txBox="1"/>
          <p:nvPr/>
        </p:nvSpPr>
        <p:spPr>
          <a:xfrm>
            <a:off x="548640" y="41422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m</a:t>
            </a:r>
            <a:endParaRPr lang="en-US" sz="1400" dirty="0"/>
          </a:p>
        </p:txBody>
      </p:sp>
      <p:sp>
        <p:nvSpPr>
          <p:cNvPr id="24" name="Text 22"/>
          <p:cNvSpPr txBox="1"/>
          <p:nvPr/>
        </p:nvSpPr>
        <p:spPr>
          <a:xfrm>
            <a:off x="1143000" y="4005072"/>
            <a:ext cx="2743200" cy="685800"/>
          </a:xfrm>
          <a:prstGeom prst="rect">
            <a:avLst/>
          </a:prstGeom>
          <a:noFill/>
          <a:ln/>
        </p:spPr>
        <p:txBody>
          <a:bodyPr wrap="square" lIns="0" tIns="0" rIns="0" bIns="0" rtlCol="0" anchor="ctr"/>
          <a:lstStyle/>
          <a:p>
            <a:pPr indent="0" marL="0">
              <a:buNone/>
            </a:pPr>
            <a:r>
              <a:rPr lang="en-US" sz="1500" b="1" dirty="0">
                <a:solidFill>
                  <a:schemeClr val="tx1"/>
                </a:solidFill>
              </a:rPr>
              <a:t>OL mechanism tests: RUNNING</a:t>
            </a:r>
            <a:endParaRPr lang="en-US" sz="1500" dirty="0"/>
          </a:p>
        </p:txBody>
      </p:sp>
      <p:sp>
        <p:nvSpPr>
          <p:cNvPr id="25" name="Text 23"/>
          <p:cNvSpPr txBox="1"/>
          <p:nvPr/>
        </p:nvSpPr>
        <p:spPr>
          <a:xfrm>
            <a:off x="3977640" y="4005072"/>
            <a:ext cx="7665415" cy="713232"/>
          </a:xfrm>
          <a:prstGeom prst="rect">
            <a:avLst/>
          </a:prstGeom>
          <a:noFill/>
          <a:ln/>
        </p:spPr>
        <p:txBody>
          <a:bodyPr wrap="square" lIns="0" tIns="0" rIns="0" bIns="0" rtlCol="0" anchor="ctr"/>
          <a:lstStyle/>
          <a:p>
            <a:pPr indent="0" marL="0">
              <a:buNone/>
            </a:pPr>
            <a:r>
              <a:rPr lang="en-US" sz="1350" dirty="0">
                <a:solidFill>
                  <a:schemeClr val="tx1"/>
                </a:solidFill>
              </a:rPr>
              <a:t>Experiment 09, pilot split: indentation in OL's carrier; gain ratio (OL shift ÷ model shift); tense with the adapter off. Results won't change the predictions.</a:t>
            </a:r>
            <a:endParaRPr lang="en-US" sz="1350" dirty="0"/>
          </a:p>
        </p:txBody>
      </p:sp>
      <p:sp>
        <p:nvSpPr>
          <p:cNvPr id="26" name="Shape 24"/>
          <p:cNvSpPr/>
          <p:nvPr/>
        </p:nvSpPr>
        <p:spPr>
          <a:xfrm>
            <a:off x="548640" y="4928616"/>
            <a:ext cx="420624" cy="420624"/>
          </a:xfrm>
          <a:prstGeom prst="ellipse">
            <a:avLst/>
          </a:prstGeom>
          <a:solidFill>
            <a:schemeClr val="tx1"/>
          </a:solidFill>
          <a:ln w="12700">
            <a:solidFill>
              <a:schemeClr val="tx1"/>
            </a:solidFill>
            <a:prstDash val="solid"/>
          </a:ln>
        </p:spPr>
      </p:sp>
      <p:sp>
        <p:nvSpPr>
          <p:cNvPr id="27" name="Text 25"/>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8" name="Text 26"/>
          <p:cNvSpPr txBox="1"/>
          <p:nvPr/>
        </p:nvSpPr>
        <p:spPr>
          <a:xfrm>
            <a:off x="1143000" y="4791456"/>
            <a:ext cx="2743200" cy="685800"/>
          </a:xfrm>
          <a:prstGeom prst="rect">
            <a:avLst/>
          </a:prstGeom>
          <a:noFill/>
          <a:ln/>
        </p:spPr>
        <p:txBody>
          <a:bodyPr wrap="square" lIns="0" tIns="0" rIns="0" bIns="0" rtlCol="0" anchor="ctr"/>
          <a:lstStyle/>
          <a:p>
            <a:pPr indent="0" marL="0">
              <a:buNone/>
            </a:pPr>
            <a:r>
              <a:rPr lang="en-US" sz="1500" b="1" dirty="0">
                <a:solidFill>
                  <a:schemeClr val="tx1"/>
                </a:solidFill>
              </a:rPr>
              <a:t>Class-mean col direction: OPEN</a:t>
            </a:r>
            <a:endParaRPr lang="en-US" sz="1500" dirty="0"/>
          </a:p>
        </p:txBody>
      </p:sp>
      <p:sp>
        <p:nvSpPr>
          <p:cNvPr id="29" name="Text 27"/>
          <p:cNvSpPr txBox="1"/>
          <p:nvPr/>
        </p:nvSpPr>
        <p:spPr>
          <a:xfrm>
            <a:off x="3977640" y="4791456"/>
            <a:ext cx="7665415" cy="713232"/>
          </a:xfrm>
          <a:prstGeom prst="rect">
            <a:avLst/>
          </a:prstGeom>
          <a:noFill/>
          <a:ln/>
        </p:spPr>
        <p:txBody>
          <a:bodyPr wrap="square" lIns="0" tIns="0" rIns="0" bIns="0" rtlCol="0" anchor="ctr"/>
          <a:lstStyle/>
          <a:p>
            <a:pPr indent="0" marL="0">
              <a:buNone/>
            </a:pPr>
            <a:r>
              <a:rPr lang="en-US" sz="1350" dirty="0">
                <a:solidFill>
                  <a:schemeClr val="tx1"/>
                </a:solidFill>
              </a:rPr>
              <a:t>A binary short-vs-long-line direction as robustness next to the regression-covariance direction.</a:t>
            </a:r>
            <a:endParaRPr lang="en-US" sz="1350" dirty="0"/>
          </a:p>
        </p:txBody>
      </p:sp>
      <p:sp>
        <p:nvSpPr>
          <p:cNvPr id="30" name="Shape 28"/>
          <p:cNvSpPr/>
          <p:nvPr/>
        </p:nvSpPr>
        <p:spPr>
          <a:xfrm>
            <a:off x="548640" y="5623560"/>
            <a:ext cx="11094415" cy="685800"/>
          </a:xfrm>
          <a:prstGeom prst="roundRect">
            <a:avLst>
              <a:gd name="adj" fmla="val 10667"/>
            </a:avLst>
          </a:prstGeom>
          <a:solidFill>
            <a:schemeClr val="bg2"/>
          </a:solidFill>
          <a:ln w="12700">
            <a:solidFill>
              <a:schemeClr val="bg2"/>
            </a:solidFill>
            <a:prstDash val="solid"/>
          </a:ln>
        </p:spPr>
      </p:sp>
      <p:sp>
        <p:nvSpPr>
          <p:cNvPr id="31" name="Text 29"/>
          <p:cNvSpPr txBox="1"/>
          <p:nvPr/>
        </p:nvSpPr>
        <p:spPr>
          <a:xfrm>
            <a:off x="676656" y="5751576"/>
            <a:ext cx="10838383" cy="48097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Confirmatory design (prereg rev 4): P1–P4 · K = 100 nulls per band · Holm over 4 · sign agreement · negatives N1–N5 (TOST) · T1 judge check · fresh items (240 col / 160 tense / 120 language) · freeze Oct 18 with a hash manifest.</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LIMITATIONS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Threats to validity we are tracking, and what addresses each</a:t>
            </a:r>
            <a:endParaRPr lang="en-US" sz="2800" dirty="0"/>
          </a:p>
        </p:txBody>
      </p:sp>
      <p:sp>
        <p:nvSpPr>
          <p:cNvPr id="7" name="Shape 5"/>
          <p:cNvSpPr/>
          <p:nvPr/>
        </p:nvSpPr>
        <p:spPr>
          <a:xfrm>
            <a:off x="548640" y="1691640"/>
            <a:ext cx="2567864" cy="2194560"/>
          </a:xfrm>
          <a:prstGeom prst="roundRect">
            <a:avLst>
              <a:gd name="adj" fmla="val 3333"/>
            </a:avLst>
          </a:prstGeom>
          <a:solidFill>
            <a:schemeClr val="bg2"/>
          </a:solidFill>
          <a:ln w="12700">
            <a:solidFill>
              <a:schemeClr val="bg2"/>
            </a:solidFill>
            <a:prstDash val="solid"/>
          </a:ln>
        </p:spPr>
      </p:sp>
      <p:sp>
        <p:nvSpPr>
          <p:cNvPr id="8" name="Text 6"/>
          <p:cNvSpPr txBox="1"/>
          <p:nvPr/>
        </p:nvSpPr>
        <p:spPr>
          <a:xfrm>
            <a:off x="713232"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One non-J feature</a:t>
            </a:r>
            <a:endParaRPr lang="en-US" sz="1500" dirty="0"/>
          </a:p>
        </p:txBody>
      </p:sp>
      <p:sp>
        <p:nvSpPr>
          <p:cNvPr id="9" name="Text 7"/>
          <p:cNvSpPr txBox="1"/>
          <p:nvPr/>
        </p:nvSpPr>
        <p:spPr>
          <a:xfrm>
            <a:off x="713232"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 second clean feature in the ~12-feature survey; non-J content looks positional. Stated as a scope limit.</a:t>
            </a:r>
            <a:endParaRPr lang="en-US" sz="1300" dirty="0"/>
          </a:p>
        </p:txBody>
      </p:sp>
      <p:sp>
        <p:nvSpPr>
          <p:cNvPr id="10" name="Shape 8"/>
          <p:cNvSpPr/>
          <p:nvPr/>
        </p:nvSpPr>
        <p:spPr>
          <a:xfrm>
            <a:off x="3390824" y="1691640"/>
            <a:ext cx="2567864" cy="2194560"/>
          </a:xfrm>
          <a:prstGeom prst="roundRect">
            <a:avLst>
              <a:gd name="adj" fmla="val 3333"/>
            </a:avLst>
          </a:prstGeom>
          <a:solidFill>
            <a:schemeClr val="bg2"/>
          </a:solidFill>
          <a:ln w="12700">
            <a:solidFill>
              <a:schemeClr val="bg2"/>
            </a:solidFill>
            <a:prstDash val="solid"/>
          </a:ln>
        </p:spPr>
      </p:sp>
      <p:sp>
        <p:nvSpPr>
          <p:cNvPr id="11" name="Text 9"/>
          <p:cNvSpPr txBox="1"/>
          <p:nvPr/>
        </p:nvSpPr>
        <p:spPr>
          <a:xfrm>
            <a:off x="3555416"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Count-verbalisation gap</a:t>
            </a:r>
            <a:endParaRPr lang="en-US" sz="1500" dirty="0"/>
          </a:p>
        </p:txBody>
      </p:sp>
      <p:sp>
        <p:nvSpPr>
          <p:cNvPr id="12" name="Text 10"/>
          <p:cNvSpPr txBox="1"/>
          <p:nvPr/>
        </p:nvSpPr>
        <p:spPr>
          <a:xfrm>
            <a:off x="3555416"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Numbers never enter Qwen's J-space (col_report, list index), so there is no in-J count control. The gap stays open; stated as a limitation.</a:t>
            </a:r>
            <a:endParaRPr lang="en-US" sz="1300" dirty="0"/>
          </a:p>
        </p:txBody>
      </p:sp>
      <p:sp>
        <p:nvSpPr>
          <p:cNvPr id="13" name="Shape 11"/>
          <p:cNvSpPr/>
          <p:nvPr/>
        </p:nvSpPr>
        <p:spPr>
          <a:xfrm>
            <a:off x="6233008" y="1691640"/>
            <a:ext cx="2567864" cy="2194560"/>
          </a:xfrm>
          <a:prstGeom prst="roundRect">
            <a:avLst>
              <a:gd name="adj" fmla="val 3333"/>
            </a:avLst>
          </a:prstGeom>
          <a:solidFill>
            <a:schemeClr val="bg2"/>
          </a:solidFill>
          <a:ln w="12700">
            <a:solidFill>
              <a:schemeClr val="bg2"/>
            </a:solidFill>
            <a:prstDash val="solid"/>
          </a:ln>
        </p:spPr>
      </p:sp>
      <p:sp>
        <p:nvSpPr>
          <p:cNvPr id="14" name="Text 12"/>
          <p:cNvSpPr txBox="1"/>
          <p:nvPr/>
        </p:nvSpPr>
        <p:spPr>
          <a:xfrm>
            <a:off x="6397600"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Forking paths</a:t>
            </a:r>
            <a:endParaRPr lang="en-US" sz="1500" dirty="0"/>
          </a:p>
        </p:txBody>
      </p:sp>
      <p:sp>
        <p:nvSpPr>
          <p:cNvPr id="15" name="Text 13"/>
          <p:cNvSpPr txBox="1"/>
          <p:nvPr/>
        </p:nvSpPr>
        <p:spPr>
          <a:xfrm>
            <a:off x="6397600"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Many looks in the pilot; primaries chosen from it. Fixed by 4 named primaries, Holm, fresh items, templates frozen literally.</a:t>
            </a:r>
            <a:endParaRPr lang="en-US" sz="1300" dirty="0"/>
          </a:p>
        </p:txBody>
      </p:sp>
      <p:sp>
        <p:nvSpPr>
          <p:cNvPr id="16" name="Shape 14"/>
          <p:cNvSpPr/>
          <p:nvPr/>
        </p:nvSpPr>
        <p:spPr>
          <a:xfrm>
            <a:off x="9075191" y="1691640"/>
            <a:ext cx="2567864" cy="2194560"/>
          </a:xfrm>
          <a:prstGeom prst="roundRect">
            <a:avLst>
              <a:gd name="adj" fmla="val 3333"/>
            </a:avLst>
          </a:prstGeom>
          <a:solidFill>
            <a:schemeClr val="bg2"/>
          </a:solidFill>
          <a:ln w="12700">
            <a:solidFill>
              <a:schemeClr val="bg2"/>
            </a:solidFill>
            <a:prstDash val="solid"/>
          </a:ln>
        </p:spPr>
      </p:sp>
      <p:sp>
        <p:nvSpPr>
          <p:cNvPr id="17" name="Text 15"/>
          <p:cNvSpPr txBox="1"/>
          <p:nvPr/>
        </p:nvSpPr>
        <p:spPr>
          <a:xfrm>
            <a:off x="9239783" y="185623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Templates and pilot scale</a:t>
            </a:r>
            <a:endParaRPr lang="en-US" sz="1500" dirty="0"/>
          </a:p>
        </p:txBody>
      </p:sp>
      <p:sp>
        <p:nvSpPr>
          <p:cNvPr id="18" name="Text 16"/>
          <p:cNvSpPr txBox="1"/>
          <p:nvPr/>
        </p:nvSpPr>
        <p:spPr>
          <a:xfrm>
            <a:off x="9239783" y="223113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OL tense 0.39–0.87 across templates; pilot numbers are 60 items per feature on a declared, excluded split.</a:t>
            </a:r>
            <a:endParaRPr lang="en-US" sz="1300" dirty="0"/>
          </a:p>
        </p:txBody>
      </p:sp>
      <p:sp>
        <p:nvSpPr>
          <p:cNvPr id="19" name="Shape 17"/>
          <p:cNvSpPr/>
          <p:nvPr/>
        </p:nvSpPr>
        <p:spPr>
          <a:xfrm>
            <a:off x="548640" y="4160520"/>
            <a:ext cx="2567864" cy="2194560"/>
          </a:xfrm>
          <a:prstGeom prst="roundRect">
            <a:avLst>
              <a:gd name="adj" fmla="val 3333"/>
            </a:avLst>
          </a:prstGeom>
          <a:solidFill>
            <a:schemeClr val="bg2"/>
          </a:solidFill>
          <a:ln w="12700">
            <a:solidFill>
              <a:schemeClr val="bg2"/>
            </a:solidFill>
            <a:prstDash val="solid"/>
          </a:ln>
        </p:spPr>
      </p:sp>
      <p:sp>
        <p:nvSpPr>
          <p:cNvPr id="20" name="Text 18"/>
          <p:cNvSpPr txBox="1"/>
          <p:nvPr/>
        </p:nvSpPr>
        <p:spPr>
          <a:xfrm>
            <a:off x="713232"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Direction choice</a:t>
            </a:r>
            <a:endParaRPr lang="en-US" sz="1500" dirty="0"/>
          </a:p>
        </p:txBody>
      </p:sp>
      <p:sp>
        <p:nvSpPr>
          <p:cNvPr id="21" name="Text 19"/>
          <p:cNvSpPr txBox="1"/>
          <p:nvPr/>
        </p:nvSpPr>
        <p:spPr>
          <a:xfrm>
            <a:off x="713232"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col probe R² 0.655 (a curved manifold); covariance vs class-mean direction. Adds the binary direction.</a:t>
            </a:r>
            <a:endParaRPr lang="en-US" sz="1300" dirty="0"/>
          </a:p>
        </p:txBody>
      </p:sp>
      <p:sp>
        <p:nvSpPr>
          <p:cNvPr id="22" name="Shape 20"/>
          <p:cNvSpPr/>
          <p:nvPr/>
        </p:nvSpPr>
        <p:spPr>
          <a:xfrm>
            <a:off x="3390824" y="4160520"/>
            <a:ext cx="2567864" cy="2194560"/>
          </a:xfrm>
          <a:prstGeom prst="roundRect">
            <a:avLst>
              <a:gd name="adj" fmla="val 3333"/>
            </a:avLst>
          </a:prstGeom>
          <a:solidFill>
            <a:schemeClr val="bg2"/>
          </a:solidFill>
          <a:ln w="12700">
            <a:solidFill>
              <a:schemeClr val="bg2"/>
            </a:solidFill>
            <a:prstDash val="solid"/>
          </a:ln>
        </p:spPr>
      </p:sp>
      <p:sp>
        <p:nvSpPr>
          <p:cNvPr id="23" name="Text 21"/>
          <p:cNvSpPr txBox="1"/>
          <p:nvPr/>
        </p:nvSpPr>
        <p:spPr>
          <a:xfrm>
            <a:off x="3555416"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J-space definition</a:t>
            </a:r>
            <a:endParaRPr lang="en-US" sz="1500" dirty="0"/>
          </a:p>
        </p:txBody>
      </p:sp>
      <p:sp>
        <p:nvSpPr>
          <p:cNvPr id="24" name="Text 22"/>
          <p:cNvSpPr txBox="1"/>
          <p:nvPr/>
        </p:nvSpPr>
        <p:spPr>
          <a:xfrm>
            <a:off x="3555416"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 spectral elbow; two lenses differ (cosine 0.79). Claims say 'outside the top-r J-space', at r* and 4r*, under both lenses.</a:t>
            </a:r>
            <a:endParaRPr lang="en-US" sz="1300" dirty="0"/>
          </a:p>
        </p:txBody>
      </p:sp>
      <p:sp>
        <p:nvSpPr>
          <p:cNvPr id="25" name="Shape 23"/>
          <p:cNvSpPr/>
          <p:nvPr/>
        </p:nvSpPr>
        <p:spPr>
          <a:xfrm>
            <a:off x="6233008" y="4160520"/>
            <a:ext cx="2567864" cy="2194560"/>
          </a:xfrm>
          <a:prstGeom prst="roundRect">
            <a:avLst>
              <a:gd name="adj" fmla="val 3333"/>
            </a:avLst>
          </a:prstGeom>
          <a:solidFill>
            <a:schemeClr val="bg2"/>
          </a:solidFill>
          <a:ln w="12700">
            <a:solidFill>
              <a:schemeClr val="bg2"/>
            </a:solidFill>
            <a:prstDash val="solid"/>
          </a:ln>
        </p:spPr>
      </p:sp>
      <p:sp>
        <p:nvSpPr>
          <p:cNvPr id="26" name="Text 24"/>
          <p:cNvSpPr txBox="1"/>
          <p:nvPr/>
        </p:nvSpPr>
        <p:spPr>
          <a:xfrm>
            <a:off x="6397600"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Judges</a:t>
            </a:r>
            <a:endParaRPr lang="en-US" sz="1500" dirty="0"/>
          </a:p>
        </p:txBody>
      </p:sp>
      <p:sp>
        <p:nvSpPr>
          <p:cNvPr id="27" name="Text 25"/>
          <p:cNvSpPr txBox="1"/>
          <p:nvPr/>
        </p:nvSpPr>
        <p:spPr>
          <a:xfrm>
            <a:off x="6397600"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Claim precision is judge-based (κ 0.72–0.77 judge vs judge). 300 human-labelled claims still to do.</a:t>
            </a:r>
            <a:endParaRPr lang="en-US" sz="1300" dirty="0"/>
          </a:p>
        </p:txBody>
      </p:sp>
      <p:sp>
        <p:nvSpPr>
          <p:cNvPr id="28" name="Shape 26"/>
          <p:cNvSpPr/>
          <p:nvPr/>
        </p:nvSpPr>
        <p:spPr>
          <a:xfrm>
            <a:off x="9075191" y="4160520"/>
            <a:ext cx="2567864" cy="2194560"/>
          </a:xfrm>
          <a:prstGeom prst="roundRect">
            <a:avLst>
              <a:gd name="adj" fmla="val 3333"/>
            </a:avLst>
          </a:prstGeom>
          <a:solidFill>
            <a:schemeClr val="bg2"/>
          </a:solidFill>
          <a:ln w="12700">
            <a:solidFill>
              <a:schemeClr val="bg2"/>
            </a:solidFill>
            <a:prstDash val="solid"/>
          </a:ln>
        </p:spPr>
      </p:sp>
      <p:sp>
        <p:nvSpPr>
          <p:cNvPr id="29" name="Text 27"/>
          <p:cNvSpPr txBox="1"/>
          <p:nvPr/>
        </p:nvSpPr>
        <p:spPr>
          <a:xfrm>
            <a:off x="9239783" y="4325112"/>
            <a:ext cx="2238680"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Scope</a:t>
            </a:r>
            <a:endParaRPr lang="en-US" sz="1500" dirty="0"/>
          </a:p>
        </p:txBody>
      </p:sp>
      <p:sp>
        <p:nvSpPr>
          <p:cNvPr id="30" name="Text 28"/>
          <p:cNvSpPr txBox="1"/>
          <p:nvPr/>
        </p:nvSpPr>
        <p:spPr>
          <a:xfrm>
            <a:off x="9239783" y="4700016"/>
            <a:ext cx="2238680" cy="155630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One model, one layer (42). OL is off-grid at 42 but no worse than at 40/44. Planted doses are large (0.49 of ‖h‖).</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SPRINT PLAN · 19 OCTOBER – 1 NOVEMBER</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sprint runs the frozen analysis once: primaries in the first three days, everything else after</a:t>
            </a:r>
            <a:endParaRPr lang="en-US" sz="2800" dirty="0"/>
          </a:p>
        </p:txBody>
      </p:sp>
      <p:sp>
        <p:nvSpPr>
          <p:cNvPr id="7" name="Text 5"/>
          <p:cNvSpPr txBox="1"/>
          <p:nvPr/>
        </p:nvSpPr>
        <p:spPr>
          <a:xfrm>
            <a:off x="5760720" y="1673352"/>
            <a:ext cx="914400" cy="228600"/>
          </a:xfrm>
          <a:prstGeom prst="rect">
            <a:avLst/>
          </a:prstGeom>
          <a:noFill/>
          <a:ln/>
        </p:spPr>
        <p:txBody>
          <a:bodyPr wrap="square" lIns="0" tIns="0" rIns="0" bIns="0" rtlCol="0" anchor="t"/>
          <a:lstStyle/>
          <a:p>
            <a:pPr indent="0" marL="0">
              <a:buNone/>
            </a:pPr>
            <a:r>
              <a:rPr lang="en-US" sz="1000" dirty="0">
                <a:solidFill>
                  <a:schemeClr val="accent5"/>
                </a:solidFill>
              </a:rPr>
              <a:t>Oct</a:t>
            </a:r>
            <a:endParaRPr lang="en-US" sz="1000" dirty="0"/>
          </a:p>
        </p:txBody>
      </p:sp>
      <p:sp>
        <p:nvSpPr>
          <p:cNvPr id="8" name="Text 6"/>
          <p:cNvSpPr txBox="1"/>
          <p:nvPr/>
        </p:nvSpPr>
        <p:spPr>
          <a:xfrm>
            <a:off x="11222888" y="1673352"/>
            <a:ext cx="914400" cy="228600"/>
          </a:xfrm>
          <a:prstGeom prst="rect">
            <a:avLst/>
          </a:prstGeom>
          <a:noFill/>
          <a:ln/>
        </p:spPr>
        <p:txBody>
          <a:bodyPr wrap="square" lIns="0" tIns="0" rIns="0" bIns="0" rtlCol="0" anchor="t"/>
          <a:lstStyle/>
          <a:p>
            <a:pPr indent="0" marL="0">
              <a:buNone/>
            </a:pPr>
            <a:r>
              <a:rPr lang="en-US" sz="1000" dirty="0">
                <a:solidFill>
                  <a:schemeClr val="accent5"/>
                </a:solidFill>
              </a:rPr>
              <a:t>Nov</a:t>
            </a:r>
            <a:endParaRPr lang="en-US" sz="1000" dirty="0"/>
          </a:p>
        </p:txBody>
      </p:sp>
      <p:sp>
        <p:nvSpPr>
          <p:cNvPr id="9" name="Text 7"/>
          <p:cNvSpPr txBox="1"/>
          <p:nvPr/>
        </p:nvSpPr>
        <p:spPr>
          <a:xfrm>
            <a:off x="5760720"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19</a:t>
            </a:r>
            <a:endParaRPr lang="en-US" sz="1100" dirty="0"/>
          </a:p>
        </p:txBody>
      </p:sp>
      <p:sp>
        <p:nvSpPr>
          <p:cNvPr id="10" name="Shape 8"/>
          <p:cNvSpPr/>
          <p:nvPr/>
        </p:nvSpPr>
        <p:spPr>
          <a:xfrm>
            <a:off x="5760720" y="2148840"/>
            <a:ext cx="420167" cy="3429000"/>
          </a:xfrm>
          <a:prstGeom prst="rect">
            <a:avLst/>
          </a:prstGeom>
          <a:solidFill>
            <a:schemeClr val="bg2"/>
          </a:solidFill>
          <a:ln w="12700">
            <a:solidFill>
              <a:schemeClr val="bg2"/>
            </a:solidFill>
            <a:prstDash val="solid"/>
          </a:ln>
        </p:spPr>
      </p:sp>
      <p:sp>
        <p:nvSpPr>
          <p:cNvPr id="11" name="Text 9"/>
          <p:cNvSpPr txBox="1"/>
          <p:nvPr/>
        </p:nvSpPr>
        <p:spPr>
          <a:xfrm>
            <a:off x="6180887"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20</a:t>
            </a:r>
            <a:endParaRPr lang="en-US" sz="1100" dirty="0"/>
          </a:p>
        </p:txBody>
      </p:sp>
      <p:sp>
        <p:nvSpPr>
          <p:cNvPr id="12" name="Text 10"/>
          <p:cNvSpPr txBox="1"/>
          <p:nvPr/>
        </p:nvSpPr>
        <p:spPr>
          <a:xfrm>
            <a:off x="6601054"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21</a:t>
            </a:r>
            <a:endParaRPr lang="en-US" sz="1100" dirty="0"/>
          </a:p>
        </p:txBody>
      </p:sp>
      <p:sp>
        <p:nvSpPr>
          <p:cNvPr id="13" name="Shape 11"/>
          <p:cNvSpPr/>
          <p:nvPr/>
        </p:nvSpPr>
        <p:spPr>
          <a:xfrm>
            <a:off x="6601054" y="2148840"/>
            <a:ext cx="420167" cy="3429000"/>
          </a:xfrm>
          <a:prstGeom prst="rect">
            <a:avLst/>
          </a:prstGeom>
          <a:solidFill>
            <a:schemeClr val="bg2"/>
          </a:solidFill>
          <a:ln w="12700">
            <a:solidFill>
              <a:schemeClr val="bg2"/>
            </a:solidFill>
            <a:prstDash val="solid"/>
          </a:ln>
        </p:spPr>
      </p:sp>
      <p:sp>
        <p:nvSpPr>
          <p:cNvPr id="14" name="Text 12"/>
          <p:cNvSpPr txBox="1"/>
          <p:nvPr/>
        </p:nvSpPr>
        <p:spPr>
          <a:xfrm>
            <a:off x="7021220"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22</a:t>
            </a:r>
            <a:endParaRPr lang="en-US" sz="1100" dirty="0"/>
          </a:p>
        </p:txBody>
      </p:sp>
      <p:sp>
        <p:nvSpPr>
          <p:cNvPr id="15" name="Text 13"/>
          <p:cNvSpPr txBox="1"/>
          <p:nvPr/>
        </p:nvSpPr>
        <p:spPr>
          <a:xfrm>
            <a:off x="7441387"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23</a:t>
            </a:r>
            <a:endParaRPr lang="en-US" sz="1100" dirty="0"/>
          </a:p>
        </p:txBody>
      </p:sp>
      <p:sp>
        <p:nvSpPr>
          <p:cNvPr id="16" name="Shape 14"/>
          <p:cNvSpPr/>
          <p:nvPr/>
        </p:nvSpPr>
        <p:spPr>
          <a:xfrm>
            <a:off x="7441387" y="2148840"/>
            <a:ext cx="420167" cy="3429000"/>
          </a:xfrm>
          <a:prstGeom prst="rect">
            <a:avLst/>
          </a:prstGeom>
          <a:solidFill>
            <a:schemeClr val="bg2"/>
          </a:solidFill>
          <a:ln w="12700">
            <a:solidFill>
              <a:schemeClr val="bg2"/>
            </a:solidFill>
            <a:prstDash val="solid"/>
          </a:ln>
        </p:spPr>
      </p:sp>
      <p:sp>
        <p:nvSpPr>
          <p:cNvPr id="17" name="Text 15"/>
          <p:cNvSpPr txBox="1"/>
          <p:nvPr/>
        </p:nvSpPr>
        <p:spPr>
          <a:xfrm>
            <a:off x="7861554"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24</a:t>
            </a:r>
            <a:endParaRPr lang="en-US" sz="1100" dirty="0"/>
          </a:p>
        </p:txBody>
      </p:sp>
      <p:sp>
        <p:nvSpPr>
          <p:cNvPr id="18" name="Text 16"/>
          <p:cNvSpPr txBox="1"/>
          <p:nvPr/>
        </p:nvSpPr>
        <p:spPr>
          <a:xfrm>
            <a:off x="8281721"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25</a:t>
            </a:r>
            <a:endParaRPr lang="en-US" sz="1100" dirty="0"/>
          </a:p>
        </p:txBody>
      </p:sp>
      <p:sp>
        <p:nvSpPr>
          <p:cNvPr id="19" name="Shape 17"/>
          <p:cNvSpPr/>
          <p:nvPr/>
        </p:nvSpPr>
        <p:spPr>
          <a:xfrm>
            <a:off x="8281721" y="2148840"/>
            <a:ext cx="420167" cy="3429000"/>
          </a:xfrm>
          <a:prstGeom prst="rect">
            <a:avLst/>
          </a:prstGeom>
          <a:solidFill>
            <a:schemeClr val="bg2"/>
          </a:solidFill>
          <a:ln w="12700">
            <a:solidFill>
              <a:schemeClr val="bg2"/>
            </a:solidFill>
            <a:prstDash val="solid"/>
          </a:ln>
        </p:spPr>
      </p:sp>
      <p:sp>
        <p:nvSpPr>
          <p:cNvPr id="20" name="Text 18"/>
          <p:cNvSpPr txBox="1"/>
          <p:nvPr/>
        </p:nvSpPr>
        <p:spPr>
          <a:xfrm>
            <a:off x="8701888"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26</a:t>
            </a:r>
            <a:endParaRPr lang="en-US" sz="1100" dirty="0"/>
          </a:p>
        </p:txBody>
      </p:sp>
      <p:sp>
        <p:nvSpPr>
          <p:cNvPr id="21" name="Text 19"/>
          <p:cNvSpPr txBox="1"/>
          <p:nvPr/>
        </p:nvSpPr>
        <p:spPr>
          <a:xfrm>
            <a:off x="9122054"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27</a:t>
            </a:r>
            <a:endParaRPr lang="en-US" sz="1100" dirty="0"/>
          </a:p>
        </p:txBody>
      </p:sp>
      <p:sp>
        <p:nvSpPr>
          <p:cNvPr id="22" name="Shape 20"/>
          <p:cNvSpPr/>
          <p:nvPr/>
        </p:nvSpPr>
        <p:spPr>
          <a:xfrm>
            <a:off x="9122054" y="2148840"/>
            <a:ext cx="420167" cy="3429000"/>
          </a:xfrm>
          <a:prstGeom prst="rect">
            <a:avLst/>
          </a:prstGeom>
          <a:solidFill>
            <a:schemeClr val="bg2"/>
          </a:solidFill>
          <a:ln w="12700">
            <a:solidFill>
              <a:schemeClr val="bg2"/>
            </a:solidFill>
            <a:prstDash val="solid"/>
          </a:ln>
        </p:spPr>
      </p:sp>
      <p:sp>
        <p:nvSpPr>
          <p:cNvPr id="23" name="Text 21"/>
          <p:cNvSpPr txBox="1"/>
          <p:nvPr/>
        </p:nvSpPr>
        <p:spPr>
          <a:xfrm>
            <a:off x="9542221"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28</a:t>
            </a:r>
            <a:endParaRPr lang="en-US" sz="1100" dirty="0"/>
          </a:p>
        </p:txBody>
      </p:sp>
      <p:sp>
        <p:nvSpPr>
          <p:cNvPr id="24" name="Text 22"/>
          <p:cNvSpPr txBox="1"/>
          <p:nvPr/>
        </p:nvSpPr>
        <p:spPr>
          <a:xfrm>
            <a:off x="9962388"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29</a:t>
            </a:r>
            <a:endParaRPr lang="en-US" sz="1100" dirty="0"/>
          </a:p>
        </p:txBody>
      </p:sp>
      <p:sp>
        <p:nvSpPr>
          <p:cNvPr id="25" name="Shape 23"/>
          <p:cNvSpPr/>
          <p:nvPr/>
        </p:nvSpPr>
        <p:spPr>
          <a:xfrm>
            <a:off x="9962388" y="2148840"/>
            <a:ext cx="420167" cy="3429000"/>
          </a:xfrm>
          <a:prstGeom prst="rect">
            <a:avLst/>
          </a:prstGeom>
          <a:solidFill>
            <a:schemeClr val="bg2"/>
          </a:solidFill>
          <a:ln w="12700">
            <a:solidFill>
              <a:schemeClr val="bg2"/>
            </a:solidFill>
            <a:prstDash val="solid"/>
          </a:ln>
        </p:spPr>
      </p:sp>
      <p:sp>
        <p:nvSpPr>
          <p:cNvPr id="26" name="Text 24"/>
          <p:cNvSpPr txBox="1"/>
          <p:nvPr/>
        </p:nvSpPr>
        <p:spPr>
          <a:xfrm>
            <a:off x="10382555"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30</a:t>
            </a:r>
            <a:endParaRPr lang="en-US" sz="1100" dirty="0"/>
          </a:p>
        </p:txBody>
      </p:sp>
      <p:sp>
        <p:nvSpPr>
          <p:cNvPr id="27" name="Text 25"/>
          <p:cNvSpPr txBox="1"/>
          <p:nvPr/>
        </p:nvSpPr>
        <p:spPr>
          <a:xfrm>
            <a:off x="10802722"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31</a:t>
            </a:r>
            <a:endParaRPr lang="en-US" sz="1100" dirty="0"/>
          </a:p>
        </p:txBody>
      </p:sp>
      <p:sp>
        <p:nvSpPr>
          <p:cNvPr id="28" name="Shape 26"/>
          <p:cNvSpPr/>
          <p:nvPr/>
        </p:nvSpPr>
        <p:spPr>
          <a:xfrm>
            <a:off x="10802722" y="2148840"/>
            <a:ext cx="420167" cy="3429000"/>
          </a:xfrm>
          <a:prstGeom prst="rect">
            <a:avLst/>
          </a:prstGeom>
          <a:solidFill>
            <a:schemeClr val="bg2"/>
          </a:solidFill>
          <a:ln w="12700">
            <a:solidFill>
              <a:schemeClr val="bg2"/>
            </a:solidFill>
            <a:prstDash val="solid"/>
          </a:ln>
        </p:spPr>
      </p:sp>
      <p:sp>
        <p:nvSpPr>
          <p:cNvPr id="29" name="Text 27"/>
          <p:cNvSpPr txBox="1"/>
          <p:nvPr/>
        </p:nvSpPr>
        <p:spPr>
          <a:xfrm>
            <a:off x="11222888" y="1874520"/>
            <a:ext cx="420167" cy="256032"/>
          </a:xfrm>
          <a:prstGeom prst="rect">
            <a:avLst/>
          </a:prstGeom>
          <a:noFill/>
          <a:ln/>
        </p:spPr>
        <p:txBody>
          <a:bodyPr wrap="square" lIns="0" tIns="0" rIns="0" bIns="0" rtlCol="0" anchor="t"/>
          <a:lstStyle/>
          <a:p>
            <a:pPr algn="ctr" indent="0" marL="0">
              <a:buNone/>
            </a:pPr>
            <a:r>
              <a:rPr lang="en-US" sz="1100" b="1" dirty="0">
                <a:solidFill>
                  <a:schemeClr val="tx1"/>
                </a:solidFill>
              </a:rPr>
              <a:t>1</a:t>
            </a:r>
            <a:endParaRPr lang="en-US" sz="1100" dirty="0"/>
          </a:p>
        </p:txBody>
      </p:sp>
      <p:sp>
        <p:nvSpPr>
          <p:cNvPr id="30" name="Text 28"/>
          <p:cNvSpPr txBox="1"/>
          <p:nvPr/>
        </p:nvSpPr>
        <p:spPr>
          <a:xfrm>
            <a:off x="548640" y="2194560"/>
            <a:ext cx="5120640" cy="292608"/>
          </a:xfrm>
          <a:prstGeom prst="rect">
            <a:avLst/>
          </a:prstGeom>
          <a:noFill/>
          <a:ln/>
        </p:spPr>
        <p:txBody>
          <a:bodyPr wrap="square" lIns="0" tIns="0" rIns="0" bIns="0" rtlCol="0" anchor="ctr"/>
          <a:lstStyle/>
          <a:p>
            <a:pPr indent="0" marL="0">
              <a:buNone/>
            </a:pPr>
            <a:r>
              <a:rPr lang="en-US" sz="1200" dirty="0">
                <a:solidFill>
                  <a:schemeClr val="tx1"/>
                </a:solidFill>
              </a:rPr>
              <a:t>Integrity check; capture fresh banks; leak, FVE and behaviour at P1–P4</a:t>
            </a:r>
            <a:endParaRPr lang="en-US" sz="1200" dirty="0"/>
          </a:p>
        </p:txBody>
      </p:sp>
      <p:sp>
        <p:nvSpPr>
          <p:cNvPr id="31" name="Shape 29"/>
          <p:cNvSpPr/>
          <p:nvPr/>
        </p:nvSpPr>
        <p:spPr>
          <a:xfrm>
            <a:off x="5797296" y="2231136"/>
            <a:ext cx="347015" cy="219456"/>
          </a:xfrm>
          <a:prstGeom prst="roundRect">
            <a:avLst>
              <a:gd name="adj" fmla="val 25000"/>
            </a:avLst>
          </a:prstGeom>
          <a:solidFill>
            <a:schemeClr val="accent1"/>
          </a:solidFill>
          <a:ln w="12700">
            <a:solidFill>
              <a:schemeClr val="accent1"/>
            </a:solidFill>
            <a:prstDash val="solid"/>
          </a:ln>
        </p:spPr>
      </p:sp>
      <p:sp>
        <p:nvSpPr>
          <p:cNvPr id="32" name="Shape 30"/>
          <p:cNvSpPr/>
          <p:nvPr/>
        </p:nvSpPr>
        <p:spPr>
          <a:xfrm>
            <a:off x="6034583" y="2212848"/>
            <a:ext cx="256032" cy="256032"/>
          </a:xfrm>
          <a:prstGeom prst="diamond">
            <a:avLst/>
          </a:prstGeom>
          <a:solidFill>
            <a:schemeClr val="tx1"/>
          </a:solidFill>
          <a:ln w="12700">
            <a:solidFill>
              <a:schemeClr val="bg1"/>
            </a:solidFill>
            <a:prstDash val="solid"/>
          </a:ln>
        </p:spPr>
      </p:sp>
      <p:sp>
        <p:nvSpPr>
          <p:cNvPr id="33" name="Text 31"/>
          <p:cNvSpPr txBox="1"/>
          <p:nvPr/>
        </p:nvSpPr>
        <p:spPr>
          <a:xfrm>
            <a:off x="6308903" y="2194560"/>
            <a:ext cx="457200" cy="292608"/>
          </a:xfrm>
          <a:prstGeom prst="rect">
            <a:avLst/>
          </a:prstGeom>
          <a:noFill/>
          <a:ln/>
        </p:spPr>
        <p:txBody>
          <a:bodyPr wrap="square" lIns="0" tIns="0" rIns="0" bIns="0" rtlCol="0" anchor="ctr"/>
          <a:lstStyle/>
          <a:p>
            <a:pPr indent="0" marL="0">
              <a:buNone/>
            </a:pPr>
            <a:r>
              <a:rPr lang="en-US" sz="1000" b="1" dirty="0">
                <a:solidFill>
                  <a:schemeClr val="tx1"/>
                </a:solidFill>
              </a:rPr>
              <a:t>K5</a:t>
            </a:r>
            <a:endParaRPr lang="en-US" sz="1000" dirty="0"/>
          </a:p>
        </p:txBody>
      </p:sp>
      <p:sp>
        <p:nvSpPr>
          <p:cNvPr id="34" name="Text 32"/>
          <p:cNvSpPr txBox="1"/>
          <p:nvPr/>
        </p:nvSpPr>
        <p:spPr>
          <a:xfrm>
            <a:off x="548640" y="2506287"/>
            <a:ext cx="5120640" cy="292608"/>
          </a:xfrm>
          <a:prstGeom prst="rect">
            <a:avLst/>
          </a:prstGeom>
          <a:noFill/>
          <a:ln/>
        </p:spPr>
        <p:txBody>
          <a:bodyPr wrap="square" lIns="0" tIns="0" rIns="0" bIns="0" rtlCol="0" anchor="ctr"/>
          <a:lstStyle/>
          <a:p>
            <a:pPr indent="0" marL="0">
              <a:buNone/>
            </a:pPr>
            <a:r>
              <a:rPr lang="en-US" sz="1200" dirty="0">
                <a:solidFill>
                  <a:schemeClr val="tx1"/>
                </a:solidFill>
              </a:rPr>
              <a:t>Score P1–P4 (real + 2 × 100 nulls) and PC1–PC2; upstream behaviour</a:t>
            </a:r>
            <a:endParaRPr lang="en-US" sz="1200" dirty="0"/>
          </a:p>
        </p:txBody>
      </p:sp>
      <p:sp>
        <p:nvSpPr>
          <p:cNvPr id="35" name="Shape 33"/>
          <p:cNvSpPr/>
          <p:nvPr/>
        </p:nvSpPr>
        <p:spPr>
          <a:xfrm>
            <a:off x="6217463" y="2542863"/>
            <a:ext cx="347015" cy="219456"/>
          </a:xfrm>
          <a:prstGeom prst="roundRect">
            <a:avLst>
              <a:gd name="adj" fmla="val 25000"/>
            </a:avLst>
          </a:prstGeom>
          <a:solidFill>
            <a:schemeClr val="accent1"/>
          </a:solidFill>
          <a:ln w="12700">
            <a:solidFill>
              <a:schemeClr val="accent1"/>
            </a:solidFill>
            <a:prstDash val="solid"/>
          </a:ln>
        </p:spPr>
      </p:sp>
      <p:sp>
        <p:nvSpPr>
          <p:cNvPr id="36" name="Shape 34"/>
          <p:cNvSpPr/>
          <p:nvPr/>
        </p:nvSpPr>
        <p:spPr>
          <a:xfrm>
            <a:off x="6454750" y="2524575"/>
            <a:ext cx="256032" cy="256032"/>
          </a:xfrm>
          <a:prstGeom prst="diamond">
            <a:avLst/>
          </a:prstGeom>
          <a:solidFill>
            <a:schemeClr val="tx1"/>
          </a:solidFill>
          <a:ln w="12700">
            <a:solidFill>
              <a:schemeClr val="bg1"/>
            </a:solidFill>
            <a:prstDash val="solid"/>
          </a:ln>
        </p:spPr>
      </p:sp>
      <p:sp>
        <p:nvSpPr>
          <p:cNvPr id="37" name="Text 35"/>
          <p:cNvSpPr txBox="1"/>
          <p:nvPr/>
        </p:nvSpPr>
        <p:spPr>
          <a:xfrm>
            <a:off x="6729070" y="2506287"/>
            <a:ext cx="457200" cy="292608"/>
          </a:xfrm>
          <a:prstGeom prst="rect">
            <a:avLst/>
          </a:prstGeom>
          <a:noFill/>
          <a:ln/>
        </p:spPr>
        <p:txBody>
          <a:bodyPr wrap="square" lIns="0" tIns="0" rIns="0" bIns="0" rtlCol="0" anchor="ctr"/>
          <a:lstStyle/>
          <a:p>
            <a:pPr indent="0" marL="0">
              <a:buNone/>
            </a:pPr>
            <a:r>
              <a:rPr lang="en-US" sz="1000" b="1" dirty="0">
                <a:solidFill>
                  <a:schemeClr val="tx1"/>
                </a:solidFill>
              </a:rPr>
              <a:t>K2</a:t>
            </a:r>
            <a:endParaRPr lang="en-US" sz="1000" dirty="0"/>
          </a:p>
        </p:txBody>
      </p:sp>
      <p:sp>
        <p:nvSpPr>
          <p:cNvPr id="38" name="Text 36"/>
          <p:cNvSpPr txBox="1"/>
          <p:nvPr/>
        </p:nvSpPr>
        <p:spPr>
          <a:xfrm>
            <a:off x="548640" y="2818015"/>
            <a:ext cx="5120640" cy="292608"/>
          </a:xfrm>
          <a:prstGeom prst="rect">
            <a:avLst/>
          </a:prstGeom>
          <a:noFill/>
          <a:ln/>
        </p:spPr>
        <p:txBody>
          <a:bodyPr wrap="square" lIns="0" tIns="0" rIns="0" bIns="0" rtlCol="0" anchor="ctr"/>
          <a:lstStyle/>
          <a:p>
            <a:pPr indent="0" marL="0">
              <a:buNone/>
            </a:pPr>
            <a:r>
              <a:rPr lang="en-US" sz="1200" dirty="0">
                <a:solidFill>
                  <a:schemeClr val="tx1"/>
                </a:solidFill>
              </a:rPr>
              <a:t>One run of the frozen analysis: primaries, controls, N1–N5; record the branch</a:t>
            </a:r>
            <a:endParaRPr lang="en-US" sz="1200" dirty="0"/>
          </a:p>
        </p:txBody>
      </p:sp>
      <p:sp>
        <p:nvSpPr>
          <p:cNvPr id="39" name="Shape 37"/>
          <p:cNvSpPr/>
          <p:nvPr/>
        </p:nvSpPr>
        <p:spPr>
          <a:xfrm>
            <a:off x="6637630" y="2854591"/>
            <a:ext cx="347015" cy="219456"/>
          </a:xfrm>
          <a:prstGeom prst="roundRect">
            <a:avLst>
              <a:gd name="adj" fmla="val 25000"/>
            </a:avLst>
          </a:prstGeom>
          <a:solidFill>
            <a:schemeClr val="accent1"/>
          </a:solidFill>
          <a:ln w="12700">
            <a:solidFill>
              <a:schemeClr val="accent1"/>
            </a:solidFill>
            <a:prstDash val="solid"/>
          </a:ln>
        </p:spPr>
      </p:sp>
      <p:sp>
        <p:nvSpPr>
          <p:cNvPr id="40" name="Shape 38"/>
          <p:cNvSpPr/>
          <p:nvPr/>
        </p:nvSpPr>
        <p:spPr>
          <a:xfrm>
            <a:off x="6874916" y="2836303"/>
            <a:ext cx="256032" cy="256032"/>
          </a:xfrm>
          <a:prstGeom prst="diamond">
            <a:avLst/>
          </a:prstGeom>
          <a:solidFill>
            <a:schemeClr val="tx1"/>
          </a:solidFill>
          <a:ln w="12700">
            <a:solidFill>
              <a:schemeClr val="bg1"/>
            </a:solidFill>
            <a:prstDash val="solid"/>
          </a:ln>
        </p:spPr>
      </p:sp>
      <p:sp>
        <p:nvSpPr>
          <p:cNvPr id="41" name="Text 39"/>
          <p:cNvSpPr txBox="1"/>
          <p:nvPr/>
        </p:nvSpPr>
        <p:spPr>
          <a:xfrm>
            <a:off x="7149236" y="2818015"/>
            <a:ext cx="457200" cy="292608"/>
          </a:xfrm>
          <a:prstGeom prst="rect">
            <a:avLst/>
          </a:prstGeom>
          <a:noFill/>
          <a:ln/>
        </p:spPr>
        <p:txBody>
          <a:bodyPr wrap="square" lIns="0" tIns="0" rIns="0" bIns="0" rtlCol="0" anchor="ctr"/>
          <a:lstStyle/>
          <a:p>
            <a:pPr indent="0" marL="0">
              <a:buNone/>
            </a:pPr>
            <a:r>
              <a:rPr lang="en-US" sz="1000" b="1" dirty="0">
                <a:solidFill>
                  <a:schemeClr val="tx1"/>
                </a:solidFill>
              </a:rPr>
              <a:t>K3</a:t>
            </a:r>
            <a:endParaRPr lang="en-US" sz="1000" dirty="0"/>
          </a:p>
        </p:txBody>
      </p:sp>
      <p:sp>
        <p:nvSpPr>
          <p:cNvPr id="42" name="Text 40"/>
          <p:cNvSpPr txBox="1"/>
          <p:nvPr/>
        </p:nvSpPr>
        <p:spPr>
          <a:xfrm>
            <a:off x="548640" y="3129742"/>
            <a:ext cx="5120640" cy="292608"/>
          </a:xfrm>
          <a:prstGeom prst="rect">
            <a:avLst/>
          </a:prstGeom>
          <a:noFill/>
          <a:ln/>
        </p:spPr>
        <p:txBody>
          <a:bodyPr wrap="square" lIns="0" tIns="0" rIns="0" bIns="0" rtlCol="0" anchor="ctr"/>
          <a:lstStyle/>
          <a:p>
            <a:pPr indent="0" marL="0">
              <a:buNone/>
            </a:pPr>
            <a:r>
              <a:rPr lang="en-US" sz="1200" dirty="0">
                <a:solidFill>
                  <a:schemeClr val="tx1"/>
                </a:solidFill>
              </a:rPr>
              <a:t>T1: 6,720 free readouts, two judges, blind user labels</a:t>
            </a:r>
            <a:endParaRPr lang="en-US" sz="1200" dirty="0"/>
          </a:p>
        </p:txBody>
      </p:sp>
      <p:sp>
        <p:nvSpPr>
          <p:cNvPr id="43" name="Shape 41"/>
          <p:cNvSpPr/>
          <p:nvPr/>
        </p:nvSpPr>
        <p:spPr>
          <a:xfrm>
            <a:off x="7057796" y="3166318"/>
            <a:ext cx="347015" cy="219456"/>
          </a:xfrm>
          <a:prstGeom prst="roundRect">
            <a:avLst>
              <a:gd name="adj" fmla="val 25000"/>
            </a:avLst>
          </a:prstGeom>
          <a:solidFill>
            <a:schemeClr val="accent4"/>
          </a:solidFill>
          <a:ln w="12700">
            <a:solidFill>
              <a:schemeClr val="accent4"/>
            </a:solidFill>
            <a:prstDash val="solid"/>
          </a:ln>
        </p:spPr>
      </p:sp>
      <p:sp>
        <p:nvSpPr>
          <p:cNvPr id="44" name="Text 42"/>
          <p:cNvSpPr txBox="1"/>
          <p:nvPr/>
        </p:nvSpPr>
        <p:spPr>
          <a:xfrm>
            <a:off x="548640" y="3441469"/>
            <a:ext cx="5120640" cy="292608"/>
          </a:xfrm>
          <a:prstGeom prst="rect">
            <a:avLst/>
          </a:prstGeom>
          <a:noFill/>
          <a:ln/>
        </p:spPr>
        <p:txBody>
          <a:bodyPr wrap="square" lIns="0" tIns="0" rIns="0" bIns="0" rtlCol="0" anchor="ctr"/>
          <a:lstStyle/>
          <a:p>
            <a:pPr indent="0" marL="0">
              <a:buNone/>
            </a:pPr>
            <a:r>
              <a:rPr lang="en-US" sz="1200" dirty="0">
                <a:solidFill>
                  <a:schemeClr val="tx1"/>
                </a:solidFill>
              </a:rPr>
              <a:t>Declared-secondary families → sign agreement; S1–S5</a:t>
            </a:r>
            <a:endParaRPr lang="en-US" sz="1200" dirty="0"/>
          </a:p>
        </p:txBody>
      </p:sp>
      <p:sp>
        <p:nvSpPr>
          <p:cNvPr id="45" name="Shape 43"/>
          <p:cNvSpPr/>
          <p:nvPr/>
        </p:nvSpPr>
        <p:spPr>
          <a:xfrm>
            <a:off x="7477963" y="3478045"/>
            <a:ext cx="347015" cy="219456"/>
          </a:xfrm>
          <a:prstGeom prst="roundRect">
            <a:avLst>
              <a:gd name="adj" fmla="val 25000"/>
            </a:avLst>
          </a:prstGeom>
          <a:solidFill>
            <a:schemeClr val="accent5"/>
          </a:solidFill>
          <a:ln w="12700">
            <a:solidFill>
              <a:schemeClr val="accent5"/>
            </a:solidFill>
            <a:prstDash val="solid"/>
          </a:ln>
        </p:spPr>
      </p:sp>
      <p:sp>
        <p:nvSpPr>
          <p:cNvPr id="46" name="Text 44"/>
          <p:cNvSpPr txBox="1"/>
          <p:nvPr/>
        </p:nvSpPr>
        <p:spPr>
          <a:xfrm>
            <a:off x="548640" y="3753196"/>
            <a:ext cx="5120640" cy="292608"/>
          </a:xfrm>
          <a:prstGeom prst="rect">
            <a:avLst/>
          </a:prstGeom>
          <a:noFill/>
          <a:ln/>
        </p:spPr>
        <p:txBody>
          <a:bodyPr wrap="square" lIns="0" tIns="0" rIns="0" bIns="0" rtlCol="0" anchor="ctr"/>
          <a:lstStyle/>
          <a:p>
            <a:pPr indent="0" marL="0">
              <a:buNone/>
            </a:pPr>
            <a:r>
              <a:rPr lang="en-US" sz="1200" dirty="0">
                <a:solidFill>
                  <a:schemeClr val="tx1"/>
                </a:solidFill>
              </a:rPr>
              <a:t>OL mechanism tests on fresh items (S6)</a:t>
            </a:r>
            <a:endParaRPr lang="en-US" sz="1200" dirty="0"/>
          </a:p>
        </p:txBody>
      </p:sp>
      <p:sp>
        <p:nvSpPr>
          <p:cNvPr id="47" name="Shape 45"/>
          <p:cNvSpPr/>
          <p:nvPr/>
        </p:nvSpPr>
        <p:spPr>
          <a:xfrm>
            <a:off x="7898130" y="3789772"/>
            <a:ext cx="347015" cy="219456"/>
          </a:xfrm>
          <a:prstGeom prst="roundRect">
            <a:avLst>
              <a:gd name="adj" fmla="val 25000"/>
            </a:avLst>
          </a:prstGeom>
          <a:solidFill>
            <a:schemeClr val="accent2"/>
          </a:solidFill>
          <a:ln w="12700">
            <a:solidFill>
              <a:schemeClr val="accent2"/>
            </a:solidFill>
            <a:prstDash val="solid"/>
          </a:ln>
        </p:spPr>
      </p:sp>
      <p:sp>
        <p:nvSpPr>
          <p:cNvPr id="48" name="Text 46"/>
          <p:cNvSpPr txBox="1"/>
          <p:nvPr/>
        </p:nvSpPr>
        <p:spPr>
          <a:xfrm>
            <a:off x="548640" y="4064924"/>
            <a:ext cx="5120640" cy="292608"/>
          </a:xfrm>
          <a:prstGeom prst="rect">
            <a:avLst/>
          </a:prstGeom>
          <a:noFill/>
          <a:ln/>
        </p:spPr>
        <p:txBody>
          <a:bodyPr wrap="square" lIns="0" tIns="0" rIns="0" bIns="0" rtlCol="0" anchor="ctr"/>
          <a:lstStyle/>
          <a:p>
            <a:pPr indent="0" marL="0">
              <a:buNone/>
            </a:pPr>
            <a:r>
              <a:rPr lang="en-US" sz="1200" dirty="0">
                <a:solidFill>
                  <a:schemeClr val="tx1"/>
                </a:solidFill>
              </a:rPr>
              <a:t>One-page interim to Fable / Neel</a:t>
            </a:r>
            <a:endParaRPr lang="en-US" sz="1200" dirty="0"/>
          </a:p>
        </p:txBody>
      </p:sp>
      <p:sp>
        <p:nvSpPr>
          <p:cNvPr id="49" name="Shape 47"/>
          <p:cNvSpPr/>
          <p:nvPr/>
        </p:nvSpPr>
        <p:spPr>
          <a:xfrm>
            <a:off x="8318297" y="4101500"/>
            <a:ext cx="347015" cy="219456"/>
          </a:xfrm>
          <a:prstGeom prst="roundRect">
            <a:avLst>
              <a:gd name="adj" fmla="val 25000"/>
            </a:avLst>
          </a:prstGeom>
          <a:solidFill>
            <a:schemeClr val="accent5"/>
          </a:solidFill>
          <a:ln w="12700">
            <a:solidFill>
              <a:schemeClr val="accent5"/>
            </a:solidFill>
            <a:prstDash val="solid"/>
          </a:ln>
        </p:spPr>
      </p:sp>
      <p:sp>
        <p:nvSpPr>
          <p:cNvPr id="50" name="Text 48"/>
          <p:cNvSpPr txBox="1"/>
          <p:nvPr/>
        </p:nvSpPr>
        <p:spPr>
          <a:xfrm>
            <a:off x="548640" y="4376651"/>
            <a:ext cx="5120640" cy="292608"/>
          </a:xfrm>
          <a:prstGeom prst="rect">
            <a:avLst/>
          </a:prstGeom>
          <a:noFill/>
          <a:ln/>
        </p:spPr>
        <p:txBody>
          <a:bodyPr wrap="square" lIns="0" tIns="0" rIns="0" bIns="0" rtlCol="0" anchor="ctr"/>
          <a:lstStyle/>
          <a:p>
            <a:pPr indent="0" marL="0">
              <a:buNone/>
            </a:pPr>
            <a:r>
              <a:rPr lang="en-US" sz="1200" dirty="0">
                <a:solidFill>
                  <a:schemeClr val="tx1"/>
                </a:solidFill>
              </a:rPr>
              <a:t>Planted bridge calibration; reconstruction-rewrite rate (S8)</a:t>
            </a:r>
            <a:endParaRPr lang="en-US" sz="1200" dirty="0"/>
          </a:p>
        </p:txBody>
      </p:sp>
      <p:sp>
        <p:nvSpPr>
          <p:cNvPr id="51" name="Shape 49"/>
          <p:cNvSpPr/>
          <p:nvPr/>
        </p:nvSpPr>
        <p:spPr>
          <a:xfrm>
            <a:off x="8738464" y="4413227"/>
            <a:ext cx="347015" cy="219456"/>
          </a:xfrm>
          <a:prstGeom prst="roundRect">
            <a:avLst>
              <a:gd name="adj" fmla="val 25000"/>
            </a:avLst>
          </a:prstGeom>
          <a:solidFill>
            <a:schemeClr val="accent3"/>
          </a:solidFill>
          <a:ln w="12700">
            <a:solidFill>
              <a:schemeClr val="accent3"/>
            </a:solidFill>
            <a:prstDash val="solid"/>
          </a:ln>
        </p:spPr>
      </p:sp>
      <p:sp>
        <p:nvSpPr>
          <p:cNvPr id="52" name="Text 50"/>
          <p:cNvSpPr txBox="1"/>
          <p:nvPr/>
        </p:nvSpPr>
        <p:spPr>
          <a:xfrm>
            <a:off x="548640" y="4688378"/>
            <a:ext cx="5120640" cy="292608"/>
          </a:xfrm>
          <a:prstGeom prst="rect">
            <a:avLst/>
          </a:prstGeom>
          <a:noFill/>
          <a:ln/>
        </p:spPr>
        <p:txBody>
          <a:bodyPr wrap="square" lIns="0" tIns="0" rIns="0" bIns="0" rtlCol="0" anchor="ctr"/>
          <a:lstStyle/>
          <a:p>
            <a:pPr indent="0" marL="0">
              <a:buNone/>
            </a:pPr>
            <a:r>
              <a:rPr lang="en-US" sz="1200" dirty="0">
                <a:solidFill>
                  <a:schemeClr val="tx1"/>
                </a:solidFill>
              </a:rPr>
              <a:t>Part A replications on held-out items, both lenses</a:t>
            </a:r>
            <a:endParaRPr lang="en-US" sz="1200" dirty="0"/>
          </a:p>
        </p:txBody>
      </p:sp>
      <p:sp>
        <p:nvSpPr>
          <p:cNvPr id="53" name="Shape 51"/>
          <p:cNvSpPr/>
          <p:nvPr/>
        </p:nvSpPr>
        <p:spPr>
          <a:xfrm>
            <a:off x="9158630" y="4724954"/>
            <a:ext cx="347015" cy="219456"/>
          </a:xfrm>
          <a:prstGeom prst="roundRect">
            <a:avLst>
              <a:gd name="adj" fmla="val 25000"/>
            </a:avLst>
          </a:prstGeom>
          <a:solidFill>
            <a:schemeClr val="accent3"/>
          </a:solidFill>
          <a:ln w="12700">
            <a:solidFill>
              <a:schemeClr val="accent3"/>
            </a:solidFill>
            <a:prstDash val="solid"/>
          </a:ln>
        </p:spPr>
      </p:sp>
      <p:sp>
        <p:nvSpPr>
          <p:cNvPr id="54" name="Text 52"/>
          <p:cNvSpPr txBox="1"/>
          <p:nvPr/>
        </p:nvSpPr>
        <p:spPr>
          <a:xfrm>
            <a:off x="548640" y="5000105"/>
            <a:ext cx="5120640" cy="292608"/>
          </a:xfrm>
          <a:prstGeom prst="rect">
            <a:avLst/>
          </a:prstGeom>
          <a:noFill/>
          <a:ln/>
        </p:spPr>
        <p:txBody>
          <a:bodyPr wrap="square" lIns="0" tIns="0" rIns="0" bIns="0" rtlCol="0" anchor="ctr"/>
          <a:lstStyle/>
          <a:p>
            <a:pPr indent="0" marL="0">
              <a:buNone/>
            </a:pPr>
            <a:r>
              <a:rPr lang="en-US" sz="1200" dirty="0">
                <a:solidFill>
                  <a:schemeClr val="tx1"/>
                </a:solidFill>
              </a:rPr>
              <a:t>Exploratory cells (labelled)</a:t>
            </a:r>
            <a:endParaRPr lang="en-US" sz="1200" dirty="0"/>
          </a:p>
        </p:txBody>
      </p:sp>
      <p:sp>
        <p:nvSpPr>
          <p:cNvPr id="55" name="Shape 53"/>
          <p:cNvSpPr/>
          <p:nvPr/>
        </p:nvSpPr>
        <p:spPr>
          <a:xfrm>
            <a:off x="9578797" y="5036681"/>
            <a:ext cx="347015" cy="219456"/>
          </a:xfrm>
          <a:prstGeom prst="roundRect">
            <a:avLst>
              <a:gd name="adj" fmla="val 25000"/>
            </a:avLst>
          </a:prstGeom>
          <a:solidFill>
            <a:schemeClr val="accent6"/>
          </a:solidFill>
          <a:ln w="12700">
            <a:solidFill>
              <a:schemeClr val="accent6"/>
            </a:solidFill>
            <a:prstDash val="solid"/>
          </a:ln>
        </p:spPr>
      </p:sp>
      <p:sp>
        <p:nvSpPr>
          <p:cNvPr id="56" name="Text 54"/>
          <p:cNvSpPr txBox="1"/>
          <p:nvPr/>
        </p:nvSpPr>
        <p:spPr>
          <a:xfrm>
            <a:off x="548640" y="5311833"/>
            <a:ext cx="5120640" cy="292608"/>
          </a:xfrm>
          <a:prstGeom prst="rect">
            <a:avLst/>
          </a:prstGeom>
          <a:noFill/>
          <a:ln/>
        </p:spPr>
        <p:txBody>
          <a:bodyPr wrap="square" lIns="0" tIns="0" rIns="0" bIns="0" rtlCol="0" anchor="ctr"/>
          <a:lstStyle/>
          <a:p>
            <a:pPr indent="0" marL="0">
              <a:buNone/>
            </a:pPr>
            <a:r>
              <a:rPr lang="en-US" sz="1200" dirty="0">
                <a:solidFill>
                  <a:schemeClr val="tx1"/>
                </a:solidFill>
              </a:rPr>
              <a:t>Figures, statistics audit, deviations log, write-up, red-team</a:t>
            </a:r>
            <a:endParaRPr lang="en-US" sz="1200" dirty="0"/>
          </a:p>
        </p:txBody>
      </p:sp>
      <p:sp>
        <p:nvSpPr>
          <p:cNvPr id="57" name="Shape 55"/>
          <p:cNvSpPr/>
          <p:nvPr/>
        </p:nvSpPr>
        <p:spPr>
          <a:xfrm>
            <a:off x="9998964" y="5348409"/>
            <a:ext cx="1607515" cy="219456"/>
          </a:xfrm>
          <a:prstGeom prst="roundRect">
            <a:avLst>
              <a:gd name="adj" fmla="val 25000"/>
            </a:avLst>
          </a:prstGeom>
          <a:solidFill>
            <a:schemeClr val="accent2"/>
          </a:solidFill>
          <a:ln w="12700">
            <a:solidFill>
              <a:schemeClr val="accent2"/>
            </a:solidFill>
            <a:prstDash val="solid"/>
          </a:ln>
        </p:spPr>
      </p:sp>
      <p:sp>
        <p:nvSpPr>
          <p:cNvPr id="58" name="Shape 56"/>
          <p:cNvSpPr/>
          <p:nvPr/>
        </p:nvSpPr>
        <p:spPr>
          <a:xfrm>
            <a:off x="548640" y="5769864"/>
            <a:ext cx="274320" cy="274320"/>
          </a:xfrm>
          <a:prstGeom prst="diamond">
            <a:avLst/>
          </a:prstGeom>
          <a:solidFill>
            <a:schemeClr val="tx1"/>
          </a:solidFill>
          <a:ln w="12700">
            <a:solidFill>
              <a:schemeClr val="tx1"/>
            </a:solidFill>
            <a:prstDash val="solid"/>
          </a:ln>
        </p:spPr>
      </p:sp>
      <p:sp>
        <p:nvSpPr>
          <p:cNvPr id="59" name="Text 57"/>
          <p:cNvSpPr txBox="1"/>
          <p:nvPr/>
        </p:nvSpPr>
        <p:spPr>
          <a:xfrm>
            <a:off x="932688" y="5715000"/>
            <a:ext cx="3131210" cy="457200"/>
          </a:xfrm>
          <a:prstGeom prst="rect">
            <a:avLst/>
          </a:prstGeom>
          <a:noFill/>
          <a:ln/>
        </p:spPr>
        <p:txBody>
          <a:bodyPr wrap="square" lIns="0" tIns="0" rIns="0" bIns="0" rtlCol="0" anchor="t"/>
          <a:lstStyle/>
          <a:p>
            <a:pPr indent="0" marL="0">
              <a:buNone/>
            </a:pPr>
            <a:r>
              <a:rPr lang="en-US" sz="1250" b="1" dirty="0">
                <a:solidFill>
                  <a:schemeClr val="tx1"/>
                </a:solidFill>
              </a:rPr>
              <a:t>K5  </a:t>
            </a:r>
            <a:pPr indent="0" marL="0">
              <a:buNone/>
            </a:pPr>
            <a:r>
              <a:rPr lang="en-US" sz="1250" dirty="0">
                <a:solidFill>
                  <a:schemeClr val="tx1"/>
                </a:solidFill>
              </a:rPr>
              <a:t>integrity: hashes match, 0 item overlaps, K = 100 nulls exist</a:t>
            </a:r>
            <a:endParaRPr lang="en-US" sz="1250" dirty="0"/>
          </a:p>
        </p:txBody>
      </p:sp>
      <p:sp>
        <p:nvSpPr>
          <p:cNvPr id="60" name="Shape 58"/>
          <p:cNvSpPr/>
          <p:nvPr/>
        </p:nvSpPr>
        <p:spPr>
          <a:xfrm>
            <a:off x="4338218" y="5769864"/>
            <a:ext cx="274320" cy="274320"/>
          </a:xfrm>
          <a:prstGeom prst="diamond">
            <a:avLst/>
          </a:prstGeom>
          <a:solidFill>
            <a:schemeClr val="tx1"/>
          </a:solidFill>
          <a:ln w="12700">
            <a:solidFill>
              <a:schemeClr val="tx1"/>
            </a:solidFill>
            <a:prstDash val="solid"/>
          </a:ln>
        </p:spPr>
      </p:sp>
      <p:sp>
        <p:nvSpPr>
          <p:cNvPr id="61" name="Text 59"/>
          <p:cNvSpPr txBox="1"/>
          <p:nvPr/>
        </p:nvSpPr>
        <p:spPr>
          <a:xfrm>
            <a:off x="4722266" y="5715000"/>
            <a:ext cx="3131210" cy="457200"/>
          </a:xfrm>
          <a:prstGeom prst="rect">
            <a:avLst/>
          </a:prstGeom>
          <a:noFill/>
          <a:ln/>
        </p:spPr>
        <p:txBody>
          <a:bodyPr wrap="square" lIns="0" tIns="0" rIns="0" bIns="0" rtlCol="0" anchor="t"/>
          <a:lstStyle/>
          <a:p>
            <a:pPr indent="0" marL="0">
              <a:buNone/>
            </a:pPr>
            <a:r>
              <a:rPr lang="en-US" sz="1250" b="1" dirty="0">
                <a:solidFill>
                  <a:schemeClr val="tx1"/>
                </a:solidFill>
              </a:rPr>
              <a:t>K2  </a:t>
            </a:r>
            <a:pPr indent="0" marL="0">
              <a:buNone/>
            </a:pPr>
            <a:r>
              <a:rPr lang="en-US" sz="1250" dirty="0">
                <a:solidFill>
                  <a:schemeClr val="tx1"/>
                </a:solidFill>
              </a:rPr>
              <a:t>a primary failing leak or FVE is void (Holm stays over 4)</a:t>
            </a:r>
            <a:endParaRPr lang="en-US" sz="1250" dirty="0"/>
          </a:p>
        </p:txBody>
      </p:sp>
      <p:sp>
        <p:nvSpPr>
          <p:cNvPr id="62" name="Shape 60"/>
          <p:cNvSpPr/>
          <p:nvPr/>
        </p:nvSpPr>
        <p:spPr>
          <a:xfrm>
            <a:off x="8127797" y="5769864"/>
            <a:ext cx="274320" cy="274320"/>
          </a:xfrm>
          <a:prstGeom prst="diamond">
            <a:avLst/>
          </a:prstGeom>
          <a:solidFill>
            <a:schemeClr val="tx1"/>
          </a:solidFill>
          <a:ln w="12700">
            <a:solidFill>
              <a:schemeClr val="tx1"/>
            </a:solidFill>
            <a:prstDash val="solid"/>
          </a:ln>
        </p:spPr>
      </p:sp>
      <p:sp>
        <p:nvSpPr>
          <p:cNvPr id="63" name="Text 61"/>
          <p:cNvSpPr txBox="1"/>
          <p:nvPr/>
        </p:nvSpPr>
        <p:spPr>
          <a:xfrm>
            <a:off x="8511845" y="5715000"/>
            <a:ext cx="3131210" cy="457200"/>
          </a:xfrm>
          <a:prstGeom prst="rect">
            <a:avLst/>
          </a:prstGeom>
          <a:noFill/>
          <a:ln/>
        </p:spPr>
        <p:txBody>
          <a:bodyPr wrap="square" lIns="0" tIns="0" rIns="0" bIns="0" rtlCol="0" anchor="t"/>
          <a:lstStyle/>
          <a:p>
            <a:pPr indent="0" marL="0">
              <a:buNone/>
            </a:pPr>
            <a:r>
              <a:rPr lang="en-US" sz="1250" b="1" dirty="0">
                <a:solidFill>
                  <a:schemeClr val="tx1"/>
                </a:solidFill>
              </a:rPr>
              <a:t>K3  </a:t>
            </a:r>
            <a:pPr indent="0" marL="0">
              <a:buNone/>
            </a:pPr>
            <a:r>
              <a:rPr lang="en-US" sz="1250" dirty="0">
                <a:solidFill>
                  <a:schemeClr val="tx1"/>
                </a:solidFill>
              </a:rPr>
              <a:t>PC1 and PC2 both fail → pivot; one fails → proceed</a:t>
            </a:r>
            <a:endParaRPr lang="en-US" sz="125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86868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Contributions so far, and what would change our minds</a:t>
            </a:r>
            <a:endParaRPr lang="en-US" sz="3000" dirty="0"/>
          </a:p>
        </p:txBody>
      </p:sp>
      <p:sp>
        <p:nvSpPr>
          <p:cNvPr id="3" name="Text 1"/>
          <p:cNvSpPr txBox="1"/>
          <p:nvPr/>
        </p:nvSpPr>
        <p:spPr>
          <a:xfrm>
            <a:off x="548640" y="1600200"/>
            <a:ext cx="667512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CONTRIBUTIONS</a:t>
            </a:r>
            <a:endParaRPr lang="en-US" sz="1200" dirty="0"/>
          </a:p>
        </p:txBody>
      </p:sp>
      <p:sp>
        <p:nvSpPr>
          <p:cNvPr id="4" name="Shape 2"/>
          <p:cNvSpPr/>
          <p:nvPr/>
        </p:nvSpPr>
        <p:spPr>
          <a:xfrm>
            <a:off x="548640" y="1965960"/>
            <a:ext cx="365760" cy="365760"/>
          </a:xfrm>
          <a:prstGeom prst="ellipse">
            <a:avLst/>
          </a:prstGeom>
          <a:solidFill>
            <a:schemeClr val="accent4"/>
          </a:solidFill>
          <a:ln w="12700">
            <a:solidFill>
              <a:schemeClr val="accent4"/>
            </a:solidFill>
            <a:prstDash val="solid"/>
          </a:ln>
        </p:spPr>
      </p:sp>
      <p:sp>
        <p:nvSpPr>
          <p:cNvPr id="5" name="Text 3"/>
          <p:cNvSpPr txBox="1"/>
          <p:nvPr/>
        </p:nvSpPr>
        <p:spPr>
          <a:xfrm>
            <a:off x="548640" y="1965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1929384"/>
            <a:ext cx="6126480" cy="914400"/>
          </a:xfrm>
          <a:prstGeom prst="rect">
            <a:avLst/>
          </a:prstGeom>
          <a:noFill/>
          <a:ln/>
        </p:spPr>
        <p:txBody>
          <a:bodyPr wrap="square" lIns="0" tIns="0" rIns="0" bIns="0" rtlCol="0" anchor="t"/>
          <a:lstStyle/>
          <a:p>
            <a:pPr indent="0" marL="0">
              <a:buNone/>
            </a:pPr>
            <a:r>
              <a:rPr lang="en-US" sz="1450" dirty="0">
                <a:solidFill>
                  <a:schemeClr val="bg1"/>
                </a:solidFill>
              </a:rPr>
              <a:t>A calibrated, random-subspace-controlled gate for 'non-workspace' content (the standard survival test is uninformative), and a survey: on Qwen L42 the non-J content the model uses is positional.</a:t>
            </a:r>
            <a:endParaRPr lang="en-US" sz="1450" dirty="0"/>
          </a:p>
        </p:txBody>
      </p:sp>
      <p:sp>
        <p:nvSpPr>
          <p:cNvPr id="7" name="Shape 5"/>
          <p:cNvSpPr/>
          <p:nvPr/>
        </p:nvSpPr>
        <p:spPr>
          <a:xfrm>
            <a:off x="548640" y="2953512"/>
            <a:ext cx="365760" cy="365760"/>
          </a:xfrm>
          <a:prstGeom prst="ellipse">
            <a:avLst/>
          </a:prstGeom>
          <a:solidFill>
            <a:schemeClr val="accent3"/>
          </a:solidFill>
          <a:ln w="12700">
            <a:solidFill>
              <a:schemeClr val="accent3"/>
            </a:solidFill>
            <a:prstDash val="solid"/>
          </a:ln>
        </p:spPr>
      </p:sp>
      <p:sp>
        <p:nvSpPr>
          <p:cNvPr id="8" name="Text 6"/>
          <p:cNvSpPr txBox="1"/>
          <p:nvPr/>
        </p:nvSpPr>
        <p:spPr>
          <a:xfrm>
            <a:off x="548640" y="29535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97280" y="2916936"/>
            <a:ext cx="6126480" cy="914400"/>
          </a:xfrm>
          <a:prstGeom prst="rect">
            <a:avLst/>
          </a:prstGeom>
          <a:noFill/>
          <a:ln/>
        </p:spPr>
        <p:txBody>
          <a:bodyPr wrap="square" lIns="0" tIns="0" rIns="0" bIns="0" rtlCol="0" anchor="t"/>
          <a:lstStyle/>
          <a:p>
            <a:pPr indent="0" marL="0">
              <a:buNone/>
            </a:pPr>
            <a:r>
              <a:rPr lang="en-US" sz="1450" dirty="0">
                <a:solidFill>
                  <a:schemeClr val="bg1"/>
                </a:solidFill>
              </a:rPr>
              <a:t>A text-fixed causal pipeline (centred steering, null bands, two-sided leak detector, matched-dose controls): decoders' descriptions read workspace features but not col; two narrow channels are candidates.</a:t>
            </a:r>
            <a:endParaRPr lang="en-US" sz="1450" dirty="0"/>
          </a:p>
        </p:txBody>
      </p:sp>
      <p:sp>
        <p:nvSpPr>
          <p:cNvPr id="10" name="Shape 8"/>
          <p:cNvSpPr/>
          <p:nvPr/>
        </p:nvSpPr>
        <p:spPr>
          <a:xfrm>
            <a:off x="548640" y="3941064"/>
            <a:ext cx="365760" cy="365760"/>
          </a:xfrm>
          <a:prstGeom prst="ellipse">
            <a:avLst/>
          </a:prstGeom>
          <a:solidFill>
            <a:schemeClr val="accent1"/>
          </a:solidFill>
          <a:ln w="12700">
            <a:solidFill>
              <a:schemeClr val="accent1"/>
            </a:solidFill>
            <a:prstDash val="solid"/>
          </a:ln>
        </p:spPr>
      </p:sp>
      <p:sp>
        <p:nvSpPr>
          <p:cNvPr id="11" name="Text 9"/>
          <p:cNvSpPr txBox="1"/>
          <p:nvPr/>
        </p:nvSpPr>
        <p:spPr>
          <a:xfrm>
            <a:off x="548640" y="39410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097280" y="3904488"/>
            <a:ext cx="6126480" cy="914400"/>
          </a:xfrm>
          <a:prstGeom prst="rect">
            <a:avLst/>
          </a:prstGeom>
          <a:noFill/>
          <a:ln/>
        </p:spPr>
        <p:txBody>
          <a:bodyPr wrap="square" lIns="0" tIns="0" rIns="0" bIns="0" rtlCol="0" anchor="t"/>
          <a:lstStyle/>
          <a:p>
            <a:pPr indent="0" marL="0">
              <a:buNone/>
            </a:pPr>
            <a:r>
              <a:rPr lang="en-US" sz="1450" dirty="0">
                <a:solidFill>
                  <a:schemeClr val="bg1"/>
                </a:solidFill>
              </a:rPr>
              <a:t>Both decoders read the tail of verbalisable features (tense); the NLA generates rather than re-solves, rewriting the prompt to fit the latent.</a:t>
            </a:r>
            <a:endParaRPr lang="en-US" sz="1450" dirty="0"/>
          </a:p>
        </p:txBody>
      </p:sp>
      <p:sp>
        <p:nvSpPr>
          <p:cNvPr id="13" name="Shape 11"/>
          <p:cNvSpPr/>
          <p:nvPr/>
        </p:nvSpPr>
        <p:spPr>
          <a:xfrm>
            <a:off x="548640" y="4928616"/>
            <a:ext cx="365760" cy="365760"/>
          </a:xfrm>
          <a:prstGeom prst="ellipse">
            <a:avLst/>
          </a:prstGeom>
          <a:solidFill>
            <a:schemeClr val="accent2"/>
          </a:solidFill>
          <a:ln w="12700">
            <a:solidFill>
              <a:schemeClr val="accent2"/>
            </a:solidFill>
            <a:prstDash val="solid"/>
          </a:ln>
        </p:spPr>
      </p:sp>
      <p:sp>
        <p:nvSpPr>
          <p:cNvPr id="14" name="Text 12"/>
          <p:cNvSpPr txBox="1"/>
          <p:nvPr/>
        </p:nvSpPr>
        <p:spPr>
          <a:xfrm>
            <a:off x="548640" y="49286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3"/>
          <p:cNvSpPr txBox="1"/>
          <p:nvPr/>
        </p:nvSpPr>
        <p:spPr>
          <a:xfrm>
            <a:off x="1097280" y="4892040"/>
            <a:ext cx="6126480" cy="914400"/>
          </a:xfrm>
          <a:prstGeom prst="rect">
            <a:avLst/>
          </a:prstGeom>
          <a:noFill/>
          <a:ln/>
        </p:spPr>
        <p:txBody>
          <a:bodyPr wrap="square" lIns="0" tIns="0" rIns="0" bIns="0" rtlCol="0" anchor="t"/>
          <a:lstStyle/>
          <a:p>
            <a:pPr indent="0" marL="0">
              <a:buNone/>
            </a:pPr>
            <a:r>
              <a:rPr lang="en-US" sz="1450" dirty="0">
                <a:solidFill>
                  <a:schemeClr val="bg1"/>
                </a:solidFill>
              </a:rPr>
              <a:t>WorkspaceBench readouts' targets are recoverable from the prompt (0.89 vs 0.60 / 0.56); OL's lead is a best-of-11 effect.</a:t>
            </a:r>
            <a:endParaRPr lang="en-US" sz="1450" dirty="0"/>
          </a:p>
        </p:txBody>
      </p:sp>
      <p:sp>
        <p:nvSpPr>
          <p:cNvPr id="16" name="Text 14"/>
          <p:cNvSpPr txBox="1"/>
          <p:nvPr/>
        </p:nvSpPr>
        <p:spPr>
          <a:xfrm>
            <a:off x="7680960" y="1600200"/>
            <a:ext cx="3962095"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WHAT WOULD CHANGE OUR MINDS</a:t>
            </a:r>
            <a:endParaRPr lang="en-US" sz="1200" dirty="0"/>
          </a:p>
        </p:txBody>
      </p:sp>
      <p:sp>
        <p:nvSpPr>
          <p:cNvPr id="17" name="Shape 15"/>
          <p:cNvSpPr/>
          <p:nvPr/>
        </p:nvSpPr>
        <p:spPr>
          <a:xfrm>
            <a:off x="7680960" y="1965960"/>
            <a:ext cx="3962095" cy="932688"/>
          </a:xfrm>
          <a:prstGeom prst="roundRect">
            <a:avLst>
              <a:gd name="adj" fmla="val 7843"/>
            </a:avLst>
          </a:prstGeom>
          <a:solidFill>
            <a:schemeClr val="bg1">
              <a:alpha val="10000"/>
            </a:schemeClr>
          </a:solidFill>
          <a:ln w="15875">
            <a:solidFill>
              <a:schemeClr val="accent5"/>
            </a:solidFill>
            <a:prstDash val="solid"/>
          </a:ln>
        </p:spPr>
      </p:sp>
      <p:sp>
        <p:nvSpPr>
          <p:cNvPr id="18" name="Text 16"/>
          <p:cNvSpPr txBox="1"/>
          <p:nvPr/>
        </p:nvSpPr>
        <p:spPr>
          <a:xfrm>
            <a:off x="7827264" y="2112264"/>
            <a:ext cx="3669487" cy="698602"/>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The candidate channels surviving (or failing) Holm at |z| ≥ 3 on fresh items.</a:t>
            </a:r>
            <a:endParaRPr lang="en-US" sz="1400" dirty="0"/>
          </a:p>
        </p:txBody>
      </p:sp>
      <p:sp>
        <p:nvSpPr>
          <p:cNvPr id="19" name="Shape 17"/>
          <p:cNvSpPr/>
          <p:nvPr/>
        </p:nvSpPr>
        <p:spPr>
          <a:xfrm>
            <a:off x="7680960" y="3063240"/>
            <a:ext cx="3962095" cy="932688"/>
          </a:xfrm>
          <a:prstGeom prst="roundRect">
            <a:avLst>
              <a:gd name="adj" fmla="val 7843"/>
            </a:avLst>
          </a:prstGeom>
          <a:solidFill>
            <a:schemeClr val="bg1">
              <a:alpha val="10000"/>
            </a:schemeClr>
          </a:solidFill>
          <a:ln w="15875">
            <a:solidFill>
              <a:schemeClr val="accent5"/>
            </a:solidFill>
            <a:prstDash val="solid"/>
          </a:ln>
        </p:spPr>
      </p:sp>
      <p:sp>
        <p:nvSpPr>
          <p:cNvPr id="20" name="Text 18"/>
          <p:cNvSpPr txBox="1"/>
          <p:nvPr/>
        </p:nvSpPr>
        <p:spPr>
          <a:xfrm>
            <a:off x="7827264" y="3209544"/>
            <a:ext cx="3669487" cy="698602"/>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A second non-J feature that is not a count, on another model or layer.</a:t>
            </a:r>
            <a:endParaRPr lang="en-US" sz="1400" dirty="0"/>
          </a:p>
        </p:txBody>
      </p:sp>
      <p:sp>
        <p:nvSpPr>
          <p:cNvPr id="21" name="Shape 19"/>
          <p:cNvSpPr/>
          <p:nvPr/>
        </p:nvSpPr>
        <p:spPr>
          <a:xfrm>
            <a:off x="7680960" y="4160520"/>
            <a:ext cx="3962095" cy="932688"/>
          </a:xfrm>
          <a:prstGeom prst="roundRect">
            <a:avLst>
              <a:gd name="adj" fmla="val 7843"/>
            </a:avLst>
          </a:prstGeom>
          <a:solidFill>
            <a:schemeClr val="bg1">
              <a:alpha val="10000"/>
            </a:schemeClr>
          </a:solidFill>
          <a:ln w="15875">
            <a:solidFill>
              <a:schemeClr val="accent5"/>
            </a:solidFill>
            <a:prstDash val="solid"/>
          </a:ln>
        </p:spPr>
      </p:sp>
      <p:sp>
        <p:nvSpPr>
          <p:cNvPr id="22" name="Text 20"/>
          <p:cNvSpPr txBox="1"/>
          <p:nvPr/>
        </p:nvSpPr>
        <p:spPr>
          <a:xfrm>
            <a:off x="7827264" y="4306824"/>
            <a:ext cx="3669487" cy="698602"/>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Readouts carrying target information beyond the prompt on richer, non-regex benchmarks.</a:t>
            </a:r>
            <a:endParaRPr lang="en-US" sz="1400" dirty="0"/>
          </a:p>
        </p:txBody>
      </p:sp>
      <p:sp>
        <p:nvSpPr>
          <p:cNvPr id="23" name="Shape 21"/>
          <p:cNvSpPr/>
          <p:nvPr/>
        </p:nvSpPr>
        <p:spPr>
          <a:xfrm>
            <a:off x="731520" y="6035040"/>
            <a:ext cx="10728655" cy="914"/>
          </a:xfrm>
          <a:prstGeom prst="line">
            <a:avLst/>
          </a:prstGeom>
          <a:noFill/>
          <a:ln w="15875">
            <a:solidFill>
              <a:schemeClr val="accent5"/>
            </a:solidFill>
            <a:prstDash val="solid"/>
          </a:ln>
        </p:spPr>
      </p:sp>
      <p:sp>
        <p:nvSpPr>
          <p:cNvPr id="24" name="Shape 22"/>
          <p:cNvSpPr/>
          <p:nvPr/>
        </p:nvSpPr>
        <p:spPr>
          <a:xfrm>
            <a:off x="690372" y="5993892"/>
            <a:ext cx="82296" cy="82296"/>
          </a:xfrm>
          <a:prstGeom prst="ellipse">
            <a:avLst/>
          </a:prstGeom>
          <a:solidFill>
            <a:schemeClr val="accent5"/>
          </a:solidFill>
          <a:ln w="12700">
            <a:solidFill>
              <a:schemeClr val="accent5"/>
            </a:solidFill>
            <a:prstDash val="solid"/>
          </a:ln>
        </p:spPr>
      </p:sp>
      <p:sp>
        <p:nvSpPr>
          <p:cNvPr id="25" name="Shape 23"/>
          <p:cNvSpPr/>
          <p:nvPr/>
        </p:nvSpPr>
        <p:spPr>
          <a:xfrm>
            <a:off x="1405616" y="5993892"/>
            <a:ext cx="82296" cy="82296"/>
          </a:xfrm>
          <a:prstGeom prst="ellipse">
            <a:avLst/>
          </a:prstGeom>
          <a:solidFill>
            <a:schemeClr val="accent5"/>
          </a:solidFill>
          <a:ln w="12700">
            <a:solidFill>
              <a:schemeClr val="accent5"/>
            </a:solidFill>
            <a:prstDash val="solid"/>
          </a:ln>
        </p:spPr>
      </p:sp>
      <p:sp>
        <p:nvSpPr>
          <p:cNvPr id="26" name="Shape 24"/>
          <p:cNvSpPr/>
          <p:nvPr/>
        </p:nvSpPr>
        <p:spPr>
          <a:xfrm>
            <a:off x="2120859" y="5993892"/>
            <a:ext cx="82296" cy="82296"/>
          </a:xfrm>
          <a:prstGeom prst="ellipse">
            <a:avLst/>
          </a:prstGeom>
          <a:solidFill>
            <a:schemeClr val="accent5"/>
          </a:solidFill>
          <a:ln w="12700">
            <a:solidFill>
              <a:schemeClr val="accent5"/>
            </a:solidFill>
            <a:prstDash val="solid"/>
          </a:ln>
        </p:spPr>
      </p:sp>
      <p:sp>
        <p:nvSpPr>
          <p:cNvPr id="27" name="Shape 25"/>
          <p:cNvSpPr/>
          <p:nvPr/>
        </p:nvSpPr>
        <p:spPr>
          <a:xfrm>
            <a:off x="2836103" y="5993892"/>
            <a:ext cx="82296" cy="82296"/>
          </a:xfrm>
          <a:prstGeom prst="ellipse">
            <a:avLst/>
          </a:prstGeom>
          <a:solidFill>
            <a:schemeClr val="accent5"/>
          </a:solidFill>
          <a:ln w="12700">
            <a:solidFill>
              <a:schemeClr val="accent5"/>
            </a:solidFill>
            <a:prstDash val="solid"/>
          </a:ln>
        </p:spPr>
      </p:sp>
      <p:sp>
        <p:nvSpPr>
          <p:cNvPr id="28" name="Shape 26"/>
          <p:cNvSpPr/>
          <p:nvPr/>
        </p:nvSpPr>
        <p:spPr>
          <a:xfrm>
            <a:off x="3551347" y="5993892"/>
            <a:ext cx="82296" cy="82296"/>
          </a:xfrm>
          <a:prstGeom prst="ellipse">
            <a:avLst/>
          </a:prstGeom>
          <a:solidFill>
            <a:schemeClr val="accent5"/>
          </a:solidFill>
          <a:ln w="12700">
            <a:solidFill>
              <a:schemeClr val="accent5"/>
            </a:solidFill>
            <a:prstDash val="solid"/>
          </a:ln>
        </p:spPr>
      </p:sp>
      <p:sp>
        <p:nvSpPr>
          <p:cNvPr id="29" name="Shape 27"/>
          <p:cNvSpPr/>
          <p:nvPr/>
        </p:nvSpPr>
        <p:spPr>
          <a:xfrm>
            <a:off x="4266590" y="5993892"/>
            <a:ext cx="82296" cy="82296"/>
          </a:xfrm>
          <a:prstGeom prst="ellipse">
            <a:avLst/>
          </a:prstGeom>
          <a:solidFill>
            <a:schemeClr val="accent5"/>
          </a:solidFill>
          <a:ln w="12700">
            <a:solidFill>
              <a:schemeClr val="accent5"/>
            </a:solidFill>
            <a:prstDash val="solid"/>
          </a:ln>
        </p:spPr>
      </p:sp>
      <p:sp>
        <p:nvSpPr>
          <p:cNvPr id="30" name="Shape 28"/>
          <p:cNvSpPr/>
          <p:nvPr/>
        </p:nvSpPr>
        <p:spPr>
          <a:xfrm>
            <a:off x="4981834" y="5993892"/>
            <a:ext cx="82296" cy="82296"/>
          </a:xfrm>
          <a:prstGeom prst="ellipse">
            <a:avLst/>
          </a:prstGeom>
          <a:solidFill>
            <a:schemeClr val="accent5"/>
          </a:solidFill>
          <a:ln w="12700">
            <a:solidFill>
              <a:schemeClr val="accent5"/>
            </a:solidFill>
            <a:prstDash val="solid"/>
          </a:ln>
        </p:spPr>
      </p:sp>
      <p:sp>
        <p:nvSpPr>
          <p:cNvPr id="31" name="Shape 29"/>
          <p:cNvSpPr/>
          <p:nvPr/>
        </p:nvSpPr>
        <p:spPr>
          <a:xfrm>
            <a:off x="5697078" y="5993892"/>
            <a:ext cx="82296" cy="82296"/>
          </a:xfrm>
          <a:prstGeom prst="ellipse">
            <a:avLst/>
          </a:prstGeom>
          <a:solidFill>
            <a:schemeClr val="accent5"/>
          </a:solidFill>
          <a:ln w="12700">
            <a:solidFill>
              <a:schemeClr val="accent5"/>
            </a:solidFill>
            <a:prstDash val="solid"/>
          </a:ln>
        </p:spPr>
      </p:sp>
      <p:sp>
        <p:nvSpPr>
          <p:cNvPr id="32" name="Shape 30"/>
          <p:cNvSpPr/>
          <p:nvPr/>
        </p:nvSpPr>
        <p:spPr>
          <a:xfrm>
            <a:off x="6412321" y="5993892"/>
            <a:ext cx="82296" cy="82296"/>
          </a:xfrm>
          <a:prstGeom prst="ellipse">
            <a:avLst/>
          </a:prstGeom>
          <a:solidFill>
            <a:schemeClr val="accent5"/>
          </a:solidFill>
          <a:ln w="12700">
            <a:solidFill>
              <a:schemeClr val="accent5"/>
            </a:solidFill>
            <a:prstDash val="solid"/>
          </a:ln>
        </p:spPr>
      </p:sp>
      <p:sp>
        <p:nvSpPr>
          <p:cNvPr id="33" name="Shape 31"/>
          <p:cNvSpPr/>
          <p:nvPr/>
        </p:nvSpPr>
        <p:spPr>
          <a:xfrm>
            <a:off x="7127565" y="5993892"/>
            <a:ext cx="82296" cy="82296"/>
          </a:xfrm>
          <a:prstGeom prst="ellipse">
            <a:avLst/>
          </a:prstGeom>
          <a:solidFill>
            <a:schemeClr val="accent5"/>
          </a:solidFill>
          <a:ln w="12700">
            <a:solidFill>
              <a:schemeClr val="accent5"/>
            </a:solidFill>
            <a:prstDash val="solid"/>
          </a:ln>
        </p:spPr>
      </p:sp>
      <p:sp>
        <p:nvSpPr>
          <p:cNvPr id="34" name="Shape 32"/>
          <p:cNvSpPr/>
          <p:nvPr/>
        </p:nvSpPr>
        <p:spPr>
          <a:xfrm>
            <a:off x="7842809" y="5993892"/>
            <a:ext cx="82296" cy="82296"/>
          </a:xfrm>
          <a:prstGeom prst="ellipse">
            <a:avLst/>
          </a:prstGeom>
          <a:solidFill>
            <a:schemeClr val="accent5"/>
          </a:solidFill>
          <a:ln w="12700">
            <a:solidFill>
              <a:schemeClr val="accent5"/>
            </a:solidFill>
            <a:prstDash val="solid"/>
          </a:ln>
        </p:spPr>
      </p:sp>
      <p:sp>
        <p:nvSpPr>
          <p:cNvPr id="35" name="Shape 33"/>
          <p:cNvSpPr/>
          <p:nvPr/>
        </p:nvSpPr>
        <p:spPr>
          <a:xfrm>
            <a:off x="8558052" y="5993892"/>
            <a:ext cx="82296" cy="82296"/>
          </a:xfrm>
          <a:prstGeom prst="ellipse">
            <a:avLst/>
          </a:prstGeom>
          <a:solidFill>
            <a:schemeClr val="accent5"/>
          </a:solidFill>
          <a:ln w="12700">
            <a:solidFill>
              <a:schemeClr val="accent5"/>
            </a:solidFill>
            <a:prstDash val="solid"/>
          </a:ln>
        </p:spPr>
      </p:sp>
      <p:sp>
        <p:nvSpPr>
          <p:cNvPr id="36" name="Shape 34"/>
          <p:cNvSpPr/>
          <p:nvPr/>
        </p:nvSpPr>
        <p:spPr>
          <a:xfrm>
            <a:off x="9273296" y="5993892"/>
            <a:ext cx="82296" cy="82296"/>
          </a:xfrm>
          <a:prstGeom prst="ellipse">
            <a:avLst/>
          </a:prstGeom>
          <a:solidFill>
            <a:schemeClr val="accent5"/>
          </a:solidFill>
          <a:ln w="12700">
            <a:solidFill>
              <a:schemeClr val="accent5"/>
            </a:solidFill>
            <a:prstDash val="solid"/>
          </a:ln>
        </p:spPr>
      </p:sp>
      <p:sp>
        <p:nvSpPr>
          <p:cNvPr id="37" name="Shape 35"/>
          <p:cNvSpPr/>
          <p:nvPr/>
        </p:nvSpPr>
        <p:spPr>
          <a:xfrm>
            <a:off x="9988540" y="5993892"/>
            <a:ext cx="82296" cy="82296"/>
          </a:xfrm>
          <a:prstGeom prst="ellipse">
            <a:avLst/>
          </a:prstGeom>
          <a:solidFill>
            <a:schemeClr val="accent5"/>
          </a:solidFill>
          <a:ln w="12700">
            <a:solidFill>
              <a:schemeClr val="accent5"/>
            </a:solidFill>
            <a:prstDash val="solid"/>
          </a:ln>
        </p:spPr>
      </p:sp>
      <p:sp>
        <p:nvSpPr>
          <p:cNvPr id="38" name="Shape 36"/>
          <p:cNvSpPr/>
          <p:nvPr/>
        </p:nvSpPr>
        <p:spPr>
          <a:xfrm>
            <a:off x="10703784" y="5993892"/>
            <a:ext cx="82296" cy="82296"/>
          </a:xfrm>
          <a:prstGeom prst="ellipse">
            <a:avLst/>
          </a:prstGeom>
          <a:solidFill>
            <a:schemeClr val="accent5"/>
          </a:solidFill>
          <a:ln w="12700">
            <a:solidFill>
              <a:schemeClr val="accent5"/>
            </a:solidFill>
            <a:prstDash val="solid"/>
          </a:ln>
        </p:spPr>
      </p:sp>
      <p:sp>
        <p:nvSpPr>
          <p:cNvPr id="39" name="Shape 37"/>
          <p:cNvSpPr/>
          <p:nvPr/>
        </p:nvSpPr>
        <p:spPr>
          <a:xfrm>
            <a:off x="11419027" y="5993892"/>
            <a:ext cx="82296" cy="82296"/>
          </a:xfrm>
          <a:prstGeom prst="ellipse">
            <a:avLst/>
          </a:prstGeom>
          <a:solidFill>
            <a:schemeClr val="accent5"/>
          </a:solidFill>
          <a:ln w="12700">
            <a:solidFill>
              <a:schemeClr val="accent5"/>
            </a:solidFill>
            <a:prstDash val="solid"/>
          </a:ln>
        </p:spPr>
      </p:sp>
      <p:sp>
        <p:nvSpPr>
          <p:cNvPr id="40" name="Shape 38"/>
          <p:cNvSpPr/>
          <p:nvPr/>
        </p:nvSpPr>
        <p:spPr>
          <a:xfrm>
            <a:off x="7509053" y="5934456"/>
            <a:ext cx="201168" cy="201168"/>
          </a:xfrm>
          <a:prstGeom prst="ellipse">
            <a:avLst/>
          </a:prstGeom>
          <a:solidFill>
            <a:schemeClr val="accent1"/>
          </a:solidFill>
          <a:ln w="19050">
            <a:solidFill>
              <a:schemeClr val="tx2"/>
            </a:solidFill>
            <a:prstDash val="solid"/>
          </a:ln>
        </p:spPr>
      </p:sp>
      <p:sp>
        <p:nvSpPr>
          <p:cNvPr id="41" name="Shape 39"/>
          <p:cNvSpPr/>
          <p:nvPr/>
        </p:nvSpPr>
        <p:spPr>
          <a:xfrm>
            <a:off x="7783373" y="5934456"/>
            <a:ext cx="201168" cy="201168"/>
          </a:xfrm>
          <a:prstGeom prst="ellipse">
            <a:avLst/>
          </a:prstGeom>
          <a:solidFill>
            <a:schemeClr val="accent2"/>
          </a:solidFill>
          <a:ln w="19050">
            <a:solidFill>
              <a:schemeClr val="tx2"/>
            </a:solidFill>
            <a:prstDash val="solid"/>
          </a:ln>
        </p:spPr>
      </p:sp>
      <p:sp>
        <p:nvSpPr>
          <p:cNvPr id="42" name="Shape 40"/>
          <p:cNvSpPr/>
          <p:nvPr/>
        </p:nvSpPr>
        <p:spPr>
          <a:xfrm>
            <a:off x="8057693" y="5934456"/>
            <a:ext cx="201168" cy="201168"/>
          </a:xfrm>
          <a:prstGeom prst="ellipse">
            <a:avLst/>
          </a:prstGeom>
          <a:solidFill>
            <a:schemeClr val="accent3"/>
          </a:solidFill>
          <a:ln w="19050">
            <a:solidFill>
              <a:schemeClr val="tx2"/>
            </a:solidFill>
            <a:prstDash val="solid"/>
          </a:ln>
        </p:spPr>
      </p:sp>
      <p:sp>
        <p:nvSpPr>
          <p:cNvPr id="43" name="Text 41"/>
          <p:cNvSpPr txBox="1"/>
          <p:nvPr/>
        </p:nvSpPr>
        <p:spPr>
          <a:xfrm>
            <a:off x="7335317" y="619963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731520" y="1188720"/>
            <a:ext cx="274320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A</a:t>
            </a:r>
            <a:endParaRPr lang="en-US" sz="5400" dirty="0"/>
          </a:p>
        </p:txBody>
      </p:sp>
      <p:sp>
        <p:nvSpPr>
          <p:cNvPr id="3" name="Text 0"/>
          <p:cNvSpPr/>
          <p:nvPr>
            <p:ph idx="100" type="title" hasCustomPrompt="1"/>
          </p:nvPr>
        </p:nvSpPr>
        <p:spPr>
          <a:xfrm>
            <a:off x="731520" y="214884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Appendix</a:t>
            </a:r>
            <a:endParaRPr lang="en-US" sz="4000" dirty="0"/>
          </a:p>
        </p:txBody>
      </p:sp>
      <p:sp>
        <p:nvSpPr>
          <p:cNvPr id="4" name="Text 0"/>
          <p:cNvSpPr/>
          <p:nvPr>
            <p:ph idx="101" type="body" hasCustomPrompt="1"/>
          </p:nvPr>
        </p:nvSpPr>
        <p:spPr>
          <a:xfrm>
            <a:off x="731520" y="3657600"/>
            <a:ext cx="10058400" cy="1005840"/>
          </a:xfrm>
          <a:prstGeom prst="rect">
            <a:avLst/>
          </a:prstGeom>
          <a:noFill/>
          <a:ln/>
        </p:spPr>
        <p:txBody>
          <a:bodyPr wrap="square" lIns="0" tIns="0" rIns="0" bIns="0" rtlCol="0" anchor="t"/>
          <a:lstStyle/>
          <a:p>
            <a:pPr algn="l" indent="0" marL="0">
              <a:buNone/>
            </a:pPr>
            <a:r>
              <a:rPr lang="en-US" sz="1800" dirty="0">
                <a:solidFill>
                  <a:schemeClr val="accent6"/>
                </a:solidFill>
                <a:latin typeface="Arial" pitchFamily="34" charset="0"/>
                <a:ea typeface="Arial" pitchFamily="34" charset="-122"/>
                <a:cs typeface="Arial" pitchFamily="34" charset="-120"/>
              </a:rPr>
              <a:t>Decision log · pilot re-analysis · outcome map · costs · glossary · settings</a:t>
            </a:r>
            <a:endParaRPr lang="en-US" sz="1800" dirty="0"/>
          </a:p>
        </p:txBody>
      </p:sp>
      <p:sp>
        <p:nvSpPr>
          <p:cNvPr id="5" name="Shape 3"/>
          <p:cNvSpPr/>
          <p:nvPr/>
        </p:nvSpPr>
        <p:spPr>
          <a:xfrm>
            <a:off x="731520" y="5715000"/>
            <a:ext cx="10728655" cy="914"/>
          </a:xfrm>
          <a:prstGeom prst="line">
            <a:avLst/>
          </a:prstGeom>
          <a:noFill/>
          <a:ln w="15875">
            <a:solidFill>
              <a:schemeClr val="accent5"/>
            </a:solidFill>
            <a:prstDash val="solid"/>
          </a:ln>
        </p:spPr>
      </p:sp>
      <p:sp>
        <p:nvSpPr>
          <p:cNvPr id="6" name="Shape 4"/>
          <p:cNvSpPr/>
          <p:nvPr/>
        </p:nvSpPr>
        <p:spPr>
          <a:xfrm>
            <a:off x="690372" y="5673852"/>
            <a:ext cx="82296" cy="82296"/>
          </a:xfrm>
          <a:prstGeom prst="ellipse">
            <a:avLst/>
          </a:prstGeom>
          <a:solidFill>
            <a:schemeClr val="accent5"/>
          </a:solidFill>
          <a:ln w="12700">
            <a:solidFill>
              <a:schemeClr val="accent5"/>
            </a:solidFill>
            <a:prstDash val="solid"/>
          </a:ln>
        </p:spPr>
      </p:sp>
      <p:sp>
        <p:nvSpPr>
          <p:cNvPr id="7" name="Shape 5"/>
          <p:cNvSpPr/>
          <p:nvPr/>
        </p:nvSpPr>
        <p:spPr>
          <a:xfrm>
            <a:off x="1405616" y="5673852"/>
            <a:ext cx="82296" cy="82296"/>
          </a:xfrm>
          <a:prstGeom prst="ellipse">
            <a:avLst/>
          </a:prstGeom>
          <a:solidFill>
            <a:schemeClr val="accent5"/>
          </a:solidFill>
          <a:ln w="12700">
            <a:solidFill>
              <a:schemeClr val="accent5"/>
            </a:solidFill>
            <a:prstDash val="solid"/>
          </a:ln>
        </p:spPr>
      </p:sp>
      <p:sp>
        <p:nvSpPr>
          <p:cNvPr id="8" name="Shape 6"/>
          <p:cNvSpPr/>
          <p:nvPr/>
        </p:nvSpPr>
        <p:spPr>
          <a:xfrm>
            <a:off x="2120859" y="5673852"/>
            <a:ext cx="82296" cy="82296"/>
          </a:xfrm>
          <a:prstGeom prst="ellipse">
            <a:avLst/>
          </a:prstGeom>
          <a:solidFill>
            <a:schemeClr val="accent5"/>
          </a:solidFill>
          <a:ln w="12700">
            <a:solidFill>
              <a:schemeClr val="accent5"/>
            </a:solidFill>
            <a:prstDash val="solid"/>
          </a:ln>
        </p:spPr>
      </p:sp>
      <p:sp>
        <p:nvSpPr>
          <p:cNvPr id="9" name="Shape 7"/>
          <p:cNvSpPr/>
          <p:nvPr/>
        </p:nvSpPr>
        <p:spPr>
          <a:xfrm>
            <a:off x="2836103" y="5673852"/>
            <a:ext cx="82296" cy="82296"/>
          </a:xfrm>
          <a:prstGeom prst="ellipse">
            <a:avLst/>
          </a:prstGeom>
          <a:solidFill>
            <a:schemeClr val="accent5"/>
          </a:solidFill>
          <a:ln w="12700">
            <a:solidFill>
              <a:schemeClr val="accent5"/>
            </a:solidFill>
            <a:prstDash val="solid"/>
          </a:ln>
        </p:spPr>
      </p:sp>
      <p:sp>
        <p:nvSpPr>
          <p:cNvPr id="10" name="Shape 8"/>
          <p:cNvSpPr/>
          <p:nvPr/>
        </p:nvSpPr>
        <p:spPr>
          <a:xfrm>
            <a:off x="3551347" y="5673852"/>
            <a:ext cx="82296" cy="82296"/>
          </a:xfrm>
          <a:prstGeom prst="ellipse">
            <a:avLst/>
          </a:prstGeom>
          <a:solidFill>
            <a:schemeClr val="accent5"/>
          </a:solidFill>
          <a:ln w="12700">
            <a:solidFill>
              <a:schemeClr val="accent5"/>
            </a:solidFill>
            <a:prstDash val="solid"/>
          </a:ln>
        </p:spPr>
      </p:sp>
      <p:sp>
        <p:nvSpPr>
          <p:cNvPr id="11" name="Shape 9"/>
          <p:cNvSpPr/>
          <p:nvPr/>
        </p:nvSpPr>
        <p:spPr>
          <a:xfrm>
            <a:off x="4266590" y="5673852"/>
            <a:ext cx="82296" cy="82296"/>
          </a:xfrm>
          <a:prstGeom prst="ellipse">
            <a:avLst/>
          </a:prstGeom>
          <a:solidFill>
            <a:schemeClr val="accent5"/>
          </a:solidFill>
          <a:ln w="12700">
            <a:solidFill>
              <a:schemeClr val="accent5"/>
            </a:solidFill>
            <a:prstDash val="solid"/>
          </a:ln>
        </p:spPr>
      </p:sp>
      <p:sp>
        <p:nvSpPr>
          <p:cNvPr id="12" name="Shape 10"/>
          <p:cNvSpPr/>
          <p:nvPr/>
        </p:nvSpPr>
        <p:spPr>
          <a:xfrm>
            <a:off x="4981834" y="5673852"/>
            <a:ext cx="82296" cy="82296"/>
          </a:xfrm>
          <a:prstGeom prst="ellipse">
            <a:avLst/>
          </a:prstGeom>
          <a:solidFill>
            <a:schemeClr val="accent5"/>
          </a:solidFill>
          <a:ln w="12700">
            <a:solidFill>
              <a:schemeClr val="accent5"/>
            </a:solidFill>
            <a:prstDash val="solid"/>
          </a:ln>
        </p:spPr>
      </p:sp>
      <p:sp>
        <p:nvSpPr>
          <p:cNvPr id="13" name="Shape 11"/>
          <p:cNvSpPr/>
          <p:nvPr/>
        </p:nvSpPr>
        <p:spPr>
          <a:xfrm>
            <a:off x="5697078" y="5673852"/>
            <a:ext cx="82296" cy="82296"/>
          </a:xfrm>
          <a:prstGeom prst="ellipse">
            <a:avLst/>
          </a:prstGeom>
          <a:solidFill>
            <a:schemeClr val="accent5"/>
          </a:solidFill>
          <a:ln w="12700">
            <a:solidFill>
              <a:schemeClr val="accent5"/>
            </a:solidFill>
            <a:prstDash val="solid"/>
          </a:ln>
        </p:spPr>
      </p:sp>
      <p:sp>
        <p:nvSpPr>
          <p:cNvPr id="14" name="Shape 12"/>
          <p:cNvSpPr/>
          <p:nvPr/>
        </p:nvSpPr>
        <p:spPr>
          <a:xfrm>
            <a:off x="6412321" y="5673852"/>
            <a:ext cx="82296" cy="82296"/>
          </a:xfrm>
          <a:prstGeom prst="ellipse">
            <a:avLst/>
          </a:prstGeom>
          <a:solidFill>
            <a:schemeClr val="accent5"/>
          </a:solidFill>
          <a:ln w="12700">
            <a:solidFill>
              <a:schemeClr val="accent5"/>
            </a:solidFill>
            <a:prstDash val="solid"/>
          </a:ln>
        </p:spPr>
      </p:sp>
      <p:sp>
        <p:nvSpPr>
          <p:cNvPr id="15" name="Shape 13"/>
          <p:cNvSpPr/>
          <p:nvPr/>
        </p:nvSpPr>
        <p:spPr>
          <a:xfrm>
            <a:off x="7127565" y="5673852"/>
            <a:ext cx="82296" cy="82296"/>
          </a:xfrm>
          <a:prstGeom prst="ellipse">
            <a:avLst/>
          </a:prstGeom>
          <a:solidFill>
            <a:schemeClr val="accent5"/>
          </a:solidFill>
          <a:ln w="12700">
            <a:solidFill>
              <a:schemeClr val="accent5"/>
            </a:solidFill>
            <a:prstDash val="solid"/>
          </a:ln>
        </p:spPr>
      </p:sp>
      <p:sp>
        <p:nvSpPr>
          <p:cNvPr id="16" name="Shape 14"/>
          <p:cNvSpPr/>
          <p:nvPr/>
        </p:nvSpPr>
        <p:spPr>
          <a:xfrm>
            <a:off x="7842809" y="5673852"/>
            <a:ext cx="82296" cy="82296"/>
          </a:xfrm>
          <a:prstGeom prst="ellipse">
            <a:avLst/>
          </a:prstGeom>
          <a:solidFill>
            <a:schemeClr val="accent5"/>
          </a:solidFill>
          <a:ln w="12700">
            <a:solidFill>
              <a:schemeClr val="accent5"/>
            </a:solidFill>
            <a:prstDash val="solid"/>
          </a:ln>
        </p:spPr>
      </p:sp>
      <p:sp>
        <p:nvSpPr>
          <p:cNvPr id="17" name="Shape 15"/>
          <p:cNvSpPr/>
          <p:nvPr/>
        </p:nvSpPr>
        <p:spPr>
          <a:xfrm>
            <a:off x="8558052" y="5673852"/>
            <a:ext cx="82296" cy="82296"/>
          </a:xfrm>
          <a:prstGeom prst="ellipse">
            <a:avLst/>
          </a:prstGeom>
          <a:solidFill>
            <a:schemeClr val="accent5"/>
          </a:solidFill>
          <a:ln w="12700">
            <a:solidFill>
              <a:schemeClr val="accent5"/>
            </a:solidFill>
            <a:prstDash val="solid"/>
          </a:ln>
        </p:spPr>
      </p:sp>
      <p:sp>
        <p:nvSpPr>
          <p:cNvPr id="18" name="Shape 16"/>
          <p:cNvSpPr/>
          <p:nvPr/>
        </p:nvSpPr>
        <p:spPr>
          <a:xfrm>
            <a:off x="9273296" y="5673852"/>
            <a:ext cx="82296" cy="82296"/>
          </a:xfrm>
          <a:prstGeom prst="ellipse">
            <a:avLst/>
          </a:prstGeom>
          <a:solidFill>
            <a:schemeClr val="accent5"/>
          </a:solidFill>
          <a:ln w="12700">
            <a:solidFill>
              <a:schemeClr val="accent5"/>
            </a:solidFill>
            <a:prstDash val="solid"/>
          </a:ln>
        </p:spPr>
      </p:sp>
      <p:sp>
        <p:nvSpPr>
          <p:cNvPr id="19" name="Shape 17"/>
          <p:cNvSpPr/>
          <p:nvPr/>
        </p:nvSpPr>
        <p:spPr>
          <a:xfrm>
            <a:off x="9988540" y="5673852"/>
            <a:ext cx="82296" cy="82296"/>
          </a:xfrm>
          <a:prstGeom prst="ellipse">
            <a:avLst/>
          </a:prstGeom>
          <a:solidFill>
            <a:schemeClr val="accent5"/>
          </a:solidFill>
          <a:ln w="12700">
            <a:solidFill>
              <a:schemeClr val="accent5"/>
            </a:solidFill>
            <a:prstDash val="solid"/>
          </a:ln>
        </p:spPr>
      </p:sp>
      <p:sp>
        <p:nvSpPr>
          <p:cNvPr id="20" name="Shape 18"/>
          <p:cNvSpPr/>
          <p:nvPr/>
        </p:nvSpPr>
        <p:spPr>
          <a:xfrm>
            <a:off x="10703784" y="5673852"/>
            <a:ext cx="82296" cy="82296"/>
          </a:xfrm>
          <a:prstGeom prst="ellipse">
            <a:avLst/>
          </a:prstGeom>
          <a:solidFill>
            <a:schemeClr val="accent5"/>
          </a:solidFill>
          <a:ln w="12700">
            <a:solidFill>
              <a:schemeClr val="accent5"/>
            </a:solidFill>
            <a:prstDash val="solid"/>
          </a:ln>
        </p:spPr>
      </p:sp>
      <p:sp>
        <p:nvSpPr>
          <p:cNvPr id="21" name="Shape 19"/>
          <p:cNvSpPr/>
          <p:nvPr/>
        </p:nvSpPr>
        <p:spPr>
          <a:xfrm>
            <a:off x="11419027" y="5673852"/>
            <a:ext cx="82296" cy="82296"/>
          </a:xfrm>
          <a:prstGeom prst="ellipse">
            <a:avLst/>
          </a:prstGeom>
          <a:solidFill>
            <a:schemeClr val="accent5"/>
          </a:solidFill>
          <a:ln w="12700">
            <a:solidFill>
              <a:schemeClr val="accent5"/>
            </a:solidFill>
            <a:prstDash val="solid"/>
          </a:ln>
        </p:spPr>
      </p:sp>
      <p:sp>
        <p:nvSpPr>
          <p:cNvPr id="22" name="Shape 20"/>
          <p:cNvSpPr/>
          <p:nvPr/>
        </p:nvSpPr>
        <p:spPr>
          <a:xfrm>
            <a:off x="7509053" y="5614416"/>
            <a:ext cx="201168" cy="201168"/>
          </a:xfrm>
          <a:prstGeom prst="ellipse">
            <a:avLst/>
          </a:prstGeom>
          <a:solidFill>
            <a:schemeClr val="accent1"/>
          </a:solidFill>
          <a:ln w="19050">
            <a:solidFill>
              <a:schemeClr val="tx2"/>
            </a:solidFill>
            <a:prstDash val="solid"/>
          </a:ln>
        </p:spPr>
      </p:sp>
      <p:sp>
        <p:nvSpPr>
          <p:cNvPr id="23" name="Shape 21"/>
          <p:cNvSpPr/>
          <p:nvPr/>
        </p:nvSpPr>
        <p:spPr>
          <a:xfrm>
            <a:off x="7783373" y="5614416"/>
            <a:ext cx="201168" cy="201168"/>
          </a:xfrm>
          <a:prstGeom prst="ellipse">
            <a:avLst/>
          </a:prstGeom>
          <a:solidFill>
            <a:schemeClr val="accent2"/>
          </a:solidFill>
          <a:ln w="19050">
            <a:solidFill>
              <a:schemeClr val="tx2"/>
            </a:solidFill>
            <a:prstDash val="solid"/>
          </a:ln>
        </p:spPr>
      </p:sp>
      <p:sp>
        <p:nvSpPr>
          <p:cNvPr id="24" name="Shape 22"/>
          <p:cNvSpPr/>
          <p:nvPr/>
        </p:nvSpPr>
        <p:spPr>
          <a:xfrm>
            <a:off x="8057693" y="5614416"/>
            <a:ext cx="201168" cy="201168"/>
          </a:xfrm>
          <a:prstGeom prst="ellipse">
            <a:avLst/>
          </a:prstGeom>
          <a:solidFill>
            <a:schemeClr val="accent3"/>
          </a:solidFill>
          <a:ln w="19050">
            <a:solidFill>
              <a:schemeClr val="tx2"/>
            </a:solidFill>
            <a:prstDash val="solid"/>
          </a:ln>
        </p:spPr>
      </p:sp>
      <p:sp>
        <p:nvSpPr>
          <p:cNvPr id="25" name="Text 23"/>
          <p:cNvSpPr txBox="1"/>
          <p:nvPr/>
        </p:nvSpPr>
        <p:spPr>
          <a:xfrm>
            <a:off x="7335317" y="5879592"/>
            <a:ext cx="1097280" cy="228600"/>
          </a:xfrm>
          <a:prstGeom prst="rect">
            <a:avLst/>
          </a:prstGeom>
          <a:noFill/>
          <a:ln/>
        </p:spPr>
        <p:txBody>
          <a:bodyPr wrap="square" lIns="0" tIns="0" rIns="0" bIns="0" rtlCol="0" anchor="t"/>
          <a:lstStyle/>
          <a:p>
            <a:pPr algn="ctr" indent="0" marL="0">
              <a:buNone/>
            </a:pPr>
            <a:r>
              <a:rPr lang="en-US" sz="1000" dirty="0">
                <a:solidFill>
                  <a:schemeClr val="accent6"/>
                </a:solidFill>
              </a:rPr>
              <a:t>layer 42</a:t>
            </a:r>
            <a:endParaRPr lang="en-US" sz="1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3D9"/>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DECISION LOG</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Twenty-five logged decisions in two days of prep (5–6 October)</a:t>
            </a:r>
            <a:endParaRPr lang="en-US" sz="2800" dirty="0"/>
          </a:p>
        </p:txBody>
      </p:sp>
      <p:sp>
        <p:nvSpPr>
          <p:cNvPr id="7" name="Shape 5"/>
          <p:cNvSpPr/>
          <p:nvPr/>
        </p:nvSpPr>
        <p:spPr>
          <a:xfrm>
            <a:off x="548640" y="1645920"/>
            <a:ext cx="1005840" cy="292608"/>
          </a:xfrm>
          <a:prstGeom prst="roundRect">
            <a:avLst>
              <a:gd name="adj" fmla="val 46875"/>
            </a:avLst>
          </a:prstGeom>
          <a:solidFill>
            <a:schemeClr val="tx2"/>
          </a:solidFill>
          <a:ln w="12700">
            <a:solidFill>
              <a:schemeClr val="tx2"/>
            </a:solidFill>
            <a:prstDash val="solid"/>
          </a:ln>
        </p:spPr>
      </p:sp>
      <p:sp>
        <p:nvSpPr>
          <p:cNvPr id="8" name="Text 6"/>
          <p:cNvSpPr txBox="1"/>
          <p:nvPr/>
        </p:nvSpPr>
        <p:spPr>
          <a:xfrm>
            <a:off x="548640" y="1645920"/>
            <a:ext cx="1005840" cy="292608"/>
          </a:xfrm>
          <a:prstGeom prst="rect">
            <a:avLst/>
          </a:prstGeom>
          <a:noFill/>
          <a:ln/>
        </p:spPr>
        <p:txBody>
          <a:bodyPr wrap="square" lIns="0" tIns="0" rIns="0" bIns="0" rtlCol="0" anchor="ctr"/>
          <a:lstStyle/>
          <a:p>
            <a:pPr algn="ctr" indent="0" marL="0">
              <a:buNone/>
            </a:pPr>
            <a:r>
              <a:rPr lang="en-US" sz="1200" b="1" dirty="0">
                <a:solidFill>
                  <a:schemeClr val="bg1"/>
                </a:solidFill>
              </a:rPr>
              <a:t>5 Oct</a:t>
            </a:r>
            <a:endParaRPr lang="en-US" sz="1200" dirty="0"/>
          </a:p>
        </p:txBody>
      </p:sp>
      <p:sp>
        <p:nvSpPr>
          <p:cNvPr id="9" name="Shape 7"/>
          <p:cNvSpPr/>
          <p:nvPr/>
        </p:nvSpPr>
        <p:spPr>
          <a:xfrm>
            <a:off x="795528" y="2011680"/>
            <a:ext cx="914" cy="2674620"/>
          </a:xfrm>
          <a:prstGeom prst="line">
            <a:avLst/>
          </a:prstGeom>
          <a:noFill/>
          <a:ln w="15875">
            <a:solidFill>
              <a:schemeClr val="accent6"/>
            </a:solidFill>
            <a:prstDash val="solid"/>
          </a:ln>
        </p:spPr>
      </p:sp>
      <p:sp>
        <p:nvSpPr>
          <p:cNvPr id="10" name="Shape 8"/>
          <p:cNvSpPr/>
          <p:nvPr/>
        </p:nvSpPr>
        <p:spPr>
          <a:xfrm>
            <a:off x="548640" y="2075688"/>
            <a:ext cx="502920" cy="256032"/>
          </a:xfrm>
          <a:prstGeom prst="roundRect">
            <a:avLst>
              <a:gd name="adj" fmla="val 53571"/>
            </a:avLst>
          </a:prstGeom>
          <a:solidFill>
            <a:schemeClr val="accent5"/>
          </a:solidFill>
          <a:ln w="12700">
            <a:solidFill>
              <a:schemeClr val="accent5"/>
            </a:solidFill>
            <a:prstDash val="solid"/>
          </a:ln>
        </p:spPr>
      </p:sp>
      <p:sp>
        <p:nvSpPr>
          <p:cNvPr id="11" name="Text 9"/>
          <p:cNvSpPr txBox="1"/>
          <p:nvPr/>
        </p:nvSpPr>
        <p:spPr>
          <a:xfrm>
            <a:off x="548640" y="207568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a:t>
            </a:r>
            <a:endParaRPr lang="en-US" sz="1000" dirty="0"/>
          </a:p>
        </p:txBody>
      </p:sp>
      <p:sp>
        <p:nvSpPr>
          <p:cNvPr id="12" name="Text 10"/>
          <p:cNvSpPr txBox="1"/>
          <p:nvPr/>
        </p:nvSpPr>
        <p:spPr>
          <a:xfrm>
            <a:off x="1188720" y="2057400"/>
            <a:ext cx="4632808" cy="329184"/>
          </a:xfrm>
          <a:prstGeom prst="rect">
            <a:avLst/>
          </a:prstGeom>
          <a:noFill/>
          <a:ln/>
        </p:spPr>
        <p:txBody>
          <a:bodyPr wrap="square" lIns="0" tIns="0" rIns="0" bIns="0" rtlCol="0" anchor="ctr"/>
          <a:lstStyle/>
          <a:p>
            <a:pPr indent="0" marL="0">
              <a:buNone/>
            </a:pPr>
            <a:r>
              <a:rPr lang="en-US" sz="1300" dirty="0">
                <a:solidFill>
                  <a:schemeClr val="tx1"/>
                </a:solidFill>
              </a:rPr>
              <a:t>Problem chosen; concurrent pilot cited, not copied</a:t>
            </a:r>
            <a:endParaRPr lang="en-US" sz="1300" dirty="0"/>
          </a:p>
        </p:txBody>
      </p:sp>
      <p:sp>
        <p:nvSpPr>
          <p:cNvPr id="13" name="Shape 11"/>
          <p:cNvSpPr/>
          <p:nvPr/>
        </p:nvSpPr>
        <p:spPr>
          <a:xfrm>
            <a:off x="548640" y="2372868"/>
            <a:ext cx="502920" cy="256032"/>
          </a:xfrm>
          <a:prstGeom prst="roundRect">
            <a:avLst>
              <a:gd name="adj" fmla="val 53571"/>
            </a:avLst>
          </a:prstGeom>
          <a:solidFill>
            <a:schemeClr val="accent2"/>
          </a:solidFill>
          <a:ln w="12700">
            <a:solidFill>
              <a:schemeClr val="accent2"/>
            </a:solidFill>
            <a:prstDash val="solid"/>
          </a:ln>
        </p:spPr>
      </p:sp>
      <p:sp>
        <p:nvSpPr>
          <p:cNvPr id="14" name="Text 12"/>
          <p:cNvSpPr txBox="1"/>
          <p:nvPr/>
        </p:nvSpPr>
        <p:spPr>
          <a:xfrm>
            <a:off x="548640" y="237286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D2</a:t>
            </a:r>
            <a:endParaRPr lang="en-US" sz="1000" dirty="0"/>
          </a:p>
        </p:txBody>
      </p:sp>
      <p:sp>
        <p:nvSpPr>
          <p:cNvPr id="15" name="Text 13"/>
          <p:cNvSpPr txBox="1"/>
          <p:nvPr/>
        </p:nvSpPr>
        <p:spPr>
          <a:xfrm>
            <a:off x="1188720" y="2354580"/>
            <a:ext cx="4632808" cy="329184"/>
          </a:xfrm>
          <a:prstGeom prst="rect">
            <a:avLst/>
          </a:prstGeom>
          <a:noFill/>
          <a:ln/>
        </p:spPr>
        <p:txBody>
          <a:bodyPr wrap="square" lIns="0" tIns="0" rIns="0" bIns="0" rtlCol="0" anchor="ctr"/>
          <a:lstStyle/>
          <a:p>
            <a:pPr indent="0" marL="0">
              <a:buNone/>
            </a:pPr>
            <a:r>
              <a:rPr lang="en-US" sz="1300" dirty="0">
                <a:solidFill>
                  <a:schemeClr val="tx1"/>
                </a:solidFill>
              </a:rPr>
              <a:t>Fable 1: 2×2 frame; cut split-injection; text-verifiable precision</a:t>
            </a:r>
            <a:endParaRPr lang="en-US" sz="1300" dirty="0"/>
          </a:p>
        </p:txBody>
      </p:sp>
      <p:sp>
        <p:nvSpPr>
          <p:cNvPr id="16" name="Shape 14"/>
          <p:cNvSpPr/>
          <p:nvPr/>
        </p:nvSpPr>
        <p:spPr>
          <a:xfrm>
            <a:off x="548640" y="2670048"/>
            <a:ext cx="502920" cy="256032"/>
          </a:xfrm>
          <a:prstGeom prst="roundRect">
            <a:avLst>
              <a:gd name="adj" fmla="val 53571"/>
            </a:avLst>
          </a:prstGeom>
          <a:solidFill>
            <a:schemeClr val="accent5"/>
          </a:solidFill>
          <a:ln w="12700">
            <a:solidFill>
              <a:schemeClr val="accent5"/>
            </a:solidFill>
            <a:prstDash val="solid"/>
          </a:ln>
        </p:spPr>
      </p:sp>
      <p:sp>
        <p:nvSpPr>
          <p:cNvPr id="17" name="Text 15"/>
          <p:cNvSpPr txBox="1"/>
          <p:nvPr/>
        </p:nvSpPr>
        <p:spPr>
          <a:xfrm>
            <a:off x="548640" y="267004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D3</a:t>
            </a:r>
            <a:endParaRPr lang="en-US" sz="1000" dirty="0"/>
          </a:p>
        </p:txBody>
      </p:sp>
      <p:sp>
        <p:nvSpPr>
          <p:cNvPr id="18" name="Text 16"/>
          <p:cNvSpPr txBox="1"/>
          <p:nvPr/>
        </p:nvSpPr>
        <p:spPr>
          <a:xfrm>
            <a:off x="1188720" y="2651760"/>
            <a:ext cx="4632808" cy="329184"/>
          </a:xfrm>
          <a:prstGeom prst="rect">
            <a:avLst/>
          </a:prstGeom>
          <a:noFill/>
          <a:ln/>
        </p:spPr>
        <p:txBody>
          <a:bodyPr wrap="square" lIns="0" tIns="0" rIns="0" bIns="0" rtlCol="0" anchor="ctr"/>
          <a:lstStyle/>
          <a:p>
            <a:pPr indent="0" marL="0">
              <a:buNone/>
            </a:pPr>
            <a:r>
              <a:rPr lang="en-US" sz="1300" dirty="0">
                <a:solidFill>
                  <a:schemeClr val="tx1"/>
                </a:solidFill>
              </a:rPr>
              <a:t>Viswanath follow-up verified; reading vs re-solving still open</a:t>
            </a:r>
            <a:endParaRPr lang="en-US" sz="1300" dirty="0"/>
          </a:p>
        </p:txBody>
      </p:sp>
      <p:sp>
        <p:nvSpPr>
          <p:cNvPr id="19" name="Shape 17"/>
          <p:cNvSpPr/>
          <p:nvPr/>
        </p:nvSpPr>
        <p:spPr>
          <a:xfrm>
            <a:off x="548640" y="2967228"/>
            <a:ext cx="502920" cy="256032"/>
          </a:xfrm>
          <a:prstGeom prst="roundRect">
            <a:avLst>
              <a:gd name="adj" fmla="val 53571"/>
            </a:avLst>
          </a:prstGeom>
          <a:solidFill>
            <a:schemeClr val="accent2"/>
          </a:solidFill>
          <a:ln w="12700">
            <a:solidFill>
              <a:schemeClr val="accent2"/>
            </a:solidFill>
            <a:prstDash val="solid"/>
          </a:ln>
        </p:spPr>
      </p:sp>
      <p:sp>
        <p:nvSpPr>
          <p:cNvPr id="20" name="Text 18"/>
          <p:cNvSpPr txBox="1"/>
          <p:nvPr/>
        </p:nvSpPr>
        <p:spPr>
          <a:xfrm>
            <a:off x="548640" y="296722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D4</a:t>
            </a:r>
            <a:endParaRPr lang="en-US" sz="1000" dirty="0"/>
          </a:p>
        </p:txBody>
      </p:sp>
      <p:sp>
        <p:nvSpPr>
          <p:cNvPr id="21" name="Text 19"/>
          <p:cNvSpPr txBox="1"/>
          <p:nvPr/>
        </p:nvSpPr>
        <p:spPr>
          <a:xfrm>
            <a:off x="1188720" y="2948940"/>
            <a:ext cx="4632808" cy="329184"/>
          </a:xfrm>
          <a:prstGeom prst="rect">
            <a:avLst/>
          </a:prstGeom>
          <a:noFill/>
          <a:ln/>
        </p:spPr>
        <p:txBody>
          <a:bodyPr wrap="square" lIns="0" tIns="0" rIns="0" bIns="0" rtlCol="0" anchor="ctr"/>
          <a:lstStyle/>
          <a:p>
            <a:pPr indent="0" marL="0">
              <a:buNone/>
            </a:pPr>
            <a:r>
              <a:rPr lang="en-US" sz="1300" dirty="0">
                <a:solidFill>
                  <a:schemeClr val="tx1"/>
                </a:solidFill>
              </a:rPr>
              <a:t>Fable 2: steering leak → J-removed directions + leak detector</a:t>
            </a:r>
            <a:endParaRPr lang="en-US" sz="1300" dirty="0"/>
          </a:p>
        </p:txBody>
      </p:sp>
      <p:sp>
        <p:nvSpPr>
          <p:cNvPr id="22" name="Shape 20"/>
          <p:cNvSpPr/>
          <p:nvPr/>
        </p:nvSpPr>
        <p:spPr>
          <a:xfrm>
            <a:off x="548640" y="3264408"/>
            <a:ext cx="502920" cy="256032"/>
          </a:xfrm>
          <a:prstGeom prst="roundRect">
            <a:avLst>
              <a:gd name="adj" fmla="val 53571"/>
            </a:avLst>
          </a:prstGeom>
          <a:solidFill>
            <a:schemeClr val="accent5"/>
          </a:solidFill>
          <a:ln w="12700">
            <a:solidFill>
              <a:schemeClr val="accent5"/>
            </a:solidFill>
            <a:prstDash val="solid"/>
          </a:ln>
        </p:spPr>
      </p:sp>
      <p:sp>
        <p:nvSpPr>
          <p:cNvPr id="23" name="Text 21"/>
          <p:cNvSpPr txBox="1"/>
          <p:nvPr/>
        </p:nvSpPr>
        <p:spPr>
          <a:xfrm>
            <a:off x="548640" y="326440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D5</a:t>
            </a:r>
            <a:endParaRPr lang="en-US" sz="1000" dirty="0"/>
          </a:p>
        </p:txBody>
      </p:sp>
      <p:sp>
        <p:nvSpPr>
          <p:cNvPr id="24" name="Text 22"/>
          <p:cNvSpPr txBox="1"/>
          <p:nvPr/>
        </p:nvSpPr>
        <p:spPr>
          <a:xfrm>
            <a:off x="1188720" y="3246120"/>
            <a:ext cx="4632808" cy="329184"/>
          </a:xfrm>
          <a:prstGeom prst="rect">
            <a:avLst/>
          </a:prstGeom>
          <a:noFill/>
          <a:ln/>
        </p:spPr>
        <p:txBody>
          <a:bodyPr wrap="square" lIns="0" tIns="0" rIns="0" bIns="0" rtlCol="0" anchor="ctr"/>
          <a:lstStyle/>
          <a:p>
            <a:pPr indent="0" marL="0">
              <a:buNone/>
            </a:pPr>
            <a:r>
              <a:rPr lang="en-US" sz="1300" dirty="0">
                <a:solidFill>
                  <a:schemeClr val="tx1"/>
                </a:solidFill>
              </a:rPr>
              <a:t>K0 passed: block-42 output; FVE 0.761</a:t>
            </a:r>
            <a:endParaRPr lang="en-US" sz="1300" dirty="0"/>
          </a:p>
        </p:txBody>
      </p:sp>
      <p:sp>
        <p:nvSpPr>
          <p:cNvPr id="25" name="Shape 23"/>
          <p:cNvSpPr/>
          <p:nvPr/>
        </p:nvSpPr>
        <p:spPr>
          <a:xfrm>
            <a:off x="548640" y="3561588"/>
            <a:ext cx="502920" cy="256032"/>
          </a:xfrm>
          <a:prstGeom prst="roundRect">
            <a:avLst>
              <a:gd name="adj" fmla="val 53571"/>
            </a:avLst>
          </a:prstGeom>
          <a:solidFill>
            <a:schemeClr val="accent5"/>
          </a:solidFill>
          <a:ln w="12700">
            <a:solidFill>
              <a:schemeClr val="accent5"/>
            </a:solidFill>
            <a:prstDash val="solid"/>
          </a:ln>
        </p:spPr>
      </p:sp>
      <p:sp>
        <p:nvSpPr>
          <p:cNvPr id="26" name="Text 24"/>
          <p:cNvSpPr txBox="1"/>
          <p:nvPr/>
        </p:nvSpPr>
        <p:spPr>
          <a:xfrm>
            <a:off x="548640" y="356158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D6</a:t>
            </a:r>
            <a:endParaRPr lang="en-US" sz="1000" dirty="0"/>
          </a:p>
        </p:txBody>
      </p:sp>
      <p:sp>
        <p:nvSpPr>
          <p:cNvPr id="27" name="Text 25"/>
          <p:cNvSpPr txBox="1"/>
          <p:nvPr/>
        </p:nvSpPr>
        <p:spPr>
          <a:xfrm>
            <a:off x="1188720" y="3543300"/>
            <a:ext cx="4632808" cy="329184"/>
          </a:xfrm>
          <a:prstGeom prst="rect">
            <a:avLst/>
          </a:prstGeom>
          <a:noFill/>
          <a:ln/>
        </p:spPr>
        <p:txBody>
          <a:bodyPr wrap="square" lIns="0" tIns="0" rIns="0" bIns="0" rtlCol="0" anchor="ctr"/>
          <a:lstStyle/>
          <a:p>
            <a:pPr indent="0" marL="0">
              <a:buNone/>
            </a:pPr>
            <a:r>
              <a:rPr lang="en-US" sz="1300" dirty="0">
                <a:solidFill>
                  <a:schemeClr val="tx1"/>
                </a:solidFill>
              </a:rPr>
              <a:t>WorkspaceBench 12/12 replicated</a:t>
            </a:r>
            <a:endParaRPr lang="en-US" sz="1300" dirty="0"/>
          </a:p>
        </p:txBody>
      </p:sp>
      <p:sp>
        <p:nvSpPr>
          <p:cNvPr id="28" name="Shape 26"/>
          <p:cNvSpPr/>
          <p:nvPr/>
        </p:nvSpPr>
        <p:spPr>
          <a:xfrm>
            <a:off x="548640" y="3858768"/>
            <a:ext cx="502920" cy="256032"/>
          </a:xfrm>
          <a:prstGeom prst="roundRect">
            <a:avLst>
              <a:gd name="adj" fmla="val 53571"/>
            </a:avLst>
          </a:prstGeom>
          <a:solidFill>
            <a:schemeClr val="accent5"/>
          </a:solidFill>
          <a:ln w="12700">
            <a:solidFill>
              <a:schemeClr val="accent5"/>
            </a:solidFill>
            <a:prstDash val="solid"/>
          </a:ln>
        </p:spPr>
      </p:sp>
      <p:sp>
        <p:nvSpPr>
          <p:cNvPr id="29" name="Text 27"/>
          <p:cNvSpPr txBox="1"/>
          <p:nvPr/>
        </p:nvSpPr>
        <p:spPr>
          <a:xfrm>
            <a:off x="548640" y="385876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D7</a:t>
            </a:r>
            <a:endParaRPr lang="en-US" sz="1000" dirty="0"/>
          </a:p>
        </p:txBody>
      </p:sp>
      <p:sp>
        <p:nvSpPr>
          <p:cNvPr id="30" name="Text 28"/>
          <p:cNvSpPr txBox="1"/>
          <p:nvPr/>
        </p:nvSpPr>
        <p:spPr>
          <a:xfrm>
            <a:off x="1188720" y="3840480"/>
            <a:ext cx="4632808" cy="329184"/>
          </a:xfrm>
          <a:prstGeom prst="rect">
            <a:avLst/>
          </a:prstGeom>
          <a:noFill/>
          <a:ln/>
        </p:spPr>
        <p:txBody>
          <a:bodyPr wrap="square" lIns="0" tIns="0" rIns="0" bIns="0" rtlCol="0" anchor="ctr"/>
          <a:lstStyle/>
          <a:p>
            <a:pPr indent="0" marL="0">
              <a:buNone/>
            </a:pPr>
            <a:r>
              <a:rPr lang="en-US" sz="1300" dirty="0">
                <a:solidFill>
                  <a:schemeClr val="tx1"/>
                </a:solidFill>
              </a:rPr>
              <a:t>Best-of-11 rule checked; layer 42 primary for all</a:t>
            </a:r>
            <a:endParaRPr lang="en-US" sz="1300" dirty="0"/>
          </a:p>
        </p:txBody>
      </p:sp>
      <p:sp>
        <p:nvSpPr>
          <p:cNvPr id="31" name="Shape 29"/>
          <p:cNvSpPr/>
          <p:nvPr/>
        </p:nvSpPr>
        <p:spPr>
          <a:xfrm>
            <a:off x="548640" y="4155948"/>
            <a:ext cx="502920" cy="256032"/>
          </a:xfrm>
          <a:prstGeom prst="roundRect">
            <a:avLst>
              <a:gd name="adj" fmla="val 53571"/>
            </a:avLst>
          </a:prstGeom>
          <a:solidFill>
            <a:schemeClr val="accent5"/>
          </a:solidFill>
          <a:ln w="12700">
            <a:solidFill>
              <a:schemeClr val="accent5"/>
            </a:solidFill>
            <a:prstDash val="solid"/>
          </a:ln>
        </p:spPr>
      </p:sp>
      <p:sp>
        <p:nvSpPr>
          <p:cNvPr id="32" name="Text 30"/>
          <p:cNvSpPr txBox="1"/>
          <p:nvPr/>
        </p:nvSpPr>
        <p:spPr>
          <a:xfrm>
            <a:off x="548640" y="415594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D8</a:t>
            </a:r>
            <a:endParaRPr lang="en-US" sz="1000" dirty="0"/>
          </a:p>
        </p:txBody>
      </p:sp>
      <p:sp>
        <p:nvSpPr>
          <p:cNvPr id="33" name="Text 31"/>
          <p:cNvSpPr txBox="1"/>
          <p:nvPr/>
        </p:nvSpPr>
        <p:spPr>
          <a:xfrm>
            <a:off x="1188720" y="4137660"/>
            <a:ext cx="4632808" cy="329184"/>
          </a:xfrm>
          <a:prstGeom prst="rect">
            <a:avLst/>
          </a:prstGeom>
          <a:noFill/>
          <a:ln/>
        </p:spPr>
        <p:txBody>
          <a:bodyPr wrap="square" lIns="0" tIns="0" rIns="0" bIns="0" rtlCol="0" anchor="ctr"/>
          <a:lstStyle/>
          <a:p>
            <a:pPr indent="0" marL="0">
              <a:buNone/>
            </a:pPr>
            <a:r>
              <a:rPr lang="en-US" sz="1300" dirty="0">
                <a:solidFill>
                  <a:schemeClr val="tx1"/>
                </a:solidFill>
              </a:rPr>
              <a:t>Smoke test: survival test can't label; paired metrics</a:t>
            </a:r>
            <a:endParaRPr lang="en-US" sz="1300" dirty="0"/>
          </a:p>
        </p:txBody>
      </p:sp>
      <p:sp>
        <p:nvSpPr>
          <p:cNvPr id="34" name="Shape 32"/>
          <p:cNvSpPr/>
          <p:nvPr/>
        </p:nvSpPr>
        <p:spPr>
          <a:xfrm>
            <a:off x="548640" y="4453128"/>
            <a:ext cx="502920" cy="256032"/>
          </a:xfrm>
          <a:prstGeom prst="roundRect">
            <a:avLst>
              <a:gd name="adj" fmla="val 53571"/>
            </a:avLst>
          </a:prstGeom>
          <a:solidFill>
            <a:schemeClr val="accent2"/>
          </a:solidFill>
          <a:ln w="12700">
            <a:solidFill>
              <a:schemeClr val="accent2"/>
            </a:solidFill>
            <a:prstDash val="solid"/>
          </a:ln>
        </p:spPr>
      </p:sp>
      <p:sp>
        <p:nvSpPr>
          <p:cNvPr id="35" name="Text 33"/>
          <p:cNvSpPr txBox="1"/>
          <p:nvPr/>
        </p:nvSpPr>
        <p:spPr>
          <a:xfrm>
            <a:off x="548640" y="445312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D9</a:t>
            </a:r>
            <a:endParaRPr lang="en-US" sz="1000" dirty="0"/>
          </a:p>
        </p:txBody>
      </p:sp>
      <p:sp>
        <p:nvSpPr>
          <p:cNvPr id="36" name="Text 34"/>
          <p:cNvSpPr txBox="1"/>
          <p:nvPr/>
        </p:nvSpPr>
        <p:spPr>
          <a:xfrm>
            <a:off x="1188720" y="4434840"/>
            <a:ext cx="4632808" cy="329184"/>
          </a:xfrm>
          <a:prstGeom prst="rect">
            <a:avLst/>
          </a:prstGeom>
          <a:noFill/>
          <a:ln/>
        </p:spPr>
        <p:txBody>
          <a:bodyPr wrap="square" lIns="0" tIns="0" rIns="0" bIns="0" rtlCol="0" anchor="ctr"/>
          <a:lstStyle/>
          <a:p>
            <a:pPr indent="0" marL="0">
              <a:buNone/>
            </a:pPr>
            <a:r>
              <a:rPr lang="en-US" sz="1300" dirty="0">
                <a:solidFill>
                  <a:schemeClr val="tx1"/>
                </a:solidFill>
              </a:rPr>
              <a:t>Fable 3: ± not dilution-immune; calibrated gate</a:t>
            </a:r>
            <a:endParaRPr lang="en-US" sz="1300" dirty="0"/>
          </a:p>
        </p:txBody>
      </p:sp>
      <p:sp>
        <p:nvSpPr>
          <p:cNvPr id="37" name="Shape 35"/>
          <p:cNvSpPr/>
          <p:nvPr/>
        </p:nvSpPr>
        <p:spPr>
          <a:xfrm>
            <a:off x="6370168" y="1645920"/>
            <a:ext cx="1005840" cy="292608"/>
          </a:xfrm>
          <a:prstGeom prst="roundRect">
            <a:avLst>
              <a:gd name="adj" fmla="val 46875"/>
            </a:avLst>
          </a:prstGeom>
          <a:solidFill>
            <a:schemeClr val="tx2"/>
          </a:solidFill>
          <a:ln w="12700">
            <a:solidFill>
              <a:schemeClr val="tx2"/>
            </a:solidFill>
            <a:prstDash val="solid"/>
          </a:ln>
        </p:spPr>
      </p:sp>
      <p:sp>
        <p:nvSpPr>
          <p:cNvPr id="38" name="Text 36"/>
          <p:cNvSpPr txBox="1"/>
          <p:nvPr/>
        </p:nvSpPr>
        <p:spPr>
          <a:xfrm>
            <a:off x="6370168" y="1645920"/>
            <a:ext cx="1005840" cy="292608"/>
          </a:xfrm>
          <a:prstGeom prst="rect">
            <a:avLst/>
          </a:prstGeom>
          <a:noFill/>
          <a:ln/>
        </p:spPr>
        <p:txBody>
          <a:bodyPr wrap="square" lIns="0" tIns="0" rIns="0" bIns="0" rtlCol="0" anchor="ctr"/>
          <a:lstStyle/>
          <a:p>
            <a:pPr algn="ctr" indent="0" marL="0">
              <a:buNone/>
            </a:pPr>
            <a:r>
              <a:rPr lang="en-US" sz="1200" b="1" dirty="0">
                <a:solidFill>
                  <a:schemeClr val="bg1"/>
                </a:solidFill>
              </a:rPr>
              <a:t>6 Oct</a:t>
            </a:r>
            <a:endParaRPr lang="en-US" sz="1200" dirty="0"/>
          </a:p>
        </p:txBody>
      </p:sp>
      <p:sp>
        <p:nvSpPr>
          <p:cNvPr id="39" name="Shape 37"/>
          <p:cNvSpPr/>
          <p:nvPr/>
        </p:nvSpPr>
        <p:spPr>
          <a:xfrm>
            <a:off x="6617056" y="2011680"/>
            <a:ext cx="914" cy="4160520"/>
          </a:xfrm>
          <a:prstGeom prst="line">
            <a:avLst/>
          </a:prstGeom>
          <a:noFill/>
          <a:ln w="15875">
            <a:solidFill>
              <a:schemeClr val="accent6"/>
            </a:solidFill>
            <a:prstDash val="solid"/>
          </a:ln>
        </p:spPr>
      </p:sp>
      <p:sp>
        <p:nvSpPr>
          <p:cNvPr id="40" name="Shape 38"/>
          <p:cNvSpPr/>
          <p:nvPr/>
        </p:nvSpPr>
        <p:spPr>
          <a:xfrm>
            <a:off x="6370168" y="2075688"/>
            <a:ext cx="502920" cy="256032"/>
          </a:xfrm>
          <a:prstGeom prst="roundRect">
            <a:avLst>
              <a:gd name="adj" fmla="val 53571"/>
            </a:avLst>
          </a:prstGeom>
          <a:solidFill>
            <a:schemeClr val="accent5"/>
          </a:solidFill>
          <a:ln w="12700">
            <a:solidFill>
              <a:schemeClr val="accent5"/>
            </a:solidFill>
            <a:prstDash val="solid"/>
          </a:ln>
        </p:spPr>
      </p:sp>
      <p:sp>
        <p:nvSpPr>
          <p:cNvPr id="41" name="Text 39"/>
          <p:cNvSpPr txBox="1"/>
          <p:nvPr/>
        </p:nvSpPr>
        <p:spPr>
          <a:xfrm>
            <a:off x="6370168" y="207568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D10</a:t>
            </a:r>
            <a:endParaRPr lang="en-US" sz="1000" dirty="0"/>
          </a:p>
        </p:txBody>
      </p:sp>
      <p:sp>
        <p:nvSpPr>
          <p:cNvPr id="42" name="Text 40"/>
          <p:cNvSpPr txBox="1"/>
          <p:nvPr/>
        </p:nvSpPr>
        <p:spPr>
          <a:xfrm>
            <a:off x="7010248" y="2057400"/>
            <a:ext cx="4632808" cy="329184"/>
          </a:xfrm>
          <a:prstGeom prst="rect">
            <a:avLst/>
          </a:prstGeom>
          <a:noFill/>
          <a:ln/>
        </p:spPr>
        <p:txBody>
          <a:bodyPr wrap="square" lIns="0" tIns="0" rIns="0" bIns="0" rtlCol="0" anchor="ctr"/>
          <a:lstStyle/>
          <a:p>
            <a:pPr indent="0" marL="0">
              <a:buNone/>
            </a:pPr>
            <a:r>
              <a:rPr lang="en-US" sz="1300" dirty="0">
                <a:solidFill>
                  <a:schemeClr val="tx1"/>
                </a:solidFill>
              </a:rPr>
              <a:t>Gates: col is the one clean non-J feature</a:t>
            </a:r>
            <a:endParaRPr lang="en-US" sz="1300" dirty="0"/>
          </a:p>
        </p:txBody>
      </p:sp>
      <p:sp>
        <p:nvSpPr>
          <p:cNvPr id="43" name="Shape 41"/>
          <p:cNvSpPr/>
          <p:nvPr/>
        </p:nvSpPr>
        <p:spPr>
          <a:xfrm>
            <a:off x="6370168" y="2372868"/>
            <a:ext cx="502920" cy="256032"/>
          </a:xfrm>
          <a:prstGeom prst="roundRect">
            <a:avLst>
              <a:gd name="adj" fmla="val 53571"/>
            </a:avLst>
          </a:prstGeom>
          <a:solidFill>
            <a:schemeClr val="accent5"/>
          </a:solidFill>
          <a:ln w="12700">
            <a:solidFill>
              <a:schemeClr val="accent5"/>
            </a:solidFill>
            <a:prstDash val="solid"/>
          </a:ln>
        </p:spPr>
      </p:sp>
      <p:sp>
        <p:nvSpPr>
          <p:cNvPr id="44" name="Text 42"/>
          <p:cNvSpPr txBox="1"/>
          <p:nvPr/>
        </p:nvSpPr>
        <p:spPr>
          <a:xfrm>
            <a:off x="6370168" y="237286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D11</a:t>
            </a:r>
            <a:endParaRPr lang="en-US" sz="1000" dirty="0"/>
          </a:p>
        </p:txBody>
      </p:sp>
      <p:sp>
        <p:nvSpPr>
          <p:cNvPr id="45" name="Text 43"/>
          <p:cNvSpPr txBox="1"/>
          <p:nvPr/>
        </p:nvSpPr>
        <p:spPr>
          <a:xfrm>
            <a:off x="7010248" y="2354580"/>
            <a:ext cx="4632808" cy="329184"/>
          </a:xfrm>
          <a:prstGeom prst="rect">
            <a:avLst/>
          </a:prstGeom>
          <a:noFill/>
          <a:ln/>
        </p:spPr>
        <p:txBody>
          <a:bodyPr wrap="square" lIns="0" tIns="0" rIns="0" bIns="0" rtlCol="0" anchor="ctr"/>
          <a:lstStyle/>
          <a:p>
            <a:pPr indent="0" marL="0">
              <a:buNone/>
            </a:pPr>
            <a:r>
              <a:rPr lang="en-US" sz="1300" dirty="0">
                <a:solidFill>
                  <a:schemeClr val="tx1"/>
                </a:solidFill>
              </a:rPr>
              <a:t>OL anti-tracking = dilution; centred steering</a:t>
            </a:r>
            <a:endParaRPr lang="en-US" sz="1300" dirty="0"/>
          </a:p>
        </p:txBody>
      </p:sp>
      <p:sp>
        <p:nvSpPr>
          <p:cNvPr id="46" name="Shape 44"/>
          <p:cNvSpPr/>
          <p:nvPr/>
        </p:nvSpPr>
        <p:spPr>
          <a:xfrm>
            <a:off x="6370168" y="2670048"/>
            <a:ext cx="502920" cy="256032"/>
          </a:xfrm>
          <a:prstGeom prst="roundRect">
            <a:avLst>
              <a:gd name="adj" fmla="val 53571"/>
            </a:avLst>
          </a:prstGeom>
          <a:solidFill>
            <a:schemeClr val="accent2"/>
          </a:solidFill>
          <a:ln w="12700">
            <a:solidFill>
              <a:schemeClr val="accent2"/>
            </a:solidFill>
            <a:prstDash val="solid"/>
          </a:ln>
        </p:spPr>
      </p:sp>
      <p:sp>
        <p:nvSpPr>
          <p:cNvPr id="47" name="Text 45"/>
          <p:cNvSpPr txBox="1"/>
          <p:nvPr/>
        </p:nvSpPr>
        <p:spPr>
          <a:xfrm>
            <a:off x="6370168" y="267004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D12</a:t>
            </a:r>
            <a:endParaRPr lang="en-US" sz="1000" dirty="0"/>
          </a:p>
        </p:txBody>
      </p:sp>
      <p:sp>
        <p:nvSpPr>
          <p:cNvPr id="48" name="Text 46"/>
          <p:cNvSpPr txBox="1"/>
          <p:nvPr/>
        </p:nvSpPr>
        <p:spPr>
          <a:xfrm>
            <a:off x="7010248" y="2651760"/>
            <a:ext cx="4632808" cy="329184"/>
          </a:xfrm>
          <a:prstGeom prst="rect">
            <a:avLst/>
          </a:prstGeom>
          <a:noFill/>
          <a:ln/>
        </p:spPr>
        <p:txBody>
          <a:bodyPr wrap="square" lIns="0" tIns="0" rIns="0" bIns="0" rtlCol="0" anchor="ctr"/>
          <a:lstStyle/>
          <a:p>
            <a:pPr indent="0" marL="0">
              <a:buNone/>
            </a:pPr>
            <a:r>
              <a:rPr lang="en-US" sz="1300" dirty="0">
                <a:solidFill>
                  <a:schemeClr val="tx1"/>
                </a:solidFill>
              </a:rPr>
              <a:t>Fable 4: two co-headlines (Part A, Part B)</a:t>
            </a:r>
            <a:endParaRPr lang="en-US" sz="1300" dirty="0"/>
          </a:p>
        </p:txBody>
      </p:sp>
      <p:sp>
        <p:nvSpPr>
          <p:cNvPr id="49" name="Shape 47"/>
          <p:cNvSpPr/>
          <p:nvPr/>
        </p:nvSpPr>
        <p:spPr>
          <a:xfrm>
            <a:off x="6370168" y="2967228"/>
            <a:ext cx="502920" cy="256032"/>
          </a:xfrm>
          <a:prstGeom prst="roundRect">
            <a:avLst>
              <a:gd name="adj" fmla="val 53571"/>
            </a:avLst>
          </a:prstGeom>
          <a:solidFill>
            <a:schemeClr val="accent5"/>
          </a:solidFill>
          <a:ln w="12700">
            <a:solidFill>
              <a:schemeClr val="accent5"/>
            </a:solidFill>
            <a:prstDash val="solid"/>
          </a:ln>
        </p:spPr>
      </p:sp>
      <p:sp>
        <p:nvSpPr>
          <p:cNvPr id="50" name="Text 48"/>
          <p:cNvSpPr txBox="1"/>
          <p:nvPr/>
        </p:nvSpPr>
        <p:spPr>
          <a:xfrm>
            <a:off x="6370168" y="296722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D13</a:t>
            </a:r>
            <a:endParaRPr lang="en-US" sz="1000" dirty="0"/>
          </a:p>
        </p:txBody>
      </p:sp>
      <p:sp>
        <p:nvSpPr>
          <p:cNvPr id="51" name="Text 49"/>
          <p:cNvSpPr txBox="1"/>
          <p:nvPr/>
        </p:nvSpPr>
        <p:spPr>
          <a:xfrm>
            <a:off x="7010248" y="2948940"/>
            <a:ext cx="4632808" cy="329184"/>
          </a:xfrm>
          <a:prstGeom prst="rect">
            <a:avLst/>
          </a:prstGeom>
          <a:noFill/>
          <a:ln/>
        </p:spPr>
        <p:txBody>
          <a:bodyPr wrap="square" lIns="0" tIns="0" rIns="0" bIns="0" rtlCol="0" anchor="ctr"/>
          <a:lstStyle/>
          <a:p>
            <a:pPr indent="0" marL="0">
              <a:buNone/>
            </a:pPr>
            <a:r>
              <a:rPr lang="en-US" sz="1300" dirty="0">
                <a:solidFill>
                  <a:schemeClr val="tx1"/>
                </a:solidFill>
              </a:rPr>
              <a:t>col non-J under both lenses; POS in-J</a:t>
            </a:r>
            <a:endParaRPr lang="en-US" sz="1300" dirty="0"/>
          </a:p>
        </p:txBody>
      </p:sp>
      <p:sp>
        <p:nvSpPr>
          <p:cNvPr id="52" name="Shape 50"/>
          <p:cNvSpPr/>
          <p:nvPr/>
        </p:nvSpPr>
        <p:spPr>
          <a:xfrm>
            <a:off x="6370168" y="3264408"/>
            <a:ext cx="502920" cy="256032"/>
          </a:xfrm>
          <a:prstGeom prst="roundRect">
            <a:avLst>
              <a:gd name="adj" fmla="val 53571"/>
            </a:avLst>
          </a:prstGeom>
          <a:solidFill>
            <a:schemeClr val="accent5"/>
          </a:solidFill>
          <a:ln w="12700">
            <a:solidFill>
              <a:schemeClr val="accent5"/>
            </a:solidFill>
            <a:prstDash val="solid"/>
          </a:ln>
        </p:spPr>
      </p:sp>
      <p:sp>
        <p:nvSpPr>
          <p:cNvPr id="53" name="Text 51"/>
          <p:cNvSpPr txBox="1"/>
          <p:nvPr/>
        </p:nvSpPr>
        <p:spPr>
          <a:xfrm>
            <a:off x="6370168" y="326440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D14</a:t>
            </a:r>
            <a:endParaRPr lang="en-US" sz="1000" dirty="0"/>
          </a:p>
        </p:txBody>
      </p:sp>
      <p:sp>
        <p:nvSpPr>
          <p:cNvPr id="54" name="Text 52"/>
          <p:cNvSpPr txBox="1"/>
          <p:nvPr/>
        </p:nvSpPr>
        <p:spPr>
          <a:xfrm>
            <a:off x="7010248" y="3246120"/>
            <a:ext cx="4632808" cy="329184"/>
          </a:xfrm>
          <a:prstGeom prst="rect">
            <a:avLst/>
          </a:prstGeom>
          <a:noFill/>
          <a:ln/>
        </p:spPr>
        <p:txBody>
          <a:bodyPr wrap="square" lIns="0" tIns="0" rIns="0" bIns="0" rtlCol="0" anchor="ctr"/>
          <a:lstStyle/>
          <a:p>
            <a:pPr indent="0" marL="0">
              <a:buNone/>
            </a:pPr>
            <a:r>
              <a:rPr lang="en-US" sz="1300" dirty="0">
                <a:solidFill>
                  <a:schemeClr val="tx1"/>
                </a:solidFill>
              </a:rPr>
              <a:t>Re-solving decomposition: text ties readers</a:t>
            </a:r>
            <a:endParaRPr lang="en-US" sz="1300" dirty="0"/>
          </a:p>
        </p:txBody>
      </p:sp>
      <p:sp>
        <p:nvSpPr>
          <p:cNvPr id="55" name="Shape 53"/>
          <p:cNvSpPr/>
          <p:nvPr/>
        </p:nvSpPr>
        <p:spPr>
          <a:xfrm>
            <a:off x="6370168" y="3561588"/>
            <a:ext cx="502920" cy="256032"/>
          </a:xfrm>
          <a:prstGeom prst="roundRect">
            <a:avLst>
              <a:gd name="adj" fmla="val 53571"/>
            </a:avLst>
          </a:prstGeom>
          <a:solidFill>
            <a:schemeClr val="accent5"/>
          </a:solidFill>
          <a:ln w="12700">
            <a:solidFill>
              <a:schemeClr val="accent5"/>
            </a:solidFill>
            <a:prstDash val="solid"/>
          </a:ln>
        </p:spPr>
      </p:sp>
      <p:sp>
        <p:nvSpPr>
          <p:cNvPr id="56" name="Text 54"/>
          <p:cNvSpPr txBox="1"/>
          <p:nvPr/>
        </p:nvSpPr>
        <p:spPr>
          <a:xfrm>
            <a:off x="6370168" y="356158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D15</a:t>
            </a:r>
            <a:endParaRPr lang="en-US" sz="1000" dirty="0"/>
          </a:p>
        </p:txBody>
      </p:sp>
      <p:sp>
        <p:nvSpPr>
          <p:cNvPr id="57" name="Text 55"/>
          <p:cNvSpPr txBox="1"/>
          <p:nvPr/>
        </p:nvSpPr>
        <p:spPr>
          <a:xfrm>
            <a:off x="7010248" y="3543300"/>
            <a:ext cx="4632808" cy="329184"/>
          </a:xfrm>
          <a:prstGeom prst="rect">
            <a:avLst/>
          </a:prstGeom>
          <a:noFill/>
          <a:ln/>
        </p:spPr>
        <p:txBody>
          <a:bodyPr wrap="square" lIns="0" tIns="0" rIns="0" bIns="0" rtlCol="0" anchor="ctr"/>
          <a:lstStyle/>
          <a:p>
            <a:pPr indent="0" marL="0">
              <a:buNone/>
            </a:pPr>
            <a:r>
              <a:rPr lang="en-US" sz="1300" dirty="0">
                <a:solidFill>
                  <a:schemeClr val="tx1"/>
                </a:solidFill>
              </a:rPr>
              <a:t>col pilot: no reader beyond null band</a:t>
            </a:r>
            <a:endParaRPr lang="en-US" sz="1300" dirty="0"/>
          </a:p>
        </p:txBody>
      </p:sp>
      <p:sp>
        <p:nvSpPr>
          <p:cNvPr id="58" name="Shape 56"/>
          <p:cNvSpPr/>
          <p:nvPr/>
        </p:nvSpPr>
        <p:spPr>
          <a:xfrm>
            <a:off x="6370168" y="3858768"/>
            <a:ext cx="502920" cy="256032"/>
          </a:xfrm>
          <a:prstGeom prst="roundRect">
            <a:avLst>
              <a:gd name="adj" fmla="val 53571"/>
            </a:avLst>
          </a:prstGeom>
          <a:solidFill>
            <a:schemeClr val="accent5"/>
          </a:solidFill>
          <a:ln w="12700">
            <a:solidFill>
              <a:schemeClr val="accent5"/>
            </a:solidFill>
            <a:prstDash val="solid"/>
          </a:ln>
        </p:spPr>
      </p:sp>
      <p:sp>
        <p:nvSpPr>
          <p:cNvPr id="59" name="Text 57"/>
          <p:cNvSpPr txBox="1"/>
          <p:nvPr/>
        </p:nvSpPr>
        <p:spPr>
          <a:xfrm>
            <a:off x="6370168" y="385876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D16</a:t>
            </a:r>
            <a:endParaRPr lang="en-US" sz="1000" dirty="0"/>
          </a:p>
        </p:txBody>
      </p:sp>
      <p:sp>
        <p:nvSpPr>
          <p:cNvPr id="60" name="Text 58"/>
          <p:cNvSpPr txBox="1"/>
          <p:nvPr/>
        </p:nvSpPr>
        <p:spPr>
          <a:xfrm>
            <a:off x="7010248" y="3840480"/>
            <a:ext cx="4632808" cy="329184"/>
          </a:xfrm>
          <a:prstGeom prst="rect">
            <a:avLst/>
          </a:prstGeom>
          <a:noFill/>
          <a:ln/>
        </p:spPr>
        <p:txBody>
          <a:bodyPr wrap="square" lIns="0" tIns="0" rIns="0" bIns="0" rtlCol="0" anchor="ctr"/>
          <a:lstStyle/>
          <a:p>
            <a:pPr indent="0" marL="0">
              <a:buNone/>
            </a:pPr>
            <a:r>
              <a:rPr lang="en-US" sz="1300" dirty="0">
                <a:solidFill>
                  <a:schemeClr val="tx1"/>
                </a:solidFill>
              </a:rPr>
              <a:t>Planted intermediates: K4 passes</a:t>
            </a:r>
            <a:endParaRPr lang="en-US" sz="1300" dirty="0"/>
          </a:p>
        </p:txBody>
      </p:sp>
      <p:sp>
        <p:nvSpPr>
          <p:cNvPr id="61" name="Shape 59"/>
          <p:cNvSpPr/>
          <p:nvPr/>
        </p:nvSpPr>
        <p:spPr>
          <a:xfrm>
            <a:off x="6370168" y="4155948"/>
            <a:ext cx="502920" cy="256032"/>
          </a:xfrm>
          <a:prstGeom prst="roundRect">
            <a:avLst>
              <a:gd name="adj" fmla="val 53571"/>
            </a:avLst>
          </a:prstGeom>
          <a:solidFill>
            <a:schemeClr val="accent5"/>
          </a:solidFill>
          <a:ln w="12700">
            <a:solidFill>
              <a:schemeClr val="accent5"/>
            </a:solidFill>
            <a:prstDash val="solid"/>
          </a:ln>
        </p:spPr>
      </p:sp>
      <p:sp>
        <p:nvSpPr>
          <p:cNvPr id="62" name="Text 60"/>
          <p:cNvSpPr txBox="1"/>
          <p:nvPr/>
        </p:nvSpPr>
        <p:spPr>
          <a:xfrm>
            <a:off x="6370168" y="415594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D17</a:t>
            </a:r>
            <a:endParaRPr lang="en-US" sz="1000" dirty="0"/>
          </a:p>
        </p:txBody>
      </p:sp>
      <p:sp>
        <p:nvSpPr>
          <p:cNvPr id="63" name="Text 61"/>
          <p:cNvSpPr txBox="1"/>
          <p:nvPr/>
        </p:nvSpPr>
        <p:spPr>
          <a:xfrm>
            <a:off x="7010248" y="4137660"/>
            <a:ext cx="4632808" cy="329184"/>
          </a:xfrm>
          <a:prstGeom prst="rect">
            <a:avLst/>
          </a:prstGeom>
          <a:noFill/>
          <a:ln/>
        </p:spPr>
        <p:txBody>
          <a:bodyPr wrap="square" lIns="0" tIns="0" rIns="0" bIns="0" rtlCol="0" anchor="ctr"/>
          <a:lstStyle/>
          <a:p>
            <a:pPr indent="0" marL="0">
              <a:buNone/>
            </a:pPr>
            <a:r>
              <a:rPr lang="en-US" sz="1300" dirty="0">
                <a:solidFill>
                  <a:schemeClr val="tx1"/>
                </a:solidFill>
              </a:rPr>
              <a:t>Prompt-only floors ~0.14 too low</a:t>
            </a:r>
            <a:endParaRPr lang="en-US" sz="1300" dirty="0"/>
          </a:p>
        </p:txBody>
      </p:sp>
      <p:sp>
        <p:nvSpPr>
          <p:cNvPr id="64" name="Shape 62"/>
          <p:cNvSpPr/>
          <p:nvPr/>
        </p:nvSpPr>
        <p:spPr>
          <a:xfrm>
            <a:off x="6370168" y="4453128"/>
            <a:ext cx="502920" cy="256032"/>
          </a:xfrm>
          <a:prstGeom prst="roundRect">
            <a:avLst>
              <a:gd name="adj" fmla="val 53571"/>
            </a:avLst>
          </a:prstGeom>
          <a:solidFill>
            <a:schemeClr val="accent5"/>
          </a:solidFill>
          <a:ln w="12700">
            <a:solidFill>
              <a:schemeClr val="accent5"/>
            </a:solidFill>
            <a:prstDash val="solid"/>
          </a:ln>
        </p:spPr>
      </p:sp>
      <p:sp>
        <p:nvSpPr>
          <p:cNvPr id="65" name="Text 63"/>
          <p:cNvSpPr txBox="1"/>
          <p:nvPr/>
        </p:nvSpPr>
        <p:spPr>
          <a:xfrm>
            <a:off x="6370168" y="445312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D18</a:t>
            </a:r>
            <a:endParaRPr lang="en-US" sz="1000" dirty="0"/>
          </a:p>
        </p:txBody>
      </p:sp>
      <p:sp>
        <p:nvSpPr>
          <p:cNvPr id="66" name="Text 64"/>
          <p:cNvSpPr txBox="1"/>
          <p:nvPr/>
        </p:nvSpPr>
        <p:spPr>
          <a:xfrm>
            <a:off x="7010248" y="4434840"/>
            <a:ext cx="4632808" cy="329184"/>
          </a:xfrm>
          <a:prstGeom prst="rect">
            <a:avLst/>
          </a:prstGeom>
          <a:noFill/>
          <a:ln/>
        </p:spPr>
        <p:txBody>
          <a:bodyPr wrap="square" lIns="0" tIns="0" rIns="0" bIns="0" rtlCol="0" anchor="ctr"/>
          <a:lstStyle/>
          <a:p>
            <a:pPr indent="0" marL="0">
              <a:buNone/>
            </a:pPr>
            <a:r>
              <a:rPr lang="en-US" sz="1300" dirty="0">
                <a:solidFill>
                  <a:schemeClr val="tx1"/>
                </a:solidFill>
              </a:rPr>
              <a:t>Templates frozen (sha256 0915…923b)</a:t>
            </a:r>
            <a:endParaRPr lang="en-US" sz="1300" dirty="0"/>
          </a:p>
        </p:txBody>
      </p:sp>
      <p:sp>
        <p:nvSpPr>
          <p:cNvPr id="67" name="Shape 65"/>
          <p:cNvSpPr/>
          <p:nvPr/>
        </p:nvSpPr>
        <p:spPr>
          <a:xfrm>
            <a:off x="6370168" y="4750308"/>
            <a:ext cx="502920" cy="256032"/>
          </a:xfrm>
          <a:prstGeom prst="roundRect">
            <a:avLst>
              <a:gd name="adj" fmla="val 53571"/>
            </a:avLst>
          </a:prstGeom>
          <a:solidFill>
            <a:schemeClr val="accent5"/>
          </a:solidFill>
          <a:ln w="12700">
            <a:solidFill>
              <a:schemeClr val="accent5"/>
            </a:solidFill>
            <a:prstDash val="solid"/>
          </a:ln>
        </p:spPr>
      </p:sp>
      <p:sp>
        <p:nvSpPr>
          <p:cNvPr id="68" name="Text 66"/>
          <p:cNvSpPr txBox="1"/>
          <p:nvPr/>
        </p:nvSpPr>
        <p:spPr>
          <a:xfrm>
            <a:off x="6370168" y="475030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D19</a:t>
            </a:r>
            <a:endParaRPr lang="en-US" sz="1000" dirty="0"/>
          </a:p>
        </p:txBody>
      </p:sp>
      <p:sp>
        <p:nvSpPr>
          <p:cNvPr id="69" name="Text 67"/>
          <p:cNvSpPr txBox="1"/>
          <p:nvPr/>
        </p:nvSpPr>
        <p:spPr>
          <a:xfrm>
            <a:off x="7010248" y="4732020"/>
            <a:ext cx="4632808" cy="329184"/>
          </a:xfrm>
          <a:prstGeom prst="rect">
            <a:avLst/>
          </a:prstGeom>
          <a:noFill/>
          <a:ln/>
        </p:spPr>
        <p:txBody>
          <a:bodyPr wrap="square" lIns="0" tIns="0" rIns="0" bIns="0" rtlCol="0" anchor="ctr"/>
          <a:lstStyle/>
          <a:p>
            <a:pPr indent="0" marL="0">
              <a:buNone/>
            </a:pPr>
            <a:r>
              <a:rPr lang="en-US" sz="1300" dirty="0">
                <a:solidFill>
                  <a:schemeClr val="tx1"/>
                </a:solidFill>
              </a:rPr>
              <a:t>Backups: none qualify; count control failed</a:t>
            </a:r>
            <a:endParaRPr lang="en-US" sz="1300" dirty="0"/>
          </a:p>
        </p:txBody>
      </p:sp>
      <p:sp>
        <p:nvSpPr>
          <p:cNvPr id="70" name="Shape 68"/>
          <p:cNvSpPr/>
          <p:nvPr/>
        </p:nvSpPr>
        <p:spPr>
          <a:xfrm>
            <a:off x="6370168" y="5047488"/>
            <a:ext cx="502920" cy="256032"/>
          </a:xfrm>
          <a:prstGeom prst="roundRect">
            <a:avLst>
              <a:gd name="adj" fmla="val 53571"/>
            </a:avLst>
          </a:prstGeom>
          <a:solidFill>
            <a:schemeClr val="accent5"/>
          </a:solidFill>
          <a:ln w="12700">
            <a:solidFill>
              <a:schemeClr val="accent5"/>
            </a:solidFill>
            <a:prstDash val="solid"/>
          </a:ln>
        </p:spPr>
      </p:sp>
      <p:sp>
        <p:nvSpPr>
          <p:cNvPr id="71" name="Text 69"/>
          <p:cNvSpPr txBox="1"/>
          <p:nvPr/>
        </p:nvSpPr>
        <p:spPr>
          <a:xfrm>
            <a:off x="6370168" y="504748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D20</a:t>
            </a:r>
            <a:endParaRPr lang="en-US" sz="1000" dirty="0"/>
          </a:p>
        </p:txBody>
      </p:sp>
      <p:sp>
        <p:nvSpPr>
          <p:cNvPr id="72" name="Text 70"/>
          <p:cNvSpPr txBox="1"/>
          <p:nvPr/>
        </p:nvSpPr>
        <p:spPr>
          <a:xfrm>
            <a:off x="7010248" y="5029200"/>
            <a:ext cx="4632808" cy="329184"/>
          </a:xfrm>
          <a:prstGeom prst="rect">
            <a:avLst/>
          </a:prstGeom>
          <a:noFill/>
          <a:ln/>
        </p:spPr>
        <p:txBody>
          <a:bodyPr wrap="square" lIns="0" tIns="0" rIns="0" bIns="0" rtlCol="0" anchor="ctr"/>
          <a:lstStyle/>
          <a:p>
            <a:pPr indent="0" marL="0">
              <a:buNone/>
            </a:pPr>
            <a:r>
              <a:rPr lang="en-US" sz="1300" dirty="0">
                <a:solidFill>
                  <a:schemeClr val="tx1"/>
                </a:solidFill>
              </a:rPr>
              <a:t>K3 passes at matched dose</a:t>
            </a:r>
            <a:endParaRPr lang="en-US" sz="1300" dirty="0"/>
          </a:p>
        </p:txBody>
      </p:sp>
      <p:sp>
        <p:nvSpPr>
          <p:cNvPr id="73" name="Shape 71"/>
          <p:cNvSpPr/>
          <p:nvPr/>
        </p:nvSpPr>
        <p:spPr>
          <a:xfrm>
            <a:off x="6370168" y="5344668"/>
            <a:ext cx="502920" cy="256032"/>
          </a:xfrm>
          <a:prstGeom prst="roundRect">
            <a:avLst>
              <a:gd name="adj" fmla="val 53571"/>
            </a:avLst>
          </a:prstGeom>
          <a:solidFill>
            <a:schemeClr val="accent2"/>
          </a:solidFill>
          <a:ln w="12700">
            <a:solidFill>
              <a:schemeClr val="accent2"/>
            </a:solidFill>
            <a:prstDash val="solid"/>
          </a:ln>
        </p:spPr>
      </p:sp>
      <p:sp>
        <p:nvSpPr>
          <p:cNvPr id="74" name="Text 72"/>
          <p:cNvSpPr txBox="1"/>
          <p:nvPr/>
        </p:nvSpPr>
        <p:spPr>
          <a:xfrm>
            <a:off x="6370168" y="5344668"/>
            <a:ext cx="502920" cy="256032"/>
          </a:xfrm>
          <a:prstGeom prst="rect">
            <a:avLst/>
          </a:prstGeom>
          <a:noFill/>
          <a:ln/>
        </p:spPr>
        <p:txBody>
          <a:bodyPr wrap="square" lIns="0" tIns="0" rIns="0" bIns="0" rtlCol="0" anchor="ctr"/>
          <a:lstStyle/>
          <a:p>
            <a:pPr algn="ctr" indent="0" marL="0">
              <a:buNone/>
            </a:pPr>
            <a:r>
              <a:rPr lang="en-US" sz="1000" b="1" dirty="0">
                <a:solidFill>
                  <a:schemeClr val="bg1"/>
                </a:solidFill>
              </a:rPr>
              <a:t>D21</a:t>
            </a:r>
            <a:endParaRPr lang="en-US" sz="1000" dirty="0"/>
          </a:p>
        </p:txBody>
      </p:sp>
      <p:sp>
        <p:nvSpPr>
          <p:cNvPr id="75" name="Text 73"/>
          <p:cNvSpPr txBox="1"/>
          <p:nvPr/>
        </p:nvSpPr>
        <p:spPr>
          <a:xfrm>
            <a:off x="7010248" y="5326380"/>
            <a:ext cx="4632808" cy="329184"/>
          </a:xfrm>
          <a:prstGeom prst="rect">
            <a:avLst/>
          </a:prstGeom>
          <a:noFill/>
          <a:ln/>
        </p:spPr>
        <p:txBody>
          <a:bodyPr wrap="square" lIns="0" tIns="0" rIns="0" bIns="0" rtlCol="0" anchor="ctr"/>
          <a:lstStyle/>
          <a:p>
            <a:pPr indent="0" marL="0">
              <a:buNone/>
            </a:pPr>
            <a:r>
              <a:rPr lang="en-US" sz="1300" dirty="0">
                <a:solidFill>
                  <a:schemeClr val="tx1"/>
                </a:solidFill>
              </a:rPr>
              <a:t>Fable 5: four-part reframe</a:t>
            </a:r>
            <a:endParaRPr lang="en-US" sz="1300" dirty="0"/>
          </a:p>
        </p:txBody>
      </p:sp>
      <p:sp>
        <p:nvSpPr>
          <p:cNvPr id="76" name="Shape 74"/>
          <p:cNvSpPr/>
          <p:nvPr/>
        </p:nvSpPr>
        <p:spPr>
          <a:xfrm>
            <a:off x="6370168" y="5641848"/>
            <a:ext cx="777240" cy="256032"/>
          </a:xfrm>
          <a:prstGeom prst="roundRect">
            <a:avLst>
              <a:gd name="adj" fmla="val 53571"/>
            </a:avLst>
          </a:prstGeom>
          <a:solidFill>
            <a:schemeClr val="accent5"/>
          </a:solidFill>
          <a:ln w="12700">
            <a:solidFill>
              <a:schemeClr val="accent5"/>
            </a:solidFill>
            <a:prstDash val="solid"/>
          </a:ln>
        </p:spPr>
      </p:sp>
      <p:sp>
        <p:nvSpPr>
          <p:cNvPr id="77" name="Text 75"/>
          <p:cNvSpPr txBox="1"/>
          <p:nvPr/>
        </p:nvSpPr>
        <p:spPr>
          <a:xfrm>
            <a:off x="6370168" y="5641848"/>
            <a:ext cx="777240" cy="256032"/>
          </a:xfrm>
          <a:prstGeom prst="rect">
            <a:avLst/>
          </a:prstGeom>
          <a:noFill/>
          <a:ln/>
        </p:spPr>
        <p:txBody>
          <a:bodyPr wrap="square" lIns="0" tIns="0" rIns="0" bIns="0" rtlCol="0" anchor="ctr"/>
          <a:lstStyle/>
          <a:p>
            <a:pPr algn="ctr" indent="0" marL="0">
              <a:buNone/>
            </a:pPr>
            <a:r>
              <a:rPr lang="en-US" sz="1000" b="1" dirty="0">
                <a:solidFill>
                  <a:schemeClr val="bg1"/>
                </a:solidFill>
              </a:rPr>
              <a:t>D22–23</a:t>
            </a:r>
            <a:endParaRPr lang="en-US" sz="1000" dirty="0"/>
          </a:p>
        </p:txBody>
      </p:sp>
      <p:sp>
        <p:nvSpPr>
          <p:cNvPr id="78" name="Text 76"/>
          <p:cNvSpPr txBox="1"/>
          <p:nvPr/>
        </p:nvSpPr>
        <p:spPr>
          <a:xfrm>
            <a:off x="7284568" y="5623560"/>
            <a:ext cx="4358488" cy="329184"/>
          </a:xfrm>
          <a:prstGeom prst="rect">
            <a:avLst/>
          </a:prstGeom>
          <a:noFill/>
          <a:ln/>
        </p:spPr>
        <p:txBody>
          <a:bodyPr wrap="square" lIns="0" tIns="0" rIns="0" bIns="0" rtlCol="0" anchor="ctr"/>
          <a:lstStyle/>
          <a:p>
            <a:pPr indent="0" marL="0">
              <a:buNone/>
            </a:pPr>
            <a:r>
              <a:rPr lang="en-US" sz="1300" dirty="0">
                <a:solidFill>
                  <a:schemeClr val="tx1"/>
                </a:solidFill>
              </a:rPr>
              <a:t>(e) resolved; natural col is text (Gemini 0.97)</a:t>
            </a:r>
            <a:endParaRPr lang="en-US" sz="1300" dirty="0"/>
          </a:p>
        </p:txBody>
      </p:sp>
      <p:sp>
        <p:nvSpPr>
          <p:cNvPr id="79" name="Shape 77"/>
          <p:cNvSpPr/>
          <p:nvPr/>
        </p:nvSpPr>
        <p:spPr>
          <a:xfrm>
            <a:off x="6370168" y="5939028"/>
            <a:ext cx="777240" cy="256032"/>
          </a:xfrm>
          <a:prstGeom prst="roundRect">
            <a:avLst>
              <a:gd name="adj" fmla="val 53571"/>
            </a:avLst>
          </a:prstGeom>
          <a:solidFill>
            <a:schemeClr val="accent5"/>
          </a:solidFill>
          <a:ln w="12700">
            <a:solidFill>
              <a:schemeClr val="accent5"/>
            </a:solidFill>
            <a:prstDash val="solid"/>
          </a:ln>
        </p:spPr>
      </p:sp>
      <p:sp>
        <p:nvSpPr>
          <p:cNvPr id="80" name="Text 78"/>
          <p:cNvSpPr txBox="1"/>
          <p:nvPr/>
        </p:nvSpPr>
        <p:spPr>
          <a:xfrm>
            <a:off x="6370168" y="5939028"/>
            <a:ext cx="777240" cy="256032"/>
          </a:xfrm>
          <a:prstGeom prst="rect">
            <a:avLst/>
          </a:prstGeom>
          <a:noFill/>
          <a:ln/>
        </p:spPr>
        <p:txBody>
          <a:bodyPr wrap="square" lIns="0" tIns="0" rIns="0" bIns="0" rtlCol="0" anchor="ctr"/>
          <a:lstStyle/>
          <a:p>
            <a:pPr algn="ctr" indent="0" marL="0">
              <a:buNone/>
            </a:pPr>
            <a:r>
              <a:rPr lang="en-US" sz="1000" b="1" dirty="0">
                <a:solidFill>
                  <a:schemeClr val="bg1"/>
                </a:solidFill>
              </a:rPr>
              <a:t>D24–25</a:t>
            </a:r>
            <a:endParaRPr lang="en-US" sz="1000" dirty="0"/>
          </a:p>
        </p:txBody>
      </p:sp>
      <p:sp>
        <p:nvSpPr>
          <p:cNvPr id="81" name="Text 79"/>
          <p:cNvSpPr txBox="1"/>
          <p:nvPr/>
        </p:nvSpPr>
        <p:spPr>
          <a:xfrm>
            <a:off x="7284568" y="5920740"/>
            <a:ext cx="4358488" cy="329184"/>
          </a:xfrm>
          <a:prstGeom prst="rect">
            <a:avLst/>
          </a:prstGeom>
          <a:noFill/>
          <a:ln/>
        </p:spPr>
        <p:txBody>
          <a:bodyPr wrap="square" lIns="0" tIns="0" rIns="0" bIns="0" rtlCol="0" anchor="ctr"/>
          <a:lstStyle/>
          <a:p>
            <a:pPr indent="0" marL="0">
              <a:buNone/>
            </a:pPr>
            <a:r>
              <a:rPr lang="en-US" sz="1300" dirty="0">
                <a:solidFill>
                  <a:schemeClr val="tx1"/>
                </a:solidFill>
              </a:rPr>
              <a:t>'neither' retracted; 4 primaries, Holm</a:t>
            </a:r>
            <a:endParaRPr lang="en-US" sz="1300" dirty="0"/>
          </a:p>
        </p:txBody>
      </p:sp>
      <p:sp>
        <p:nvSpPr>
          <p:cNvPr id="82" name="Text 80"/>
          <p:cNvSpPr txBox="1"/>
          <p:nvPr/>
        </p:nvSpPr>
        <p:spPr>
          <a:xfrm>
            <a:off x="1737360" y="1673352"/>
            <a:ext cx="3657600" cy="256032"/>
          </a:xfrm>
          <a:prstGeom prst="rect">
            <a:avLst/>
          </a:prstGeom>
          <a:noFill/>
          <a:ln/>
        </p:spPr>
        <p:txBody>
          <a:bodyPr wrap="square" lIns="0" tIns="0" rIns="0" bIns="0" rtlCol="0" anchor="t"/>
          <a:lstStyle/>
          <a:p>
            <a:pPr indent="0" marL="0">
              <a:buNone/>
            </a:pPr>
            <a:r>
              <a:rPr lang="en-US" sz="1100" dirty="0">
                <a:solidFill>
                  <a:schemeClr val="accent5"/>
                </a:solidFill>
              </a:rPr>
              <a:t>violet = a Fable critique round</a:t>
            </a:r>
            <a:endParaRPr lang="en-US" sz="1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RE-ANALYSIS OF THE CONCURRENT PILOT (DESCRIPTIVE)</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Re-analysing the concurrent pilot's raw files: every headline reproduces; the NLA finds nothing OL misses</a:t>
            </a:r>
            <a:endParaRPr lang="en-US" sz="2800" dirty="0"/>
          </a:p>
        </p:txBody>
      </p:sp>
      <p:sp>
        <p:nvSpPr>
          <p:cNvPr id="7" name="Text 5"/>
          <p:cNvSpPr txBox="1"/>
          <p:nvPr/>
        </p:nvSpPr>
        <p:spPr>
          <a:xfrm>
            <a:off x="548640" y="1600200"/>
            <a:ext cx="3484778" cy="68580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3 vs 8</a:t>
            </a:r>
            <a:endParaRPr lang="en-US" sz="3800" dirty="0"/>
          </a:p>
        </p:txBody>
      </p:sp>
      <p:sp>
        <p:nvSpPr>
          <p:cNvPr id="8" name="Text 6"/>
          <p:cNvSpPr txBox="1"/>
          <p:nvPr/>
        </p:nvSpPr>
        <p:spPr>
          <a:xfrm>
            <a:off x="548640"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multihop items only the NLA vs only the Oracle Lens gets (of 100; McNemar p = 0.23; phi 0.69)</a:t>
            </a:r>
            <a:endParaRPr lang="en-US" sz="1300" dirty="0"/>
          </a:p>
        </p:txBody>
      </p:sp>
      <p:sp>
        <p:nvSpPr>
          <p:cNvPr id="9" name="Text 7"/>
          <p:cNvSpPr txBox="1"/>
          <p:nvPr/>
        </p:nvSpPr>
        <p:spPr>
          <a:xfrm>
            <a:off x="4353458" y="1600200"/>
            <a:ext cx="3484778" cy="68580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67/75 · 79/80</a:t>
            </a:r>
            <a:endParaRPr lang="en-US" sz="3800" dirty="0"/>
          </a:p>
        </p:txBody>
      </p:sp>
      <p:sp>
        <p:nvSpPr>
          <p:cNvPr id="10" name="Text 8"/>
          <p:cNvSpPr txBox="1"/>
          <p:nvPr/>
        </p:nvSpPr>
        <p:spPr>
          <a:xfrm>
            <a:off x="4353458"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hits where the bridge is named together with the answer (NLA · OL), e.g. 'iron (Fe)': looks like re-solving</a:t>
            </a:r>
            <a:endParaRPr lang="en-US" sz="1300" dirty="0"/>
          </a:p>
        </p:txBody>
      </p:sp>
      <p:sp>
        <p:nvSpPr>
          <p:cNvPr id="11" name="Text 9"/>
          <p:cNvSpPr txBox="1"/>
          <p:nvPr/>
        </p:nvSpPr>
        <p:spPr>
          <a:xfrm>
            <a:off x="8158277" y="1600200"/>
            <a:ext cx="3484778" cy="685800"/>
          </a:xfrm>
          <a:prstGeom prst="rect">
            <a:avLst/>
          </a:prstGeom>
          <a:noFill/>
          <a:ln/>
        </p:spPr>
        <p:txBody>
          <a:bodyPr wrap="square" lIns="0" tIns="0" rIns="0" bIns="0" rtlCol="0" anchor="b"/>
          <a:lstStyle/>
          <a:p>
            <a:pPr indent="0" marL="0">
              <a:buNone/>
            </a:pPr>
            <a:r>
              <a:rPr lang="en-US" sz="3800" b="1" dirty="0">
                <a:solidFill>
                  <a:schemeClr val="tx1"/>
                </a:solidFill>
                <a:latin typeface="Cambria" pitchFamily="34" charset="0"/>
                <a:ea typeface="Cambria" pitchFamily="34" charset="-122"/>
                <a:cs typeface="Cambria" pitchFamily="34" charset="-120"/>
              </a:rPr>
              <a:t>κ 0.55–0.70</a:t>
            </a:r>
            <a:endParaRPr lang="en-US" sz="3800" dirty="0"/>
          </a:p>
        </p:txBody>
      </p:sp>
      <p:sp>
        <p:nvSpPr>
          <p:cNvPr id="12" name="Text 10"/>
          <p:cNvSpPr txBox="1"/>
          <p:nvPr/>
        </p:nvSpPr>
        <p:spPr>
          <a:xfrm>
            <a:off x="8158277" y="2340864"/>
            <a:ext cx="3484778" cy="685800"/>
          </a:xfrm>
          <a:prstGeom prst="rect">
            <a:avLst/>
          </a:prstGeom>
          <a:noFill/>
          <a:ln/>
        </p:spPr>
        <p:txBody>
          <a:bodyPr wrap="square" lIns="0" tIns="0" rIns="0" bIns="0" rtlCol="0" anchor="t"/>
          <a:lstStyle/>
          <a:p>
            <a:pPr indent="0" marL="0">
              <a:buNone/>
            </a:pPr>
            <a:r>
              <a:rPr lang="en-US" sz="1300" dirty="0">
                <a:solidFill>
                  <a:schemeClr val="accent5"/>
                </a:solidFill>
              </a:rPr>
              <a:t>single-sample agreement on near-identity controls: 7–10 of 50 items flip by chance</a:t>
            </a:r>
            <a:endParaRPr lang="en-US" sz="1300" dirty="0"/>
          </a:p>
        </p:txBody>
      </p:sp>
      <p:sp>
        <p:nvSpPr>
          <p:cNvPr id="13" name="Shape 11"/>
          <p:cNvSpPr/>
          <p:nvPr/>
        </p:nvSpPr>
        <p:spPr>
          <a:xfrm>
            <a:off x="548640" y="3246120"/>
            <a:ext cx="3484778" cy="14630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713232"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Swap test was weak</a:t>
            </a:r>
            <a:endParaRPr lang="en-US" sz="1500" dirty="0"/>
          </a:p>
        </p:txBody>
      </p:sp>
      <p:sp>
        <p:nvSpPr>
          <p:cNvPr id="15" name="Text 13"/>
          <p:cNvSpPr txBox="1"/>
          <p:nvPr/>
        </p:nvSpPr>
        <p:spPr>
          <a:xfrm>
            <a:off x="713232"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34 of 50 items hit the 16× dose cap; readers follow the planted bridge on 4–6 of the 17 items where the J-Lens even shows it.</a:t>
            </a:r>
            <a:endParaRPr lang="en-US" sz="1300" dirty="0"/>
          </a:p>
        </p:txBody>
      </p:sp>
      <p:sp>
        <p:nvSpPr>
          <p:cNvPr id="16" name="Shape 14"/>
          <p:cNvSpPr/>
          <p:nvPr/>
        </p:nvSpPr>
        <p:spPr>
          <a:xfrm>
            <a:off x="4353458" y="3246120"/>
            <a:ext cx="3484778" cy="146304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4518050"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Deletion test</a:t>
            </a:r>
            <a:endParaRPr lang="en-US" sz="1500" dirty="0"/>
          </a:p>
        </p:txBody>
      </p:sp>
      <p:sp>
        <p:nvSpPr>
          <p:cNvPr id="18" name="Text 16"/>
          <p:cNvSpPr txBox="1"/>
          <p:nvPr/>
        </p:nvSpPr>
        <p:spPr>
          <a:xfrm>
            <a:off x="4518050"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removes only J-Lens readout directions and never checks behaviour, so it can't separate re-solving from non-J reading.</a:t>
            </a:r>
            <a:endParaRPr lang="en-US" sz="1300" dirty="0"/>
          </a:p>
        </p:txBody>
      </p:sp>
      <p:sp>
        <p:nvSpPr>
          <p:cNvPr id="19" name="Shape 17"/>
          <p:cNvSpPr/>
          <p:nvPr/>
        </p:nvSpPr>
        <p:spPr>
          <a:xfrm>
            <a:off x="8158277" y="3246120"/>
            <a:ext cx="3484778" cy="1463040"/>
          </a:xfrm>
          <a:prstGeom prst="roundRect">
            <a:avLst>
              <a:gd name="adj" fmla="val 5000"/>
            </a:avLst>
          </a:prstGeom>
          <a:solidFill>
            <a:schemeClr val="bg2"/>
          </a:solidFill>
          <a:ln w="12700">
            <a:solidFill>
              <a:schemeClr val="bg2"/>
            </a:solidFill>
            <a:prstDash val="solid"/>
          </a:ln>
        </p:spPr>
      </p:sp>
      <p:sp>
        <p:nvSpPr>
          <p:cNvPr id="20" name="Text 18"/>
          <p:cNvSpPr txBox="1"/>
          <p:nvPr/>
        </p:nvSpPr>
        <p:spPr>
          <a:xfrm>
            <a:off x="8322869" y="3410712"/>
            <a:ext cx="315559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Setup</a:t>
            </a:r>
            <a:endParaRPr lang="en-US" sz="1500" dirty="0"/>
          </a:p>
        </p:txBody>
      </p:sp>
      <p:sp>
        <p:nvSpPr>
          <p:cNvPr id="21" name="Text 19"/>
          <p:cNvSpPr txBox="1"/>
          <p:nvPr/>
        </p:nvSpPr>
        <p:spPr>
          <a:xfrm>
            <a:off x="8322869" y="3785616"/>
            <a:ext cx="3155594" cy="824789"/>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OL read at 42 (off-grid), NLA at off-layers 16/28/36/56; no text-only baseline; unvalidated judges.</a:t>
            </a:r>
            <a:endParaRPr lang="en-US" sz="1300" dirty="0"/>
          </a:p>
        </p:txBody>
      </p:sp>
      <p:sp>
        <p:nvSpPr>
          <p:cNvPr id="22" name="Shape 20"/>
          <p:cNvSpPr/>
          <p:nvPr/>
        </p:nvSpPr>
        <p:spPr>
          <a:xfrm>
            <a:off x="548640" y="4983480"/>
            <a:ext cx="11094415" cy="1143000"/>
          </a:xfrm>
          <a:prstGeom prst="roundRect">
            <a:avLst>
              <a:gd name="adj" fmla="val 6400"/>
            </a:avLst>
          </a:prstGeom>
          <a:solidFill>
            <a:schemeClr val="bg1"/>
          </a:solidFill>
          <a:ln w="15875">
            <a:solidFill>
              <a:schemeClr val="accent4"/>
            </a:solidFill>
            <a:prstDash val="solid"/>
          </a:ln>
        </p:spPr>
      </p:sp>
      <p:sp>
        <p:nvSpPr>
          <p:cNvPr id="23" name="Text 21"/>
          <p:cNvSpPr txBox="1"/>
          <p:nvPr/>
        </p:nvSpPr>
        <p:spPr>
          <a:xfrm>
            <a:off x="731520" y="5166360"/>
            <a:ext cx="10728655" cy="8503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Offered in the spirit of building on their work: their question and readers are the same as ours, and their conclusion (readers mostly re-solve) agrees with our Part D.</a:t>
            </a:r>
            <a:endParaRPr lang="en-US" sz="14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PRE-REGISTERED OUTCOME MAP</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Pre-registered: which outcome pattern would mean which answer to Neel</a:t>
            </a:r>
            <a:endParaRPr lang="en-US" sz="2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754880"/>
                <a:gridCol w="4206240"/>
                <a:gridCol w="2103120"/>
              </a:tblGrid>
              <a:tr h="402336">
                <a:tc>
                  <a:txBody>
                    <a:bodyPr/>
                    <a:lstStyle/>
                    <a:p>
                      <a:pPr indent="0" marL="0">
                        <a:buNone/>
                      </a:pPr>
                      <a:r>
                        <a:rPr lang="en-US" sz="1250" b="1" dirty="0">
                          <a:solidFill>
                            <a:srgbClr val="FFFFFF"/>
                          </a:solidFill>
                          <a:latin typeface="Arial" pitchFamily="34" charset="0"/>
                          <a:ea typeface="Arial" pitchFamily="34" charset="-122"/>
                          <a:cs typeface="Arial" pitchFamily="34" charset="-120"/>
                        </a:rPr>
                        <a:t>Outcome at valid doses</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Reading</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Answer</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NLA tracks non-J; OL does not; both track in-J at the same doses; text can't explain natural success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The NLA reads content outside the top-r J-space that OL misses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NLA and OL both track non-J similarly</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Any trained verbalizer can; 'workspace-bound' describes neither</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Not NLA-specific</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Readers track col only in the 'newline coming' family</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They read the J-type decision, not the non-J count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No for the count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Positive only at doses where the leak detector fires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Content rotated into the J-space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Not evidence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b="1" dirty="0">
                          <a:solidFill>
                            <a:srgbClr val="15222C"/>
                          </a:solidFill>
                          <a:latin typeface="Arial" pitchFamily="34" charset="0"/>
                          <a:ea typeface="Arial" pitchFamily="34" charset="-122"/>
                          <a:cs typeface="Arial" pitchFamily="34" charset="-120"/>
                        </a:rPr>
                        <a:t>col flat for all readers; in-J features tracked at the same dose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222C"/>
                          </a:solidFill>
                          <a:latin typeface="Arial" pitchFamily="34" charset="0"/>
                          <a:ea typeface="Arial" pitchFamily="34" charset="-122"/>
                          <a:cs typeface="Arial" pitchFamily="34" charset="-120"/>
                        </a:rPr>
                        <a:t>Readers read the workspace, not this non-J feature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222C"/>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No reader tracks in-J either</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The method can't see anything</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Uninformative → pivot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bl>
          </a:graphicData>
        </a:graphic>
      </p:graphicFrame>
      <p:sp>
        <p:nvSpPr>
          <p:cNvPr id="8" name="Text 5"/>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200" dirty="0">
                <a:solidFill>
                  <a:schemeClr val="accent5"/>
                </a:solidFill>
              </a:rPr>
              <a:t>From notes/prereg_v0.md §10 (revision 3). After D24 the pilot sits between the bold row (fixed templates) and the first rows (two candidate narrow channels); the main run decides.</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COSTS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Prep-phase compute so far: about $280–320, mostly GPU; the sprint adds ~$250–400</a:t>
            </a:r>
            <a:endParaRPr lang="en-US" sz="2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023360"/>
                <a:gridCol w="3657600"/>
                <a:gridCol w="1737360"/>
                <a:gridCol w="1645920"/>
              </a:tblGrid>
              <a:tr h="402336">
                <a:tc>
                  <a:txBody>
                    <a:bodyPr/>
                    <a:lstStyle/>
                    <a:p>
                      <a:pPr indent="0" marL="0">
                        <a:buNone/>
                      </a:pPr>
                      <a:r>
                        <a:rPr lang="en-US" sz="1250" b="1" dirty="0">
                          <a:solidFill>
                            <a:srgbClr val="FFFFFF"/>
                          </a:solidFill>
                          <a:latin typeface="Arial" pitchFamily="34" charset="0"/>
                          <a:ea typeface="Arial" pitchFamily="34" charset="-122"/>
                          <a:cs typeface="Arial" pitchFamily="34" charset="-120"/>
                        </a:rPr>
                        <a:t>Experiment</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GPU</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API</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 $ (list price)</a:t>
                      </a:r>
                      <a:endParaRPr lang="en-US" sz="12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01 WorkspaceBench replication</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~1.5 GPU-h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$2.80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03 Pipeline smoke + norm-preserving re-run</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21.6 GPU-min + ~1.6 GPU-h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$0.06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04 Backup features (9 features)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~20 H100-h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~80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05 Planted intermediates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~1.3 H100-h + 0.3 H200-h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~6.5*</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06 Re-solving decomposition + floor check</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~1.2 GPU-h + ~12 GPU-min</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$1.90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07 Template mining</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~4 H100-h + 1.5 H200-h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$0.61</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08 col pilot + K3 calibration</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~9.7 GPU-h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~42</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5222C"/>
                          </a:solidFill>
                          <a:latin typeface="Arial" pitchFamily="34" charset="0"/>
                          <a:ea typeface="Arial" pitchFamily="34" charset="-122"/>
                          <a:cs typeface="Arial" pitchFamily="34" charset="-120"/>
                        </a:rPr>
                        <a:t>Sum of the rows above</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 $5.4</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300" dirty="0">
                          <a:solidFill>
                            <a:srgbClr val="15222C"/>
                          </a:solidFill>
                          <a:latin typeface="Arial" pitchFamily="34" charset="0"/>
                          <a:ea typeface="Arial" pitchFamily="34" charset="-122"/>
                          <a:cs typeface="Arial" pitchFamily="34" charset="-120"/>
                        </a:rPr>
                        <a:t>≈ 180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402336">
                <a:tc>
                  <a:txBody>
                    <a:bodyPr/>
                    <a:lstStyle/>
                    <a:p>
                      <a:pPr indent="0" marL="0">
                        <a:buNone/>
                      </a:pPr>
                      <a:r>
                        <a:rPr lang="en-US" sz="1300" b="1" dirty="0">
                          <a:solidFill>
                            <a:srgbClr val="15222C"/>
                          </a:solidFill>
                          <a:latin typeface="Arial" pitchFamily="34" charset="0"/>
                          <a:ea typeface="Arial" pitchFamily="34" charset="-122"/>
                          <a:cs typeface="Arial" pitchFamily="34" charset="-120"/>
                        </a:rPr>
                        <a:t>Total so far, incl. unitemised runs (D26)</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222C"/>
                          </a:solidFill>
                          <a:latin typeface="Arial" pitchFamily="34" charset="0"/>
                          <a:ea typeface="Arial" pitchFamily="34" charset="-122"/>
                          <a:cs typeface="Arial" pitchFamily="34" charset="-120"/>
                        </a:rPr>
                        <a:t>~65–75 GPU-h</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222C"/>
                          </a:solidFill>
                          <a:latin typeface="Arial" pitchFamily="34" charset="0"/>
                          <a:ea typeface="Arial" pitchFamily="34" charset="-122"/>
                          <a:cs typeface="Arial" pitchFamily="34" charset="-120"/>
                        </a:rPr>
                        <a:t>~$12 judges</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222C"/>
                          </a:solidFill>
                          <a:latin typeface="Arial" pitchFamily="34" charset="0"/>
                          <a:ea typeface="Arial" pitchFamily="34" charset="-122"/>
                          <a:cs typeface="Arial" pitchFamily="34" charset="-120"/>
                        </a:rPr>
                        <a:t>≈ 280–320</a:t>
                      </a:r>
                      <a:endParaRPr lang="en-US" sz="13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200" dirty="0">
                <a:solidFill>
                  <a:schemeClr val="accent5"/>
                </a:solidFill>
              </a:rPr>
              <a:t>The gap between the rows and the total is runs not itemised in RESULTS (00 and 02 gates, round-5 pilot cells, experiment 09). * our estimate at list GPU prices. Sprint estimate: ~$250–400 on single A100s (prereg §8.3 counts ≈ 25 GPU-h for primaries, controls, negatives and T1).</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GLOSSARY</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Glossary</a:t>
            </a:r>
            <a:endParaRPr lang="en-US" sz="2800" dirty="0"/>
          </a:p>
        </p:txBody>
      </p:sp>
      <p:sp>
        <p:nvSpPr>
          <p:cNvPr id="7" name="Text 5"/>
          <p:cNvSpPr txBox="1"/>
          <p:nvPr/>
        </p:nvSpPr>
        <p:spPr>
          <a:xfrm>
            <a:off x="548640" y="1645920"/>
            <a:ext cx="1920240" cy="502920"/>
          </a:xfrm>
          <a:prstGeom prst="rect">
            <a:avLst/>
          </a:prstGeom>
          <a:noFill/>
          <a:ln/>
        </p:spPr>
        <p:txBody>
          <a:bodyPr wrap="square" lIns="0" tIns="0" rIns="0" bIns="0" rtlCol="0" anchor="t"/>
          <a:lstStyle/>
          <a:p>
            <a:pPr indent="0" marL="0">
              <a:buNone/>
            </a:pPr>
            <a:r>
              <a:rPr lang="en-US" sz="1300" b="1" dirty="0">
                <a:solidFill>
                  <a:schemeClr val="tx1"/>
                </a:solidFill>
              </a:rPr>
              <a:t>Residual stream</a:t>
            </a:r>
            <a:endParaRPr lang="en-US" sz="1300" dirty="0"/>
          </a:p>
        </p:txBody>
      </p:sp>
      <p:sp>
        <p:nvSpPr>
          <p:cNvPr id="8" name="Text 6"/>
          <p:cNvSpPr txBox="1"/>
          <p:nvPr/>
        </p:nvSpPr>
        <p:spPr>
          <a:xfrm>
            <a:off x="2514600" y="1645920"/>
            <a:ext cx="3352648" cy="530352"/>
          </a:xfrm>
          <a:prstGeom prst="rect">
            <a:avLst/>
          </a:prstGeom>
          <a:noFill/>
          <a:ln/>
        </p:spPr>
        <p:txBody>
          <a:bodyPr wrap="square" lIns="0" tIns="0" rIns="0" bIns="0" rtlCol="0" anchor="t"/>
          <a:lstStyle/>
          <a:p>
            <a:pPr indent="0" marL="0">
              <a:buNone/>
            </a:pPr>
            <a:r>
              <a:rPr lang="en-US" sz="1200" dirty="0">
                <a:solidFill>
                  <a:schemeClr val="tx1"/>
                </a:solidFill>
              </a:rPr>
              <a:t>The 5,120-dim vector each token carries between layers.</a:t>
            </a:r>
            <a:endParaRPr lang="en-US" sz="1200" dirty="0"/>
          </a:p>
        </p:txBody>
      </p:sp>
      <p:sp>
        <p:nvSpPr>
          <p:cNvPr id="9" name="Text 7"/>
          <p:cNvSpPr txBox="1"/>
          <p:nvPr/>
        </p:nvSpPr>
        <p:spPr>
          <a:xfrm>
            <a:off x="548640" y="2212848"/>
            <a:ext cx="1920240" cy="502920"/>
          </a:xfrm>
          <a:prstGeom prst="rect">
            <a:avLst/>
          </a:prstGeom>
          <a:noFill/>
          <a:ln/>
        </p:spPr>
        <p:txBody>
          <a:bodyPr wrap="square" lIns="0" tIns="0" rIns="0" bIns="0" rtlCol="0" anchor="t"/>
          <a:lstStyle/>
          <a:p>
            <a:pPr indent="0" marL="0">
              <a:buNone/>
            </a:pPr>
            <a:r>
              <a:rPr lang="en-US" sz="1300" b="1" dirty="0">
                <a:solidFill>
                  <a:schemeClr val="tx1"/>
                </a:solidFill>
              </a:rPr>
              <a:t>J-Lens</a:t>
            </a:r>
            <a:endParaRPr lang="en-US" sz="1300" dirty="0"/>
          </a:p>
        </p:txBody>
      </p:sp>
      <p:sp>
        <p:nvSpPr>
          <p:cNvPr id="10" name="Text 8"/>
          <p:cNvSpPr txBox="1"/>
          <p:nvPr/>
        </p:nvSpPr>
        <p:spPr>
          <a:xfrm>
            <a:off x="2514600" y="2212848"/>
            <a:ext cx="3352648" cy="530352"/>
          </a:xfrm>
          <a:prstGeom prst="rect">
            <a:avLst/>
          </a:prstGeom>
          <a:noFill/>
          <a:ln/>
        </p:spPr>
        <p:txBody>
          <a:bodyPr wrap="square" lIns="0" tIns="0" rIns="0" bIns="0" rtlCol="0" anchor="t"/>
          <a:lstStyle/>
          <a:p>
            <a:pPr indent="0" marL="0">
              <a:buNone/>
            </a:pPr>
            <a:r>
              <a:rPr lang="en-US" sz="1200" dirty="0">
                <a:solidFill>
                  <a:schemeClr val="tx1"/>
                </a:solidFill>
              </a:rPr>
              <a:t>Average Jacobian to the output × unembedding: the tokens a direction would make the model say.</a:t>
            </a:r>
            <a:endParaRPr lang="en-US" sz="1200" dirty="0"/>
          </a:p>
        </p:txBody>
      </p:sp>
      <p:sp>
        <p:nvSpPr>
          <p:cNvPr id="11" name="Text 9"/>
          <p:cNvSpPr txBox="1"/>
          <p:nvPr/>
        </p:nvSpPr>
        <p:spPr>
          <a:xfrm>
            <a:off x="548640" y="2779776"/>
            <a:ext cx="1920240" cy="502920"/>
          </a:xfrm>
          <a:prstGeom prst="rect">
            <a:avLst/>
          </a:prstGeom>
          <a:noFill/>
          <a:ln/>
        </p:spPr>
        <p:txBody>
          <a:bodyPr wrap="square" lIns="0" tIns="0" rIns="0" bIns="0" rtlCol="0" anchor="t"/>
          <a:lstStyle/>
          <a:p>
            <a:pPr indent="0" marL="0">
              <a:buNone/>
            </a:pPr>
            <a:r>
              <a:rPr lang="en-US" sz="1300" b="1" dirty="0">
                <a:solidFill>
                  <a:schemeClr val="tx1"/>
                </a:solidFill>
              </a:rPr>
              <a:t>J-space, r*, 4r*</a:t>
            </a:r>
            <a:endParaRPr lang="en-US" sz="1300" dirty="0"/>
          </a:p>
        </p:txBody>
      </p:sp>
      <p:sp>
        <p:nvSpPr>
          <p:cNvPr id="12" name="Text 10"/>
          <p:cNvSpPr txBox="1"/>
          <p:nvPr/>
        </p:nvSpPr>
        <p:spPr>
          <a:xfrm>
            <a:off x="2514600" y="2779776"/>
            <a:ext cx="3352648" cy="530352"/>
          </a:xfrm>
          <a:prstGeom prst="rect">
            <a:avLst/>
          </a:prstGeom>
          <a:noFill/>
          <a:ln/>
        </p:spPr>
        <p:txBody>
          <a:bodyPr wrap="square" lIns="0" tIns="0" rIns="0" bIns="0" rtlCol="0" anchor="t"/>
          <a:lstStyle/>
          <a:p>
            <a:pPr indent="0" marL="0">
              <a:buNone/>
            </a:pPr>
            <a:r>
              <a:rPr lang="en-US" sz="1200" dirty="0">
                <a:solidFill>
                  <a:schemeClr val="tx1"/>
                </a:solidFill>
              </a:rPr>
              <a:t>Top-r singular directions of W_U·diag(1+w)·J₄₂; r* = 384, 4r* = 1,536.</a:t>
            </a:r>
            <a:endParaRPr lang="en-US" sz="1200" dirty="0"/>
          </a:p>
        </p:txBody>
      </p:sp>
      <p:sp>
        <p:nvSpPr>
          <p:cNvPr id="13" name="Text 11"/>
          <p:cNvSpPr txBox="1"/>
          <p:nvPr/>
        </p:nvSpPr>
        <p:spPr>
          <a:xfrm>
            <a:off x="548640" y="3346704"/>
            <a:ext cx="1920240" cy="502920"/>
          </a:xfrm>
          <a:prstGeom prst="rect">
            <a:avLst/>
          </a:prstGeom>
          <a:noFill/>
          <a:ln/>
        </p:spPr>
        <p:txBody>
          <a:bodyPr wrap="square" lIns="0" tIns="0" rIns="0" bIns="0" rtlCol="0" anchor="t"/>
          <a:lstStyle/>
          <a:p>
            <a:pPr indent="0" marL="0">
              <a:buNone/>
            </a:pPr>
            <a:r>
              <a:rPr lang="en-US" sz="1300" b="1" dirty="0">
                <a:solidFill>
                  <a:schemeClr val="tx1"/>
                </a:solidFill>
              </a:rPr>
              <a:t>Enrichment</a:t>
            </a:r>
            <a:endParaRPr lang="en-US" sz="1300" dirty="0"/>
          </a:p>
        </p:txBody>
      </p:sp>
      <p:sp>
        <p:nvSpPr>
          <p:cNvPr id="14" name="Text 12"/>
          <p:cNvSpPr txBox="1"/>
          <p:nvPr/>
        </p:nvSpPr>
        <p:spPr>
          <a:xfrm>
            <a:off x="2514600" y="3346704"/>
            <a:ext cx="3352648" cy="530352"/>
          </a:xfrm>
          <a:prstGeom prst="rect">
            <a:avLst/>
          </a:prstGeom>
          <a:noFill/>
          <a:ln/>
        </p:spPr>
        <p:txBody>
          <a:bodyPr wrap="square" lIns="0" tIns="0" rIns="0" bIns="0" rtlCol="0" anchor="t"/>
          <a:lstStyle/>
          <a:p>
            <a:pPr indent="0" marL="0">
              <a:buNone/>
            </a:pPr>
            <a:r>
              <a:rPr lang="en-US" sz="1200" dirty="0">
                <a:solidFill>
                  <a:schemeClr val="tx1"/>
                </a:solidFill>
              </a:rPr>
              <a:t>Share of a direction's energy in the top-r J-space ÷ the random expectation r/d.</a:t>
            </a:r>
            <a:endParaRPr lang="en-US" sz="1200" dirty="0"/>
          </a:p>
        </p:txBody>
      </p:sp>
      <p:sp>
        <p:nvSpPr>
          <p:cNvPr id="15" name="Text 13"/>
          <p:cNvSpPr txBox="1"/>
          <p:nvPr/>
        </p:nvSpPr>
        <p:spPr>
          <a:xfrm>
            <a:off x="548640" y="3913632"/>
            <a:ext cx="1920240" cy="502920"/>
          </a:xfrm>
          <a:prstGeom prst="rect">
            <a:avLst/>
          </a:prstGeom>
          <a:noFill/>
          <a:ln/>
        </p:spPr>
        <p:txBody>
          <a:bodyPr wrap="square" lIns="0" tIns="0" rIns="0" bIns="0" rtlCol="0" anchor="t"/>
          <a:lstStyle/>
          <a:p>
            <a:pPr indent="0" marL="0">
              <a:buNone/>
            </a:pPr>
            <a:r>
              <a:rPr lang="en-US" sz="1300" b="1" dirty="0">
                <a:solidFill>
                  <a:schemeClr val="tx1"/>
                </a:solidFill>
              </a:rPr>
              <a:t>NLA (AV / AR)</a:t>
            </a:r>
            <a:endParaRPr lang="en-US" sz="1300" dirty="0"/>
          </a:p>
        </p:txBody>
      </p:sp>
      <p:sp>
        <p:nvSpPr>
          <p:cNvPr id="16" name="Text 14"/>
          <p:cNvSpPr txBox="1"/>
          <p:nvPr/>
        </p:nvSpPr>
        <p:spPr>
          <a:xfrm>
            <a:off x="2514600" y="3913632"/>
            <a:ext cx="3352648" cy="530352"/>
          </a:xfrm>
          <a:prstGeom prst="rect">
            <a:avLst/>
          </a:prstGeom>
          <a:noFill/>
          <a:ln/>
        </p:spPr>
        <p:txBody>
          <a:bodyPr wrap="square" lIns="0" tIns="0" rIns="0" bIns="0" rtlCol="0" anchor="t"/>
          <a:lstStyle/>
          <a:p>
            <a:pPr indent="0" marL="0">
              <a:buNone/>
            </a:pPr>
            <a:r>
              <a:rPr lang="en-US" sz="1200" dirty="0">
                <a:solidFill>
                  <a:schemeClr val="tx1"/>
                </a:solidFill>
              </a:rPr>
              <a:t>Natural Language Autoencoder: verbalizer writes, reconstructor rebuilds the vector.</a:t>
            </a:r>
            <a:endParaRPr lang="en-US" sz="1200" dirty="0"/>
          </a:p>
        </p:txBody>
      </p:sp>
      <p:sp>
        <p:nvSpPr>
          <p:cNvPr id="17" name="Text 15"/>
          <p:cNvSpPr txBox="1"/>
          <p:nvPr/>
        </p:nvSpPr>
        <p:spPr>
          <a:xfrm>
            <a:off x="548640" y="4480560"/>
            <a:ext cx="1920240" cy="502920"/>
          </a:xfrm>
          <a:prstGeom prst="rect">
            <a:avLst/>
          </a:prstGeom>
          <a:noFill/>
          <a:ln/>
        </p:spPr>
        <p:txBody>
          <a:bodyPr wrap="square" lIns="0" tIns="0" rIns="0" bIns="0" rtlCol="0" anchor="t"/>
          <a:lstStyle/>
          <a:p>
            <a:pPr indent="0" marL="0">
              <a:buNone/>
            </a:pPr>
            <a:r>
              <a:rPr lang="en-US" sz="1300" b="1" dirty="0">
                <a:solidFill>
                  <a:schemeClr val="tx1"/>
                </a:solidFill>
              </a:rPr>
              <a:t>FVE</a:t>
            </a:r>
            <a:endParaRPr lang="en-US" sz="1300" dirty="0"/>
          </a:p>
        </p:txBody>
      </p:sp>
      <p:sp>
        <p:nvSpPr>
          <p:cNvPr id="18" name="Text 16"/>
          <p:cNvSpPr txBox="1"/>
          <p:nvPr/>
        </p:nvSpPr>
        <p:spPr>
          <a:xfrm>
            <a:off x="2514600" y="4480560"/>
            <a:ext cx="3352648" cy="530352"/>
          </a:xfrm>
          <a:prstGeom prst="rect">
            <a:avLst/>
          </a:prstGeom>
          <a:noFill/>
          <a:ln/>
        </p:spPr>
        <p:txBody>
          <a:bodyPr wrap="square" lIns="0" tIns="0" rIns="0" bIns="0" rtlCol="0" anchor="t"/>
          <a:lstStyle/>
          <a:p>
            <a:pPr indent="0" marL="0">
              <a:buNone/>
            </a:pPr>
            <a:r>
              <a:rPr lang="en-US" sz="1200" dirty="0">
                <a:solidFill>
                  <a:schemeClr val="tx1"/>
                </a:solidFill>
              </a:rPr>
              <a:t>Fraction of variance explained by the reconstruction (NLA quality).</a:t>
            </a:r>
            <a:endParaRPr lang="en-US" sz="1200" dirty="0"/>
          </a:p>
        </p:txBody>
      </p:sp>
      <p:sp>
        <p:nvSpPr>
          <p:cNvPr id="19" name="Text 17"/>
          <p:cNvSpPr txBox="1"/>
          <p:nvPr/>
        </p:nvSpPr>
        <p:spPr>
          <a:xfrm>
            <a:off x="548640" y="5047488"/>
            <a:ext cx="1920240" cy="502920"/>
          </a:xfrm>
          <a:prstGeom prst="rect">
            <a:avLst/>
          </a:prstGeom>
          <a:noFill/>
          <a:ln/>
        </p:spPr>
        <p:txBody>
          <a:bodyPr wrap="square" lIns="0" tIns="0" rIns="0" bIns="0" rtlCol="0" anchor="t"/>
          <a:lstStyle/>
          <a:p>
            <a:pPr indent="0" marL="0">
              <a:buNone/>
            </a:pPr>
            <a:r>
              <a:rPr lang="en-US" sz="1300" b="1" dirty="0">
                <a:solidFill>
                  <a:schemeClr val="tx1"/>
                </a:solidFill>
              </a:rPr>
              <a:t>Oracle Lens (OL)</a:t>
            </a:r>
            <a:endParaRPr lang="en-US" sz="1300" dirty="0"/>
          </a:p>
        </p:txBody>
      </p:sp>
      <p:sp>
        <p:nvSpPr>
          <p:cNvPr id="20" name="Text 18"/>
          <p:cNvSpPr txBox="1"/>
          <p:nvPr/>
        </p:nvSpPr>
        <p:spPr>
          <a:xfrm>
            <a:off x="2514600" y="5047488"/>
            <a:ext cx="3352648" cy="530352"/>
          </a:xfrm>
          <a:prstGeom prst="rect">
            <a:avLst/>
          </a:prstGeom>
          <a:noFill/>
          <a:ln/>
        </p:spPr>
        <p:txBody>
          <a:bodyPr wrap="square" lIns="0" tIns="0" rIns="0" bIns="0" rtlCol="0" anchor="t"/>
          <a:lstStyle/>
          <a:p>
            <a:pPr indent="0" marL="0">
              <a:buNone/>
            </a:pPr>
            <a:r>
              <a:rPr lang="en-US" sz="1200" dirty="0">
                <a:solidFill>
                  <a:schemeClr val="tx1"/>
                </a:solidFill>
              </a:rPr>
              <a:t>LoRA verbalizer reading an injected activation; outputs concept bullets.</a:t>
            </a:r>
            <a:endParaRPr lang="en-US" sz="1200" dirty="0"/>
          </a:p>
        </p:txBody>
      </p:sp>
      <p:sp>
        <p:nvSpPr>
          <p:cNvPr id="21" name="Text 19"/>
          <p:cNvSpPr txBox="1"/>
          <p:nvPr/>
        </p:nvSpPr>
        <p:spPr>
          <a:xfrm>
            <a:off x="548640" y="5614416"/>
            <a:ext cx="1920240" cy="502920"/>
          </a:xfrm>
          <a:prstGeom prst="rect">
            <a:avLst/>
          </a:prstGeom>
          <a:noFill/>
          <a:ln/>
        </p:spPr>
        <p:txBody>
          <a:bodyPr wrap="square" lIns="0" tIns="0" rIns="0" bIns="0" rtlCol="0" anchor="t"/>
          <a:lstStyle/>
          <a:p>
            <a:pPr indent="0" marL="0">
              <a:buNone/>
            </a:pPr>
            <a:r>
              <a:rPr lang="en-US" sz="1300" b="1" dirty="0">
                <a:solidFill>
                  <a:schemeClr val="tx1"/>
                </a:solidFill>
              </a:rPr>
              <a:t>WorkspaceBench</a:t>
            </a:r>
            <a:endParaRPr lang="en-US" sz="1300" dirty="0"/>
          </a:p>
        </p:txBody>
      </p:sp>
      <p:sp>
        <p:nvSpPr>
          <p:cNvPr id="22" name="Text 20"/>
          <p:cNvSpPr txBox="1"/>
          <p:nvPr/>
        </p:nvSpPr>
        <p:spPr>
          <a:xfrm>
            <a:off x="2514600" y="5614416"/>
            <a:ext cx="3352648" cy="530352"/>
          </a:xfrm>
          <a:prstGeom prst="rect">
            <a:avLst/>
          </a:prstGeom>
          <a:noFill/>
          <a:ln/>
        </p:spPr>
        <p:txBody>
          <a:bodyPr wrap="square" lIns="0" tIns="0" rIns="0" bIns="0" rtlCol="0" anchor="t"/>
          <a:lstStyle/>
          <a:p>
            <a:pPr indent="0" marL="0">
              <a:buNone/>
            </a:pPr>
            <a:r>
              <a:rPr lang="en-US" sz="1200" dirty="0">
                <a:solidFill>
                  <a:schemeClr val="tx1"/>
                </a:solidFill>
              </a:rPr>
              <a:t>Benchmark of hidden-intermediate readout on Qwen3.6-27B (Blank et al., 2026).</a:t>
            </a:r>
            <a:endParaRPr lang="en-US" sz="1200" dirty="0"/>
          </a:p>
        </p:txBody>
      </p:sp>
      <p:sp>
        <p:nvSpPr>
          <p:cNvPr id="23" name="Text 21"/>
          <p:cNvSpPr txBox="1"/>
          <p:nvPr/>
        </p:nvSpPr>
        <p:spPr>
          <a:xfrm>
            <a:off x="6324448" y="1645920"/>
            <a:ext cx="1920240" cy="502920"/>
          </a:xfrm>
          <a:prstGeom prst="rect">
            <a:avLst/>
          </a:prstGeom>
          <a:noFill/>
          <a:ln/>
        </p:spPr>
        <p:txBody>
          <a:bodyPr wrap="square" lIns="0" tIns="0" rIns="0" bIns="0" rtlCol="0" anchor="t"/>
          <a:lstStyle/>
          <a:p>
            <a:pPr indent="0" marL="0">
              <a:buNone/>
            </a:pPr>
            <a:r>
              <a:rPr lang="en-US" sz="1300" b="1" dirty="0">
                <a:solidFill>
                  <a:schemeClr val="tx1"/>
                </a:solidFill>
              </a:rPr>
              <a:t>col</a:t>
            </a:r>
            <a:endParaRPr lang="en-US" sz="1300" dirty="0"/>
          </a:p>
        </p:txBody>
      </p:sp>
      <p:sp>
        <p:nvSpPr>
          <p:cNvPr id="24" name="Text 22"/>
          <p:cNvSpPr txBox="1"/>
          <p:nvPr/>
        </p:nvSpPr>
        <p:spPr>
          <a:xfrm>
            <a:off x="8290408" y="1645920"/>
            <a:ext cx="3352648" cy="530352"/>
          </a:xfrm>
          <a:prstGeom prst="rect">
            <a:avLst/>
          </a:prstGeom>
          <a:noFill/>
          <a:ln/>
        </p:spPr>
        <p:txBody>
          <a:bodyPr wrap="square" lIns="0" tIns="0" rIns="0" bIns="0" rtlCol="0" anchor="t"/>
          <a:lstStyle/>
          <a:p>
            <a:pPr indent="0" marL="0">
              <a:buNone/>
            </a:pPr>
            <a:r>
              <a:rPr lang="en-US" sz="1200" dirty="0">
                <a:solidFill>
                  <a:schemeClr val="tx1"/>
                </a:solidFill>
              </a:rPr>
              <a:t>Characters since the last newline in hard-wrapped text.</a:t>
            </a:r>
            <a:endParaRPr lang="en-US" sz="1200" dirty="0"/>
          </a:p>
        </p:txBody>
      </p:sp>
      <p:sp>
        <p:nvSpPr>
          <p:cNvPr id="25" name="Text 23"/>
          <p:cNvSpPr txBox="1"/>
          <p:nvPr/>
        </p:nvSpPr>
        <p:spPr>
          <a:xfrm>
            <a:off x="6324448" y="2212848"/>
            <a:ext cx="1920240" cy="502920"/>
          </a:xfrm>
          <a:prstGeom prst="rect">
            <a:avLst/>
          </a:prstGeom>
          <a:noFill/>
          <a:ln/>
        </p:spPr>
        <p:txBody>
          <a:bodyPr wrap="square" lIns="0" tIns="0" rIns="0" bIns="0" rtlCol="0" anchor="t"/>
          <a:lstStyle/>
          <a:p>
            <a:pPr indent="0" marL="0">
              <a:buNone/>
            </a:pPr>
            <a:r>
              <a:rPr lang="en-US" sz="1300" b="1" dirty="0">
                <a:solidFill>
                  <a:schemeClr val="tx1"/>
                </a:solidFill>
              </a:rPr>
              <a:t>Centred steering</a:t>
            </a:r>
            <a:endParaRPr lang="en-US" sz="1300" dirty="0"/>
          </a:p>
        </p:txBody>
      </p:sp>
      <p:sp>
        <p:nvSpPr>
          <p:cNvPr id="26" name="Text 24"/>
          <p:cNvSpPr txBox="1"/>
          <p:nvPr/>
        </p:nvSpPr>
        <p:spPr>
          <a:xfrm>
            <a:off x="8290408" y="2212848"/>
            <a:ext cx="3352648" cy="530352"/>
          </a:xfrm>
          <a:prstGeom prst="rect">
            <a:avLst/>
          </a:prstGeom>
          <a:noFill/>
          <a:ln/>
        </p:spPr>
        <p:txBody>
          <a:bodyPr wrap="square" lIns="0" tIns="0" rIns="0" bIns="0" rtlCol="0" anchor="t"/>
          <a:lstStyle/>
          <a:p>
            <a:pPr indent="0" marL="0">
              <a:buNone/>
            </a:pPr>
            <a:r>
              <a:rPr lang="en-US" sz="1200" dirty="0">
                <a:solidFill>
                  <a:schemeClr val="tx1"/>
                </a:solidFill>
              </a:rPr>
              <a:t>h − (v·h)v ± Δv: equal norm on both sides, no dilution artefact.</a:t>
            </a:r>
            <a:endParaRPr lang="en-US" sz="1200" dirty="0"/>
          </a:p>
        </p:txBody>
      </p:sp>
      <p:sp>
        <p:nvSpPr>
          <p:cNvPr id="27" name="Text 25"/>
          <p:cNvSpPr txBox="1"/>
          <p:nvPr/>
        </p:nvSpPr>
        <p:spPr>
          <a:xfrm>
            <a:off x="6324448" y="2779776"/>
            <a:ext cx="1920240" cy="502920"/>
          </a:xfrm>
          <a:prstGeom prst="rect">
            <a:avLst/>
          </a:prstGeom>
          <a:noFill/>
          <a:ln/>
        </p:spPr>
        <p:txBody>
          <a:bodyPr wrap="square" lIns="0" tIns="0" rIns="0" bIns="0" rtlCol="0" anchor="t"/>
          <a:lstStyle/>
          <a:p>
            <a:pPr indent="0" marL="0">
              <a:buNone/>
            </a:pPr>
            <a:r>
              <a:rPr lang="en-US" sz="1300" b="1" dirty="0">
                <a:solidFill>
                  <a:schemeClr val="tx1"/>
                </a:solidFill>
              </a:rPr>
              <a:t>Null band</a:t>
            </a:r>
            <a:endParaRPr lang="en-US" sz="1300" dirty="0"/>
          </a:p>
        </p:txBody>
      </p:sp>
      <p:sp>
        <p:nvSpPr>
          <p:cNvPr id="28" name="Text 26"/>
          <p:cNvSpPr txBox="1"/>
          <p:nvPr/>
        </p:nvSpPr>
        <p:spPr>
          <a:xfrm>
            <a:off x="8290408" y="2779776"/>
            <a:ext cx="3352648" cy="530352"/>
          </a:xfrm>
          <a:prstGeom prst="rect">
            <a:avLst/>
          </a:prstGeom>
          <a:noFill/>
          <a:ln/>
        </p:spPr>
        <p:txBody>
          <a:bodyPr wrap="square" lIns="0" tIns="0" rIns="0" bIns="0" rtlCol="0" anchor="t"/>
          <a:lstStyle/>
          <a:p>
            <a:pPr indent="0" marL="0">
              <a:buNone/>
            </a:pPr>
            <a:r>
              <a:rPr lang="en-US" sz="1200" dirty="0">
                <a:solidFill>
                  <a:schemeClr val="tx1"/>
                </a:solidFill>
              </a:rPr>
              <a:t>Spread of the same statistic over K = 20 random same-norm directions; report z.</a:t>
            </a:r>
            <a:endParaRPr lang="en-US" sz="1200" dirty="0"/>
          </a:p>
        </p:txBody>
      </p:sp>
      <p:sp>
        <p:nvSpPr>
          <p:cNvPr id="29" name="Text 27"/>
          <p:cNvSpPr txBox="1"/>
          <p:nvPr/>
        </p:nvSpPr>
        <p:spPr>
          <a:xfrm>
            <a:off x="6324448" y="3346704"/>
            <a:ext cx="1920240" cy="502920"/>
          </a:xfrm>
          <a:prstGeom prst="rect">
            <a:avLst/>
          </a:prstGeom>
          <a:noFill/>
          <a:ln/>
        </p:spPr>
        <p:txBody>
          <a:bodyPr wrap="square" lIns="0" tIns="0" rIns="0" bIns="0" rtlCol="0" anchor="t"/>
          <a:lstStyle/>
          <a:p>
            <a:pPr indent="0" marL="0">
              <a:buNone/>
            </a:pPr>
            <a:r>
              <a:rPr lang="en-US" sz="1300" b="1" dirty="0">
                <a:solidFill>
                  <a:schemeClr val="tx1"/>
                </a:solidFill>
              </a:rPr>
              <a:t>Leak detector</a:t>
            </a:r>
            <a:endParaRPr lang="en-US" sz="1300" dirty="0"/>
          </a:p>
        </p:txBody>
      </p:sp>
      <p:sp>
        <p:nvSpPr>
          <p:cNvPr id="30" name="Text 28"/>
          <p:cNvSpPr txBox="1"/>
          <p:nvPr/>
        </p:nvSpPr>
        <p:spPr>
          <a:xfrm>
            <a:off x="8290408" y="3346704"/>
            <a:ext cx="3352648" cy="530352"/>
          </a:xfrm>
          <a:prstGeom prst="rect">
            <a:avLst/>
          </a:prstGeom>
          <a:noFill/>
          <a:ln/>
        </p:spPr>
        <p:txBody>
          <a:bodyPr wrap="square" lIns="0" tIns="0" rIns="0" bIns="0" rtlCol="0" anchor="t"/>
          <a:lstStyle/>
          <a:p>
            <a:pPr indent="0" marL="0">
              <a:buNone/>
            </a:pPr>
            <a:r>
              <a:rPr lang="en-US" sz="1200" dirty="0">
                <a:solidFill>
                  <a:schemeClr val="tx1"/>
                </a:solidFill>
              </a:rPr>
              <a:t>J-Lens must not move under non-J steering (two-sided, J-complement band).</a:t>
            </a:r>
            <a:endParaRPr lang="en-US" sz="1200" dirty="0"/>
          </a:p>
        </p:txBody>
      </p:sp>
      <p:sp>
        <p:nvSpPr>
          <p:cNvPr id="31" name="Text 29"/>
          <p:cNvSpPr txBox="1"/>
          <p:nvPr/>
        </p:nvSpPr>
        <p:spPr>
          <a:xfrm>
            <a:off x="6324448" y="3913632"/>
            <a:ext cx="1920240" cy="502920"/>
          </a:xfrm>
          <a:prstGeom prst="rect">
            <a:avLst/>
          </a:prstGeom>
          <a:noFill/>
          <a:ln/>
        </p:spPr>
        <p:txBody>
          <a:bodyPr wrap="square" lIns="0" tIns="0" rIns="0" bIns="0" rtlCol="0" anchor="t"/>
          <a:lstStyle/>
          <a:p>
            <a:pPr indent="0" marL="0">
              <a:buNone/>
            </a:pPr>
            <a:r>
              <a:rPr lang="en-US" sz="1300" b="1" dirty="0">
                <a:solidFill>
                  <a:schemeClr val="tx1"/>
                </a:solidFill>
              </a:rPr>
              <a:t>FollowFeature</a:t>
            </a:r>
            <a:endParaRPr lang="en-US" sz="1300" dirty="0"/>
          </a:p>
        </p:txBody>
      </p:sp>
      <p:sp>
        <p:nvSpPr>
          <p:cNvPr id="32" name="Text 30"/>
          <p:cNvSpPr txBox="1"/>
          <p:nvPr/>
        </p:nvSpPr>
        <p:spPr>
          <a:xfrm>
            <a:off x="8290408" y="3913632"/>
            <a:ext cx="3352648" cy="530352"/>
          </a:xfrm>
          <a:prstGeom prst="rect">
            <a:avLst/>
          </a:prstGeom>
          <a:noFill/>
          <a:ln/>
        </p:spPr>
        <p:txBody>
          <a:bodyPr wrap="square" lIns="0" tIns="0" rIns="0" bIns="0" rtlCol="0" anchor="t"/>
          <a:lstStyle/>
          <a:p>
            <a:pPr indent="0" marL="0">
              <a:buNone/>
            </a:pPr>
            <a:r>
              <a:rPr lang="en-US" sz="1200" dirty="0">
                <a:solidFill>
                  <a:schemeClr val="tx1"/>
                </a:solidFill>
              </a:rPr>
              <a:t>Does a reader's paired log-odds follow a feature moved with text fixed?</a:t>
            </a:r>
            <a:endParaRPr lang="en-US" sz="1200" dirty="0"/>
          </a:p>
        </p:txBody>
      </p:sp>
      <p:sp>
        <p:nvSpPr>
          <p:cNvPr id="33" name="Text 31"/>
          <p:cNvSpPr txBox="1"/>
          <p:nvPr/>
        </p:nvSpPr>
        <p:spPr>
          <a:xfrm>
            <a:off x="6324448" y="4480560"/>
            <a:ext cx="1920240" cy="502920"/>
          </a:xfrm>
          <a:prstGeom prst="rect">
            <a:avLst/>
          </a:prstGeom>
          <a:noFill/>
          <a:ln/>
        </p:spPr>
        <p:txBody>
          <a:bodyPr wrap="square" lIns="0" tIns="0" rIns="0" bIns="0" rtlCol="0" anchor="t"/>
          <a:lstStyle/>
          <a:p>
            <a:pPr indent="0" marL="0">
              <a:buNone/>
            </a:pPr>
            <a:r>
              <a:rPr lang="en-US" sz="1300" b="1" dirty="0">
                <a:solidFill>
                  <a:schemeClr val="tx1"/>
                </a:solidFill>
              </a:rPr>
              <a:t>TVP</a:t>
            </a:r>
            <a:endParaRPr lang="en-US" sz="1300" dirty="0"/>
          </a:p>
        </p:txBody>
      </p:sp>
      <p:sp>
        <p:nvSpPr>
          <p:cNvPr id="34" name="Text 32"/>
          <p:cNvSpPr txBox="1"/>
          <p:nvPr/>
        </p:nvSpPr>
        <p:spPr>
          <a:xfrm>
            <a:off x="8290408" y="4480560"/>
            <a:ext cx="3352648" cy="530352"/>
          </a:xfrm>
          <a:prstGeom prst="rect">
            <a:avLst/>
          </a:prstGeom>
          <a:noFill/>
          <a:ln/>
        </p:spPr>
        <p:txBody>
          <a:bodyPr wrap="square" lIns="0" tIns="0" rIns="0" bIns="0" rtlCol="0" anchor="t"/>
          <a:lstStyle/>
          <a:p>
            <a:pPr indent="0" marL="0">
              <a:buNone/>
            </a:pPr>
            <a:r>
              <a:rPr lang="en-US" sz="1200" dirty="0">
                <a:solidFill>
                  <a:schemeClr val="tx1"/>
                </a:solidFill>
              </a:rPr>
              <a:t>Text-verifiable precision: true ÷ (true + contradicted) checkable claims.</a:t>
            </a:r>
            <a:endParaRPr lang="en-US" sz="1200" dirty="0"/>
          </a:p>
        </p:txBody>
      </p:sp>
      <p:sp>
        <p:nvSpPr>
          <p:cNvPr id="35" name="Text 33"/>
          <p:cNvSpPr txBox="1"/>
          <p:nvPr/>
        </p:nvSpPr>
        <p:spPr>
          <a:xfrm>
            <a:off x="6324448" y="5047488"/>
            <a:ext cx="1920240" cy="502920"/>
          </a:xfrm>
          <a:prstGeom prst="rect">
            <a:avLst/>
          </a:prstGeom>
          <a:noFill/>
          <a:ln/>
        </p:spPr>
        <p:txBody>
          <a:bodyPr wrap="square" lIns="0" tIns="0" rIns="0" bIns="0" rtlCol="0" anchor="t"/>
          <a:lstStyle/>
          <a:p>
            <a:pPr indent="0" marL="0">
              <a:buNone/>
            </a:pPr>
            <a:r>
              <a:rPr lang="en-US" sz="1300" b="1" dirty="0">
                <a:solidFill>
                  <a:schemeClr val="tx1"/>
                </a:solidFill>
              </a:rPr>
              <a:t>q90 / q99</a:t>
            </a:r>
            <a:endParaRPr lang="en-US" sz="1300" dirty="0"/>
          </a:p>
        </p:txBody>
      </p:sp>
      <p:sp>
        <p:nvSpPr>
          <p:cNvPr id="36" name="Text 34"/>
          <p:cNvSpPr txBox="1"/>
          <p:nvPr/>
        </p:nvSpPr>
        <p:spPr>
          <a:xfrm>
            <a:off x="8290408" y="5047488"/>
            <a:ext cx="3352648" cy="530352"/>
          </a:xfrm>
          <a:prstGeom prst="rect">
            <a:avLst/>
          </a:prstGeom>
          <a:noFill/>
          <a:ln/>
        </p:spPr>
        <p:txBody>
          <a:bodyPr wrap="square" lIns="0" tIns="0" rIns="0" bIns="0" rtlCol="0" anchor="t"/>
          <a:lstStyle/>
          <a:p>
            <a:pPr indent="0" marL="0">
              <a:buNone/>
            </a:pPr>
            <a:r>
              <a:rPr lang="en-US" sz="1200" dirty="0">
                <a:solidFill>
                  <a:schemeClr val="tx1"/>
                </a:solidFill>
              </a:rPr>
              <a:t>Doses at the 90th / 99th percentile of the natural projection.</a:t>
            </a:r>
            <a:endParaRPr lang="en-US" sz="1200" dirty="0"/>
          </a:p>
        </p:txBody>
      </p:sp>
      <p:sp>
        <p:nvSpPr>
          <p:cNvPr id="37" name="Text 35"/>
          <p:cNvSpPr txBox="1"/>
          <p:nvPr/>
        </p:nvSpPr>
        <p:spPr>
          <a:xfrm>
            <a:off x="6324448" y="5614416"/>
            <a:ext cx="1920240" cy="502920"/>
          </a:xfrm>
          <a:prstGeom prst="rect">
            <a:avLst/>
          </a:prstGeom>
          <a:noFill/>
          <a:ln/>
        </p:spPr>
        <p:txBody>
          <a:bodyPr wrap="square" lIns="0" tIns="0" rIns="0" bIns="0" rtlCol="0" anchor="t"/>
          <a:lstStyle/>
          <a:p>
            <a:pPr indent="0" marL="0">
              <a:buNone/>
            </a:pPr>
            <a:r>
              <a:rPr lang="en-US" sz="1300" b="1" dirty="0">
                <a:solidFill>
                  <a:schemeClr val="tx1"/>
                </a:solidFill>
              </a:rPr>
              <a:t>K0–K4</a:t>
            </a:r>
            <a:endParaRPr lang="en-US" sz="1300" dirty="0"/>
          </a:p>
        </p:txBody>
      </p:sp>
      <p:sp>
        <p:nvSpPr>
          <p:cNvPr id="38" name="Text 36"/>
          <p:cNvSpPr txBox="1"/>
          <p:nvPr/>
        </p:nvSpPr>
        <p:spPr>
          <a:xfrm>
            <a:off x="8290408" y="5614416"/>
            <a:ext cx="3352648" cy="530352"/>
          </a:xfrm>
          <a:prstGeom prst="rect">
            <a:avLst/>
          </a:prstGeom>
          <a:noFill/>
          <a:ln/>
        </p:spPr>
        <p:txBody>
          <a:bodyPr wrap="square" lIns="0" tIns="0" rIns="0" bIns="0" rtlCol="0" anchor="t"/>
          <a:lstStyle/>
          <a:p>
            <a:pPr indent="0" marL="0">
              <a:buNone/>
            </a:pPr>
            <a:r>
              <a:rPr lang="en-US" sz="1200" dirty="0">
                <a:solidFill>
                  <a:schemeClr val="tx1"/>
                </a:solidFill>
              </a:rPr>
              <a:t>Pre-registered kill checks (layer, features, doses, calibration, plant yield).</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338328"/>
            <a:ext cx="109728" cy="109728"/>
          </a:xfrm>
          <a:prstGeom prst="ellipse">
            <a:avLst/>
          </a:prstGeom>
          <a:solidFill>
            <a:schemeClr val="accent1"/>
          </a:solidFill>
          <a:ln w="12700">
            <a:solidFill>
              <a:schemeClr val="accent1"/>
            </a:solidFill>
            <a:prstDash val="solid"/>
          </a:ln>
        </p:spPr>
      </p:sp>
      <p:sp>
        <p:nvSpPr>
          <p:cNvPr id="3" name="Shape 1"/>
          <p:cNvSpPr/>
          <p:nvPr/>
        </p:nvSpPr>
        <p:spPr>
          <a:xfrm>
            <a:off x="704088" y="338328"/>
            <a:ext cx="109728" cy="109728"/>
          </a:xfrm>
          <a:prstGeom prst="ellipse">
            <a:avLst/>
          </a:prstGeom>
          <a:solidFill>
            <a:schemeClr val="accent2"/>
          </a:solidFill>
          <a:ln w="12700">
            <a:solidFill>
              <a:schemeClr val="accent2"/>
            </a:solidFill>
            <a:prstDash val="solid"/>
          </a:ln>
        </p:spPr>
      </p:sp>
      <p:sp>
        <p:nvSpPr>
          <p:cNvPr id="4" name="Shape 2"/>
          <p:cNvSpPr/>
          <p:nvPr/>
        </p:nvSpPr>
        <p:spPr>
          <a:xfrm>
            <a:off x="859536" y="338328"/>
            <a:ext cx="109728" cy="109728"/>
          </a:xfrm>
          <a:prstGeom prst="ellipse">
            <a:avLst/>
          </a:prstGeom>
          <a:solidFill>
            <a:schemeClr val="accent3"/>
          </a:solidFill>
          <a:ln w="12700">
            <a:solidFill>
              <a:schemeClr val="accent3"/>
            </a:solidFill>
            <a:prstDash val="solid"/>
          </a:ln>
        </p:spPr>
      </p:sp>
      <p:sp>
        <p:nvSpPr>
          <p:cNvPr id="5" name="Text 3"/>
          <p:cNvSpPr txBox="1"/>
          <p:nvPr/>
        </p:nvSpPr>
        <p:spPr>
          <a:xfrm>
            <a:off x="1097280" y="274320"/>
            <a:ext cx="8229600" cy="237744"/>
          </a:xfrm>
          <a:prstGeom prst="rect">
            <a:avLst/>
          </a:prstGeom>
          <a:noFill/>
          <a:ln/>
        </p:spPr>
        <p:txBody>
          <a:bodyPr wrap="square" lIns="0" tIns="0" rIns="0" bIns="0" rtlCol="0" anchor="t"/>
          <a:lstStyle/>
          <a:p>
            <a:pPr indent="0" marL="0">
              <a:buNone/>
            </a:pPr>
            <a:r>
              <a:rPr lang="en-US" sz="1100" b="1" spc="150" kern="0" dirty="0">
                <a:solidFill>
                  <a:schemeClr val="accent5"/>
                </a:solidFill>
              </a:rPr>
              <a:t>APPENDIX · SETTINGS</a:t>
            </a:r>
            <a:endParaRPr lang="en-US" sz="1100" dirty="0"/>
          </a:p>
        </p:txBody>
      </p:sp>
      <p:sp>
        <p:nvSpPr>
          <p:cNvPr id="6" name="Text 0"/>
          <p:cNvSpPr/>
          <p:nvPr>
            <p:ph idx="100" type="title" hasCustomPrompt="1"/>
          </p:nvPr>
        </p:nvSpPr>
        <p:spPr>
          <a:xfrm>
            <a:off x="548640" y="566928"/>
            <a:ext cx="11094415" cy="896112"/>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Settings and hyperparameters</a:t>
            </a:r>
            <a:endParaRPr lang="en-US" sz="28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651760"/>
                <a:gridCol w="8412480"/>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Component</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Setting</a:t>
                      </a:r>
                      <a:endParaRPr lang="en-US" sz="110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0C1A2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Model</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Qwen3.6-27B (64 layers, d = 5,120), bf16; read at block-42 output = hidden_states[43], last token</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NLA</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ceselder/qwen3.6-27b-nla-rl, adapter iter_000400 (iter 300 for robustness); non-thinking prompt; injects ‖h_marker‖·unit(v) at AV block 1</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Oracle Lens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agu18dec/olens_and_ar olens_s3d_rl600; marker embedding replaced by 16000·unit(h); layer integer in prompt; trained 20–60 step 4</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J-Lens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neuronpedia/jacobian-lens n1000 (primary), camilablank n25 (cross-check); cosine readout; norm gain 1 + w</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J-space rank</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r* = 384: smallest rank keeping ≥ 90% top-10 agreement on basic_readout at layer 42; 4r* = 1,536</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Gates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G1 probe; G2 enrichment ≤ 1.5 at r* and 4r* + J-Lens readout inside shuffled-label band; G4 ≥ 5× max random, z ≥ 3</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Steering</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Centred h − (v·h)v ± Δv at the read layer; q90 primary, q99 secondary; col ‖Δ‖/‖h‖ 0.108 (raw) / 0.081 (4r*) at q90; K3 matched at 0.11 / 0.14</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Nulls and leaks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K = 20 isotropic + K = 20 J-complement directions, same norm, z never subtracted; leak set = newline tokens + content set, two-sided</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Guards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FVE paired per example, k = 4, margin 0.05; unrelated-prompt KL ≤ 0.1 for plants</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Scoring</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Paired log-odds, both candidates in one batch (bf16 batch noise up to 0.26 nats); 3 mined templates + fixed label, frozen (sha256 0915…923b)</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2F4"/>
                    </a:solidFill>
                  </a:tcPr>
                </a:tc>
              </a:tr>
              <a:tr h="329184">
                <a:tc>
                  <a:txBody>
                    <a:bodyPr/>
                    <a:lstStyle/>
                    <a:p>
                      <a:pPr indent="0" marL="0">
                        <a:buNone/>
                      </a:pPr>
                      <a:r>
                        <a:rPr lang="en-US" sz="1150" dirty="0">
                          <a:solidFill>
                            <a:srgbClr val="15222C"/>
                          </a:solidFill>
                          <a:latin typeface="Arial" pitchFamily="34" charset="0"/>
                          <a:ea typeface="Arial" pitchFamily="34" charset="-122"/>
                          <a:cs typeface="Arial" pitchFamily="34" charset="-120"/>
                        </a:rPr>
                        <a:t>Benchmark sampling</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150" dirty="0">
                          <a:solidFill>
                            <a:srgbClr val="15222C"/>
                          </a:solidFill>
                          <a:latin typeface="Arial" pitchFamily="34" charset="0"/>
                          <a:ea typeface="Arial" pitchFamily="34" charset="-122"/>
                          <a:cs typeface="Arial" pitchFamily="34" charset="-120"/>
                        </a:rPr>
                        <a:t>T = 1, top_p 0.95, top_k 64, 256 new tokens, k = 1; regex instrument mt-regex-2026-09-23</a:t>
                      </a:r>
                      <a:endParaRPr lang="en-US" sz="1150" dirty="0">
                        <a:latin typeface="Arial" charset="0"/>
                        <a:ea typeface="Arial" charset="0"/>
                        <a:cs typeface="Arial" charset="0"/>
                      </a:endParaRPr>
                    </a:p>
                  </a:txBody>
                  <a:tcPr marL="73152" marR="73152"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8"/>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Residual Ink">
  <a:themeElements>
    <a:clrScheme name="Residual Ink">
      <a:dk1>
        <a:srgbClr val="15222C"/>
      </a:dk1>
      <a:lt1>
        <a:srgbClr val="FFFFFF"/>
      </a:lt1>
      <a:dk2>
        <a:srgbClr val="0C1A24"/>
      </a:dk2>
      <a:lt2>
        <a:srgbClr val="EEF2F4"/>
      </a:lt2>
      <a:accent1>
        <a:srgbClr val="E2553A"/>
      </a:accent1>
      <a:accent2>
        <a:srgbClr val="7A5BC2"/>
      </a:accent2>
      <a:accent3>
        <a:srgbClr val="0F9D8A"/>
      </a:accent3>
      <a:accent4>
        <a:srgbClr val="C8921E"/>
      </a:accent4>
      <a:accent5>
        <a:srgbClr val="5E6E78"/>
      </a:accent5>
      <a:accent6>
        <a:srgbClr val="C9D3D9"/>
      </a:accent6>
      <a:hlink>
        <a:srgbClr val="0F9D8A"/>
      </a:hlink>
      <a:folHlink>
        <a:srgbClr val="7A5BC2"/>
      </a:folHlink>
    </a:clrScheme>
    <a:fontScheme name="Residual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NLAs read what the model can't say?</dc:title>
  <dc:subject>MATS 12.0 research update</dc:subject>
  <dc:creator>Suraj Prasad</dc:creator>
  <cp:lastModifiedBy>Suraj Prasad</cp:lastModifiedBy>
  <cp:revision>1</cp:revision>
  <dcterms:created xsi:type="dcterms:W3CDTF">2026-10-06T08:20:25Z</dcterms:created>
  <dcterms:modified xsi:type="dcterms:W3CDTF">2026-10-06T08:20:25Z</dcterms:modified>
</cp:coreProperties>
</file>