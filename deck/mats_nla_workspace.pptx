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5.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8.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9.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127dca-a0c0-970f-8ae0-6e5936b2726c}">
          <p14:sldIdLst>
            <p14:sldId id="256"/>
            <p14:sldId id="257"/>
            <p14:sldId id="258"/>
          </p14:sldIdLst>
        </p14:section>
        <p14:section name="Background" id="{5d4bf1b0-520c-3d74-1f55-2adaff09bbe1}">
          <p14:sldIdLst>
            <p14:sldId id="259"/>
            <p14:sldId id="260"/>
            <p14:sldId id="261"/>
            <p14:sldId id="262"/>
            <p14:sldId id="263"/>
            <p14:sldId id="264"/>
            <p14:sldId id="265"/>
          </p14:sldIdLst>
        </p14:section>
        <p14:section name="Design" id="{bb2dc1cb-2eaf-0ace-5baa-a9fe606f0376}">
          <p14:sldIdLst>
            <p14:sldId id="266"/>
            <p14:sldId id="267"/>
            <p14:sldId id="268"/>
            <p14:sldId id="269"/>
            <p14:sldId id="270"/>
          </p14:sldIdLst>
        </p14:section>
        <p14:section name="Gates" id="{c3a9d5e2-3e94-ce76-87e3-eb40943175db}">
          <p14:sldIdLst>
            <p14:sldId id="271"/>
            <p14:sldId id="272"/>
            <p14:sldId id="273"/>
            <p14:sldId id="274"/>
            <p14:sldId id="275"/>
          </p14:sldIdLst>
        </p14:section>
        <p14:section name="Part A" id="{d55a989a-4de7-e8e3-db03-ee3db98aa617}">
          <p14:sldIdLst>
            <p14:sldId id="276"/>
            <p14:sldId id="277"/>
            <p14:sldId id="278"/>
            <p14:sldId id="279"/>
            <p14:sldId id="280"/>
            <p14:sldId id="281"/>
          </p14:sldIdLst>
        </p14:section>
        <p14:section name="Part B" id="{a0952739-13be-e53a-d540-4f9cdb5313e9}">
          <p14:sldIdLst>
            <p14:sldId id="282"/>
            <p14:sldId id="283"/>
            <p14:sldId id="284"/>
            <p14:sldId id="285"/>
            <p14:sldId id="286"/>
            <p14:sldId id="287"/>
            <p14:sldId id="288"/>
            <p14:sldId id="289"/>
            <p14:sldId id="290"/>
            <p14:sldId id="291"/>
            <p14:sldId id="292"/>
          </p14:sldIdLst>
        </p14:section>
        <p14:section name="Part C" id="{e3bfe5b7-dcbf-99bd-f2a6-048d64b92168}">
          <p14:sldIdLst>
            <p14:sldId id="293"/>
            <p14:sldId id="294"/>
            <p14:sldId id="295"/>
            <p14:sldId id="296"/>
          </p14:sldIdLst>
        </p14:section>
        <p14:section name="Part D" id="{c35ff7cc-762c-f457-79ce-c40c18e71f3f}">
          <p14:sldIdLst>
            <p14:sldId id="297"/>
            <p14:sldId id="298"/>
            <p14:sldId id="299"/>
            <p14:sldId id="300"/>
            <p14:sldId id="301"/>
          </p14:sldIdLst>
        </p14:section>
        <p14:section name="Where we stand" id="{012a5fc0-0422-5a8a-b872-cca41f6b6534}">
          <p14:sldIdLst>
            <p14:sldId id="302"/>
            <p14:sldId id="303"/>
            <p14:sldId id="304"/>
            <p14:sldId id="305"/>
            <p14:sldId id="306"/>
            <p14:sldId id="307"/>
            <p14:sldId id="308"/>
          </p14:sldIdLst>
        </p14:section>
        <p14:section name="Appendix" id="{74a373a9-e673-22f9-f58e-fe2849c6514a}">
          <p14:sldIdLst>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Our recomputed activation vs the NLA's own examples (lower = match)</a:t>
            </a:r>
          </a:p>
        </c:rich>
      </c:tx>
      <c:layout/>
      <c:overlay val="0"/>
    </c:title>
    <c:autoTitleDeleted val="0"/>
    <c:plotArea>
      <c:layout/>
      <c:barChart>
        <c:barDir val="col"/>
        <c:grouping val="clustered"/>
        <c:varyColors val="0"/>
        <c:ser>
          <c:idx val="0"/>
          <c:order val="0"/>
          <c:tx>
            <c:strRef>
              <c:f>Sheet1!$B$1</c:f>
              <c:strCache>
                <c:ptCount val="1"/>
                <c:pt idx="0">
                  <c:v>relative L2 error (mean, 64 examples)</c:v>
                </c:pt>
              </c:strCache>
            </c:strRef>
          </c:tx>
          <c:spPr>
            <a:solidFill>
              <a:srgbClr val="5E6E78"/>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5E6E78"/>
              </a:solidFill>
              <a:effectLst/>
            </c:spPr>
          </c:dPt>
          <c:dPt>
            <c:idx val="1"/>
            <c:invertIfNegative val="0"/>
            <c:bubble3D val="0"/>
            <c:spPr>
              <a:solidFill>
                <a:srgbClr val="5E6E78"/>
              </a:solidFill>
              <a:effectLst/>
            </c:spPr>
          </c:dPt>
          <c:dPt>
            <c:idx val="2"/>
            <c:invertIfNegative val="0"/>
            <c:bubble3D val="0"/>
            <c:spPr>
              <a:solidFill>
                <a:srgbClr val="E2553A"/>
              </a:solidFill>
              <a:effectLst/>
            </c:spPr>
          </c:dPt>
          <c:dPt>
            <c:idx val="3"/>
            <c:invertIfNegative val="0"/>
            <c:bubble3D val="0"/>
            <c:spPr>
              <a:solidFill>
                <a:srgbClr val="5E6E78"/>
              </a:solidFill>
              <a:effectLst/>
            </c:spPr>
          </c:dPt>
          <c:cat>
            <c:multiLvlStrRef>
              <c:f>Sheet1!$A$2:$A$5</c:f>
              <c:multiLvlStrCache>
                <c:ptCount val="4"/>
                <c:lvl>
                  <c:pt idx="0">
                    <c:v>block 40</c:v>
                  </c:pt>
                  <c:pt idx="1">
                    <c:v>block 41</c:v>
                  </c:pt>
                  <c:pt idx="2">
                    <c:v>block 42</c:v>
                  </c:pt>
                  <c:pt idx="3">
                    <c:v>block 43</c:v>
                  </c:pt>
                </c:lvl>
              </c:multiLvlStrCache>
            </c:multiLvlStrRef>
          </c:cat>
          <c:val>
            <c:numRef>
              <c:f>Sheet1!$B$2:$B$5</c:f>
              <c:numCache>
                <c:formatCode>General</c:formatCode>
                <c:ptCount val="4"/>
                <c:pt idx="0">
                  <c:v>0.304</c:v>
                </c:pt>
                <c:pt idx="1">
                  <c:v>0.222</c:v>
                </c:pt>
                <c:pt idx="2">
                  <c:v>0.026</c:v>
                </c:pt>
                <c:pt idx="3">
                  <c:v>0.232</c:v>
                </c:pt>
              </c:numCache>
            </c:numRef>
          </c:val>
        </c:ser>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35"/>
          <c:min val="0"/>
        </c:scaling>
        <c:delete val="0"/>
        <c:axPos val="l"/>
        <c:majorGridlines>
          <c:spPr>
            <a:ln w="9525" cap="flat">
              <a:solidFill>
                <a:srgbClr val="E3E8EB"/>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(ours)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0.86</c:v>
                </c:pt>
                <c:pt idx="1">
                  <c:v>0.65</c:v>
                </c:pt>
                <c:pt idx="2">
                  <c:v>0.34</c:v>
                </c:pt>
                <c:pt idx="3">
                  <c:v>0.73</c:v>
                </c:pt>
              </c:numCache>
            </c:numRef>
          </c:val>
        </c:ser>
        <c:ser>
          <c:idx val="1"/>
          <c:order val="1"/>
          <c:tx>
            <c:strRef>
              <c:f>Sheet1!$C$1</c:f>
              <c:strCache>
                <c:ptCount val="1"/>
                <c:pt idx="0">
                  <c:v>Oracle Lens (published)</c:v>
                </c:pt>
              </c:strCache>
            </c:strRef>
          </c:tx>
          <c:spPr>
            <a:solidFill>
              <a:srgbClr val="CBBEE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0.62</c:v>
                </c:pt>
                <c:pt idx="2">
                  <c:v>0.32</c:v>
                </c:pt>
                <c:pt idx="3">
                  <c:v>0.71</c:v>
                </c:pt>
              </c:numCache>
            </c:numRef>
          </c:val>
        </c:ser>
        <c:ser>
          <c:idx val="2"/>
          <c:order val="2"/>
          <c:tx>
            <c:strRef>
              <c:f>Sheet1!$D$1</c:f>
              <c:strCache>
                <c:ptCount val="1"/>
                <c:pt idx="0">
                  <c:v>NLA (ours)</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Sheet1!$D$2:$D$5</c:f>
              <c:numCache>
                <c:formatCode>General</c:formatCode>
                <c:ptCount val="4"/>
                <c:pt idx="0">
                  <c:v>0.73</c:v>
                </c:pt>
                <c:pt idx="1">
                  <c:v>0.42</c:v>
                </c:pt>
                <c:pt idx="2">
                  <c:v>0.15</c:v>
                </c:pt>
                <c:pt idx="3">
                  <c:v>0.57</c:v>
                </c:pt>
              </c:numCache>
            </c:numRef>
          </c:val>
        </c:ser>
        <c:ser>
          <c:idx val="3"/>
          <c:order val="3"/>
          <c:tx>
            <c:strRef>
              <c:f>Sheet1!$E$1</c:f>
              <c:strCache>
                <c:ptCount val="1"/>
                <c:pt idx="0">
                  <c:v>NLA (published)</c:v>
                </c:pt>
              </c:strCache>
            </c:strRef>
          </c:tx>
          <c:spPr>
            <a:solidFill>
              <a:srgbClr val="F3B6A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Sheet1!$E$2:$E$5</c:f>
              <c:numCache>
                <c:formatCode>General</c:formatCode>
                <c:ptCount val="4"/>
                <c:pt idx="0">
                  <c:v>0.75</c:v>
                </c:pt>
                <c:pt idx="1">
                  <c:v>0.44</c:v>
                </c:pt>
                <c:pt idx="2">
                  <c:v>0.22</c:v>
                </c:pt>
                <c:pt idx="3">
                  <c:v>0.53</c:v>
                </c:pt>
              </c:numCache>
            </c:numRef>
          </c:val>
        </c:ser>
        <c:ser>
          <c:idx val="4"/>
          <c:order val="4"/>
          <c:tx>
            <c:strRef>
              <c:f>Sheet1!$F$1</c:f>
              <c:strCache>
                <c:ptCount val="1"/>
                <c:pt idx="0">
                  <c:v>J-Lens (ours)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Sheet1!$F$2:$F$5</c:f>
              <c:numCache>
                <c:formatCode>General</c:formatCode>
                <c:ptCount val="4"/>
                <c:pt idx="0">
                  <c:v>0.15</c:v>
                </c:pt>
                <c:pt idx="1">
                  <c:v>0.08</c:v>
                </c:pt>
                <c:pt idx="2">
                  <c:v>0.1</c:v>
                </c:pt>
                <c:pt idx="3">
                  <c:v>0.24</c:v>
                </c:pt>
              </c:numCache>
            </c:numRef>
          </c:val>
        </c:ser>
        <c:ser>
          <c:idx val="5"/>
          <c:order val="5"/>
          <c:tx>
            <c:strRef>
              <c:f>Sheet1!$G$1</c:f>
              <c:strCache>
                <c:ptCount val="1"/>
                <c:pt idx="0">
                  <c:v>J-Lens (published)</c:v>
                </c:pt>
              </c:strCache>
            </c:strRef>
          </c:tx>
          <c:spPr>
            <a:solidFill>
              <a:srgbClr val="9FD9CF"/>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Sheet1!$G$2:$G$5</c:f>
              <c:numCache>
                <c:formatCode>General</c:formatCode>
                <c:ptCount val="4"/>
                <c:pt idx="0">
                  <c:v>0.17</c:v>
                </c:pt>
                <c:pt idx="1">
                  <c:v>0.06</c:v>
                </c:pt>
                <c:pt idx="2">
                  <c:v>0.08</c:v>
                </c:pt>
                <c:pt idx="3">
                  <c:v>0.24</c:v>
                </c:pt>
              </c:numCache>
            </c:numRef>
          </c:val>
        </c:ser>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pass rate (regex families, n = 100)</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multilingual</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0.02</c:v>
                </c:pt>
                <c:pt idx="1">
                  <c:v>0.03</c:v>
                </c:pt>
                <c:pt idx="2">
                  <c:v>0.09</c:v>
                </c:pt>
                <c:pt idx="3">
                  <c:v>0.1</c:v>
                </c:pt>
                <c:pt idx="4">
                  <c:v>0.18</c:v>
                </c:pt>
                <c:pt idx="5">
                  <c:v>0.26</c:v>
                </c:pt>
                <c:pt idx="6">
                  <c:v>0.28</c:v>
                </c:pt>
                <c:pt idx="7">
                  <c:v>0.26</c:v>
                </c:pt>
                <c:pt idx="8">
                  <c:v>0.3</c:v>
                </c:pt>
                <c:pt idx="9">
                  <c:v>0.39</c:v>
                </c:pt>
                <c:pt idx="10">
                  <c:v>0.43</c:v>
                </c:pt>
                <c:pt idx="11">
                  <c:v>0.38</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0.65</c:v>
                </c:pt>
                <c:pt idx="1">
                  <c:v>0.65</c:v>
                </c:pt>
                <c:pt idx="2">
                  <c:v>0.65</c:v>
                </c:pt>
                <c:pt idx="3">
                  <c:v>0.65</c:v>
                </c:pt>
                <c:pt idx="4">
                  <c:v>0.65</c:v>
                </c:pt>
                <c:pt idx="5">
                  <c:v>0.65</c:v>
                </c:pt>
                <c:pt idx="6">
                  <c:v>0.65</c:v>
                </c:pt>
                <c:pt idx="7">
                  <c:v>0.65</c:v>
                </c:pt>
                <c:pt idx="8">
                  <c:v>0.65</c:v>
                </c:pt>
                <c:pt idx="9">
                  <c:v>0.65</c:v>
                </c:pt>
                <c:pt idx="10">
                  <c:v>0.65</c:v>
                </c:pt>
                <c:pt idx="11">
                  <c:v>0.65</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0.42</c:v>
                </c:pt>
                <c:pt idx="1">
                  <c:v>0.42</c:v>
                </c:pt>
                <c:pt idx="2">
                  <c:v>0.42</c:v>
                </c:pt>
                <c:pt idx="3">
                  <c:v>0.42</c:v>
                </c:pt>
                <c:pt idx="4">
                  <c:v>0.42</c:v>
                </c:pt>
                <c:pt idx="5">
                  <c:v>0.42</c:v>
                </c:pt>
                <c:pt idx="6">
                  <c:v>0.42</c:v>
                </c:pt>
                <c:pt idx="7">
                  <c:v>0.42</c:v>
                </c:pt>
                <c:pt idx="8">
                  <c:v>0.42</c:v>
                </c:pt>
                <c:pt idx="9">
                  <c:v>0.42</c:v>
                </c:pt>
                <c:pt idx="10">
                  <c:v>0.42</c:v>
                </c:pt>
                <c:pt idx="11">
                  <c:v>0.42</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basic readout</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0.22</c:v>
                </c:pt>
                <c:pt idx="1">
                  <c:v>0.23</c:v>
                </c:pt>
                <c:pt idx="2">
                  <c:v>0.27</c:v>
                </c:pt>
                <c:pt idx="3">
                  <c:v>0.3</c:v>
                </c:pt>
                <c:pt idx="4">
                  <c:v>0.43</c:v>
                </c:pt>
                <c:pt idx="5">
                  <c:v>0.42</c:v>
                </c:pt>
                <c:pt idx="6">
                  <c:v>0.45</c:v>
                </c:pt>
                <c:pt idx="7">
                  <c:v>0.48</c:v>
                </c:pt>
                <c:pt idx="8">
                  <c:v>0.46</c:v>
                </c:pt>
                <c:pt idx="9">
                  <c:v>0.58</c:v>
                </c:pt>
                <c:pt idx="10">
                  <c:v>0.62</c:v>
                </c:pt>
                <c:pt idx="11">
                  <c:v>0.61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0.73</c:v>
                </c:pt>
                <c:pt idx="1">
                  <c:v>0.73</c:v>
                </c:pt>
                <c:pt idx="2">
                  <c:v>0.73</c:v>
                </c:pt>
                <c:pt idx="3">
                  <c:v>0.73</c:v>
                </c:pt>
                <c:pt idx="4">
                  <c:v>0.73</c:v>
                </c:pt>
                <c:pt idx="5">
                  <c:v>0.73</c:v>
                </c:pt>
                <c:pt idx="6">
                  <c:v>0.73</c:v>
                </c:pt>
                <c:pt idx="7">
                  <c:v>0.73</c:v>
                </c:pt>
                <c:pt idx="8">
                  <c:v>0.73</c:v>
                </c:pt>
                <c:pt idx="9">
                  <c:v>0.73</c:v>
                </c:pt>
                <c:pt idx="10">
                  <c:v>0.73</c:v>
                </c:pt>
                <c:pt idx="11">
                  <c:v>0.73</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BBEE8"/>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0.57</c:v>
                </c:pt>
                <c:pt idx="1">
                  <c:v>0.57</c:v>
                </c:pt>
                <c:pt idx="2">
                  <c:v>0.57</c:v>
                </c:pt>
                <c:pt idx="3">
                  <c:v>0.57</c:v>
                </c:pt>
                <c:pt idx="4">
                  <c:v>0.57</c:v>
                </c:pt>
                <c:pt idx="5">
                  <c:v>0.57</c:v>
                </c:pt>
                <c:pt idx="6">
                  <c:v>0.57</c:v>
                </c:pt>
                <c:pt idx="7">
                  <c:v>0.57</c:v>
                </c:pt>
                <c:pt idx="8">
                  <c:v>0.57</c:v>
                </c:pt>
                <c:pt idx="9">
                  <c:v>0.57</c:v>
                </c:pt>
                <c:pt idx="10">
                  <c:v>0.57</c:v>
                </c:pt>
                <c:pt idx="11">
                  <c:v>0.57</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Every feature keeps ≥ 98% of probe performance; J-removal ≈ random removal (±0.02)</a:t>
            </a:r>
          </a:p>
        </c:rich>
      </c:tx>
      <c:layout/>
      <c:overlay val="0"/>
    </c:title>
    <c:autoTitleDeleted val="0"/>
    <c:plotArea>
      <c:layout/>
      <c:barChart>
        <c:barDir val="col"/>
        <c:grouping val="clustered"/>
        <c:varyColors val="0"/>
        <c:ser>
          <c:idx val="0"/>
          <c:order val="0"/>
          <c:tx>
            <c:strRef>
              <c:f>Sheet1!$B$1</c:f>
              <c:strCache>
                <c:ptCount val="1"/>
                <c:pt idx="0">
                  <c:v>remove top-384 J-space</c:v>
                </c:pt>
              </c:strCache>
            </c:strRef>
          </c:tx>
          <c:spPr>
            <a:solidFill>
              <a:srgbClr val="0F9D8A"/>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0.005</c:v>
                </c:pt>
                <c:pt idx="1">
                  <c:v>0.001</c:v>
                </c:pt>
                <c:pt idx="2">
                  <c:v>0</c:v>
                </c:pt>
                <c:pt idx="3">
                  <c:v>0.005</c:v>
                </c:pt>
                <c:pt idx="4">
                  <c:v>0.005</c:v>
                </c:pt>
                <c:pt idx="5">
                  <c:v>0.003</c:v>
                </c:pt>
                <c:pt idx="6">
                  <c:v>-0.009</c:v>
                </c:pt>
              </c:numCache>
            </c:numRef>
          </c:val>
        </c:ser>
        <c:ser>
          <c:idx val="1"/>
          <c:order val="1"/>
          <c:tx>
            <c:strRef>
              <c:f>Sheet1!$C$1</c:f>
              <c:strCache>
                <c:ptCount val="1"/>
                <c:pt idx="0">
                  <c:v>remove top-1,536 J-space</c:v>
                </c:pt>
              </c:strCache>
            </c:strRef>
          </c:tx>
          <c:spPr>
            <a:solidFill>
              <a:srgbClr val="9FD9CF"/>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0.016</c:v>
                </c:pt>
                <c:pt idx="1">
                  <c:v>0.003</c:v>
                </c:pt>
                <c:pt idx="2">
                  <c:v>0</c:v>
                </c:pt>
                <c:pt idx="3">
                  <c:v>-0.013</c:v>
                </c:pt>
                <c:pt idx="4">
                  <c:v>-0.013</c:v>
                </c:pt>
                <c:pt idx="5">
                  <c:v>0</c:v>
                </c:pt>
                <c:pt idx="6">
                  <c:v>-0.019</c:v>
                </c:pt>
              </c:numCache>
            </c:numRef>
          </c:val>
        </c:ser>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1"/>
          <c:min val="-0.1"/>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retention after J-removal minus retention after random removal</a:t>
                </a:r>
              </a:p>
            </c:rich>
          </c:tx>
          <c:layout/>
          <c:overlay val="0"/>
        </c:title>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enrichment at r* = 384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0.67</c:v>
                </c:pt>
                <c:pt idx="1">
                  <c:v>0.59</c:v>
                </c:pt>
                <c:pt idx="2">
                  <c:v>0.57</c:v>
                </c:pt>
                <c:pt idx="3">
                  <c:v>2.62</c:v>
                </c:pt>
                <c:pt idx="4">
                  <c:v>5.6</c:v>
                </c:pt>
                <c:pt idx="5">
                  <c:v>3.32</c:v>
                </c:pt>
                <c:pt idx="6">
                  <c:v>5.98</c:v>
                </c:pt>
              </c:numCache>
            </c:numRef>
          </c:val>
        </c:ser>
        <c:ser>
          <c:idx val="1"/>
          <c:order val="1"/>
          <c:tx>
            <c:strRef>
              <c:f>Sheet1!$C$1</c:f>
              <c:strCache>
                <c:ptCount val="1"/>
                <c:pt idx="0">
                  <c:v>enrichment at 4r* = 1,536</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1.1</c:v>
                </c:pt>
                <c:pt idx="1">
                  <c:v>0.86</c:v>
                </c:pt>
                <c:pt idx="2">
                  <c:v>1.16</c:v>
                </c:pt>
                <c:pt idx="3">
                  <c:v>1.56</c:v>
                </c:pt>
                <c:pt idx="4">
                  <c:v>2.31</c:v>
                </c:pt>
                <c:pt idx="5">
                  <c:v>1.73</c:v>
                </c:pt>
                <c:pt idx="6">
                  <c:v>2.34</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non-J threshold (1.5)</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Sheet1!$D$2:$D$8</c:f>
              <c:numCache>
                <c:formatCode>General</c:formatCode>
                <c:ptCount val="7"/>
                <c:pt idx="0">
                  <c:v>1.5</c:v>
                </c:pt>
                <c:pt idx="1">
                  <c:v>1.5</c:v>
                </c:pt>
                <c:pt idx="2">
                  <c:v>1.5</c:v>
                </c:pt>
                <c:pt idx="3">
                  <c:v>1.5</c:v>
                </c:pt>
                <c:pt idx="4">
                  <c:v>1.5</c:v>
                </c:pt>
                <c:pt idx="5">
                  <c:v>1.5</c:v>
                </c:pt>
                <c:pt idx="6">
                  <c:v>1.5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diff-in-means energy in top-r J-space ÷ random (1.0 = random)</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Share of the steering effect that survives J-removal</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5E6E78"/>
              </a:solidFill>
              <a:effectLst/>
            </c:spPr>
          </c:dPt>
          <c:dPt>
            <c:idx val="5"/>
            <c:invertIfNegative val="0"/>
            <c:bubble3D val="0"/>
            <c:spPr>
              <a:solidFill>
                <a:srgbClr val="5E6E78"/>
              </a:solidFill>
              <a:effectLst/>
            </c:spPr>
          </c:dPt>
          <c:cat>
            <c:multiLvlStrRef>
              <c:f>Sheet1!$A$2:$A$7</c:f>
              <c:multiLvlStrCache>
                <c:ptCount val="6"/>
                <c:lvl>
                  <c:pt idx="0">
                    <c:v>col (02)</c:v>
                  </c:pt>
                  <c:pt idx="1">
                    <c:v>code language</c:v>
                  </c:pt>
                  <c:pt idx="2">
                    <c:v>capitalisation</c:v>
                  </c:pt>
                  <c:pt idx="3">
                    <c:v>in-quote state</c:v>
                  </c:pt>
                  <c:pt idx="4">
                    <c:v>words since sentence start</c:v>
                  </c:pt>
                  <c:pt idx="5">
                    <c:v>French gender agreement</c:v>
                  </c:pt>
                </c:lvl>
              </c:multiLvlStrCache>
            </c:multiLvlStrRef>
          </c:cat>
          <c:val>
            <c:numRef>
              <c:f>Sheet1!$B$2:$B$7</c:f>
              <c:numCache>
                <c:formatCode>General</c:formatCode>
                <c:ptCount val="6"/>
                <c:pt idx="0">
                  <c:v>0.79</c:v>
                </c:pt>
                <c:pt idx="1">
                  <c:v>0.23</c:v>
                </c:pt>
                <c:pt idx="2">
                  <c:v>0.21</c:v>
                </c:pt>
                <c:pt idx="3">
                  <c:v>0.2</c:v>
                </c:pt>
                <c:pt idx="4">
                  <c:v>0.18</c:v>
                </c:pt>
                <c:pt idx="5">
                  <c:v>0.12</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Steering effect that survives J-removal (layer 42, q99)</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0F9D8A"/>
              </a:solidFill>
              <a:effectLst/>
            </c:spPr>
          </c:dPt>
          <c:dPt>
            <c:idx val="3"/>
            <c:invertIfNegative val="0"/>
            <c:bubble3D val="0"/>
            <c:spPr>
              <a:solidFill>
                <a:srgbClr val="0F9D8A"/>
              </a:solidFill>
              <a:effectLst/>
            </c:spPr>
          </c:dPt>
          <c:dPt>
            <c:idx val="4"/>
            <c:invertIfNegative val="0"/>
            <c:bubble3D val="0"/>
            <c:spPr>
              <a:solidFill>
                <a:srgbClr val="0F9D8A"/>
              </a:solidFill>
              <a:effectLst/>
            </c:spPr>
          </c:dPt>
          <c:cat>
            <c:multiLvlStrRef>
              <c:f>Sheet1!$A$2:$A$6</c:f>
              <c:multiLvlStrCache>
                <c:ptCount val="5"/>
                <c:lvl>
                  <c:pt idx="0">
                    <c:v>col</c:v>
                  </c:pt>
                  <c:pt idx="1">
                    <c:v>bracket depth</c:v>
                  </c:pt>
                  <c:pt idx="2">
                    <c:v>pred. POS</c:v>
                  </c:pt>
                  <c:pt idx="3">
                    <c:v>tense</c:v>
                  </c:pt>
                  <c:pt idx="4">
                    <c:v>language</c:v>
                  </c:pt>
                </c:lvl>
              </c:multiLvlStrCache>
            </c:multiLvlStrRef>
          </c:cat>
          <c:val>
            <c:numRef>
              <c:f>Sheet1!$B$2:$B$6</c:f>
              <c:numCache>
                <c:formatCode>General</c:formatCode>
                <c:ptCount val="5"/>
                <c:pt idx="0">
                  <c:v>0.79</c:v>
                </c:pt>
                <c:pt idx="1">
                  <c:v>0.41</c:v>
                </c:pt>
                <c:pt idx="2">
                  <c:v>0.33</c:v>
                </c:pt>
                <c:pt idx="3">
                  <c:v>0.19</c:v>
                </c:pt>
                <c:pt idx="4">
                  <c:v>0.05</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Toy: J-removed language direction (FR/DE, n = 40 pairs), q99, layer 42</a:t>
            </a:r>
          </a:p>
        </c:rich>
      </c:tx>
      <c:layout/>
      <c:overlay val="0"/>
    </c:title>
    <c:autoTitleDeleted val="0"/>
    <c:plotArea>
      <c:layout/>
      <c:barChart>
        <c:barDir val="col"/>
        <c:grouping val="clustered"/>
        <c:varyColors val="0"/>
        <c:ser>
          <c:idx val="0"/>
          <c:order val="0"/>
          <c:tx>
            <c:strRef>
              <c:f>Sheet1!$B$1</c:f>
              <c:strCache>
                <c:ptCount val="1"/>
                <c:pt idx="0">
                  <c:v>additive ±Δ (original)</c:v>
                </c:pt>
              </c:strCache>
            </c:strRef>
          </c:tx>
          <c:spPr>
            <a:solidFill>
              <a:srgbClr val="C9D3D9"/>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Sheet1!$B$2:$B$4</c:f>
              <c:numCache>
                <c:formatCode>General</c:formatCode>
                <c:ptCount val="3"/>
                <c:pt idx="0">
                  <c:v>0.45</c:v>
                </c:pt>
                <c:pt idx="1">
                  <c:v>0.6</c:v>
                </c:pt>
                <c:pt idx="2">
                  <c:v>0.46</c:v>
                </c:pt>
              </c:numCache>
            </c:numRef>
          </c:val>
        </c:ser>
        <c:ser>
          <c:idx val="1"/>
          <c:order val="1"/>
          <c:tx>
            <c:strRef>
              <c:f>Sheet1!$C$1</c:f>
              <c:strCache>
                <c:ptCount val="1"/>
                <c:pt idx="0">
                  <c:v>centred ±Δ (equal norm)</c:v>
                </c:pt>
              </c:strCache>
            </c:strRef>
          </c:tx>
          <c:spPr>
            <a:solidFill>
              <a:srgbClr val="5E6E78"/>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Sheet1!$C$2:$C$4</c:f>
              <c:numCache>
                <c:formatCode>General</c:formatCode>
                <c:ptCount val="3"/>
                <c:pt idx="0">
                  <c:v>0.49</c:v>
                </c:pt>
                <c:pt idx="1">
                  <c:v>0.62</c:v>
                </c:pt>
                <c:pt idx="2">
                  <c:v>0.46</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Sheet1!$A$2:$A$4</c:f>
              <c:multiLvlStrCache>
                <c:ptCount val="3"/>
                <c:lvl>
                  <c:pt idx="0">
                    <c:v>Oracle Lens</c:v>
                  </c:pt>
                  <c:pt idx="1">
                    <c:v>NLA</c:v>
                  </c:pt>
                  <c:pt idx="2">
                    <c:v>J-Lens</c:v>
                  </c:pt>
                </c:lvl>
              </c:multiLvlStrCache>
            </c:multiLvlStrRef>
          </c:cat>
          <c:val>
            <c:numRef>
              <c:f>Sheet1!$D$2:$D$4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7"/>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J-removed at r* (384; 256 at L44)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Sheet1!$B$2:$B$4</c:f>
              <c:numCache>
                <c:formatCode>General</c:formatCode>
                <c:ptCount val="3"/>
                <c:pt idx="0">
                  <c:v>2.7</c:v>
                </c:pt>
                <c:pt idx="1">
                  <c:v>2.8</c:v>
                </c:pt>
                <c:pt idx="2">
                  <c:v>3</c:v>
                </c:pt>
              </c:numCache>
            </c:numRef>
          </c:val>
        </c:ser>
        <c:ser>
          <c:idx val="1"/>
          <c:order val="1"/>
          <c:tx>
            <c:strRef>
              <c:f>Sheet1!$C$1</c:f>
              <c:strCache>
                <c:ptCount val="1"/>
                <c:pt idx="0">
                  <c:v>J-removed at 4r* (1,536; 1,024 at L44)</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Sheet1!$C$2:$C$4</c:f>
              <c:numCache>
                <c:formatCode>General</c:formatCode>
                <c:ptCount val="3"/>
                <c:pt idx="0">
                  <c:v>-0.3</c:v>
                </c:pt>
                <c:pt idx="1">
                  <c:v>0.1</c:v>
                </c:pt>
                <c:pt idx="2">
                  <c:v>2.6</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Sheet1!$D$2:$D$4</c:f>
              <c:numCache>
                <c:formatCode>General</c:formatCode>
                <c:ptCount val="3"/>
                <c:pt idx="0">
                  <c:v>1.96</c:v>
                </c:pt>
                <c:pt idx="1">
                  <c:v>1.96</c:v>
                </c:pt>
                <c:pt idx="2">
                  <c:v>1.96</c:v>
                </c:pt>
              </c:numCache>
            </c:numRef>
          </c:val>
          <c:smooth val="0"/>
        </c:ser>
        <c:ser>
          <c:idx val="3"/>
          <c:order val="3"/>
          <c:tx>
            <c:strRef>
              <c:f>Sheet1!$E$1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Sheet1!$E$2:$E$4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J-Lens newline score shift, z vs J-complement band (q90)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Leak-free cell: layer 42, centred, top-1,536 J-space removed, q90</a:t>
            </a:r>
          </a:p>
        </c:rich>
      </c:tx>
      <c:layout/>
      <c:overlay val="0"/>
    </c:title>
    <c:autoTitleDeleted val="0"/>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Sheet1!$B$2:$B$4</c:f>
              <c:numCache>
                <c:formatCode>General</c:formatCode>
                <c:ptCount val="3"/>
                <c:pt idx="0">
                  <c:v>0.6</c:v>
                </c:pt>
                <c:pt idx="1">
                  <c:v>1</c:v>
                </c:pt>
                <c:pt idx="2">
                  <c:v>0.6</c:v>
                </c:pt>
              </c:numCache>
            </c:numRef>
          </c:val>
        </c:ser>
        <c:ser>
          <c:idx val="1"/>
          <c:order val="1"/>
          <c:tx>
            <c:strRef>
              <c:f>Sheet1!$C$1</c:f>
              <c:strCache>
                <c:ptCount val="1"/>
                <c:pt idx="0">
                  <c:v>Oracle Lens</c:v>
                </c:pt>
              </c:strCache>
            </c:strRef>
          </c:tx>
          <c:spPr>
            <a:solidFill>
              <a:srgbClr val="7A5BC2"/>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Sheet1!$C$2:$C$4</c:f>
              <c:numCache>
                <c:formatCode>General</c:formatCode>
                <c:ptCount val="3"/>
                <c:pt idx="0">
                  <c:v>-0.6</c:v>
                </c:pt>
                <c:pt idx="1">
                  <c:v>1.2</c:v>
                </c:pt>
                <c:pt idx="2">
                  <c:v>-0.3</c:v>
                </c:pt>
              </c:numCache>
            </c:numRef>
          </c:val>
        </c:ser>
        <c:ser>
          <c:idx val="2"/>
          <c:order val="2"/>
          <c:tx>
            <c:strRef>
              <c:f>Sheet1!$D$1</c:f>
              <c:strCache>
                <c:ptCount val="1"/>
                <c:pt idx="0">
                  <c:v>J-Lens (leak detector)</c:v>
                </c:pt>
              </c:strCache>
            </c:strRef>
          </c:tx>
          <c:spPr>
            <a:solidFill>
              <a:srgbClr val="0F9D8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Sheet1!$D$2:$D$4</c:f>
              <c:numCache>
                <c:formatCode>General</c:formatCode>
                <c:ptCount val="3"/>
                <c:pt idx="0">
                  <c:v>-0.9</c:v>
                </c:pt>
                <c:pt idx="1">
                  <c:v>-0.5</c:v>
                </c:pt>
                <c:pt idx="2">
                  <c:v>0.1</c:v>
                </c:pt>
              </c:numCache>
            </c:numRef>
          </c:val>
        </c:ser>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Sheet1!$E$2:$E$4</c:f>
              <c:numCache>
                <c:formatCode>General</c:formatCode>
                <c:ptCount val="3"/>
                <c:pt idx="0">
                  <c:v>1.96</c:v>
                </c:pt>
                <c:pt idx="1">
                  <c:v>1.96</c:v>
                </c:pt>
                <c:pt idx="2">
                  <c:v>1.96</c:v>
                </c:pt>
              </c:numCache>
            </c:numRef>
          </c:val>
          <c:smooth val="0"/>
        </c:ser>
        <c:ser>
          <c:idx val="4"/>
          <c:order val="4"/>
          <c:tx>
            <c:strRef>
              <c:f>Sheet1!$F$1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Sheet1!$F$2:$F$4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3"/>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z vs J-complement null band</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Sheet1!$B$2:$B$4</c:f>
              <c:numCache>
                <c:formatCode>General</c:formatCode>
                <c:ptCount val="3"/>
                <c:pt idx="0">
                  <c:v>0.83</c:v>
                </c:pt>
                <c:pt idx="1">
                  <c:v>0.83</c:v>
                </c:pt>
                <c:pt idx="2">
                  <c:v>0.48</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Sheet1!$C$2:$C$4</c:f>
              <c:numCache>
                <c:formatCode>General</c:formatCode>
                <c:ptCount val="3"/>
                <c:pt idx="0">
                  <c:v>0.76</c:v>
                </c:pt>
                <c:pt idx="1">
                  <c:v>0.55</c:v>
                </c:pt>
                <c:pt idx="2">
                  <c:v>0.48</c:v>
                </c:pt>
              </c:numCache>
            </c:numRef>
          </c:val>
        </c:ser>
        <c:ser>
          <c:idx val="2"/>
          <c:order val="2"/>
          <c:tx>
            <c:strRef>
              <c:f>Sheet1!$D$1</c:f>
              <c:strCache>
                <c:ptCount val="1"/>
                <c:pt idx="0">
                  <c:v>J-Lens (label words)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Sheet1!$D$2:$D$4</c:f>
              <c:numCache>
                <c:formatCode>General</c:formatCode>
                <c:ptCount val="3"/>
                <c:pt idx="0">
                  <c:v>0.68</c:v>
                </c:pt>
                <c:pt idx="1">
                  <c:v>0.79</c:v>
                </c:pt>
                <c:pt idx="2">
                  <c:v>0.52</c:v>
                </c:pt>
              </c:numCache>
            </c:numRef>
          </c:val>
        </c:ser>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language (RU vs PL)</c:v>
                  </c:pt>
                  <c:pt idx="1">
                    <c:v>tense (past vs present)</c:v>
                  </c:pt>
                  <c:pt idx="2">
                    <c:v>col (raw direction)</c:v>
                  </c:pt>
                </c:lvl>
              </c:multiLvlStrCache>
            </c:multiLvlStrRef>
          </c:cat>
          <c:val>
            <c:numRef>
              <c:f>Sheet1!$E$2:$E$4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q90 dose, centred, raw direction, layer 42 (‖Δ‖/‖h‖: 0.095 · 0.096 · 0.108)</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Sheet1!$B$2:$B$7</c:f>
              <c:numCache>
                <c:formatCode>General</c:formatCode>
                <c:ptCount val="6"/>
                <c:pt idx="0">
                  <c:v>0.87</c:v>
                </c:pt>
                <c:pt idx="1">
                  <c:v>0.92</c:v>
                </c:pt>
                <c:pt idx="2">
                  <c:v>0.85</c:v>
                </c:pt>
                <c:pt idx="3">
                  <c:v>0.89</c:v>
                </c:pt>
                <c:pt idx="4">
                  <c:v>0.48</c:v>
                </c:pt>
                <c:pt idx="5">
                  <c:v>0.47</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Sheet1!$C$2:$C$7</c:f>
              <c:numCache>
                <c:formatCode>General</c:formatCode>
                <c:ptCount val="6"/>
                <c:pt idx="0">
                  <c:v>0.8</c:v>
                </c:pt>
                <c:pt idx="1">
                  <c:v>0.85</c:v>
                </c:pt>
                <c:pt idx="2">
                  <c:v>0.56</c:v>
                </c:pt>
                <c:pt idx="3">
                  <c:v>0.57</c:v>
                </c:pt>
                <c:pt idx="4">
                  <c:v>0.48</c:v>
                </c:pt>
                <c:pt idx="5">
                  <c:v>0.47</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Sheet1!$D$2:$D$7</c:f>
              <c:numCache>
                <c:formatCode>General</c:formatCode>
                <c:ptCount val="6"/>
                <c:pt idx="0">
                  <c:v>0.5</c:v>
                </c:pt>
                <c:pt idx="1">
                  <c:v>0.5</c:v>
                </c:pt>
                <c:pt idx="2">
                  <c:v>0.5</c:v>
                </c:pt>
                <c:pt idx="3">
                  <c:v>0.5</c:v>
                </c:pt>
                <c:pt idx="4">
                  <c:v>0.5</c:v>
                </c:pt>
                <c:pt idx="5">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feature, steering norm ‖Δ‖/‖h‖ (raw direction, centred, layer 42)</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Sheet1!$B$2:$B$6</c:f>
              <c:numCache>
                <c:formatCode>General</c:formatCode>
                <c:ptCount val="5"/>
                <c:pt idx="0">
                  <c:v>0.6</c:v>
                </c:pt>
                <c:pt idx="1">
                  <c:v>0.54</c:v>
                </c:pt>
                <c:pt idx="2">
                  <c:v>0.84</c:v>
                </c:pt>
                <c:pt idx="3">
                  <c:v>0.85</c:v>
                </c:pt>
                <c:pt idx="4">
                  <c:v>1</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Sheet1!$C$2:$C$6</c:f>
              <c:numCache>
                <c:formatCode>General</c:formatCode>
                <c:ptCount val="5"/>
                <c:pt idx="0">
                  <c:v>0.55</c:v>
                </c:pt>
                <c:pt idx="1">
                  <c:v>0.55</c:v>
                </c:pt>
                <c:pt idx="2">
                  <c:v>0.99</c:v>
                </c:pt>
                <c:pt idx="3">
                  <c:v>0.92</c:v>
                </c:pt>
                <c:pt idx="4">
                  <c:v>1</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Sheet1!$D$2:$D$6</c:f>
              <c:numCache>
                <c:formatCode>General</c:formatCode>
                <c:ptCount val="5"/>
                <c:pt idx="0">
                  <c:v>0.5</c:v>
                </c:pt>
                <c:pt idx="1">
                  <c:v>0.5</c:v>
                </c:pt>
                <c:pt idx="2">
                  <c:v>0.5</c:v>
                </c:pt>
                <c:pt idx="3">
                  <c:v>0.5</c:v>
                </c:pt>
                <c:pt idx="4">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natural-item AUROC (mean of 3 frozen templates)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Tense direction with the top-1,536 J-space projected out</a:t>
            </a:r>
          </a:p>
        </c:rich>
      </c:tx>
      <c:layout/>
      <c:overlay val="0"/>
    </c:title>
    <c:autoTitleDeleted val="0"/>
    <c:plotArea>
      <c:layout/>
      <c:barChart>
        <c:barDir val="col"/>
        <c:grouping val="clustered"/>
        <c:varyColors val="0"/>
        <c:ser>
          <c:idx val="0"/>
          <c:order val="0"/>
          <c:tx>
            <c:strRef>
              <c:f>Sheet1!$B$1</c:f>
              <c:strCache>
                <c:ptCount val="1"/>
                <c:pt idx="0">
                  <c:v>AUROC, J-removed (4r*) tense direction, q90, layer 42</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cat>
            <c:multiLvlStrRef>
              <c:f>Sheet1!$A$2:$A$4</c:f>
              <c:multiLvlStrCache>
                <c:ptCount val="3"/>
                <c:lvl>
                  <c:pt idx="0">
                    <c:v>NLA</c:v>
                  </c:pt>
                  <c:pt idx="1">
                    <c:v>Oracle Lens</c:v>
                  </c:pt>
                  <c:pt idx="2">
                    <c:v>J-Lens (label words)</c:v>
                  </c:pt>
                </c:lvl>
              </c:multiLvlStrCache>
            </c:multiLvlStrRef>
          </c:cat>
          <c:val>
            <c:numRef>
              <c:f>Sheet1!$B$2:$B$4</c:f>
              <c:numCache>
                <c:formatCode>General</c:formatCode>
                <c:ptCount val="3"/>
                <c:pt idx="0">
                  <c:v>0.6</c:v>
                </c:pt>
                <c:pt idx="1">
                  <c:v>0.51</c:v>
                </c:pt>
                <c:pt idx="2">
                  <c:v>0.5</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NLA</c:v>
                  </c:pt>
                  <c:pt idx="1">
                    <c:v>Oracle Lens</c:v>
                  </c:pt>
                  <c:pt idx="2">
                    <c:v>J-Lens (label words)</c:v>
                  </c:pt>
                </c:lvl>
              </c:multiLvlStrCache>
            </c:multiLvlStrRef>
          </c:cat>
          <c:val>
            <c:numRef>
              <c:f>Sheet1!$C$2:$C$4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@42</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Sheet1!$B$2:$B$3</c:f>
              <c:numCache>
                <c:formatCode>General</c:formatCode>
                <c:ptCount val="2"/>
                <c:pt idx="0">
                  <c:v>0.01</c:v>
                </c:pt>
                <c:pt idx="1">
                  <c:v>1</c:v>
                </c:pt>
              </c:numCache>
            </c:numRef>
          </c:val>
        </c:ser>
        <c:ser>
          <c:idx val="1"/>
          <c:order val="1"/>
          <c:tx>
            <c:strRef>
              <c:f>Sheet1!$C$1</c:f>
              <c:strCache>
                <c:ptCount val="1"/>
                <c:pt idx="0">
                  <c:v>NLA @42</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Sheet1!$C$2:$C$3</c:f>
              <c:numCache>
                <c:formatCode>General</c:formatCode>
                <c:ptCount val="2"/>
                <c:pt idx="0">
                  <c:v>0.03</c:v>
                </c:pt>
                <c:pt idx="1">
                  <c:v>0.98</c:v>
                </c:pt>
              </c:numCache>
            </c:numRef>
          </c:val>
        </c:ser>
        <c:ser>
          <c:idx val="2"/>
          <c:order val="2"/>
          <c:tx>
            <c:strRef>
              <c:f>Sheet1!$D$1</c:f>
              <c:strCache>
                <c:ptCount val="1"/>
                <c:pt idx="0">
                  <c:v>J-Lens @42</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Sheet1!$D$2:$D$3</c:f>
              <c:numCache>
                <c:formatCode>General</c:formatCode>
                <c:ptCount val="2"/>
                <c:pt idx="0">
                  <c:v>0.01</c:v>
                </c:pt>
                <c:pt idx="1">
                  <c:v>1</c:v>
                </c:pt>
              </c:numCache>
            </c:numRef>
          </c:val>
        </c:ser>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P(reader names the planted bridge Y), 200 items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pooled pass rate (n = 400)</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dPt>
            <c:idx val="3"/>
            <c:invertIfNegative val="0"/>
            <c:bubble3D val="0"/>
            <c:spPr>
              <a:solidFill>
                <a:srgbClr val="C8921E"/>
              </a:solidFill>
              <a:effectLst/>
            </c:spPr>
          </c:dPt>
          <c:dPt>
            <c:idx val="4"/>
            <c:invertIfNegative val="0"/>
            <c:bubble3D val="0"/>
            <c:spPr>
              <a:solidFill>
                <a:srgbClr val="C8921E"/>
              </a:solidFill>
              <a:effectLst/>
            </c:spPr>
          </c:dPt>
          <c:dPt>
            <c:idx val="5"/>
            <c:invertIfNegative val="0"/>
            <c:bubble3D val="0"/>
            <c:spPr>
              <a:solidFill>
                <a:srgbClr val="C8921E"/>
              </a:solidFill>
              <a:effectLst/>
            </c:spPr>
          </c:dPt>
          <c:dPt>
            <c:idx val="6"/>
            <c:invertIfNegative val="0"/>
            <c:bubble3D val="0"/>
            <c:spPr>
              <a:solidFill>
                <a:srgbClr val="E9D3A1"/>
              </a:solidFill>
              <a:effectLst/>
            </c:spPr>
          </c:dPt>
          <c:cat>
            <c:multiLvlStrRef>
              <c:f>Sheet1!$A$2:$A$8</c:f>
              <c:multiLvlStrCache>
                <c:ptCount val="7"/>
                <c:lvl>
                  <c:pt idx="0">
                    <c:v>NLA @42</c:v>
                  </c:pt>
                  <c:pt idx="1">
                    <c:v>Oracle Lens @42</c:v>
                  </c:pt>
                  <c:pt idx="2">
                    <c:v>J-Lens @42</c:v>
                  </c:pt>
                  <c:pt idx="3">
                    <c:v>Text-only Qwen (NLA style, k=1)</c:v>
                  </c:pt>
                  <c:pt idx="4">
                    <c:v>Text-only Qwen (bench template)</c:v>
                  </c:pt>
                  <c:pt idx="5">
                    <c:v>Text-only Gemini 3.8 Flash</c:v>
                  </c:pt>
                  <c:pt idx="6">
                    <c:v>Re-solve from NLA readout only (Gemini)</c:v>
                  </c:pt>
                </c:lvl>
              </c:multiLvlStrCache>
            </c:multiLvlStrRef>
          </c:cat>
          <c:val>
            <c:numRef>
              <c:f>Sheet1!$B$2:$B$8</c:f>
              <c:numCache>
                <c:formatCode>General</c:formatCode>
                <c:ptCount val="7"/>
                <c:pt idx="0">
                  <c:v>0.47</c:v>
                </c:pt>
                <c:pt idx="1">
                  <c:v>0.4</c:v>
                </c:pt>
                <c:pt idx="2">
                  <c:v>0.02</c:v>
                </c:pt>
                <c:pt idx="3">
                  <c:v>0.46</c:v>
                </c:pt>
                <c:pt idx="4">
                  <c:v>0.76</c:v>
                </c:pt>
                <c:pt idx="5">
                  <c:v>0.75</c:v>
                </c:pt>
                <c:pt idx="6">
                  <c:v>0.6</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0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contradicted</c:v>
                </c:pt>
              </c:strCache>
            </c:strRef>
          </c:tx>
          <c:spPr>
            <a:solidFill>
              <a:srgbClr val="7F96A3"/>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Sheet1!$B$2:$B$4</c:f>
              <c:numCache>
                <c:formatCode>General</c:formatCode>
                <c:ptCount val="3"/>
                <c:pt idx="0">
                  <c:v>0.36</c:v>
                </c:pt>
                <c:pt idx="1">
                  <c:v>0.35</c:v>
                </c:pt>
                <c:pt idx="2">
                  <c:v>0.08</c:v>
                </c:pt>
              </c:numCache>
            </c:numRef>
          </c:val>
        </c:ser>
        <c:ser>
          <c:idx val="1"/>
          <c:order val="1"/>
          <c:tx>
            <c:strRef>
              <c:f>Sheet1!$C$1</c:f>
              <c:strCache>
                <c:ptCount val="1"/>
                <c:pt idx="0">
                  <c:v>restates text</c:v>
                </c:pt>
              </c:strCache>
            </c:strRef>
          </c:tx>
          <c:spPr>
            <a:solidFill>
              <a:srgbClr val="A4B6C0"/>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Sheet1!$C$2:$C$4</c:f>
              <c:numCache>
                <c:formatCode>General</c:formatCode>
                <c:ptCount val="3"/>
                <c:pt idx="0">
                  <c:v>0.09</c:v>
                </c:pt>
                <c:pt idx="1">
                  <c:v>0.06</c:v>
                </c:pt>
                <c:pt idx="2">
                  <c:v>0.23</c:v>
                </c:pt>
              </c:numCache>
            </c:numRef>
          </c:val>
        </c:ser>
        <c:ser>
          <c:idx val="2"/>
          <c:order val="2"/>
          <c:tx>
            <c:strRef>
              <c:f>Sheet1!$D$1</c:f>
              <c:strCache>
                <c:ptCount val="1"/>
                <c:pt idx="0">
                  <c:v>matches gold target</c:v>
                </c:pt>
              </c:strCache>
            </c:strRef>
          </c:tx>
          <c:spPr>
            <a:solidFill>
              <a:srgbClr val="C3D1D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Sheet1!$D$2:$D$4</c:f>
              <c:numCache>
                <c:formatCode>General</c:formatCode>
                <c:ptCount val="3"/>
                <c:pt idx="0">
                  <c:v>0.11</c:v>
                </c:pt>
                <c:pt idx="1">
                  <c:v>0.18</c:v>
                </c:pt>
                <c:pt idx="2">
                  <c:v>0.18</c:v>
                </c:pt>
              </c:numCache>
            </c:numRef>
          </c:val>
        </c:ser>
        <c:ser>
          <c:idx val="3"/>
          <c:order val="3"/>
          <c:tx>
            <c:strRef>
              <c:f>Sheet1!$E$1</c:f>
              <c:strCache>
                <c:ptCount val="1"/>
                <c:pt idx="0">
                  <c:v>inferable from text</c:v>
                </c:pt>
              </c:strCache>
            </c:strRef>
          </c:tx>
          <c:spPr>
            <a:solidFill>
              <a:srgbClr val="DCE4E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Sheet1!$E$2:$E$4</c:f>
              <c:numCache>
                <c:formatCode>General</c:formatCode>
                <c:ptCount val="3"/>
                <c:pt idx="0">
                  <c:v>0.38</c:v>
                </c:pt>
                <c:pt idx="1">
                  <c:v>0.14</c:v>
                </c:pt>
                <c:pt idx="2">
                  <c:v>0.49</c:v>
                </c:pt>
              </c:numCache>
            </c:numRef>
          </c:val>
        </c:ser>
        <c:ser>
          <c:idx val="4"/>
          <c:order val="4"/>
          <c:tx>
            <c:strRef>
              <c:f>Sheet1!$F$1</c:f>
              <c:strCache>
                <c:ptCount val="1"/>
                <c:pt idx="0">
                  <c:v>unsupported</c:v>
                </c:pt>
              </c:strCache>
            </c:strRef>
          </c:tx>
          <c:spPr>
            <a:solidFill>
              <a:srgbClr val="F0F4F6"/>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Sheet1!$F$2:$F$4</c:f>
              <c:numCache>
                <c:formatCode>General</c:formatCode>
                <c:ptCount val="3"/>
                <c:pt idx="0">
                  <c:v>0.06</c:v>
                </c:pt>
                <c:pt idx="1">
                  <c:v>0.28</c:v>
                </c:pt>
                <c:pt idx="2">
                  <c:v>0.02</c:v>
                </c:pt>
              </c:numCache>
            </c:numRef>
          </c:val>
        </c:ser>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published floor</c:v>
                </c:pt>
              </c:strCache>
            </c:strRef>
          </c:tx>
          <c:spPr>
            <a:solidFill>
              <a:srgbClr val="E9D3A1"/>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0.67</c:v>
                </c:pt>
                <c:pt idx="1">
                  <c:v>0.42</c:v>
                </c:pt>
                <c:pt idx="2">
                  <c:v>0.69</c:v>
                </c:pt>
                <c:pt idx="3">
                  <c:v>0.59</c:v>
                </c:pt>
              </c:numCache>
            </c:numRef>
          </c:val>
        </c:ser>
        <c:ser>
          <c:idx val="1"/>
          <c:order val="1"/>
          <c:tx>
            <c:strRef>
              <c:f>Sheet1!$C$1</c:f>
              <c:strCache>
                <c:ptCount val="1"/>
                <c:pt idx="0">
                  <c:v>our re-run (same template, thinking off)</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0.47</c:v>
                </c:pt>
                <c:pt idx="2">
                  <c:v>0.84</c:v>
                </c:pt>
                <c:pt idx="3">
                  <c:v>0.8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prompt-only pass rate</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Suraj. This is my MATS 12.0 project in Neel Nanda's stream, at the end of the prep phase (6 October). The title is the whole question: when a Natural Language Autoencoder (NLA) describes an activation, is it reading content the model never says out loud, or is it reconstructing the prompt and re-solving it, which a text-only model could also do? Everything is on Qwen3.6-27B at layer 42 of 64, with three public 'readers': the NLA, the Oracle Lens and the J-Lens. The plan: the question and our answer so far, then enough background to follow it, the design, the gates, three findings, what's still pending, and the sprint plan (19 Oct to 1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Neel's question, verbatim from the MATS 12.0 doc: 'What can NLAs capture that Oracle Lens / J Lens don't? Is it really the stuff not in the workspace?' And our title poses a dichotomy: does the NLA read what the model can't say, or re-solve what it read? Here is the provisional answer first: neither. One: we surveyed about a dozen natural features. The content outside the J-space that the model actually uses looks like positional bookkeeping, things like characters since the last newline. On that feature, col, neither the NLA nor the Oracle Lens moves when we push it inside the activation, although at exactly the same push the NLA tracks language and tense at 0.83 to 0.92 AUROC. Two: what the NLA does read beyond the J-space is the distributed tail of ordinary, verbalisable features: it still tracks tense with the top-1,536 J-space removed, where the Oracle Lens doesn't. And it doesn't re-solve the text: when we plant a different answer inside the activation, it rewrites the prompt to fit. It generates a consistent story from the latent. Three: on WorkspaceBench its successes are matched by a text-only model. Caveats up front: one clean non-J feature, pilot-scale numbers on a declared, excluded split, and one consistency check still open before the pre-registration freezes. The title is provisional for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Neel's doc frames a whole agenda as 'preparing for a world where we don't have monitorable CoT'. Today a lot of reasoning is written out. If that goes away, through latent reasoning or unfaithful CoT, our main window is reading activations directly. Activation verbalizers like NLAs and the Oracle Lens are promising because they produce fluent descriptions. But fluency is cheap: if a reader works by reconstructing the prompt from the activation and then thinking about it, it adds nothing that a text model with the transcript couldn't do. So the bar is: does the reader report content that isn't recoverable from the text? 'Non-workspace' content, information the model uses but can't verbalise, is the sharpest version of that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slides of background. If you know the J-space paper and the NLA paper, skim; the key new idea is the confound on the fourth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mental model. Qwen3.6-27B has 64 layers. Every token position carries a vector of 5,120 numbers, the residual stream, and every layer reads it and writes an update back. By the last token of 'The capital of the country famous for the Eiffel Tower is', the vector somewhere encodes France, the relation 'capital', and also mundane things like where we are in the line. All three readers in this talk get exactly one such vector: the output of decoder block 42 (we checked this convention carefully, more later), at the last token. Layer 42 matters because the NLA we use was only trained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workspace' paper from Anthropic (July 2026) argues there's a privileged subspace holding what the model is poised to verbalise. They find it with the J-Lens: take the average Jacobian from a layer to the final layer, push a vector through it and the unembedding, and read off the tokens it would make the model say. Averaging over contexts is the point: it finds directions that are verbalizable in general. The J-space is the span of those readable directions. We define it as the top-r singular directions of the unembedding-times-Jacobian matrix. Our rank rule gives r* = 384 out of 5,120, and we always check 4r* = 1,536 as well. The spectrum has no elbow, so we never say 'outside the workspace', only 'outside the top-r J-space'. Crucially, most of the residual stream is not J-space; the paper says J-space excess variance never exceeds 10%. Content outside is what Neel's question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readers, colour-coded for the rest of the talk: teal J-Lens, violet Oracle Lens, vermilion NLA. The J-Lens is linear: no learned decoder, it just lists tokens. We use the neuronpedia n1000 lens, fit on 1,000 prompts, which is also WorkspaceBench's artifact. The Oracle Lens is a LoRA on Qwen that takes the vector as a special token embedding, scaled to norm 16000, and writes concept bullets. It was RL-trained at layers 20 to 60 in steps of 4, so 42 is off its grid; we checked that this doesn't hurt it. In practice its outputs are often continuations of the text, like the French sentence shown. The NLA is a pair of Qwen copies: a verbalizer that writes an explanation, and a reconstructor that tries to rebuild the vector from the explanation. RL rewards good reconstruction. We reproduced its fraction of variance explained, 0.761 against the card's 0.766. It exists only at layer 42. Neel's observation is that the NLA seems to capture more than the other two. Our question is where that 'more'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non-workspace? Four properties. It must be decodable by a linear probe at layer 42. It must be outside the top-r J-space by two criteria: geometrically, its direction is not concentrated in the J-space (enrichment at most 1.5 at both ranks; 1.0 is random), and functionally, the J-Lens readout does not track it. And it must be causally used: steering along the J-removed direction must move the model's behaviour far more than random directions. Self-report is recorded but not a gate: in my Phase 1 project colours were clearly in the J-space yet never named, so failure to self-report often just means bad elicitation. The example we'll live with: col, the number of characters since the last newline in hard-wrapped text. The model uses it to decide when to break the line, and as you'll see it passes every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project. The activation at layer 42 encodes the prompt very well; the NLA's reconstructor proves that. So a reader has two ways to be right. Path one, reading: it reports a feature the model computed. Path two, re-solving: it effectively decodes the prompt, then does the reasoning itself, the way any capable text model would. On natural benchmarks both paths give the same answer, so accuracy can't separate them. The way out is an intervention: change the feature inside the activation and keep the text exactly the same. A reader that reads will follow the change; a re-solver, which only sees the reconstructed text, won't. There's a reason to worry about re-solving for NLAs specifically: their warm-start training explanations were written by Sonnet from the text prefix alone, without activations. In the concurrent pilot's breakdown about 60% of NLA multihop concepts were prompt wording 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four pieces of work, and I want to be precise and fair about each. A fellow MATS 12 applicant posted a pilot on exactly this question on 4 October: same model, same readers. They found the prose readers mostly re-solve multihop questions, and wrote that the NLA never finds a hidden step the Oracle Lens misses. They explicitly list content known to be outside the J-space as not tested. I re-analysed their raw files; everything reproduces (appendix). Viswanath showed on Llama-3.3-70B that the NLA names injected non-J vector components that the model itself cannot name. His unposted follow-up suggests natural safety content is mostly non-J, but he flags himself that the NLA might infer from thematic residue rather than decode. Hong, on our exact model, found the NLA's RL gains are almost all outside the J-space, while most of its specific claims are unsupported. And the workspace paper gives candidate ground truth: features the model uses that don't show up in the J-space. What's open is the combination: natural features with known values, a causal test that separates reading from re-solving, and all three readers on Qwen at a matched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design. I'll show the frame, the tools, the measurement that everything later depends on, and how the design was hardened by critique before any headline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2×2 came out of the first critique round. Rows: does the content live in the J-space or outside it. Columns: does the reader's output follow the activation, or follow the text. Top-left is workspace reading, which we expect from everyone and use as calibration. Right column is re-solving: the reader is really responding to the text. Bottom-left is the cell Neel's question is about: a reader that reports content outside the J-space by actually reading the activation. We measure the columns by interventions: move the feature with the text fixed (left column) or move the text with the feature clamped (right column). Our original design had four 'buckets', prompt / workspace / non-workspace / unsupported, but Fable pointed out they weren't a partition: character count is non-J and also computable from the text. The 2×2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Tool A is the headline: find natural features that live outside the J-space, then steer them with the text fixed. That's split into Part A, 'what even counts as non-J', which turned into a finding in itself, and Part B, the deep dive on col. Tool C plants an intermediate (we now treat it as in-J calibration, because the planted direction is strongly J-enriched): we move the activation along the direction separating, say, France from Sweden, so the model's own answer flips while the prompt is unchanged. Does the reader report the planted bridge or the one implied by the text? Tool D is a decomposition on the published benchmark: how much of each reader's success can a text-only model match? We cut a fourth tool, split-injection, after critique: Viswanath already has the 70B result and it's the most out-of-distribution manipulation. The results come in four parts: A, what counts as non-J; B, the col null; C, what the NLA does read beyond the workspace; D, the benchmark decomposition. The scoring currency is the same everywhere: paired log-odds between two candidate strings, written in the reader's own style, compared against random directions of the same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every later result uses, so let me be concrete. Take a passage and the activation h at the read token. Build two versions: push the col direction up by Δ, and down by Δ. We use a 'centred' construction, removing the item's own component first, so both versions have exactly the same norm; I'll show later why that mattered. Feed both to the reader and score two candidate phrases in its native style, say 'near the end of a long line' versus 'at the start of a line'. If the reader reads col, the log-odds should be higher for the pushed-up version on most items. We never compare against 0.5 alone. We repeat the whole thing with 20 random directions of the same norm and report a z-score against that null band. Three guards. The leak detector: the J-Lens must not move, or the content has leaked into the J-space. The dose must be in the natural range: we use the 90th percentile of the natural projection, about 8 to 11% of the activation norm. And we steer along the direction with the top-1,536 J-space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process, because it shaped the results. I ran the engineering in Claude Code with parallel agents doing gates and experiments, logged every decision (D1 to D20 so far), and after each block handed a write-up to 'Fable', a separate model instance acting as an adversarial research guide, asked to be blunt. Four critiques changed the design. Round 1: my four attribution buckets weren't a partition, which gave us the 2×2. Round 2: steering upstream at layer 38 can let the model move non-J content into the J-space before the read layer, a hole I'd missed; fix: J-removed directions, a leak detector, and steering at the read layer. Round 3: once we noticed the standard non-J test passes topic, Fable helped design the calibrated gate. And the ± contrast isn't immune to dilution, which led to centred steering and made an apparent Oracle Lens effect disappear. It wasn't one-way: I pushed back that a linear probe is a reference, not a ceiling, and that using the NLA's own reconstructor as an out-of-distribution detector is partly circular. Both were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science, three gates. If any had failed, nothing downstream would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check K0: which layer was the NLA trained on? An off-by-one would quietly corrupt every NLA number. 'Layer 42' could mean the output of block 41 or of block 42. We recomputed activations for the NLA's 64 shipped example texts and compared. Block-42 output matches with median cosine 0.9999 and mean relative L2 error 0.026 (median 0.017); block 41 is at 0.22 error and cosine 0.974. Cosine alone is a weak discriminator because adjacent layers are all about 0.97 similar, so relative L2 is the clean signal, and block 42 wins on all 64 examples. The functional test agrees: the NLA's FVE is 0.760 on block-42 captures and 0.695 on block-41 captures. And we reproduced its headline FVE, 0.761 against the card's 0.766. One honesty note: in an early handoff to Fable I reported the layer as ambiguous, 0.974 vs 0.95, from a partial agent output. That 0.974 was the wrong convention, and we sent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gate: reproduce the published benchmark. WorkspaceBench is the September 2026 benchmark for exactly these readers on Qwen3.6-27B. We ran the four regex-scored multi-token families, 100 items each, with the bench's own code, for all three readers. All 12 published numbers fall inside our 95% bootstrap intervals. The largest gap is the NLA on multihop, 0.15 against 0.22, at the edge of our interval, consistent with k=1 sampling noise. Directions are mixed, so no systematic setup difference. Solid bars are ours, pale bars published. Note the protocol: the Oracle Lens and J-Lens are scored best-of-11 layers, the NLA at one layer. Hold that thought. Cost: $2.80 of API calls for the J-Lens summariser and about 1.5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replicating we found something worth a line in the write-up. The published rule for the multi-layer readers is per-item any-layer: an item counts as a pass if any of 11 layers gets it. Applying that rule reproduces the published values exactly. But it's both layer selection and, since each layer is an independent sample, a best-of-11 sampling bonus. The violet curve is the Oracle Lens per layer. At layer 42 it scores 0.28 on multilingual against the NLA's 0.42, and 0.45 against 0.57 on basic readout. Its peak is late, around layer 56, at 0.43 and 0.62, which only slightly exceeds the NLA, within noise. The any-of-11 rule lifts it to 0.65 and 0.73. So this is a protocol asymmetry, not an error: OL's layer flexibility is a real capability. But a matched comparison should report both. Note also that layer 42 is a weak layer for the Oracle Lens on these families, so the NLA's same-layer tie is less impressive than it looks. Decision D7: layer 42 is primary for all three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checkpoint. We know the NLA's layer convention, we reproduce its reconstruction quality, and we reproduce the benchmark for all three readers. And we've learned that at a matched layer the NLA is at least as good as the Oracle Lens. Nothing yet about where the NLA's content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started as plumbing, finding features to steer, and became a co-headline: the standard way of certifying 'non-workspace' content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evidence for 'outside the J-space' is: train a probe, project out the J-space, and show the probe still works. The J-space paper's evidence for POS and tense is of this kind. We ran it on seven features, including topic and language, which are obviously in the J-space. Every feature keeps at least 98% of its probe performance, at both ranks. The chart shows retention after J-removal minus retention after removing a random subspace of the same rank: all within ±0.02 of zero. Topic goes from 0.849 to 0.834. Under the paper's own recipe, projecting out 25 J atoms from the probe, topic goes 0.900 to 0.880, as 'non-J' as tense or POS. The reason is redundancy: a strong feature is linearly decodable from almost any large subspace of a 5,120-dimensional vector. Framing matters here. This is a property of the test, not a claim that their conclusion is wrong. There are three differences from the paper: the model (Claude vs Qwen), the lens, and 25 atoms vs rank 384 or 1,536. Our claim is 'the test as run can't support the conclusion', and we offer the random-subspace control as a drop-in.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a symmetric, calibrated gate with Fable. Geometric criterion: take the feature's difference-in-means direction and ask how much of its energy lies in the top-r J-space, relative to a random direction. 1.0 is random, and for reference a generic activation direction is already 2.2 at r*. We call a feature non-J if it's at most 1.5 at both ranks. Functional criterion: does the J-Lens readout actually track the feature's value, in the form the lens emits, compared to a shuffled-label null band? Under this gate the picture separates cleanly. col, col_report and bracket depth are J-depleted. POS, tense, language and topic are J-enriched, tense at 5.6 and topic at 6.0. Bracket depth narrowly fails the functional test (0.5035 against a band top of 0.501), so it's labelled diffuse-but-J-readable and excluded. POS initially looked unreadable because we searched for the word 'adjective'; the lens emits words, not labels. Classifying its top-10 tokens by part of speech shows it reads POS at 0.664. Fable predicted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table at layer 42. col is non-J under both J-Lenses: the neuronpedia lens fit on 1,000 prompts, our primary, and the 25-prompt camilablank lens, which differs a lot (vector cosine 0.79, top-25 overlap only 19%). That robustness line matters for Part B. col_report is the same count but asked as an explicit question. It was supposed to be our in-workspace count control, mirroring the paper's result that numbers enter the J-space when the model is asked to report them. On Qwen it stays out, which is itself a small model-difference finding, and it means we lost the planned calibration. The last numeric column previews Part B: when we steer along each feature's direction with the top-1,536 J-space removed, how much of the full causal effect survives? col keeps 79%; tense keeps 19%; language 5%. For in-J features the causal route runs through the J-space. Language here is Russian vs Polish, the direction used throughout experiment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rests on one feature, so we gated nine backups with the same procedure, 260 items each, about $80 of compute. None qualifies. The pattern is the finding. The count and positional features, col, indentation, words since sentence start and bracket depth, are geometrically J-depleted. Every non-count feature we tried, capitalisation, coding language, quote state and gender agreement, is J-enriched or J-Lens-readable, and keeps only 12 to 23% of its causal effect after J-removal, against col's 79%. (The backup percentages were measured at layer 38 against the raw direction, col's at layer 42, so compare the pattern, not the decimals.) So on Qwen at layer 42, across this survey of about a dozen features, natural non-workspace content looks like positional bookkeeping. That is a survey result, not a theorem: a different model, layer or feature family could break it. That means we can't defeat the objection 'col is special because it's a count' with a non-count feature. We state it as a scope limit. Second result: the list index with numerals in context, our planned in-J count control, failed. Digits never reach the J-Lens top-10. Numbers just don't enter Qwen's J-space in these settings, consistent with col_report. So the count-verbalisation calibration gap stays open; I come back to it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The usual test for non-workspace content is uninformative; the calibrated gate works; and it leaves exactly one clean feature, col. Everything non-J on this model at this layer looks like positional bookkeeping, and numbers don't enter the J-space at all. Now: does any reader read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First sentence, as in the write-up: this is one feature. Generalisation is open, and Part A told us why it's hard to get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 is a good test. First, the model really uses it: steering along its J-removed direction shifts the log-odds of a newline by +0.99, against at most 0.02 for random directions, 49 times larger. And it keeps 79% of its full causal effect after J-removal, where tense keeps 19%. Second, and this is the 'doubly clean' part, Qwen can't count characters without chain of thought: 7% exact. Self-report is poor too: Spearman 0.42, with error no better than guessing the mean. Since both decoders are built on Qwen, they can't solve col by reconstructing the text and counting. So if a reader follows col at a valid, leak-free dose, that is activation reading, not re-solving. One nuance Fable flagged and experiment 04 confirmed: the count itself is non-J, but the newline decision it feeds is weakly J-visible. Under the strict 'full distribution' functional test, newline mass tracks col at AUROC 0.58, while the top-10 form is at chance, 0.501. So we keep separate templates for the count ('a long line') and the decision ('a line break is coming'), and include newline tokens in the leak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story worth telling, because it shows why the guards exist. In the pipeline smoke test on a toy feature, French vs German, the J-removed direction gave a beautiful contrast: the NLA tracked it, 0.60, and the Oracle Lens anti-tracked, 0.45. Exactly the NLA-beats-OL pattern Neel's question would predict. Fable argued the ± contrast isn't immune to norm effects and suggested norm-preserving steering. We tested it: it's a no-op, because both decoders only see the direction of their input. The NLA injects at its own norm, the Oracle Lens at 16000 times the unit vector. The real cause was dilution: an item that already carries the feature ends up with its other content weighted differently on the plus and minus sides. Centred steering, which removes the item's own component and gives both sides equal norm, fixed it. The Oracle Lens went to 0.49, inside the null band. The NLA stayed at 0.62, 8.3 SD above the band. But the J-Lens still anti-tracked, 4 to 7 SD outside its band: the J-removed direction genuinely leaks into J-Lens-visible directions. So by our own leak rule even the NLA's tracking here couldn't be claimed as non-J reading. The detector is strict enough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lessons from the col pilot, 60 declared-pilot passages excluded from the main analysis. First, leaks. Removing the top-384 J-space from col's direction is not enough: the steered direction still nudges the J-Lens newline score, z +2.6 to +3.0 at all three read layers, beyond the two-sided band. Removing the top 1,536 is clean at layers 40 and 42; at layer 44, where 4r* is only 1,024, it still leaks. So the main run steers at 4r* at layer 42. Second, the prereg's test 'CI excludes 0.5' is too weak. The NLA's numeral template at r* gave 0.54 with an interval excluding 0.5, but random directions of the same size move it just as much. The null band has to be part of every primary test. Third, the FVE guard, which checks the NLA's reconstruction doesn't degrade, fails for random directions at the q99 norm too. It's measuring norm, not col, so q90 is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 result, on the pilot split. The leak-free cell: layer 42, centred steering, the top-1,536 J-space removed, 90th-percentile dose. Three template families: the count in words, the count as a number, and the newline decision. Every bar is a z-score against random directions of the same norm. All of them sit inside ±1.96, in fact within ±1.5 for every family against both null bands. In AUROC terms the NLA is at 0.50 to 0.53 and the Oracle Lens at 0.49 to 0.51. As a fraction of what the probe recovers, which is 1.0 by construction: NLA at most 0.12, Oracle Lens at most 0.03, against a pre-registered bar of 0.25. Free text says the same: across 5,760 natural and steered readouts, neither decoder ever mentions line length. Even the raw col direction, which strongly moves the J-Lens's newline readout (AUROC up to 0.84), doesn't move either decoder. But a null only means something if the readers would have noticed a workspace feature at the same dose.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and the calibration that makes the col null interpretable: kill check K3, which passed. Same pipeline, same random null directions, same 90th-percentile dose rule, raw directions, centred steering. In fact the workspace features got a slightly smaller push, 9.5% of the activation norm, than col, 10.8%. The NLA tracks language at 0.83 and tense at 0.83, 12 to 31 SD beyond both null bands. The Oracle Lens tracks language at 0.76. The J-Lens, a competitor here, tracks both. On col, at a larger push, both decoders sit at 0.48, inside both bands. Now the asymmetry, which I want to be upfront about. The NLA's col null is secure: it reads both workspace features at this dose. The Oracle Lens's is less secure: on tense it only reaches 0.55, out of band but below the pre-registered 0.65 bar, and its tense tracking swings from 0.39 to 0.87 depending on the template. So for the Oracle Lens, 'doesn't read col' could partly be 'our templates don't speak its language'. Pilot split, 60 items per feature, excluded from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stricter version of the same check: instead of each feature's own 90th-percentile dose, every item is pushed by exactly 11% or 14% of its activation norm, for language, tense and col alike, with the same null directions. At 0.11 the NLA tracks language at 0.87 and tense at 0.85, the Oracle Lens language at 0.80; at 0.14 they rise to 0.92, 0.89 and 0.85. col sits at 0.47 to 0.48 for both decoders at both norms, z −0.7 and −1.0 against the J-complement band. So the col null is not a dose-scale artefact. The Oracle Lens on tense stays at 0.56 to 0.57, and that is a template story: across templates its tense tracking ranges from 0.39 ('- happened in the past') to 0.87 ('- was' vs '- is'). That's why the col claim is explicitly 'with these frozen templates', and why the main run adds Oracle-Lens-style continuation candidates for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sharper reading Fable pushed us to in round 5. The raw col direction, the one that still contains its J-space component, moves the J-Lens's newline readout strongly: AUROC 0.73 to 0.84. So under that push, the downstream consequence, 'a line break is coming', is lens-readable. Yet neither decoder follows it: the NLA stays at or below 0.54 across all three template families, including the newline-decision templates, and the Oracle Lens at or below 0.50. If the story were purely about location, inside versus outside the J-space, the decoders should follow once the consequence is in J. They don't. So the null looks like a matter of content type: positional bookkeeping is just not something these decoders talk about, in any phrasing we've tried, including newline-continuation phrasing. The clean test is a new cheap cell: the next digit in a numbered list, 5 versus 7. That's maximally in-J and should pass the causal gate. If the readers track it, the col null is about location; if not, Part B is explicitly scoped to content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power point the audience will ask about. For col, the binding constraint is the null band, not the number of items: random directions genuinely move the decoders' log-odds, and that direction-to-direction spread doesn't shrink as you add items. Even with infinite items, the NLA's z on the leak-free col cells would be +0.6 to +1.4. But the calibration shows this isn't a generic power failure. The same band is narrow relative to in-J effects: per-item effect sizes of +1.3 to +1.5 for language and tense, z around +18 to +30, against roughly minus 0.2 to 0.3 for col. The band limits col only because col's effect is about zero. And one honest consequence: the NLA-minus-Oracle-Lens difference on col is +0.015 to +0.028, below our pre-registered 0.05 bar, so the H3 contrast will likely fail for col. We'll state that at the freeze rather than discover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arm, without steering. Templates were mined from each reader's own outputs and frozen before any steering run. On natural items, both readers are excellent on language, good on tense, and on a visible list index, 'Item 7:', the NLA gets 0.84 and the Oracle Lens 0.99. On col they barely discriminate: 0.60 at best for the NLA, with an interval touching 0.5. I originally hoped the list index would answer 'maybe readers just can't talk about counts'. But experiment 04 showed numbers never enter Qwen's J-space, so the list-index success is probably text re-description: the numeral is right there in the prompt. The count-verbalisation gap stays open. Base rate: across 1,280 mining readouts no reader ever mentions line length. And a simple probe correlates 0.88 with col on the same items, so the information is in the activation; the readers just don't surface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At doses where both decoders demonstrably read workspace features, neither reads col; for the NLA this null is secure, for the Oracle Lens less so because it only passes calibration on language and is template-fragile. And because the raw col direction makes the J-Lens's newline readout move while the decoders stay flat, the null looks like a matter of content type rather than location. All pilot-scale.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If the NLA doesn't read col, what is its extra? Two pieces of evidence: a tense component outside the top-1,536 J-space, and how it describes planted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NLA does read beyond the workspace. In the calibration pilot we also steered tense along its direction with the top-1,536 J-space projected out. The NLA still follows it: 0.60 AUROC, 8.7 SD beyond the J-complement band, paired win 0.90. The Oracle Lens stays inside the band. And it's leak-free at layer 42: neither the J-Lens label words nor a set of 66 past and present verb tokens move. Two honesty points. Provenance: we found this inside a pilot, so it is pre-registered as a secondary cell for the main run, and if it doesn't replicate it moves to the appendix. And it's a geometric claim: tense is a feature the model can verbalise, self-reported 87% of the time. So this is the NLA reading the distributed tail of a verbalisable feature beyond the top-r J-space, not reading what the model can't say. The same test on language is void: a Cyrillic content set shows that direction leaks into the J-Lens. That's why every leak check now includes a content set, not just label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Planted intermediates, which after Fable round 5 we relabel as in-J calibration rather than a re-solving test. Prompts like 'The capital of the country famous for the Eiffel Tower is'. At layer 38 we swap the bridge's class-mean projection from France to a partner country, here Sweden, keeping the prompt identical. We keep an item only if the model's own answer flips, unrelated prompts barely change, and the original prompt is still decodable at layer 42. 431 of 614 items pass at layer 38, so kill check K4 passes. All three readers report the planted bridge: Oracle Lens 1.00, NLA 0.98, J-Lens 1.00, up from 1 to 3% unplanted, more than 80 SD beyond random plants. That's the reading pattern, but it's calibration, not non-workspace evidence: the swap direction is strongly J-enriched (6.5×) and the J-Lens reads it too. And by layer 42 the model already encodes Sweden's answer, so a reader could back-infer the bridge from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qualitative result. In free-form explanations of planted activations, the NLA names the planted country in 12 of 12 cases. But it doesn't say 'a question about the Eiffel Tower, answer Sweden'. It rewrites the clue: 'the country whose CEO designed adopted Volvo… Sweden', or 'maple leaves (Canada)'. So the NLA's apparent prompt reconstruction is itself generated from the latent. It confabulates a prompt consistent with what the activation now encodes. That is why our answer to the title's dichotomy is 'neither': the NLA is not reading the text and then solving, and it is not reading what the model can't say; its language model generates a consistent story from the latent. Dose caveat: to flip the answer we needed large pushes, median 49% of the activation norm, 1.5 to 3 times the natural distance between countries; the main run makes the 109 items at alpha ≤ 1.5 primary. Twelve free-form samples is small; the main run scales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D, from tool D: how much of each reader's benchmark success could a model that never sees the activation match? One consistency check on this part is still open, so these slides carry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comparison, pooled over 400 items at layer 42. The NLA passes 47%. The Oracle Lens at the same layer 40%. The J-Lens 2%. Now the ochre bars: models that never see the activation. Base Qwen, writing in the NLA's own style from the prompt alone, one sample, gets 46%. That's statistically indistinguishable from the NLA: McNemar p = 0.75. With the benchmark's own prompt-only template the same Qwen gets 76%, and Gemini 3.8 Flash gets 75%. And the pale bar: give a text model only the NLA's readout, never the prompt, and ask it to re-solve. It scores 0.60 with Gemini (0.57 with Qwen), more than the NLA's own 0.47. The readouts carry more re-solvable content than they get credit for. Open consistency check (e): readout-only re-solving (0.57 to 0.60) beats the sample-matched text arm (0.46) but stays below the prompt-based arms (0.75 to 0.76). Before we freeze 'fully explained by text' we check item by item whether readout-only re-solving ever succeeds where every prompt-based arm fails. Two caveats: the template choice moves things a lot, so we judge 'text explains it' against a union of templates; and among the readers, the NLA does beat the Oracle Lens at the same layer, 187 hits vs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by item: of the NLA's 187 correct items, every single one is also reached by at least one of 8 text-only samples. Zero reader-only hits. For the Oracle Lens it's 4 of 159, and all four are multilingual items where OL answered in Chinese, matching the item's Chinese form, while the text arms named the concept in a form the regex doesn't credit. That's a scoring artefact, not latent content. Fair-comparison caveat: the union of 8 text samples is best-of-8; the sample-matched comparison is the 0.46 vs 0.47 from the previous slide. Per family: typo is the only family where readers beat text at k=1, and that's a register effect. On multihop, where hidden intermediates should matter most, text crushes the readers. And the crucial framing: this is not evidence that readers don't read. The activation encodes the prompt; a reader that reads and a reader that re-solves look identical here. What it shows is that this benchmark can't tell them apart. That motivates the causal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Claim-level view. A judge splits each readout into atomic claims and labels each against the text and the gold answer. Text-verifiable precision is the share of checkable claims that are true; 'unsupported' is not counted as false. NLA 0.62, Oracle Lens 0.52, and the text-only Qwen 0.92. The error profiles differ: the NLA's contradictions are mostly near-miss quotations of the prompt, consistent with a reader that reconstructs the prompt imperfectly. The Oracle Lens's are wrong entities and facts, plus 28% unsupported specifics. And look at the 'matches gold target' slice: 11% NLA, 18% OL, and 18% for the text-only model. A model with no activation makes as many gold-consistent claims as either reader. Judge validity: a second judge from a different family agrees at kappa 0.72 to 0.77 on 40 claims. The pre-registered human-labelled subset is still to do, so treat these as judge-based.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side finding we were careful with. WorkspaceBench publishes a 'prompt-only floor': stock Qwen sees only the text. Re-running its exact template and sampling under the thinking-off rendering every reader uses, we get 0.83, 0.47, 0.84 and 0.80, against frozen values of 0.67, 0.42, 0.69 and 0.59. Significant on three of four families, and an earlier independent draw agreed. We could not find the cause: no rendering we tried reproduces the frozen numbers exactly, the frozen run has unexplained empty cells, and the generator code isn't public. So we say 'appear too low', treat the frozen floors as a lower bound, and none of our conclusions depend on them. If confirmed, the published gaps between readers and the floor flatter the readers. Contacting the authors is an outward-facing decision we've left for after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the ledger, the answer to the title question, the checks left before we freeze the pre-registration, limitations and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ledger. Dark chips are established on full data, ochre chips are pilot-scale (60 items per feature, excluded from the main analysis), grey are tentative. Read top to bottom: sound instruments; a gate that leaves one clean non-workspace feature, which is positional; decoders that read workspace features but not col; an NLA that reads the tail of verbalisable features and generates its story from the latent; and a benchmark on which a text-only model matches it, pending one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title question: does the NLA read what the model can't say, or re-solve what it read? Our provisional answer is neither. It doesn't read what the model can't say: the content outside the J-space that Qwen actually uses looks like positional bookkeeping, and neither decoder reads col, even when we make its downstream newline decision visible to the J-Lens, although both read workspace features at the same dose. It doesn't re-solve: when we plant a different bridge inside the activation, it rewrites the prompt to fit. Its language model generates a story consistent with the latent. What it reads beyond the J-Lens is the distributed tail of features the model can already verbalise, like tense. And on WorkspaceBench its successes are matched by a text-only model. Confidence differs by claim: moderate for the NLA on col, lower for the Oracle Lens because it only passes calibration on language and is template-fragile, and low for any general statement about non-J content. The working sentence from D21 is: 'On Qwen3.6-27B at L42, the content outside the J-space that the model actually uses is positional bookkeeping, and neither the NLA nor Oracle Lens reads it in any phrasing, even when its downstream decision is lens-readable; what the NLA reads beyond J-Lens is the distributed tail of features the model can already verbalise, and on WorkspaceBench its successes are matched by a text-only model.' We finalise it, and the title, after check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before the freeze, each tied to a sentence it could change. (e) is the important one: a text model given only the NLA's readout re-solves 57 to 60% of items, more than the sample-matched text arm but less than prompt-based arms. If readout-only re-solving ever succeeds where every prompt-based arm fails, 'fully explained by text' is too strong. The next-digit cell settles location versus content type for the col null. The behavioural check confirms the push we claim the readers ignore actually moves the model's newline behaviour at that dose. The class-mean direction removes a difference in kind between col and the in-J features. And the natural col result needs a text-only baseline. The main-run statistical changes are on the bottom line: a stricter threshold, an equivalence test so the col null is a positive claim of 'no effect larger than X', content sets in every leak check, and the newline-continuation cell as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validity, each with what addresses it. The big two are the first two. One feature: the survey explains why there's no second one, so it's a scope limit, not something the sprint can fix. And the count-verbalisation gap: numbers simply don't enter Qwen's J-space, so we have no in-workspace count control, and can't fully rule out that readers fail on col because they can't talk about counts. The next-digit cell is designed to close that. The rest are standard: template sensitivity, pilot scale, direction choice, the J-space definition, judge validity,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is 19 October to 1 November, framed as a confirmatory replication of a pilot null, with two positive controls and one secondary, in that order. Day 1 replicates the col null at full scale, with the raw-direction newline-continuation cell as primary and the class-mean direction added. Day 2 is the upstream arm with the q90 behavioural check: kill check K2. Day 3 the positive controls at matched dose, including the new next-digit cell: K3, which passed in the pilot. Day 4 the tense-tail secondary and the text-only baselines. Then an interim write-up, planted intermediates (K4), the re-solver consistency check and human labels, robustness, an optional split-injection replication, and three days for figures, write-up and red-teaming. Pivot rule: we pivot only if K3 fails, or if col and every in-J control are flat for every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contributions so far. One: a calibrated gate for non-workspace content, and a survey showing the non-J content Qwen uses at layer 42 is positional. Two: a causal pipeline that separates reading from re-solving, and its first answer for col. Three: evidence that the NLA generates a story from the latent rather than re-solving the text. Four: a benchmark decomposition and a protocol re-analysis. What would change our minds: a reader tracking col or the next digit at a leak-free dose in the main run; a non-count non-J feature; or check (e) coming out against us.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the decision log, the pilot re-analysis, the outcome map, costs, glossary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decision log is in notes/decisions.md. Every number in this deck traces to one of these entries or to an experiment's 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concurrent pilot. I recomputed their raw files and every headline number reproduces exactly. On their multihop data the NLA finds nothing the Oracle Lens misses: 3 NLA-only items against 8 OL-only, p = 0.23, and the two prose readers succeed on the same items. Hits look like solved facts: the bridge named together with the answer. Single-sample noise is large. Their swap test was weak and their deletion test can't separate re-solving from non-workspace reading. Their conclusion that readers mostly re-solve agrees with our Part D, on a different family set and with text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was written before the pilot results. The pilot lands in the bold row: col flat for all readers while in-J features are tracked at the same dose. Note the 'list index tracked' variant of that row no longer applies, because the list index turned out not to be in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kept honest: only what the RESULTS files itemise. Roughly $180 so far, of which about $5 is API calls. Experiments 00 and 02 didn't itemise GPU time, so the true total is somewhat higher. The sprint projection from the smoke test is about 35 GPU-hours, roughly $150 including reruns.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non-specialists and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for anyone who wants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05840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89611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8229600" cy="274320"/>
          </a:xfrm>
          <a:prstGeom prst="rect">
            <a:avLst/>
          </a:prstGeom>
          <a:noFill/>
          <a:ln/>
        </p:spPr>
        <p:txBody>
          <a:bodyPr wrap="square" lIns="0" tIns="0" rIns="0" bIns="0" rtlCol="0" anchor="ctr"/>
          <a:lstStyle/>
          <a:p>
            <a:pPr indent="0" marL="0">
              <a:buNone/>
            </a:pPr>
            <a:r>
              <a:rPr lang="en-US" sz="1000" dirty="0">
                <a:solidFill>
                  <a:srgbClr val="5E6E78"/>
                </a:solidFill>
                <a:latin typeface="Arial" pitchFamily="34" charset="0"/>
                <a:ea typeface="Arial" pitchFamily="34" charset="-122"/>
                <a:cs typeface="Arial" pitchFamily="34" charset="-120"/>
              </a:rPr>
              <a:t>MATS 12.0 · Neel Nanda stream · Do NLAs read what the model can't say?</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5.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5.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Do NLAs read what the model can't say — or re-solve what it read?</a:t>
            </a: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Testing whether Natural Language Autoencoders capture non-workspace content in Qwen3.6-27B</a:t>
            </a:r>
            <a:endParaRPr lang="en-US" sz="1800" dirty="0"/>
          </a:p>
        </p:txBody>
      </p:sp>
      <p:sp>
        <p:nvSpPr>
          <p:cNvPr id="4" name="Shape 2"/>
          <p:cNvSpPr/>
          <p:nvPr/>
        </p:nvSpPr>
        <p:spPr>
          <a:xfrm>
            <a:off x="731520" y="914400"/>
            <a:ext cx="5852160" cy="310896"/>
          </a:xfrm>
          <a:prstGeom prst="roundRect">
            <a:avLst>
              <a:gd name="adj" fmla="val 44118"/>
            </a:avLst>
          </a:prstGeom>
          <a:solidFill>
            <a:schemeClr val="accent4"/>
          </a:solidFill>
          <a:ln w="12700">
            <a:solidFill>
              <a:schemeClr val="accent4"/>
            </a:solidFill>
            <a:prstDash val="solid"/>
          </a:ln>
        </p:spPr>
      </p:sp>
      <p:sp>
        <p:nvSpPr>
          <p:cNvPr id="5" name="Text 3"/>
          <p:cNvSpPr txBox="1"/>
          <p:nvPr/>
        </p:nvSpPr>
        <p:spPr>
          <a:xfrm>
            <a:off x="731520" y="914400"/>
            <a:ext cx="5852160" cy="310896"/>
          </a:xfrm>
          <a:prstGeom prst="rect">
            <a:avLst/>
          </a:prstGeom>
          <a:noFill/>
          <a:ln/>
        </p:spPr>
        <p:txBody>
          <a:bodyPr wrap="square" lIns="0" tIns="0" rIns="0" bIns="0" rtlCol="0" anchor="ctr"/>
          <a:lstStyle/>
          <a:p>
            <a:pPr algn="ctr" indent="0" marL="0">
              <a:buNone/>
            </a:pPr>
            <a:r>
              <a:rPr lang="en-US" sz="1100" b="1" dirty="0">
                <a:solidFill>
                  <a:schemeClr val="bg1"/>
                </a:solidFill>
              </a:rPr>
              <a:t>WORKING TITLE · PROVISIONAL UNTIL THE PRE-REGISTRATION FREEZES</a:t>
            </a:r>
            <a:endParaRPr lang="en-US" sz="1100" dirty="0"/>
          </a:p>
        </p:txBody>
      </p:sp>
      <p:sp>
        <p:nvSpPr>
          <p:cNvPr id="6" name="Text 4"/>
          <p:cNvSpPr txBox="1"/>
          <p:nvPr/>
        </p:nvSpPr>
        <p:spPr>
          <a:xfrm>
            <a:off x="731520" y="4754880"/>
            <a:ext cx="10698480" cy="320040"/>
          </a:xfrm>
          <a:prstGeom prst="rect">
            <a:avLst/>
          </a:prstGeom>
          <a:noFill/>
          <a:ln/>
        </p:spPr>
        <p:txBody>
          <a:bodyPr wrap="square" lIns="0" tIns="0" rIns="0" bIns="0" rtlCol="0" anchor="t"/>
          <a:lstStyle/>
          <a:p>
            <a:pPr indent="0" marL="0">
              <a:buNone/>
            </a:pPr>
            <a:r>
              <a:rPr lang="en-US" sz="1400" dirty="0">
                <a:solidFill>
                  <a:schemeClr val="accent6"/>
                </a:solidFill>
              </a:rPr>
              <a:t>Suraj Prasad  ·  MATS 12.0 · Neel Nanda stream  ·  Prep-phase update · 6 October 2026</a:t>
            </a:r>
            <a:endParaRPr lang="en-US" sz="1400" dirty="0"/>
          </a:p>
        </p:txBody>
      </p:sp>
      <p:sp>
        <p:nvSpPr>
          <p:cNvPr id="7" name="Shape 5"/>
          <p:cNvSpPr/>
          <p:nvPr/>
        </p:nvSpPr>
        <p:spPr>
          <a:xfrm>
            <a:off x="731520" y="5897880"/>
            <a:ext cx="10728655" cy="914"/>
          </a:xfrm>
          <a:prstGeom prst="line">
            <a:avLst/>
          </a:prstGeom>
          <a:noFill/>
          <a:ln w="15875">
            <a:solidFill>
              <a:schemeClr val="accent5"/>
            </a:solidFill>
            <a:prstDash val="solid"/>
          </a:ln>
        </p:spPr>
      </p:sp>
      <p:sp>
        <p:nvSpPr>
          <p:cNvPr id="8" name="Shape 6"/>
          <p:cNvSpPr/>
          <p:nvPr/>
        </p:nvSpPr>
        <p:spPr>
          <a:xfrm>
            <a:off x="690372" y="5856732"/>
            <a:ext cx="82296" cy="82296"/>
          </a:xfrm>
          <a:prstGeom prst="ellipse">
            <a:avLst/>
          </a:prstGeom>
          <a:solidFill>
            <a:schemeClr val="accent5"/>
          </a:solidFill>
          <a:ln w="12700">
            <a:solidFill>
              <a:schemeClr val="accent5"/>
            </a:solidFill>
            <a:prstDash val="solid"/>
          </a:ln>
        </p:spPr>
      </p:sp>
      <p:sp>
        <p:nvSpPr>
          <p:cNvPr id="9" name="Shape 7"/>
          <p:cNvSpPr/>
          <p:nvPr/>
        </p:nvSpPr>
        <p:spPr>
          <a:xfrm>
            <a:off x="1405616" y="5856732"/>
            <a:ext cx="82296" cy="82296"/>
          </a:xfrm>
          <a:prstGeom prst="ellipse">
            <a:avLst/>
          </a:prstGeom>
          <a:solidFill>
            <a:schemeClr val="accent5"/>
          </a:solidFill>
          <a:ln w="12700">
            <a:solidFill>
              <a:schemeClr val="accent5"/>
            </a:solidFill>
            <a:prstDash val="solid"/>
          </a:ln>
        </p:spPr>
      </p:sp>
      <p:sp>
        <p:nvSpPr>
          <p:cNvPr id="10" name="Shape 8"/>
          <p:cNvSpPr/>
          <p:nvPr/>
        </p:nvSpPr>
        <p:spPr>
          <a:xfrm>
            <a:off x="2120859" y="5856732"/>
            <a:ext cx="82296" cy="82296"/>
          </a:xfrm>
          <a:prstGeom prst="ellipse">
            <a:avLst/>
          </a:prstGeom>
          <a:solidFill>
            <a:schemeClr val="accent5"/>
          </a:solidFill>
          <a:ln w="12700">
            <a:solidFill>
              <a:schemeClr val="accent5"/>
            </a:solidFill>
            <a:prstDash val="solid"/>
          </a:ln>
        </p:spPr>
      </p:sp>
      <p:sp>
        <p:nvSpPr>
          <p:cNvPr id="11" name="Shape 9"/>
          <p:cNvSpPr/>
          <p:nvPr/>
        </p:nvSpPr>
        <p:spPr>
          <a:xfrm>
            <a:off x="2836103" y="5856732"/>
            <a:ext cx="82296" cy="82296"/>
          </a:xfrm>
          <a:prstGeom prst="ellipse">
            <a:avLst/>
          </a:prstGeom>
          <a:solidFill>
            <a:schemeClr val="accent5"/>
          </a:solidFill>
          <a:ln w="12700">
            <a:solidFill>
              <a:schemeClr val="accent5"/>
            </a:solidFill>
            <a:prstDash val="solid"/>
          </a:ln>
        </p:spPr>
      </p:sp>
      <p:sp>
        <p:nvSpPr>
          <p:cNvPr id="12" name="Shape 10"/>
          <p:cNvSpPr/>
          <p:nvPr/>
        </p:nvSpPr>
        <p:spPr>
          <a:xfrm>
            <a:off x="3551347" y="5856732"/>
            <a:ext cx="82296" cy="82296"/>
          </a:xfrm>
          <a:prstGeom prst="ellipse">
            <a:avLst/>
          </a:prstGeom>
          <a:solidFill>
            <a:schemeClr val="accent5"/>
          </a:solidFill>
          <a:ln w="12700">
            <a:solidFill>
              <a:schemeClr val="accent5"/>
            </a:solidFill>
            <a:prstDash val="solid"/>
          </a:ln>
        </p:spPr>
      </p:sp>
      <p:sp>
        <p:nvSpPr>
          <p:cNvPr id="13" name="Shape 11"/>
          <p:cNvSpPr/>
          <p:nvPr/>
        </p:nvSpPr>
        <p:spPr>
          <a:xfrm>
            <a:off x="4266590" y="5856732"/>
            <a:ext cx="82296" cy="82296"/>
          </a:xfrm>
          <a:prstGeom prst="ellipse">
            <a:avLst/>
          </a:prstGeom>
          <a:solidFill>
            <a:schemeClr val="accent5"/>
          </a:solidFill>
          <a:ln w="12700">
            <a:solidFill>
              <a:schemeClr val="accent5"/>
            </a:solidFill>
            <a:prstDash val="solid"/>
          </a:ln>
        </p:spPr>
      </p:sp>
      <p:sp>
        <p:nvSpPr>
          <p:cNvPr id="14" name="Shape 12"/>
          <p:cNvSpPr/>
          <p:nvPr/>
        </p:nvSpPr>
        <p:spPr>
          <a:xfrm>
            <a:off x="4981834" y="5856732"/>
            <a:ext cx="82296" cy="82296"/>
          </a:xfrm>
          <a:prstGeom prst="ellipse">
            <a:avLst/>
          </a:prstGeom>
          <a:solidFill>
            <a:schemeClr val="accent5"/>
          </a:solidFill>
          <a:ln w="12700">
            <a:solidFill>
              <a:schemeClr val="accent5"/>
            </a:solidFill>
            <a:prstDash val="solid"/>
          </a:ln>
        </p:spPr>
      </p:sp>
      <p:sp>
        <p:nvSpPr>
          <p:cNvPr id="15" name="Shape 13"/>
          <p:cNvSpPr/>
          <p:nvPr/>
        </p:nvSpPr>
        <p:spPr>
          <a:xfrm>
            <a:off x="5697078" y="5856732"/>
            <a:ext cx="82296" cy="82296"/>
          </a:xfrm>
          <a:prstGeom prst="ellipse">
            <a:avLst/>
          </a:prstGeom>
          <a:solidFill>
            <a:schemeClr val="accent5"/>
          </a:solidFill>
          <a:ln w="12700">
            <a:solidFill>
              <a:schemeClr val="accent5"/>
            </a:solidFill>
            <a:prstDash val="solid"/>
          </a:ln>
        </p:spPr>
      </p:sp>
      <p:sp>
        <p:nvSpPr>
          <p:cNvPr id="16" name="Shape 14"/>
          <p:cNvSpPr/>
          <p:nvPr/>
        </p:nvSpPr>
        <p:spPr>
          <a:xfrm>
            <a:off x="6412321" y="5856732"/>
            <a:ext cx="82296" cy="82296"/>
          </a:xfrm>
          <a:prstGeom prst="ellipse">
            <a:avLst/>
          </a:prstGeom>
          <a:solidFill>
            <a:schemeClr val="accent5"/>
          </a:solidFill>
          <a:ln w="12700">
            <a:solidFill>
              <a:schemeClr val="accent5"/>
            </a:solidFill>
            <a:prstDash val="solid"/>
          </a:ln>
        </p:spPr>
      </p:sp>
      <p:sp>
        <p:nvSpPr>
          <p:cNvPr id="17" name="Shape 15"/>
          <p:cNvSpPr/>
          <p:nvPr/>
        </p:nvSpPr>
        <p:spPr>
          <a:xfrm>
            <a:off x="7127565" y="5856732"/>
            <a:ext cx="82296" cy="82296"/>
          </a:xfrm>
          <a:prstGeom prst="ellipse">
            <a:avLst/>
          </a:prstGeom>
          <a:solidFill>
            <a:schemeClr val="accent5"/>
          </a:solidFill>
          <a:ln w="12700">
            <a:solidFill>
              <a:schemeClr val="accent5"/>
            </a:solidFill>
            <a:prstDash val="solid"/>
          </a:ln>
        </p:spPr>
      </p:sp>
      <p:sp>
        <p:nvSpPr>
          <p:cNvPr id="18" name="Shape 16"/>
          <p:cNvSpPr/>
          <p:nvPr/>
        </p:nvSpPr>
        <p:spPr>
          <a:xfrm>
            <a:off x="7842809" y="5856732"/>
            <a:ext cx="82296" cy="82296"/>
          </a:xfrm>
          <a:prstGeom prst="ellipse">
            <a:avLst/>
          </a:prstGeom>
          <a:solidFill>
            <a:schemeClr val="accent5"/>
          </a:solidFill>
          <a:ln w="12700">
            <a:solidFill>
              <a:schemeClr val="accent5"/>
            </a:solidFill>
            <a:prstDash val="solid"/>
          </a:ln>
        </p:spPr>
      </p:sp>
      <p:sp>
        <p:nvSpPr>
          <p:cNvPr id="19" name="Shape 17"/>
          <p:cNvSpPr/>
          <p:nvPr/>
        </p:nvSpPr>
        <p:spPr>
          <a:xfrm>
            <a:off x="8558052" y="5856732"/>
            <a:ext cx="82296" cy="82296"/>
          </a:xfrm>
          <a:prstGeom prst="ellipse">
            <a:avLst/>
          </a:prstGeom>
          <a:solidFill>
            <a:schemeClr val="accent5"/>
          </a:solidFill>
          <a:ln w="12700">
            <a:solidFill>
              <a:schemeClr val="accent5"/>
            </a:solidFill>
            <a:prstDash val="solid"/>
          </a:ln>
        </p:spPr>
      </p:sp>
      <p:sp>
        <p:nvSpPr>
          <p:cNvPr id="20" name="Shape 18"/>
          <p:cNvSpPr/>
          <p:nvPr/>
        </p:nvSpPr>
        <p:spPr>
          <a:xfrm>
            <a:off x="9273296" y="5856732"/>
            <a:ext cx="82296" cy="82296"/>
          </a:xfrm>
          <a:prstGeom prst="ellipse">
            <a:avLst/>
          </a:prstGeom>
          <a:solidFill>
            <a:schemeClr val="accent5"/>
          </a:solidFill>
          <a:ln w="12700">
            <a:solidFill>
              <a:schemeClr val="accent5"/>
            </a:solidFill>
            <a:prstDash val="solid"/>
          </a:ln>
        </p:spPr>
      </p:sp>
      <p:sp>
        <p:nvSpPr>
          <p:cNvPr id="21" name="Shape 19"/>
          <p:cNvSpPr/>
          <p:nvPr/>
        </p:nvSpPr>
        <p:spPr>
          <a:xfrm>
            <a:off x="9988540" y="5856732"/>
            <a:ext cx="82296" cy="82296"/>
          </a:xfrm>
          <a:prstGeom prst="ellipse">
            <a:avLst/>
          </a:prstGeom>
          <a:solidFill>
            <a:schemeClr val="accent5"/>
          </a:solidFill>
          <a:ln w="12700">
            <a:solidFill>
              <a:schemeClr val="accent5"/>
            </a:solidFill>
            <a:prstDash val="solid"/>
          </a:ln>
        </p:spPr>
      </p:sp>
      <p:sp>
        <p:nvSpPr>
          <p:cNvPr id="22" name="Shape 20"/>
          <p:cNvSpPr/>
          <p:nvPr/>
        </p:nvSpPr>
        <p:spPr>
          <a:xfrm>
            <a:off x="10703784" y="5856732"/>
            <a:ext cx="82296" cy="82296"/>
          </a:xfrm>
          <a:prstGeom prst="ellipse">
            <a:avLst/>
          </a:prstGeom>
          <a:solidFill>
            <a:schemeClr val="accent5"/>
          </a:solidFill>
          <a:ln w="12700">
            <a:solidFill>
              <a:schemeClr val="accent5"/>
            </a:solidFill>
            <a:prstDash val="solid"/>
          </a:ln>
        </p:spPr>
      </p:sp>
      <p:sp>
        <p:nvSpPr>
          <p:cNvPr id="23" name="Shape 21"/>
          <p:cNvSpPr/>
          <p:nvPr/>
        </p:nvSpPr>
        <p:spPr>
          <a:xfrm>
            <a:off x="11419027" y="5856732"/>
            <a:ext cx="82296" cy="82296"/>
          </a:xfrm>
          <a:prstGeom prst="ellipse">
            <a:avLst/>
          </a:prstGeom>
          <a:solidFill>
            <a:schemeClr val="accent5"/>
          </a:solidFill>
          <a:ln w="12700">
            <a:solidFill>
              <a:schemeClr val="accent5"/>
            </a:solidFill>
            <a:prstDash val="solid"/>
          </a:ln>
        </p:spPr>
      </p:sp>
      <p:sp>
        <p:nvSpPr>
          <p:cNvPr id="24" name="Shape 22"/>
          <p:cNvSpPr/>
          <p:nvPr/>
        </p:nvSpPr>
        <p:spPr>
          <a:xfrm>
            <a:off x="7509053" y="5797296"/>
            <a:ext cx="201168" cy="201168"/>
          </a:xfrm>
          <a:prstGeom prst="ellipse">
            <a:avLst/>
          </a:prstGeom>
          <a:solidFill>
            <a:schemeClr val="accent1"/>
          </a:solidFill>
          <a:ln w="19050">
            <a:solidFill>
              <a:schemeClr val="tx2"/>
            </a:solidFill>
            <a:prstDash val="solid"/>
          </a:ln>
        </p:spPr>
      </p:sp>
      <p:sp>
        <p:nvSpPr>
          <p:cNvPr id="25" name="Shape 23"/>
          <p:cNvSpPr/>
          <p:nvPr/>
        </p:nvSpPr>
        <p:spPr>
          <a:xfrm>
            <a:off x="7783373" y="5797296"/>
            <a:ext cx="201168" cy="201168"/>
          </a:xfrm>
          <a:prstGeom prst="ellipse">
            <a:avLst/>
          </a:prstGeom>
          <a:solidFill>
            <a:schemeClr val="accent2"/>
          </a:solidFill>
          <a:ln w="19050">
            <a:solidFill>
              <a:schemeClr val="tx2"/>
            </a:solidFill>
            <a:prstDash val="solid"/>
          </a:ln>
        </p:spPr>
      </p:sp>
      <p:sp>
        <p:nvSpPr>
          <p:cNvPr id="26" name="Shape 24"/>
          <p:cNvSpPr/>
          <p:nvPr/>
        </p:nvSpPr>
        <p:spPr>
          <a:xfrm>
            <a:off x="8057693" y="5797296"/>
            <a:ext cx="201168" cy="201168"/>
          </a:xfrm>
          <a:prstGeom prst="ellipse">
            <a:avLst/>
          </a:prstGeom>
          <a:solidFill>
            <a:schemeClr val="accent3"/>
          </a:solidFill>
          <a:ln w="19050">
            <a:solidFill>
              <a:schemeClr val="tx2"/>
            </a:solidFill>
            <a:prstDash val="solid"/>
          </a:ln>
        </p:spPr>
      </p:sp>
      <p:sp>
        <p:nvSpPr>
          <p:cNvPr id="27" name="Text 25"/>
          <p:cNvSpPr txBox="1"/>
          <p:nvPr/>
        </p:nvSpPr>
        <p:spPr>
          <a:xfrm>
            <a:off x="7335317" y="606247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QUESTION, AND THE ANSWER UP FRONT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Provisional answer: neither. The NLA doesn't read what the model can't say, and doesn't re-solve: it generates</a:t>
            </a:r>
            <a:endParaRPr lang="en-US" sz="2800" dirty="0"/>
          </a:p>
        </p:txBody>
      </p:sp>
      <p:sp>
        <p:nvSpPr>
          <p:cNvPr id="7" name="Shape 5"/>
          <p:cNvSpPr/>
          <p:nvPr/>
        </p:nvSpPr>
        <p:spPr>
          <a:xfrm>
            <a:off x="548640" y="1691640"/>
            <a:ext cx="457200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691640"/>
            <a:ext cx="914400" cy="914400"/>
          </a:xfrm>
          <a:prstGeom prst="rect">
            <a:avLst/>
          </a:prstGeom>
          <a:noFill/>
          <a:ln/>
        </p:spPr>
        <p:txBody>
          <a:bodyPr wrap="square" lIns="0" tIns="0" rIns="0" bIns="0" rtlCol="0" anchor="t"/>
          <a:lstStyle/>
          <a:p>
            <a:pPr indent="0" marL="0">
              <a:buNone/>
            </a:pPr>
            <a:r>
              <a:rPr lang="en-US" sz="8000" b="1" dirty="0">
                <a:solidFill>
                  <a:schemeClr val="accent1"/>
                </a:solidFill>
                <a:latin typeface="Cambria" pitchFamily="34" charset="0"/>
                <a:ea typeface="Cambria" pitchFamily="34" charset="-122"/>
                <a:cs typeface="Cambria" pitchFamily="34" charset="-120"/>
              </a:rPr>
              <a:t>“</a:t>
            </a:r>
            <a:endParaRPr lang="en-US" sz="8000" dirty="0"/>
          </a:p>
        </p:txBody>
      </p:sp>
      <p:sp>
        <p:nvSpPr>
          <p:cNvPr id="9" name="Text 7"/>
          <p:cNvSpPr txBox="1"/>
          <p:nvPr/>
        </p:nvSpPr>
        <p:spPr>
          <a:xfrm>
            <a:off x="868680" y="2514600"/>
            <a:ext cx="3977640" cy="237744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What can NLAs capture that Oracle Lens / J Lens don't? Is it really the stuff not in the workspace?</a:t>
            </a:r>
            <a:endParaRPr lang="en-US" sz="2400" dirty="0"/>
          </a:p>
        </p:txBody>
      </p:sp>
      <p:sp>
        <p:nvSpPr>
          <p:cNvPr id="10" name="Text 8"/>
          <p:cNvSpPr txBox="1"/>
          <p:nvPr/>
        </p:nvSpPr>
        <p:spPr>
          <a:xfrm>
            <a:off x="868680" y="5120640"/>
            <a:ext cx="3977640" cy="731520"/>
          </a:xfrm>
          <a:prstGeom prst="rect">
            <a:avLst/>
          </a:prstGeom>
          <a:noFill/>
          <a:ln/>
        </p:spPr>
        <p:txBody>
          <a:bodyPr wrap="square" lIns="0" tIns="0" rIns="0" bIns="0" rtlCol="0" anchor="t"/>
          <a:lstStyle/>
          <a:p>
            <a:pPr indent="0" marL="0">
              <a:buNone/>
            </a:pPr>
            <a:r>
              <a:rPr lang="en-US" sz="1200" dirty="0">
                <a:solidFill>
                  <a:schemeClr val="accent5"/>
                </a:solidFill>
              </a:rPr>
              <a:t>Neel Nanda, MATS 12.0 central doc ("Basic science" project list)</a:t>
            </a:r>
            <a:endParaRPr lang="en-US" sz="1200" dirty="0"/>
          </a:p>
        </p:txBody>
      </p:sp>
      <p:sp>
        <p:nvSpPr>
          <p:cNvPr id="11" name="Text 9"/>
          <p:cNvSpPr txBox="1"/>
          <p:nvPr/>
        </p:nvSpPr>
        <p:spPr>
          <a:xfrm>
            <a:off x="5532120" y="1691640"/>
            <a:ext cx="6110935"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Our answer so far</a:t>
            </a:r>
            <a:endParaRPr lang="en-US" sz="2000" dirty="0"/>
          </a:p>
        </p:txBody>
      </p:sp>
      <p:sp>
        <p:nvSpPr>
          <p:cNvPr id="12" name="Shape 10"/>
          <p:cNvSpPr/>
          <p:nvPr/>
        </p:nvSpPr>
        <p:spPr>
          <a:xfrm>
            <a:off x="5532120" y="2258568"/>
            <a:ext cx="384048" cy="384048"/>
          </a:xfrm>
          <a:prstGeom prst="ellipse">
            <a:avLst/>
          </a:prstGeom>
          <a:solidFill>
            <a:schemeClr val="accent4"/>
          </a:solidFill>
          <a:ln w="12700">
            <a:solidFill>
              <a:schemeClr val="accent4"/>
            </a:solidFill>
            <a:prstDash val="solid"/>
          </a:ln>
        </p:spPr>
      </p:sp>
      <p:sp>
        <p:nvSpPr>
          <p:cNvPr id="13" name="Text 11"/>
          <p:cNvSpPr txBox="1"/>
          <p:nvPr/>
        </p:nvSpPr>
        <p:spPr>
          <a:xfrm>
            <a:off x="5532120" y="2258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6080760" y="224028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Not the non-workspace stuff: </a:t>
            </a:r>
            <a:pPr indent="0" marL="0">
              <a:buNone/>
            </a:pPr>
            <a:r>
              <a:rPr lang="en-US" sz="1600" dirty="0">
                <a:solidFill>
                  <a:schemeClr val="tx1"/>
                </a:solidFill>
              </a:rPr>
              <a:t>the non-J content Qwen uses looks like positional bookkeeping, and neither decoder reads col, though both read workspace features at the same dose.</a:t>
            </a:r>
            <a:endParaRPr lang="en-US" sz="1600" dirty="0"/>
          </a:p>
        </p:txBody>
      </p:sp>
      <p:sp>
        <p:nvSpPr>
          <p:cNvPr id="15" name="Shape 13"/>
          <p:cNvSpPr/>
          <p:nvPr/>
        </p:nvSpPr>
        <p:spPr>
          <a:xfrm>
            <a:off x="5532120" y="3584448"/>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532120" y="3584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6080760" y="356616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What it reads beyond J: </a:t>
            </a:r>
            <a:pPr indent="0" marL="0">
              <a:buNone/>
            </a:pPr>
            <a:r>
              <a:rPr lang="en-US" sz="1600" dirty="0">
                <a:solidFill>
                  <a:schemeClr val="tx1"/>
                </a:solidFill>
              </a:rPr>
              <a:t>the distributed tail of features the model can already verbalise (tense, pilot), and it writes a story consistent with the latent rather than re-solving the text.</a:t>
            </a:r>
            <a:endParaRPr lang="en-US" sz="1600" dirty="0"/>
          </a:p>
        </p:txBody>
      </p:sp>
      <p:sp>
        <p:nvSpPr>
          <p:cNvPr id="18" name="Shape 16"/>
          <p:cNvSpPr/>
          <p:nvPr/>
        </p:nvSpPr>
        <p:spPr>
          <a:xfrm>
            <a:off x="5532120" y="4910328"/>
            <a:ext cx="384048" cy="384048"/>
          </a:xfrm>
          <a:prstGeom prst="ellipse">
            <a:avLst/>
          </a:prstGeom>
          <a:solidFill>
            <a:schemeClr val="accent3"/>
          </a:solidFill>
          <a:ln w="12700">
            <a:solidFill>
              <a:schemeClr val="accent3"/>
            </a:solidFill>
            <a:prstDash val="solid"/>
          </a:ln>
        </p:spPr>
      </p:sp>
      <p:sp>
        <p:nvSpPr>
          <p:cNvPr id="19" name="Text 17"/>
          <p:cNvSpPr txBox="1"/>
          <p:nvPr/>
        </p:nvSpPr>
        <p:spPr>
          <a:xfrm>
            <a:off x="5532120" y="4910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080760" y="489204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On the benchmark: </a:t>
            </a:r>
            <a:pPr indent="0" marL="0">
              <a:buNone/>
            </a:pPr>
            <a:r>
              <a:rPr lang="en-US" sz="1600" dirty="0">
                <a:solidFill>
                  <a:schemeClr val="tx1"/>
                </a:solidFill>
              </a:rPr>
              <a:t>its WorkspaceBench successes are matched by a text-only model (a consistency check is still open).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WHY IT MATTERS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If readers only re-solve the prompt, they can't watch a model that stops writing its thoughts down</a:t>
            </a:r>
            <a:endParaRPr lang="en-US" sz="2800" dirty="0"/>
          </a:p>
        </p:txBody>
      </p:sp>
      <p:sp>
        <p:nvSpPr>
          <p:cNvPr id="7" name="Shape 5"/>
          <p:cNvSpPr/>
          <p:nvPr/>
        </p:nvSpPr>
        <p:spPr>
          <a:xfrm>
            <a:off x="548640" y="1828800"/>
            <a:ext cx="3362858"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749808" y="2011680"/>
            <a:ext cx="384048" cy="384048"/>
          </a:xfrm>
          <a:prstGeom prst="ellipse">
            <a:avLst/>
          </a:prstGeom>
          <a:solidFill>
            <a:schemeClr val="accent5"/>
          </a:solidFill>
          <a:ln w="12700">
            <a:solidFill>
              <a:schemeClr val="accent5"/>
            </a:solidFill>
            <a:prstDash val="solid"/>
          </a:ln>
        </p:spPr>
      </p:sp>
      <p:sp>
        <p:nvSpPr>
          <p:cNvPr id="9" name="Text 7"/>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261872"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Today</a:t>
            </a:r>
            <a:endParaRPr lang="en-US" sz="1900" dirty="0"/>
          </a:p>
        </p:txBody>
      </p:sp>
      <p:sp>
        <p:nvSpPr>
          <p:cNvPr id="11" name="Text 9"/>
          <p:cNvSpPr txBox="1"/>
          <p:nvPr/>
        </p:nvSpPr>
        <p:spPr>
          <a:xfrm>
            <a:off x="749808"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Much of a model's reasoning is visible in its chain of thought, so we can read it.</a:t>
            </a:r>
            <a:endParaRPr lang="en-US" sz="1500" dirty="0"/>
          </a:p>
        </p:txBody>
      </p:sp>
      <p:sp>
        <p:nvSpPr>
          <p:cNvPr id="12" name="Shape 10"/>
          <p:cNvSpPr/>
          <p:nvPr/>
        </p:nvSpPr>
        <p:spPr>
          <a:xfrm>
            <a:off x="3984650" y="2944368"/>
            <a:ext cx="356616" cy="914"/>
          </a:xfrm>
          <a:prstGeom prst="line">
            <a:avLst/>
          </a:prstGeom>
          <a:noFill/>
          <a:ln w="25400">
            <a:solidFill>
              <a:schemeClr val="accent5"/>
            </a:solidFill>
            <a:prstDash val="solid"/>
            <a:tailEnd type="triangle"/>
          </a:ln>
        </p:spPr>
      </p:sp>
      <p:sp>
        <p:nvSpPr>
          <p:cNvPr id="13" name="Shape 11"/>
          <p:cNvSpPr/>
          <p:nvPr/>
        </p:nvSpPr>
        <p:spPr>
          <a:xfrm>
            <a:off x="4414418" y="1828800"/>
            <a:ext cx="3362858" cy="2240280"/>
          </a:xfrm>
          <a:prstGeom prst="roundRect">
            <a:avLst>
              <a:gd name="adj" fmla="val 3265"/>
            </a:avLst>
          </a:prstGeom>
          <a:solidFill>
            <a:schemeClr val="bg2"/>
          </a:solidFill>
          <a:ln w="12700">
            <a:solidFill>
              <a:schemeClr val="bg2"/>
            </a:solidFill>
            <a:prstDash val="solid"/>
          </a:ln>
        </p:spPr>
      </p:sp>
      <p:sp>
        <p:nvSpPr>
          <p:cNvPr id="14" name="Shape 12"/>
          <p:cNvSpPr/>
          <p:nvPr/>
        </p:nvSpPr>
        <p:spPr>
          <a:xfrm>
            <a:off x="4615586" y="2011680"/>
            <a:ext cx="384048" cy="384048"/>
          </a:xfrm>
          <a:prstGeom prst="ellipse">
            <a:avLst/>
          </a:prstGeom>
          <a:solidFill>
            <a:schemeClr val="accent5"/>
          </a:solidFill>
          <a:ln w="12700">
            <a:solidFill>
              <a:schemeClr val="accent5"/>
            </a:solidFill>
            <a:prstDash val="solid"/>
          </a:ln>
        </p:spPr>
      </p:sp>
      <p:sp>
        <p:nvSpPr>
          <p:cNvPr id="15" name="Text 13"/>
          <p:cNvSpPr txBox="1"/>
          <p:nvPr/>
        </p:nvSpPr>
        <p:spPr>
          <a:xfrm>
            <a:off x="4615586"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4"/>
          <p:cNvSpPr txBox="1"/>
          <p:nvPr/>
        </p:nvSpPr>
        <p:spPr>
          <a:xfrm>
            <a:off x="5127650"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Tomorrow</a:t>
            </a:r>
            <a:endParaRPr lang="en-US" sz="1900" dirty="0"/>
          </a:p>
        </p:txBody>
      </p:sp>
      <p:sp>
        <p:nvSpPr>
          <p:cNvPr id="17" name="Text 15"/>
          <p:cNvSpPr txBox="1"/>
          <p:nvPr/>
        </p:nvSpPr>
        <p:spPr>
          <a:xfrm>
            <a:off x="4615586"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Reasoning may go silent: no CoT, latent reasoning, or CoT that is not faithful.</a:t>
            </a:r>
            <a:endParaRPr lang="en-US" sz="1500" dirty="0"/>
          </a:p>
        </p:txBody>
      </p:sp>
      <p:sp>
        <p:nvSpPr>
          <p:cNvPr id="18" name="Shape 16"/>
          <p:cNvSpPr/>
          <p:nvPr/>
        </p:nvSpPr>
        <p:spPr>
          <a:xfrm>
            <a:off x="7850429" y="2944368"/>
            <a:ext cx="356616" cy="914"/>
          </a:xfrm>
          <a:prstGeom prst="line">
            <a:avLst/>
          </a:prstGeom>
          <a:noFill/>
          <a:ln w="25400">
            <a:solidFill>
              <a:schemeClr val="accent5"/>
            </a:solidFill>
            <a:prstDash val="solid"/>
            <a:tailEnd type="triangle"/>
          </a:ln>
        </p:spPr>
      </p:sp>
      <p:sp>
        <p:nvSpPr>
          <p:cNvPr id="19" name="Shape 17"/>
          <p:cNvSpPr/>
          <p:nvPr/>
        </p:nvSpPr>
        <p:spPr>
          <a:xfrm>
            <a:off x="8280197" y="1828800"/>
            <a:ext cx="3362858" cy="2240280"/>
          </a:xfrm>
          <a:prstGeom prst="roundRect">
            <a:avLst>
              <a:gd name="adj" fmla="val 3265"/>
            </a:avLst>
          </a:prstGeom>
          <a:solidFill>
            <a:schemeClr val="accent1">
              <a:alpha val="15000"/>
            </a:schemeClr>
          </a:solidFill>
          <a:ln w="15875">
            <a:solidFill>
              <a:schemeClr val="accent1"/>
            </a:solidFill>
            <a:prstDash val="solid"/>
          </a:ln>
        </p:spPr>
      </p:sp>
      <p:sp>
        <p:nvSpPr>
          <p:cNvPr id="20" name="Shape 18"/>
          <p:cNvSpPr/>
          <p:nvPr/>
        </p:nvSpPr>
        <p:spPr>
          <a:xfrm>
            <a:off x="8481365" y="20116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8481365"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8993429"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Then we need</a:t>
            </a:r>
            <a:endParaRPr lang="en-US" sz="1900" dirty="0"/>
          </a:p>
        </p:txBody>
      </p:sp>
      <p:sp>
        <p:nvSpPr>
          <p:cNvPr id="23" name="Text 21"/>
          <p:cNvSpPr txBox="1"/>
          <p:nvPr/>
        </p:nvSpPr>
        <p:spPr>
          <a:xfrm>
            <a:off x="8481365"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Readers that report what the model computed but never said. Neel's doc calls this preparing for a world without monitorable CoT.</a:t>
            </a:r>
            <a:endParaRPr lang="en-US" sz="1500" dirty="0"/>
          </a:p>
        </p:txBody>
      </p:sp>
      <p:sp>
        <p:nvSpPr>
          <p:cNvPr id="24" name="Shape 22"/>
          <p:cNvSpPr/>
          <p:nvPr/>
        </p:nvSpPr>
        <p:spPr>
          <a:xfrm>
            <a:off x="548640" y="45262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822960" y="4617720"/>
            <a:ext cx="10545775" cy="960120"/>
          </a:xfrm>
          <a:prstGeom prst="rect">
            <a:avLst/>
          </a:prstGeom>
          <a:noFill/>
          <a:ln/>
        </p:spPr>
        <p:txBody>
          <a:bodyPr wrap="square" lIns="0" tIns="0" rIns="0" bIns="0" rtlCol="0" anchor="ctr"/>
          <a:lstStyle/>
          <a:p>
            <a:pPr indent="0" marL="0">
              <a:buNone/>
            </a:pPr>
            <a:r>
              <a:rPr lang="en-US" sz="1800" b="1" dirty="0">
                <a:solidFill>
                  <a:schemeClr val="tx1"/>
                </a:solidFill>
              </a:rPr>
              <a:t>The bar for usefulness: a reader must report content that a text-only model, given the same prompt, could not reconstruct.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01</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Background, made intuitive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residual stream, the 'workspace', and three ways to read it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1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model's working memory: one 5,120-number vector per token, rewritten by each of 64 layers</a:t>
            </a:r>
            <a:endParaRPr lang="en-US" sz="2800" dirty="0"/>
          </a:p>
        </p:txBody>
      </p:sp>
      <p:sp>
        <p:nvSpPr>
          <p:cNvPr id="7" name="Shape 5"/>
          <p:cNvSpPr/>
          <p:nvPr/>
        </p:nvSpPr>
        <p:spPr>
          <a:xfrm>
            <a:off x="868680" y="1828800"/>
            <a:ext cx="914" cy="3749040"/>
          </a:xfrm>
          <a:prstGeom prst="line">
            <a:avLst/>
          </a:prstGeom>
          <a:noFill/>
          <a:ln w="12700">
            <a:solidFill>
              <a:schemeClr val="accent6"/>
            </a:solidFill>
            <a:prstDash val="solid"/>
          </a:ln>
        </p:spPr>
      </p:sp>
      <p:sp>
        <p:nvSpPr>
          <p:cNvPr id="8" name="Shape 6"/>
          <p:cNvSpPr/>
          <p:nvPr/>
        </p:nvSpPr>
        <p:spPr>
          <a:xfrm>
            <a:off x="548640" y="5623560"/>
            <a:ext cx="640080" cy="365760"/>
          </a:xfrm>
          <a:prstGeom prst="roundRect">
            <a:avLst>
              <a:gd name="adj" fmla="val 15000"/>
            </a:avLst>
          </a:prstGeom>
          <a:solidFill>
            <a:schemeClr val="bg2"/>
          </a:solidFill>
          <a:ln w="9525">
            <a:solidFill>
              <a:schemeClr val="accent6"/>
            </a:solidFill>
            <a:prstDash val="solid"/>
          </a:ln>
        </p:spPr>
      </p:sp>
      <p:sp>
        <p:nvSpPr>
          <p:cNvPr id="9" name="Text 7"/>
          <p:cNvSpPr txBox="1"/>
          <p:nvPr/>
        </p:nvSpPr>
        <p:spPr>
          <a:xfrm>
            <a:off x="502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0" name="Shape 8"/>
          <p:cNvSpPr/>
          <p:nvPr/>
        </p:nvSpPr>
        <p:spPr>
          <a:xfrm>
            <a:off x="1554480" y="1828800"/>
            <a:ext cx="914" cy="3749040"/>
          </a:xfrm>
          <a:prstGeom prst="line">
            <a:avLst/>
          </a:prstGeom>
          <a:noFill/>
          <a:ln w="12700">
            <a:solidFill>
              <a:schemeClr val="accent6"/>
            </a:solidFill>
            <a:prstDash val="solid"/>
          </a:ln>
        </p:spPr>
      </p:sp>
      <p:sp>
        <p:nvSpPr>
          <p:cNvPr id="11" name="Shape 9"/>
          <p:cNvSpPr/>
          <p:nvPr/>
        </p:nvSpPr>
        <p:spPr>
          <a:xfrm>
            <a:off x="1234440" y="5623560"/>
            <a:ext cx="640080" cy="365760"/>
          </a:xfrm>
          <a:prstGeom prst="roundRect">
            <a:avLst>
              <a:gd name="adj" fmla="val 15000"/>
            </a:avLst>
          </a:prstGeom>
          <a:solidFill>
            <a:schemeClr val="bg2"/>
          </a:solidFill>
          <a:ln w="9525">
            <a:solidFill>
              <a:schemeClr val="accent6"/>
            </a:solidFill>
            <a:prstDash val="solid"/>
          </a:ln>
        </p:spPr>
      </p:sp>
      <p:sp>
        <p:nvSpPr>
          <p:cNvPr id="12" name="Text 10"/>
          <p:cNvSpPr txBox="1"/>
          <p:nvPr/>
        </p:nvSpPr>
        <p:spPr>
          <a:xfrm>
            <a:off x="1188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capital</a:t>
            </a:r>
            <a:endParaRPr lang="en-US" sz="1100" dirty="0"/>
          </a:p>
        </p:txBody>
      </p:sp>
      <p:sp>
        <p:nvSpPr>
          <p:cNvPr id="13" name="Shape 11"/>
          <p:cNvSpPr/>
          <p:nvPr/>
        </p:nvSpPr>
        <p:spPr>
          <a:xfrm>
            <a:off x="2240280" y="1828800"/>
            <a:ext cx="914" cy="3749040"/>
          </a:xfrm>
          <a:prstGeom prst="line">
            <a:avLst/>
          </a:prstGeom>
          <a:noFill/>
          <a:ln w="12700">
            <a:solidFill>
              <a:schemeClr val="accent6"/>
            </a:solidFill>
            <a:prstDash val="solid"/>
          </a:ln>
        </p:spPr>
      </p:sp>
      <p:sp>
        <p:nvSpPr>
          <p:cNvPr id="14" name="Shape 12"/>
          <p:cNvSpPr/>
          <p:nvPr/>
        </p:nvSpPr>
        <p:spPr>
          <a:xfrm>
            <a:off x="1920240" y="5623560"/>
            <a:ext cx="640080" cy="365760"/>
          </a:xfrm>
          <a:prstGeom prst="roundRect">
            <a:avLst>
              <a:gd name="adj" fmla="val 15000"/>
            </a:avLst>
          </a:prstGeom>
          <a:solidFill>
            <a:schemeClr val="bg2"/>
          </a:solidFill>
          <a:ln w="9525">
            <a:solidFill>
              <a:schemeClr val="accent6"/>
            </a:solidFill>
            <a:prstDash val="solid"/>
          </a:ln>
        </p:spPr>
      </p:sp>
      <p:sp>
        <p:nvSpPr>
          <p:cNvPr id="15" name="Text 13"/>
          <p:cNvSpPr txBox="1"/>
          <p:nvPr/>
        </p:nvSpPr>
        <p:spPr>
          <a:xfrm>
            <a:off x="1874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of</a:t>
            </a:r>
            <a:endParaRPr lang="en-US" sz="1100" dirty="0"/>
          </a:p>
        </p:txBody>
      </p:sp>
      <p:sp>
        <p:nvSpPr>
          <p:cNvPr id="16" name="Shape 14"/>
          <p:cNvSpPr/>
          <p:nvPr/>
        </p:nvSpPr>
        <p:spPr>
          <a:xfrm>
            <a:off x="2926080" y="1828800"/>
            <a:ext cx="914" cy="3749040"/>
          </a:xfrm>
          <a:prstGeom prst="line">
            <a:avLst/>
          </a:prstGeom>
          <a:noFill/>
          <a:ln w="12700">
            <a:solidFill>
              <a:schemeClr val="accent6"/>
            </a:solidFill>
            <a:prstDash val="solid"/>
          </a:ln>
        </p:spPr>
      </p:sp>
      <p:sp>
        <p:nvSpPr>
          <p:cNvPr id="17" name="Shape 15"/>
          <p:cNvSpPr/>
          <p:nvPr/>
        </p:nvSpPr>
        <p:spPr>
          <a:xfrm>
            <a:off x="2606040" y="5623560"/>
            <a:ext cx="640080" cy="365760"/>
          </a:xfrm>
          <a:prstGeom prst="roundRect">
            <a:avLst>
              <a:gd name="adj" fmla="val 15000"/>
            </a:avLst>
          </a:prstGeom>
          <a:solidFill>
            <a:schemeClr val="bg2"/>
          </a:solidFill>
          <a:ln w="9525">
            <a:solidFill>
              <a:schemeClr val="accent6"/>
            </a:solidFill>
            <a:prstDash val="solid"/>
          </a:ln>
        </p:spPr>
      </p:sp>
      <p:sp>
        <p:nvSpPr>
          <p:cNvPr id="18" name="Text 16"/>
          <p:cNvSpPr txBox="1"/>
          <p:nvPr/>
        </p:nvSpPr>
        <p:spPr>
          <a:xfrm>
            <a:off x="2560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9" name="Shape 17"/>
          <p:cNvSpPr/>
          <p:nvPr/>
        </p:nvSpPr>
        <p:spPr>
          <a:xfrm>
            <a:off x="3611880" y="1828800"/>
            <a:ext cx="914" cy="3749040"/>
          </a:xfrm>
          <a:prstGeom prst="line">
            <a:avLst/>
          </a:prstGeom>
          <a:noFill/>
          <a:ln w="12700">
            <a:solidFill>
              <a:schemeClr val="accent6"/>
            </a:solidFill>
            <a:prstDash val="solid"/>
          </a:ln>
        </p:spPr>
      </p:sp>
      <p:sp>
        <p:nvSpPr>
          <p:cNvPr id="20" name="Shape 18"/>
          <p:cNvSpPr/>
          <p:nvPr/>
        </p:nvSpPr>
        <p:spPr>
          <a:xfrm>
            <a:off x="3291840" y="5623560"/>
            <a:ext cx="640080" cy="365760"/>
          </a:xfrm>
          <a:prstGeom prst="roundRect">
            <a:avLst>
              <a:gd name="adj" fmla="val 15000"/>
            </a:avLst>
          </a:prstGeom>
          <a:solidFill>
            <a:schemeClr val="bg2"/>
          </a:solidFill>
          <a:ln w="9525">
            <a:solidFill>
              <a:schemeClr val="accent6"/>
            </a:solidFill>
            <a:prstDash val="solid"/>
          </a:ln>
        </p:spPr>
      </p:sp>
      <p:sp>
        <p:nvSpPr>
          <p:cNvPr id="21" name="Text 19"/>
          <p:cNvSpPr txBox="1"/>
          <p:nvPr/>
        </p:nvSpPr>
        <p:spPr>
          <a:xfrm>
            <a:off x="3246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country</a:t>
            </a:r>
            <a:endParaRPr lang="en-US" sz="1100" dirty="0"/>
          </a:p>
        </p:txBody>
      </p:sp>
      <p:sp>
        <p:nvSpPr>
          <p:cNvPr id="22" name="Shape 20"/>
          <p:cNvSpPr/>
          <p:nvPr/>
        </p:nvSpPr>
        <p:spPr>
          <a:xfrm>
            <a:off x="4297680" y="1828800"/>
            <a:ext cx="914" cy="3749040"/>
          </a:xfrm>
          <a:prstGeom prst="line">
            <a:avLst/>
          </a:prstGeom>
          <a:noFill/>
          <a:ln w="12700">
            <a:solidFill>
              <a:schemeClr val="accent6"/>
            </a:solidFill>
            <a:prstDash val="solid"/>
          </a:ln>
        </p:spPr>
      </p:sp>
      <p:sp>
        <p:nvSpPr>
          <p:cNvPr id="23" name="Shape 21"/>
          <p:cNvSpPr/>
          <p:nvPr/>
        </p:nvSpPr>
        <p:spPr>
          <a:xfrm>
            <a:off x="3977640" y="5623560"/>
            <a:ext cx="640080" cy="365760"/>
          </a:xfrm>
          <a:prstGeom prst="roundRect">
            <a:avLst>
              <a:gd name="adj" fmla="val 15000"/>
            </a:avLst>
          </a:prstGeom>
          <a:solidFill>
            <a:schemeClr val="bg2"/>
          </a:solidFill>
          <a:ln w="9525">
            <a:solidFill>
              <a:schemeClr val="accent6"/>
            </a:solidFill>
            <a:prstDash val="solid"/>
          </a:ln>
        </p:spPr>
      </p:sp>
      <p:sp>
        <p:nvSpPr>
          <p:cNvPr id="24" name="Text 22"/>
          <p:cNvSpPr txBox="1"/>
          <p:nvPr/>
        </p:nvSpPr>
        <p:spPr>
          <a:xfrm>
            <a:off x="3931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famous</a:t>
            </a:r>
            <a:endParaRPr lang="en-US" sz="1100" dirty="0"/>
          </a:p>
        </p:txBody>
      </p:sp>
      <p:sp>
        <p:nvSpPr>
          <p:cNvPr id="25" name="Shape 23"/>
          <p:cNvSpPr/>
          <p:nvPr/>
        </p:nvSpPr>
        <p:spPr>
          <a:xfrm>
            <a:off x="4983480" y="1828800"/>
            <a:ext cx="914" cy="3749040"/>
          </a:xfrm>
          <a:prstGeom prst="line">
            <a:avLst/>
          </a:prstGeom>
          <a:noFill/>
          <a:ln w="12700">
            <a:solidFill>
              <a:schemeClr val="accent6"/>
            </a:solidFill>
            <a:prstDash val="solid"/>
          </a:ln>
        </p:spPr>
      </p:sp>
      <p:sp>
        <p:nvSpPr>
          <p:cNvPr id="26" name="Shape 24"/>
          <p:cNvSpPr/>
          <p:nvPr/>
        </p:nvSpPr>
        <p:spPr>
          <a:xfrm>
            <a:off x="4663440" y="5623560"/>
            <a:ext cx="640080" cy="365760"/>
          </a:xfrm>
          <a:prstGeom prst="roundRect">
            <a:avLst>
              <a:gd name="adj" fmla="val 15000"/>
            </a:avLst>
          </a:prstGeom>
          <a:solidFill>
            <a:schemeClr val="bg2"/>
          </a:solidFill>
          <a:ln w="9525">
            <a:solidFill>
              <a:schemeClr val="accent6"/>
            </a:solidFill>
            <a:prstDash val="solid"/>
          </a:ln>
        </p:spPr>
      </p:sp>
      <p:sp>
        <p:nvSpPr>
          <p:cNvPr id="27" name="Text 25"/>
          <p:cNvSpPr txBox="1"/>
          <p:nvPr/>
        </p:nvSpPr>
        <p:spPr>
          <a:xfrm>
            <a:off x="4617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for</a:t>
            </a:r>
            <a:endParaRPr lang="en-US" sz="1100" dirty="0"/>
          </a:p>
        </p:txBody>
      </p:sp>
      <p:sp>
        <p:nvSpPr>
          <p:cNvPr id="28" name="Shape 26"/>
          <p:cNvSpPr/>
          <p:nvPr/>
        </p:nvSpPr>
        <p:spPr>
          <a:xfrm>
            <a:off x="5669280" y="1828800"/>
            <a:ext cx="914" cy="3749040"/>
          </a:xfrm>
          <a:prstGeom prst="line">
            <a:avLst/>
          </a:prstGeom>
          <a:noFill/>
          <a:ln w="12700">
            <a:solidFill>
              <a:schemeClr val="accent6"/>
            </a:solidFill>
            <a:prstDash val="solid"/>
          </a:ln>
        </p:spPr>
      </p:sp>
      <p:sp>
        <p:nvSpPr>
          <p:cNvPr id="29" name="Shape 27"/>
          <p:cNvSpPr/>
          <p:nvPr/>
        </p:nvSpPr>
        <p:spPr>
          <a:xfrm>
            <a:off x="5349240" y="5623560"/>
            <a:ext cx="640080" cy="365760"/>
          </a:xfrm>
          <a:prstGeom prst="roundRect">
            <a:avLst>
              <a:gd name="adj" fmla="val 15000"/>
            </a:avLst>
          </a:prstGeom>
          <a:solidFill>
            <a:schemeClr val="bg2"/>
          </a:solidFill>
          <a:ln w="9525">
            <a:solidFill>
              <a:schemeClr val="accent6"/>
            </a:solidFill>
            <a:prstDash val="solid"/>
          </a:ln>
        </p:spPr>
      </p:sp>
      <p:sp>
        <p:nvSpPr>
          <p:cNvPr id="30" name="Text 28"/>
          <p:cNvSpPr txBox="1"/>
          <p:nvPr/>
        </p:nvSpPr>
        <p:spPr>
          <a:xfrm>
            <a:off x="5303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31" name="Shape 29"/>
          <p:cNvSpPr/>
          <p:nvPr/>
        </p:nvSpPr>
        <p:spPr>
          <a:xfrm>
            <a:off x="6355080" y="1828800"/>
            <a:ext cx="914" cy="3749040"/>
          </a:xfrm>
          <a:prstGeom prst="line">
            <a:avLst/>
          </a:prstGeom>
          <a:noFill/>
          <a:ln w="12700">
            <a:solidFill>
              <a:schemeClr val="accent6"/>
            </a:solidFill>
            <a:prstDash val="solid"/>
          </a:ln>
        </p:spPr>
      </p:sp>
      <p:sp>
        <p:nvSpPr>
          <p:cNvPr id="32" name="Shape 30"/>
          <p:cNvSpPr/>
          <p:nvPr/>
        </p:nvSpPr>
        <p:spPr>
          <a:xfrm>
            <a:off x="6035040" y="5623560"/>
            <a:ext cx="640080" cy="365760"/>
          </a:xfrm>
          <a:prstGeom prst="roundRect">
            <a:avLst>
              <a:gd name="adj" fmla="val 15000"/>
            </a:avLst>
          </a:prstGeom>
          <a:solidFill>
            <a:schemeClr val="bg2"/>
          </a:solidFill>
          <a:ln w="9525">
            <a:solidFill>
              <a:schemeClr val="accent6"/>
            </a:solidFill>
            <a:prstDash val="solid"/>
          </a:ln>
        </p:spPr>
      </p:sp>
      <p:sp>
        <p:nvSpPr>
          <p:cNvPr id="33" name="Text 31"/>
          <p:cNvSpPr txBox="1"/>
          <p:nvPr/>
        </p:nvSpPr>
        <p:spPr>
          <a:xfrm>
            <a:off x="5989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Eiffel</a:t>
            </a:r>
            <a:endParaRPr lang="en-US" sz="1100" dirty="0"/>
          </a:p>
        </p:txBody>
      </p:sp>
      <p:sp>
        <p:nvSpPr>
          <p:cNvPr id="34" name="Shape 32"/>
          <p:cNvSpPr/>
          <p:nvPr/>
        </p:nvSpPr>
        <p:spPr>
          <a:xfrm>
            <a:off x="7040880" y="1828800"/>
            <a:ext cx="914" cy="3749040"/>
          </a:xfrm>
          <a:prstGeom prst="line">
            <a:avLst/>
          </a:prstGeom>
          <a:noFill/>
          <a:ln w="12700">
            <a:solidFill>
              <a:schemeClr val="accent6"/>
            </a:solidFill>
            <a:prstDash val="solid"/>
          </a:ln>
        </p:spPr>
      </p:sp>
      <p:sp>
        <p:nvSpPr>
          <p:cNvPr id="35" name="Shape 33"/>
          <p:cNvSpPr/>
          <p:nvPr/>
        </p:nvSpPr>
        <p:spPr>
          <a:xfrm>
            <a:off x="6720840" y="5623560"/>
            <a:ext cx="640080" cy="365760"/>
          </a:xfrm>
          <a:prstGeom prst="roundRect">
            <a:avLst>
              <a:gd name="adj" fmla="val 15000"/>
            </a:avLst>
          </a:prstGeom>
          <a:solidFill>
            <a:schemeClr val="bg2"/>
          </a:solidFill>
          <a:ln w="9525">
            <a:solidFill>
              <a:schemeClr val="accent6"/>
            </a:solidFill>
            <a:prstDash val="solid"/>
          </a:ln>
        </p:spPr>
      </p:sp>
      <p:sp>
        <p:nvSpPr>
          <p:cNvPr id="36" name="Text 34"/>
          <p:cNvSpPr txBox="1"/>
          <p:nvPr/>
        </p:nvSpPr>
        <p:spPr>
          <a:xfrm>
            <a:off x="6675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Tower</a:t>
            </a:r>
            <a:endParaRPr lang="en-US" sz="1100" dirty="0"/>
          </a:p>
        </p:txBody>
      </p:sp>
      <p:sp>
        <p:nvSpPr>
          <p:cNvPr id="37" name="Shape 35"/>
          <p:cNvSpPr/>
          <p:nvPr/>
        </p:nvSpPr>
        <p:spPr>
          <a:xfrm>
            <a:off x="7726680" y="1828800"/>
            <a:ext cx="914" cy="3749040"/>
          </a:xfrm>
          <a:prstGeom prst="line">
            <a:avLst/>
          </a:prstGeom>
          <a:noFill/>
          <a:ln w="28575">
            <a:solidFill>
              <a:schemeClr val="tx1"/>
            </a:solidFill>
            <a:prstDash val="solid"/>
          </a:ln>
        </p:spPr>
      </p:sp>
      <p:sp>
        <p:nvSpPr>
          <p:cNvPr id="38" name="Shape 36"/>
          <p:cNvSpPr/>
          <p:nvPr/>
        </p:nvSpPr>
        <p:spPr>
          <a:xfrm>
            <a:off x="7406640" y="5623560"/>
            <a:ext cx="640080" cy="365760"/>
          </a:xfrm>
          <a:prstGeom prst="roundRect">
            <a:avLst>
              <a:gd name="adj" fmla="val 15000"/>
            </a:avLst>
          </a:prstGeom>
          <a:solidFill>
            <a:schemeClr val="tx1"/>
          </a:solidFill>
          <a:ln w="9525">
            <a:solidFill>
              <a:schemeClr val="tx1"/>
            </a:solidFill>
            <a:prstDash val="solid"/>
          </a:ln>
        </p:spPr>
      </p:sp>
      <p:sp>
        <p:nvSpPr>
          <p:cNvPr id="39" name="Text 37"/>
          <p:cNvSpPr txBox="1"/>
          <p:nvPr/>
        </p:nvSpPr>
        <p:spPr>
          <a:xfrm>
            <a:off x="7360920" y="5623560"/>
            <a:ext cx="731520" cy="365760"/>
          </a:xfrm>
          <a:prstGeom prst="rect">
            <a:avLst/>
          </a:prstGeom>
          <a:noFill/>
          <a:ln/>
        </p:spPr>
        <p:txBody>
          <a:bodyPr wrap="square" lIns="0" tIns="0" rIns="0" bIns="0" rtlCol="0" anchor="ctr"/>
          <a:lstStyle/>
          <a:p>
            <a:pPr algn="ctr" indent="0" marL="0">
              <a:buNone/>
            </a:pPr>
            <a:r>
              <a:rPr lang="en-US" sz="1100" dirty="0">
                <a:solidFill>
                  <a:schemeClr val="bg1"/>
                </a:solidFill>
              </a:rPr>
              <a:t>is</a:t>
            </a:r>
            <a:endParaRPr lang="en-US" sz="1100" dirty="0"/>
          </a:p>
        </p:txBody>
      </p:sp>
      <p:sp>
        <p:nvSpPr>
          <p:cNvPr id="40" name="Shape 38"/>
          <p:cNvSpPr/>
          <p:nvPr/>
        </p:nvSpPr>
        <p:spPr>
          <a:xfrm>
            <a:off x="7671816" y="5522976"/>
            <a:ext cx="109728" cy="109728"/>
          </a:xfrm>
          <a:prstGeom prst="ellipse">
            <a:avLst/>
          </a:prstGeom>
          <a:solidFill>
            <a:schemeClr val="tx1"/>
          </a:solidFill>
          <a:ln w="12700">
            <a:solidFill>
              <a:schemeClr val="tx1"/>
            </a:solidFill>
            <a:prstDash val="solid"/>
          </a:ln>
        </p:spPr>
      </p:sp>
      <p:sp>
        <p:nvSpPr>
          <p:cNvPr id="41" name="Shape 39"/>
          <p:cNvSpPr/>
          <p:nvPr/>
        </p:nvSpPr>
        <p:spPr>
          <a:xfrm>
            <a:off x="7671816" y="5054346"/>
            <a:ext cx="109728" cy="109728"/>
          </a:xfrm>
          <a:prstGeom prst="ellipse">
            <a:avLst/>
          </a:prstGeom>
          <a:solidFill>
            <a:schemeClr val="tx1"/>
          </a:solidFill>
          <a:ln w="12700">
            <a:solidFill>
              <a:schemeClr val="tx1"/>
            </a:solidFill>
            <a:prstDash val="solid"/>
          </a:ln>
        </p:spPr>
      </p:sp>
      <p:sp>
        <p:nvSpPr>
          <p:cNvPr id="42" name="Shape 40"/>
          <p:cNvSpPr/>
          <p:nvPr/>
        </p:nvSpPr>
        <p:spPr>
          <a:xfrm>
            <a:off x="7671816" y="4585716"/>
            <a:ext cx="109728" cy="109728"/>
          </a:xfrm>
          <a:prstGeom prst="ellipse">
            <a:avLst/>
          </a:prstGeom>
          <a:solidFill>
            <a:schemeClr val="tx1"/>
          </a:solidFill>
          <a:ln w="12700">
            <a:solidFill>
              <a:schemeClr val="tx1"/>
            </a:solidFill>
            <a:prstDash val="solid"/>
          </a:ln>
        </p:spPr>
      </p:sp>
      <p:sp>
        <p:nvSpPr>
          <p:cNvPr id="43" name="Shape 41"/>
          <p:cNvSpPr/>
          <p:nvPr/>
        </p:nvSpPr>
        <p:spPr>
          <a:xfrm>
            <a:off x="7671816" y="4117086"/>
            <a:ext cx="109728" cy="109728"/>
          </a:xfrm>
          <a:prstGeom prst="ellipse">
            <a:avLst/>
          </a:prstGeom>
          <a:solidFill>
            <a:schemeClr val="tx1"/>
          </a:solidFill>
          <a:ln w="12700">
            <a:solidFill>
              <a:schemeClr val="tx1"/>
            </a:solidFill>
            <a:prstDash val="solid"/>
          </a:ln>
        </p:spPr>
      </p:sp>
      <p:sp>
        <p:nvSpPr>
          <p:cNvPr id="44" name="Shape 42"/>
          <p:cNvSpPr/>
          <p:nvPr/>
        </p:nvSpPr>
        <p:spPr>
          <a:xfrm>
            <a:off x="7671816" y="3648456"/>
            <a:ext cx="109728" cy="109728"/>
          </a:xfrm>
          <a:prstGeom prst="ellipse">
            <a:avLst/>
          </a:prstGeom>
          <a:solidFill>
            <a:schemeClr val="tx1"/>
          </a:solidFill>
          <a:ln w="12700">
            <a:solidFill>
              <a:schemeClr val="tx1"/>
            </a:solidFill>
            <a:prstDash val="solid"/>
          </a:ln>
        </p:spPr>
      </p:sp>
      <p:sp>
        <p:nvSpPr>
          <p:cNvPr id="45" name="Shape 43"/>
          <p:cNvSpPr/>
          <p:nvPr/>
        </p:nvSpPr>
        <p:spPr>
          <a:xfrm>
            <a:off x="7671816" y="3179826"/>
            <a:ext cx="109728" cy="109728"/>
          </a:xfrm>
          <a:prstGeom prst="ellipse">
            <a:avLst/>
          </a:prstGeom>
          <a:solidFill>
            <a:schemeClr val="tx1"/>
          </a:solidFill>
          <a:ln w="12700">
            <a:solidFill>
              <a:schemeClr val="tx1"/>
            </a:solidFill>
            <a:prstDash val="solid"/>
          </a:ln>
        </p:spPr>
      </p:sp>
      <p:sp>
        <p:nvSpPr>
          <p:cNvPr id="46" name="Shape 44"/>
          <p:cNvSpPr/>
          <p:nvPr/>
        </p:nvSpPr>
        <p:spPr>
          <a:xfrm>
            <a:off x="7671816" y="2711196"/>
            <a:ext cx="109728" cy="109728"/>
          </a:xfrm>
          <a:prstGeom prst="ellipse">
            <a:avLst/>
          </a:prstGeom>
          <a:solidFill>
            <a:schemeClr val="tx1"/>
          </a:solidFill>
          <a:ln w="12700">
            <a:solidFill>
              <a:schemeClr val="tx1"/>
            </a:solidFill>
            <a:prstDash val="solid"/>
          </a:ln>
        </p:spPr>
      </p:sp>
      <p:sp>
        <p:nvSpPr>
          <p:cNvPr id="47" name="Shape 45"/>
          <p:cNvSpPr/>
          <p:nvPr/>
        </p:nvSpPr>
        <p:spPr>
          <a:xfrm>
            <a:off x="7671816" y="2242566"/>
            <a:ext cx="109728" cy="109728"/>
          </a:xfrm>
          <a:prstGeom prst="ellipse">
            <a:avLst/>
          </a:prstGeom>
          <a:solidFill>
            <a:schemeClr val="tx1"/>
          </a:solidFill>
          <a:ln w="12700">
            <a:solidFill>
              <a:schemeClr val="tx1"/>
            </a:solidFill>
            <a:prstDash val="solid"/>
          </a:ln>
        </p:spPr>
      </p:sp>
      <p:sp>
        <p:nvSpPr>
          <p:cNvPr id="48" name="Shape 46"/>
          <p:cNvSpPr/>
          <p:nvPr/>
        </p:nvSpPr>
        <p:spPr>
          <a:xfrm>
            <a:off x="7671816" y="1773936"/>
            <a:ext cx="109728" cy="109728"/>
          </a:xfrm>
          <a:prstGeom prst="ellipse">
            <a:avLst/>
          </a:prstGeom>
          <a:solidFill>
            <a:schemeClr val="tx1"/>
          </a:solidFill>
          <a:ln w="12700">
            <a:solidFill>
              <a:schemeClr val="tx1"/>
            </a:solidFill>
            <a:prstDash val="solid"/>
          </a:ln>
        </p:spPr>
      </p:sp>
      <p:sp>
        <p:nvSpPr>
          <p:cNvPr id="49" name="Shape 47"/>
          <p:cNvSpPr/>
          <p:nvPr/>
        </p:nvSpPr>
        <p:spPr>
          <a:xfrm>
            <a:off x="7543800" y="2895600"/>
            <a:ext cx="365760" cy="365760"/>
          </a:xfrm>
          <a:prstGeom prst="ellipse">
            <a:avLst/>
          </a:prstGeom>
          <a:solidFill>
            <a:schemeClr val="accent1"/>
          </a:solidFill>
          <a:ln w="25400">
            <a:solidFill>
              <a:schemeClr val="bg1"/>
            </a:solidFill>
            <a:prstDash val="solid"/>
          </a:ln>
        </p:spPr>
      </p:sp>
      <p:sp>
        <p:nvSpPr>
          <p:cNvPr id="50" name="Text 48"/>
          <p:cNvSpPr txBox="1"/>
          <p:nvPr/>
        </p:nvSpPr>
        <p:spPr>
          <a:xfrm>
            <a:off x="7927848" y="169164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63</a:t>
            </a:r>
            <a:endParaRPr lang="en-US" sz="1100" dirty="0"/>
          </a:p>
        </p:txBody>
      </p:sp>
      <p:sp>
        <p:nvSpPr>
          <p:cNvPr id="51" name="Text 49"/>
          <p:cNvSpPr txBox="1"/>
          <p:nvPr/>
        </p:nvSpPr>
        <p:spPr>
          <a:xfrm>
            <a:off x="7927848" y="525780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0</a:t>
            </a:r>
            <a:endParaRPr lang="en-US" sz="1100" dirty="0"/>
          </a:p>
        </p:txBody>
      </p:sp>
      <p:sp>
        <p:nvSpPr>
          <p:cNvPr id="52" name="Shape 50"/>
          <p:cNvSpPr/>
          <p:nvPr/>
        </p:nvSpPr>
        <p:spPr>
          <a:xfrm>
            <a:off x="4480560" y="2694432"/>
            <a:ext cx="2926080" cy="768096"/>
          </a:xfrm>
          <a:prstGeom prst="roundRect">
            <a:avLst>
              <a:gd name="adj" fmla="val 9524"/>
            </a:avLst>
          </a:prstGeom>
          <a:solidFill>
            <a:schemeClr val="bg1"/>
          </a:solidFill>
          <a:ln w="15875">
            <a:solidFill>
              <a:schemeClr val="accent1"/>
            </a:solidFill>
            <a:prstDash val="solid"/>
          </a:ln>
        </p:spPr>
      </p:sp>
      <p:sp>
        <p:nvSpPr>
          <p:cNvPr id="53" name="Text 51"/>
          <p:cNvSpPr txBox="1"/>
          <p:nvPr/>
        </p:nvSpPr>
        <p:spPr>
          <a:xfrm>
            <a:off x="4572000" y="2731008"/>
            <a:ext cx="2743200" cy="694944"/>
          </a:xfrm>
          <a:prstGeom prst="rect">
            <a:avLst/>
          </a:prstGeom>
          <a:noFill/>
          <a:ln/>
        </p:spPr>
        <p:txBody>
          <a:bodyPr wrap="square" lIns="0" tIns="0" rIns="0" bIns="0" rtlCol="0" anchor="ctr"/>
          <a:lstStyle/>
          <a:p>
            <a:pPr indent="0" marL="0">
              <a:buNone/>
            </a:pPr>
            <a:r>
              <a:rPr lang="en-US" sz="1300" b="1" dirty="0">
                <a:solidFill>
                  <a:schemeClr val="accent1"/>
                </a:solidFill>
              </a:rPr>
              <a:t>Read here: </a:t>
            </a:r>
            <a:pPr indent="0" marL="0">
              <a:buNone/>
            </a:pPr>
            <a:r>
              <a:rPr lang="en-US" sz="1300" dirty="0">
                <a:solidFill>
                  <a:schemeClr val="tx1"/>
                </a:solidFill>
              </a:rPr>
              <a:t>layer 42, last token → one vector of 5,120 numbers</a:t>
            </a:r>
            <a:endParaRPr lang="en-US" sz="1300" dirty="0"/>
          </a:p>
        </p:txBody>
      </p:sp>
      <p:sp>
        <p:nvSpPr>
          <p:cNvPr id="54" name="Shape 52"/>
          <p:cNvSpPr/>
          <p:nvPr/>
        </p:nvSpPr>
        <p:spPr>
          <a:xfrm>
            <a:off x="7406640" y="3078480"/>
            <a:ext cx="118872" cy="914"/>
          </a:xfrm>
          <a:prstGeom prst="line">
            <a:avLst/>
          </a:prstGeom>
          <a:noFill/>
          <a:ln w="19050">
            <a:solidFill>
              <a:schemeClr val="accent1"/>
            </a:solidFill>
            <a:prstDash val="solid"/>
            <a:tailEnd type="triangle"/>
          </a:ln>
        </p:spPr>
      </p:sp>
      <p:sp>
        <p:nvSpPr>
          <p:cNvPr id="55" name="Text 53"/>
          <p:cNvSpPr txBox="1"/>
          <p:nvPr/>
        </p:nvSpPr>
        <p:spPr>
          <a:xfrm>
            <a:off x="8732520" y="1828800"/>
            <a:ext cx="2910535" cy="411480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Each token carries a 5,120-dimensional vector (the residual stream).</a:t>
            </a:r>
            <a:endParaRPr lang="en-US" sz="1600" dirty="0"/>
          </a:p>
          <a:p>
            <a:pPr marL="203200" indent="-203200">
              <a:spcAft>
                <a:spcPts val="1400"/>
              </a:spcAft>
              <a:buSzPct val="100000"/>
              <a:buChar char="•"/>
            </a:pPr>
            <a:r>
              <a:rPr lang="en-US" sz="1600" dirty="0">
                <a:solidFill>
                  <a:schemeClr val="tx1"/>
                </a:solidFill>
              </a:rPr>
              <a:t>Each layer reads it and adds its update; what the model 'knows' at a point is spread through it.</a:t>
            </a:r>
            <a:endParaRPr lang="en-US" sz="1600" dirty="0"/>
          </a:p>
          <a:p>
            <a:pPr marL="203200" indent="-203200">
              <a:spcAft>
                <a:spcPts val="1400"/>
              </a:spcAft>
              <a:buSzPct val="100000"/>
              <a:buChar char="•"/>
            </a:pPr>
            <a:r>
              <a:rPr lang="en-US" sz="1600" dirty="0">
                <a:solidFill>
                  <a:schemeClr val="tx1"/>
                </a:solidFill>
              </a:rPr>
              <a:t>Every reader in this talk gets one vector: layer 42 (about two-thirds deep), last token.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2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'workspace' idea: a small set of directions holds what the model is poised to say</a:t>
            </a:r>
            <a:endParaRPr lang="en-US" sz="2800" dirty="0"/>
          </a:p>
        </p:txBody>
      </p:sp>
      <p:sp>
        <p:nvSpPr>
          <p:cNvPr id="7" name="Shape 5"/>
          <p:cNvSpPr/>
          <p:nvPr/>
        </p:nvSpPr>
        <p:spPr>
          <a:xfrm>
            <a:off x="548640" y="1737360"/>
            <a:ext cx="512064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874520"/>
            <a:ext cx="4663440" cy="320040"/>
          </a:xfrm>
          <a:prstGeom prst="rect">
            <a:avLst/>
          </a:prstGeom>
          <a:noFill/>
          <a:ln/>
        </p:spPr>
        <p:txBody>
          <a:bodyPr wrap="square" lIns="0" tIns="0" rIns="0" bIns="0" rtlCol="0" anchor="t"/>
          <a:lstStyle/>
          <a:p>
            <a:pPr indent="0" marL="0">
              <a:buNone/>
            </a:pPr>
            <a:r>
              <a:rPr lang="en-US" sz="1400" b="1" dirty="0">
                <a:solidFill>
                  <a:schemeClr val="accent5"/>
                </a:solidFill>
              </a:rPr>
              <a:t>Residual stream · 5,120 dimensions</a:t>
            </a:r>
            <a:endParaRPr lang="en-US" sz="1400" dirty="0"/>
          </a:p>
        </p:txBody>
      </p:sp>
      <p:sp>
        <p:nvSpPr>
          <p:cNvPr id="9" name="Shape 7"/>
          <p:cNvSpPr/>
          <p:nvPr/>
        </p:nvSpPr>
        <p:spPr>
          <a:xfrm>
            <a:off x="1737360" y="2514600"/>
            <a:ext cx="2743200" cy="2011680"/>
          </a:xfrm>
          <a:prstGeom prst="ellipse">
            <a:avLst/>
          </a:prstGeom>
          <a:solidFill>
            <a:schemeClr val="accent3">
              <a:alpha val="90000"/>
            </a:schemeClr>
          </a:solidFill>
          <a:ln w="12700">
            <a:solidFill>
              <a:schemeClr val="accent3"/>
            </a:solidFill>
            <a:prstDash val="solid"/>
          </a:ln>
        </p:spPr>
      </p:sp>
      <p:sp>
        <p:nvSpPr>
          <p:cNvPr id="10" name="Text 8"/>
          <p:cNvSpPr txBox="1"/>
          <p:nvPr/>
        </p:nvSpPr>
        <p:spPr>
          <a:xfrm>
            <a:off x="1737360" y="2926080"/>
            <a:ext cx="2743200" cy="1188720"/>
          </a:xfrm>
          <a:prstGeom prst="rect">
            <a:avLst/>
          </a:prstGeom>
          <a:noFill/>
          <a:ln/>
        </p:spPr>
        <p:txBody>
          <a:bodyPr wrap="square" lIns="0" tIns="0" rIns="0" bIns="0" rtlCol="0" anchor="ctr"/>
          <a:lstStyle/>
          <a:p>
            <a:pPr algn="ctr" indent="0" marL="0">
              <a:buNone/>
            </a:pPr>
            <a:r>
              <a:rPr lang="en-US" sz="1800" b="1" dirty="0">
                <a:solidFill>
                  <a:schemeClr val="bg1"/>
                </a:solidFill>
              </a:rPr>
              <a:t>J-space</a:t>
            </a:r>
            <a:endParaRPr lang="en-US" sz="1800" dirty="0"/>
          </a:p>
          <a:p>
            <a:pPr algn="ctr" indent="0" marL="0">
              <a:buNone/>
            </a:pPr>
            <a:r>
              <a:rPr lang="en-US" sz="1800" b="1" dirty="0">
                <a:solidFill>
                  <a:schemeClr val="bg1"/>
                </a:solidFill>
              </a:rPr>
              <a:t>top-384 of 5,120</a:t>
            </a:r>
            <a:endParaRPr lang="en-US" sz="1800" dirty="0"/>
          </a:p>
        </p:txBody>
      </p:sp>
      <p:sp>
        <p:nvSpPr>
          <p:cNvPr id="11" name="Text 9"/>
          <p:cNvSpPr txBox="1"/>
          <p:nvPr/>
        </p:nvSpPr>
        <p:spPr>
          <a:xfrm>
            <a:off x="914400" y="4617720"/>
            <a:ext cx="4389120" cy="320040"/>
          </a:xfrm>
          <a:prstGeom prst="rect">
            <a:avLst/>
          </a:prstGeom>
          <a:noFill/>
          <a:ln/>
        </p:spPr>
        <p:txBody>
          <a:bodyPr wrap="square" lIns="0" tIns="0" rIns="0" bIns="0" rtlCol="0" anchor="t"/>
          <a:lstStyle/>
          <a:p>
            <a:pPr algn="ctr" indent="0" marL="0">
              <a:buNone/>
            </a:pPr>
            <a:r>
              <a:rPr lang="en-US" sz="1300" i="1" dirty="0">
                <a:solidFill>
                  <a:schemeClr val="accent3"/>
                </a:solidFill>
              </a:rPr>
              <a:t>verbalizable: poised to be said</a:t>
            </a:r>
            <a:endParaRPr lang="en-US" sz="1300" dirty="0"/>
          </a:p>
        </p:txBody>
      </p:sp>
      <p:sp>
        <p:nvSpPr>
          <p:cNvPr id="12" name="Text 10"/>
          <p:cNvSpPr txBox="1"/>
          <p:nvPr/>
        </p:nvSpPr>
        <p:spPr>
          <a:xfrm>
            <a:off x="777240" y="5623560"/>
            <a:ext cx="4663440" cy="411480"/>
          </a:xfrm>
          <a:prstGeom prst="rect">
            <a:avLst/>
          </a:prstGeom>
          <a:noFill/>
          <a:ln/>
        </p:spPr>
        <p:txBody>
          <a:bodyPr wrap="square" lIns="0" tIns="0" rIns="0" bIns="0" rtlCol="0" anchor="t"/>
          <a:lstStyle/>
          <a:p>
            <a:pPr indent="0" marL="0">
              <a:buNone/>
            </a:pPr>
            <a:r>
              <a:rPr lang="en-US" sz="1300" i="1" dirty="0">
                <a:solidFill>
                  <a:schemeClr val="accent5"/>
                </a:solidFill>
              </a:rPr>
              <a:t>everything else: syntax, position, counts, …</a:t>
            </a:r>
            <a:endParaRPr lang="en-US" sz="1300" dirty="0"/>
          </a:p>
        </p:txBody>
      </p:sp>
      <p:sp>
        <p:nvSpPr>
          <p:cNvPr id="13" name="Text 11"/>
          <p:cNvSpPr txBox="1"/>
          <p:nvPr/>
        </p:nvSpPr>
        <p:spPr>
          <a:xfrm>
            <a:off x="6035040" y="1783080"/>
            <a:ext cx="5608015" cy="438912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chemeClr val="tx1"/>
                </a:solidFill>
              </a:rPr>
              <a:t>J-Lens: </a:t>
            </a:r>
            <a:pPr indent="0" marL="0">
              <a:spcAft>
                <a:spcPts val="1600"/>
              </a:spcAft>
              <a:buNone/>
            </a:pPr>
            <a:r>
              <a:rPr lang="en-US" sz="1600" dirty="0">
                <a:solidFill>
                  <a:schemeClr val="tx1"/>
                </a:solidFill>
              </a:rPr>
              <a:t>average the Jacobian from layer ℓ to the output, then unembed. It shows which tokens a direction would push the model to say, in general, not just here.</a:t>
            </a:r>
            <a:endParaRPr lang="en-US" sz="1600" dirty="0"/>
          </a:p>
          <a:p>
            <a:pPr marL="203200" indent="-203200">
              <a:spcAft>
                <a:spcPts val="1600"/>
              </a:spcAft>
              <a:buSzPct val="100000"/>
              <a:buChar char="•"/>
            </a:pPr>
            <a:r>
              <a:rPr lang="en-US" sz="1600" b="1" dirty="0">
                <a:solidFill>
                  <a:schemeClr val="tx1"/>
                </a:solidFill>
              </a:rPr>
              <a:t>J-space: </a:t>
            </a:r>
            <a:pPr indent="0" marL="0">
              <a:spcAft>
                <a:spcPts val="1600"/>
              </a:spcAft>
              <a:buNone/>
            </a:pPr>
            <a:r>
              <a:rPr lang="en-US" sz="1600" dirty="0">
                <a:solidFill>
                  <a:schemeClr val="tx1"/>
                </a:solidFill>
              </a:rPr>
              <a:t>the directions the J-Lens can read. We use the top-r singular directions, r* = 384 (and 4r* = 1,536) of 5,120.</a:t>
            </a:r>
            <a:endParaRPr lang="en-US" sz="1600" dirty="0"/>
          </a:p>
          <a:p>
            <a:pPr marL="203200" indent="-203200">
              <a:spcAft>
                <a:spcPts val="1600"/>
              </a:spcAft>
              <a:buSzPct val="100000"/>
              <a:buChar char="•"/>
            </a:pPr>
            <a:r>
              <a:rPr lang="en-US" sz="1600" b="1" dirty="0">
                <a:solidFill>
                  <a:schemeClr val="tx1"/>
                </a:solidFill>
              </a:rPr>
              <a:t>Most content is elsewhere: </a:t>
            </a:r>
            <a:pPr indent="0" marL="0">
              <a:spcAft>
                <a:spcPts val="1600"/>
              </a:spcAft>
              <a:buNone/>
            </a:pPr>
            <a:r>
              <a:rPr lang="en-US" sz="1600" dirty="0">
                <a:solidFill>
                  <a:schemeClr val="tx1"/>
                </a:solidFill>
              </a:rPr>
              <a:t>the J-space paper reports its excess variance explained 'never exceed[s] 10%'.</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3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readers turn that vector into words, with very different machinery</a:t>
            </a:r>
            <a:endParaRPr lang="en-US" sz="2800" dirty="0"/>
          </a:p>
        </p:txBody>
      </p:sp>
      <p:sp>
        <p:nvSpPr>
          <p:cNvPr id="7" name="Shape 5"/>
          <p:cNvSpPr/>
          <p:nvPr/>
        </p:nvSpPr>
        <p:spPr>
          <a:xfrm>
            <a:off x="4175608" y="1627632"/>
            <a:ext cx="3840480" cy="329184"/>
          </a:xfrm>
          <a:prstGeom prst="roundRect">
            <a:avLst>
              <a:gd name="adj" fmla="val 41667"/>
            </a:avLst>
          </a:prstGeom>
          <a:solidFill>
            <a:schemeClr val="tx2"/>
          </a:solidFill>
          <a:ln w="12700">
            <a:solidFill>
              <a:schemeClr val="tx2"/>
            </a:solidFill>
            <a:prstDash val="solid"/>
          </a:ln>
        </p:spPr>
      </p:sp>
      <p:sp>
        <p:nvSpPr>
          <p:cNvPr id="8" name="Text 6"/>
          <p:cNvSpPr txBox="1"/>
          <p:nvPr/>
        </p:nvSpPr>
        <p:spPr>
          <a:xfrm>
            <a:off x="4175608" y="1627632"/>
            <a:ext cx="3840480" cy="329184"/>
          </a:xfrm>
          <a:prstGeom prst="rect">
            <a:avLst/>
          </a:prstGeom>
          <a:noFill/>
          <a:ln/>
        </p:spPr>
        <p:txBody>
          <a:bodyPr wrap="square" lIns="0" tIns="0" rIns="0" bIns="0" rtlCol="0" anchor="ctr"/>
          <a:lstStyle/>
          <a:p>
            <a:pPr algn="ctr" indent="0" marL="0">
              <a:buNone/>
            </a:pPr>
            <a:r>
              <a:rPr lang="en-US" sz="1200" b="1" dirty="0">
                <a:solidFill>
                  <a:schemeClr val="bg1"/>
                </a:solidFill>
              </a:rPr>
              <a:t>one vector h · layer 42 · last token</a:t>
            </a:r>
            <a:endParaRPr lang="en-US" sz="1200" dirty="0"/>
          </a:p>
        </p:txBody>
      </p:sp>
      <p:sp>
        <p:nvSpPr>
          <p:cNvPr id="9" name="Shape 7"/>
          <p:cNvSpPr/>
          <p:nvPr/>
        </p:nvSpPr>
        <p:spPr>
          <a:xfrm flipH="1">
            <a:off x="2291029" y="1965960"/>
            <a:ext cx="3804818" cy="320040"/>
          </a:xfrm>
          <a:prstGeom prst="line">
            <a:avLst/>
          </a:prstGeom>
          <a:noFill/>
          <a:ln w="15875">
            <a:solidFill>
              <a:schemeClr val="accent6"/>
            </a:solidFill>
            <a:prstDash val="solid"/>
            <a:tailEnd type="triangle"/>
          </a:ln>
        </p:spPr>
      </p:sp>
      <p:sp>
        <p:nvSpPr>
          <p:cNvPr id="10" name="Shape 8"/>
          <p:cNvSpPr/>
          <p:nvPr/>
        </p:nvSpPr>
        <p:spPr>
          <a:xfrm>
            <a:off x="548640" y="2331720"/>
            <a:ext cx="3484778" cy="3886200"/>
          </a:xfrm>
          <a:prstGeom prst="roundRect">
            <a:avLst>
              <a:gd name="adj" fmla="val 2099"/>
            </a:avLst>
          </a:prstGeom>
          <a:solidFill>
            <a:schemeClr val="bg2"/>
          </a:solidFill>
          <a:ln w="12700">
            <a:solidFill>
              <a:schemeClr val="bg2"/>
            </a:solidFill>
            <a:prstDash val="solid"/>
          </a:ln>
        </p:spPr>
      </p:sp>
      <p:sp>
        <p:nvSpPr>
          <p:cNvPr id="11" name="Shape 9"/>
          <p:cNvSpPr/>
          <p:nvPr/>
        </p:nvSpPr>
        <p:spPr>
          <a:xfrm>
            <a:off x="749808" y="2514600"/>
            <a:ext cx="457200" cy="457200"/>
          </a:xfrm>
          <a:prstGeom prst="ellipse">
            <a:avLst/>
          </a:prstGeom>
          <a:solidFill>
            <a:schemeClr val="accent3"/>
          </a:solidFill>
          <a:ln w="12700">
            <a:solidFill>
              <a:schemeClr val="accent3"/>
            </a:solidFill>
            <a:prstDash val="solid"/>
          </a:ln>
        </p:spPr>
      </p:sp>
      <p:sp>
        <p:nvSpPr>
          <p:cNvPr id="12" name="Text 10"/>
          <p:cNvSpPr txBox="1"/>
          <p:nvPr/>
        </p:nvSpPr>
        <p:spPr>
          <a:xfrm>
            <a:off x="1325880" y="2487168"/>
            <a:ext cx="2570378" cy="347472"/>
          </a:xfrm>
          <a:prstGeom prst="rect">
            <a:avLst/>
          </a:prstGeom>
          <a:noFill/>
          <a:ln/>
        </p:spPr>
        <p:txBody>
          <a:bodyPr wrap="square" lIns="0" tIns="0" rIns="0" bIns="0" rtlCol="0" anchor="t"/>
          <a:lstStyle/>
          <a:p>
            <a:pPr indent="0" marL="0">
              <a:buNone/>
            </a:pPr>
            <a:r>
              <a:rPr lang="en-US" sz="2100" b="1" dirty="0">
                <a:solidFill>
                  <a:schemeClr val="accent3"/>
                </a:solidFill>
                <a:latin typeface="Cambria" pitchFamily="34" charset="0"/>
                <a:ea typeface="Cambria" pitchFamily="34" charset="-122"/>
                <a:cs typeface="Cambria" pitchFamily="34" charset="-120"/>
              </a:rPr>
              <a:t>J-Lens</a:t>
            </a:r>
            <a:endParaRPr lang="en-US" sz="2100" dirty="0"/>
          </a:p>
        </p:txBody>
      </p:sp>
      <p:sp>
        <p:nvSpPr>
          <p:cNvPr id="13" name="Text 11"/>
          <p:cNvSpPr txBox="1"/>
          <p:nvPr/>
        </p:nvSpPr>
        <p:spPr>
          <a:xfrm>
            <a:off x="1325880"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LINEAR TOKEN READOUT</a:t>
            </a:r>
            <a:endParaRPr lang="en-US" sz="1050" dirty="0"/>
          </a:p>
        </p:txBody>
      </p:sp>
      <p:sp>
        <p:nvSpPr>
          <p:cNvPr id="14" name="Text 12"/>
          <p:cNvSpPr txBox="1"/>
          <p:nvPr/>
        </p:nvSpPr>
        <p:spPr>
          <a:xfrm>
            <a:off x="749808"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 average Jacobian × unembedding → top tokens</a:t>
            </a:r>
            <a:endParaRPr lang="en-US" sz="1400" dirty="0"/>
          </a:p>
          <a:p>
            <a:pPr marL="203200" indent="-203200">
              <a:spcAft>
                <a:spcPts val="600"/>
              </a:spcAft>
              <a:buSzPct val="100000"/>
              <a:buChar char="•"/>
            </a:pPr>
            <a:r>
              <a:rPr lang="en-US" sz="1400" dirty="0">
                <a:solidFill>
                  <a:schemeClr val="tx1"/>
                </a:solidFill>
              </a:rPr>
              <a:t>No training on explanations; neuronpedia n1000 lens</a:t>
            </a:r>
            <a:endParaRPr lang="en-US" sz="1400" dirty="0"/>
          </a:p>
          <a:p>
            <a:pPr marL="203200" indent="-203200">
              <a:spcAft>
                <a:spcPts val="600"/>
              </a:spcAft>
              <a:buSzPct val="100000"/>
              <a:buChar char="•"/>
            </a:pPr>
            <a:r>
              <a:rPr lang="en-US" sz="1400" dirty="0">
                <a:solidFill>
                  <a:schemeClr val="tx1"/>
                </a:solidFill>
              </a:rPr>
              <a:t>Output: a list of tokens</a:t>
            </a:r>
            <a:endParaRPr lang="en-US" sz="1400" dirty="0"/>
          </a:p>
        </p:txBody>
      </p:sp>
      <p:sp>
        <p:nvSpPr>
          <p:cNvPr id="15" name="Shape 13"/>
          <p:cNvSpPr/>
          <p:nvPr/>
        </p:nvSpPr>
        <p:spPr>
          <a:xfrm>
            <a:off x="685800" y="5349240"/>
            <a:ext cx="3210458" cy="731520"/>
          </a:xfrm>
          <a:prstGeom prst="roundRect">
            <a:avLst>
              <a:gd name="adj" fmla="val 10000"/>
            </a:avLst>
          </a:prstGeom>
          <a:solidFill>
            <a:schemeClr val="bg1"/>
          </a:solidFill>
          <a:ln w="12700">
            <a:solidFill>
              <a:schemeClr val="bg1"/>
            </a:solidFill>
            <a:prstDash val="solid"/>
          </a:ln>
        </p:spPr>
      </p:sp>
      <p:sp>
        <p:nvSpPr>
          <p:cNvPr id="16" name="Text 14"/>
          <p:cNvSpPr txBox="1"/>
          <p:nvPr/>
        </p:nvSpPr>
        <p:spPr>
          <a:xfrm>
            <a:off x="795528"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Competitor for in-J content; leak detector for non-J</a:t>
            </a:r>
            <a:endParaRPr lang="en-US" sz="1250" dirty="0"/>
          </a:p>
        </p:txBody>
      </p:sp>
      <p:sp>
        <p:nvSpPr>
          <p:cNvPr id="17" name="Shape 15"/>
          <p:cNvSpPr/>
          <p:nvPr/>
        </p:nvSpPr>
        <p:spPr>
          <a:xfrm>
            <a:off x="6095848" y="1965960"/>
            <a:ext cx="914" cy="320040"/>
          </a:xfrm>
          <a:prstGeom prst="line">
            <a:avLst/>
          </a:prstGeom>
          <a:noFill/>
          <a:ln w="15875">
            <a:solidFill>
              <a:schemeClr val="accent6"/>
            </a:solidFill>
            <a:prstDash val="solid"/>
            <a:tailEnd type="triangle"/>
          </a:ln>
        </p:spPr>
      </p:sp>
      <p:sp>
        <p:nvSpPr>
          <p:cNvPr id="18" name="Shape 16"/>
          <p:cNvSpPr/>
          <p:nvPr/>
        </p:nvSpPr>
        <p:spPr>
          <a:xfrm>
            <a:off x="4353458" y="2331720"/>
            <a:ext cx="3484778" cy="3886200"/>
          </a:xfrm>
          <a:prstGeom prst="roundRect">
            <a:avLst>
              <a:gd name="adj" fmla="val 2099"/>
            </a:avLst>
          </a:prstGeom>
          <a:solidFill>
            <a:schemeClr val="bg2"/>
          </a:solidFill>
          <a:ln w="12700">
            <a:solidFill>
              <a:schemeClr val="bg2"/>
            </a:solidFill>
            <a:prstDash val="solid"/>
          </a:ln>
        </p:spPr>
      </p:sp>
      <p:sp>
        <p:nvSpPr>
          <p:cNvPr id="19" name="Shape 17"/>
          <p:cNvSpPr/>
          <p:nvPr/>
        </p:nvSpPr>
        <p:spPr>
          <a:xfrm>
            <a:off x="4554626" y="2514600"/>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130698" y="2487168"/>
            <a:ext cx="2570378" cy="347472"/>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Oracle Lens</a:t>
            </a:r>
            <a:endParaRPr lang="en-US" sz="2100" dirty="0"/>
          </a:p>
        </p:txBody>
      </p:sp>
      <p:sp>
        <p:nvSpPr>
          <p:cNvPr id="21" name="Text 19"/>
          <p:cNvSpPr txBox="1"/>
          <p:nvPr/>
        </p:nvSpPr>
        <p:spPr>
          <a:xfrm>
            <a:off x="5130698"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LORA VERBALIZER</a:t>
            </a:r>
            <a:endParaRPr lang="en-US" sz="1050" dirty="0"/>
          </a:p>
        </p:txBody>
      </p:sp>
      <p:sp>
        <p:nvSpPr>
          <p:cNvPr id="22" name="Text 20"/>
          <p:cNvSpPr txBox="1"/>
          <p:nvPr/>
        </p:nvSpPr>
        <p:spPr>
          <a:xfrm>
            <a:off x="4554626"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injected as a token embedding (16000·unit(h))</a:t>
            </a:r>
            <a:endParaRPr lang="en-US" sz="1400" dirty="0"/>
          </a:p>
          <a:p>
            <a:pPr marL="203200" indent="-203200">
              <a:spcAft>
                <a:spcPts val="600"/>
              </a:spcAft>
              <a:buSzPct val="100000"/>
              <a:buChar char="•"/>
            </a:pPr>
            <a:r>
              <a:rPr lang="en-US" sz="1400" dirty="0">
                <a:solidFill>
                  <a:schemeClr val="tx1"/>
                </a:solidFill>
              </a:rPr>
              <a:t>RL-trained on layers 20–60, step 4 (42 is off-grid)</a:t>
            </a:r>
            <a:endParaRPr lang="en-US" sz="1400" dirty="0"/>
          </a:p>
          <a:p>
            <a:pPr marL="203200" indent="-203200">
              <a:spcAft>
                <a:spcPts val="600"/>
              </a:spcAft>
              <a:buSzPct val="100000"/>
              <a:buChar char="•"/>
            </a:pPr>
            <a:r>
              <a:rPr lang="en-US" sz="1400" dirty="0">
                <a:solidFill>
                  <a:schemeClr val="tx1"/>
                </a:solidFill>
              </a:rPr>
              <a:t>Output: '- ' concept bullets, often continuations</a:t>
            </a:r>
            <a:endParaRPr lang="en-US" sz="1400" dirty="0"/>
          </a:p>
        </p:txBody>
      </p:sp>
      <p:sp>
        <p:nvSpPr>
          <p:cNvPr id="23" name="Shape 21"/>
          <p:cNvSpPr/>
          <p:nvPr/>
        </p:nvSpPr>
        <p:spPr>
          <a:xfrm>
            <a:off x="4490618" y="5349240"/>
            <a:ext cx="3210458" cy="731520"/>
          </a:xfrm>
          <a:prstGeom prst="roundRect">
            <a:avLst>
              <a:gd name="adj" fmla="val 10000"/>
            </a:avLst>
          </a:prstGeom>
          <a:solidFill>
            <a:schemeClr val="bg1"/>
          </a:solidFill>
          <a:ln w="12700">
            <a:solidFill>
              <a:schemeClr val="bg1"/>
            </a:solidFill>
            <a:prstDash val="solid"/>
          </a:ln>
        </p:spPr>
      </p:sp>
      <p:sp>
        <p:nvSpPr>
          <p:cNvPr id="24" name="Text 22"/>
          <p:cNvSpPr txBox="1"/>
          <p:nvPr/>
        </p:nvSpPr>
        <p:spPr>
          <a:xfrm>
            <a:off x="4600346"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 Le chat dort paisiblement dans son panier…"</a:t>
            </a:r>
            <a:endParaRPr lang="en-US" sz="1250" dirty="0"/>
          </a:p>
        </p:txBody>
      </p:sp>
      <p:sp>
        <p:nvSpPr>
          <p:cNvPr id="25" name="Shape 23"/>
          <p:cNvSpPr/>
          <p:nvPr/>
        </p:nvSpPr>
        <p:spPr>
          <a:xfrm>
            <a:off x="6095848" y="1965960"/>
            <a:ext cx="3804818" cy="320040"/>
          </a:xfrm>
          <a:prstGeom prst="line">
            <a:avLst/>
          </a:prstGeom>
          <a:noFill/>
          <a:ln w="15875">
            <a:solidFill>
              <a:schemeClr val="accent6"/>
            </a:solidFill>
            <a:prstDash val="solid"/>
            <a:tailEnd type="triangle"/>
          </a:ln>
        </p:spPr>
      </p:sp>
      <p:sp>
        <p:nvSpPr>
          <p:cNvPr id="26" name="Shape 24"/>
          <p:cNvSpPr/>
          <p:nvPr/>
        </p:nvSpPr>
        <p:spPr>
          <a:xfrm>
            <a:off x="8158277" y="2331720"/>
            <a:ext cx="3484778" cy="3886200"/>
          </a:xfrm>
          <a:prstGeom prst="roundRect">
            <a:avLst>
              <a:gd name="adj" fmla="val 2099"/>
            </a:avLst>
          </a:prstGeom>
          <a:solidFill>
            <a:schemeClr val="bg2"/>
          </a:solidFill>
          <a:ln w="12700">
            <a:solidFill>
              <a:schemeClr val="bg2"/>
            </a:solidFill>
            <a:prstDash val="solid"/>
          </a:ln>
        </p:spPr>
      </p:sp>
      <p:sp>
        <p:nvSpPr>
          <p:cNvPr id="27" name="Shape 25"/>
          <p:cNvSpPr/>
          <p:nvPr/>
        </p:nvSpPr>
        <p:spPr>
          <a:xfrm>
            <a:off x="8359445" y="2514600"/>
            <a:ext cx="457200" cy="457200"/>
          </a:xfrm>
          <a:prstGeom prst="ellipse">
            <a:avLst/>
          </a:prstGeom>
          <a:solidFill>
            <a:schemeClr val="accent1"/>
          </a:solidFill>
          <a:ln w="12700">
            <a:solidFill>
              <a:schemeClr val="accent1"/>
            </a:solidFill>
            <a:prstDash val="solid"/>
          </a:ln>
        </p:spPr>
      </p:sp>
      <p:sp>
        <p:nvSpPr>
          <p:cNvPr id="28" name="Text 26"/>
          <p:cNvSpPr txBox="1"/>
          <p:nvPr/>
        </p:nvSpPr>
        <p:spPr>
          <a:xfrm>
            <a:off x="8935517" y="2487168"/>
            <a:ext cx="2570378" cy="347472"/>
          </a:xfrm>
          <a:prstGeom prst="rect">
            <a:avLst/>
          </a:prstGeom>
          <a:noFill/>
          <a:ln/>
        </p:spPr>
        <p:txBody>
          <a:bodyPr wrap="square" lIns="0" tIns="0" rIns="0" bIns="0" rtlCol="0" anchor="t"/>
          <a:lstStyle/>
          <a:p>
            <a:pPr indent="0" marL="0">
              <a:buNone/>
            </a:pPr>
            <a:r>
              <a:rPr lang="en-US" sz="2100" b="1" dirty="0">
                <a:solidFill>
                  <a:schemeClr val="accent1"/>
                </a:solidFill>
                <a:latin typeface="Cambria" pitchFamily="34" charset="0"/>
                <a:ea typeface="Cambria" pitchFamily="34" charset="-122"/>
                <a:cs typeface="Cambria" pitchFamily="34" charset="-120"/>
              </a:rPr>
              <a:t>NLA</a:t>
            </a:r>
            <a:endParaRPr lang="en-US" sz="2100" dirty="0"/>
          </a:p>
        </p:txBody>
      </p:sp>
      <p:sp>
        <p:nvSpPr>
          <p:cNvPr id="29" name="Text 27"/>
          <p:cNvSpPr txBox="1"/>
          <p:nvPr/>
        </p:nvSpPr>
        <p:spPr>
          <a:xfrm>
            <a:off x="8935517"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VERBALIZER + RECONSTRUCTOR</a:t>
            </a:r>
            <a:endParaRPr lang="en-US" sz="1050" dirty="0"/>
          </a:p>
        </p:txBody>
      </p:sp>
      <p:sp>
        <p:nvSpPr>
          <p:cNvPr id="30" name="Text 28"/>
          <p:cNvSpPr txBox="1"/>
          <p:nvPr/>
        </p:nvSpPr>
        <p:spPr>
          <a:xfrm>
            <a:off x="8359445"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Verbalizer writes an explanation; reconstructor rebuilds the vector</a:t>
            </a:r>
            <a:endParaRPr lang="en-US" sz="1400" dirty="0"/>
          </a:p>
          <a:p>
            <a:pPr marL="203200" indent="-203200">
              <a:spcAft>
                <a:spcPts val="600"/>
              </a:spcAft>
              <a:buSzPct val="100000"/>
              <a:buChar char="•"/>
            </a:pPr>
            <a:r>
              <a:rPr lang="en-US" sz="1400" dirty="0">
                <a:solidFill>
                  <a:schemeClr val="tx1"/>
                </a:solidFill>
              </a:rPr>
              <a:t>RL reward = reconstruction; FVE 0.761 (card 0.766)</a:t>
            </a:r>
            <a:endParaRPr lang="en-US" sz="1400" dirty="0"/>
          </a:p>
          <a:p>
            <a:pPr marL="203200" indent="-203200">
              <a:spcAft>
                <a:spcPts val="600"/>
              </a:spcAft>
              <a:buSzPct val="100000"/>
              <a:buChar char="•"/>
            </a:pPr>
            <a:r>
              <a:rPr lang="en-US" sz="1400" dirty="0">
                <a:solidFill>
                  <a:schemeClr val="tx1"/>
                </a:solidFill>
              </a:rPr>
              <a:t>Trained at layer 42 only</a:t>
            </a:r>
            <a:endParaRPr lang="en-US" sz="1400" dirty="0"/>
          </a:p>
        </p:txBody>
      </p:sp>
      <p:sp>
        <p:nvSpPr>
          <p:cNvPr id="31" name="Shape 29"/>
          <p:cNvSpPr/>
          <p:nvPr/>
        </p:nvSpPr>
        <p:spPr>
          <a:xfrm>
            <a:off x="8295437" y="5349240"/>
            <a:ext cx="3210458" cy="731520"/>
          </a:xfrm>
          <a:prstGeom prst="roundRect">
            <a:avLst>
              <a:gd name="adj" fmla="val 10000"/>
            </a:avLst>
          </a:prstGeom>
          <a:solidFill>
            <a:schemeClr val="bg1"/>
          </a:solidFill>
          <a:ln w="12700">
            <a:solidFill>
              <a:schemeClr val="bg1"/>
            </a:solidFill>
            <a:prstDash val="solid"/>
          </a:ln>
        </p:spPr>
      </p:sp>
      <p:sp>
        <p:nvSpPr>
          <p:cNvPr id="32" name="Text 30"/>
          <p:cNvSpPr txBox="1"/>
          <p:nvPr/>
        </p:nvSpPr>
        <p:spPr>
          <a:xfrm>
            <a:off x="8405165"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"French descriptive sentence…"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4A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'Non-workspace' content: the model uses it, a probe decodes it, but it sits outside the top-r J-space</a:t>
            </a:r>
            <a:endParaRPr lang="en-US" sz="2800" dirty="0"/>
          </a:p>
        </p:txBody>
      </p:sp>
      <p:sp>
        <p:nvSpPr>
          <p:cNvPr id="7" name="Shape 5"/>
          <p:cNvSpPr/>
          <p:nvPr/>
        </p:nvSpPr>
        <p:spPr>
          <a:xfrm>
            <a:off x="548640" y="1755648"/>
            <a:ext cx="457200" cy="457200"/>
          </a:xfrm>
          <a:prstGeom prst="ellipse">
            <a:avLst/>
          </a:prstGeom>
          <a:solidFill>
            <a:schemeClr val="tx1"/>
          </a:solidFill>
          <a:ln w="12700">
            <a:solidFill>
              <a:schemeClr val="tx1"/>
            </a:solidFill>
            <a:prstDash val="solid"/>
          </a:ln>
        </p:spPr>
      </p:sp>
      <p:sp>
        <p:nvSpPr>
          <p:cNvPr id="8" name="Text 6"/>
          <p:cNvSpPr txBox="1"/>
          <p:nvPr/>
        </p:nvSpPr>
        <p:spPr>
          <a:xfrm>
            <a:off x="548640" y="1755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G1</a:t>
            </a:r>
            <a:endParaRPr lang="en-US" sz="1400" dirty="0"/>
          </a:p>
        </p:txBody>
      </p:sp>
      <p:sp>
        <p:nvSpPr>
          <p:cNvPr id="9" name="Text 7"/>
          <p:cNvSpPr txBox="1"/>
          <p:nvPr/>
        </p:nvSpPr>
        <p:spPr>
          <a:xfrm>
            <a:off x="1188720" y="1737360"/>
            <a:ext cx="5394960" cy="320040"/>
          </a:xfrm>
          <a:prstGeom prst="rect">
            <a:avLst/>
          </a:prstGeom>
          <a:noFill/>
          <a:ln/>
        </p:spPr>
        <p:txBody>
          <a:bodyPr wrap="square" lIns="0" tIns="0" rIns="0" bIns="0" rtlCol="0" anchor="t"/>
          <a:lstStyle/>
          <a:p>
            <a:pPr indent="0" marL="0">
              <a:buNone/>
            </a:pPr>
            <a:r>
              <a:rPr lang="en-US" sz="1700" b="1" dirty="0">
                <a:solidFill>
                  <a:schemeClr val="tx1"/>
                </a:solidFill>
              </a:rPr>
              <a:t>Decodable</a:t>
            </a:r>
            <a:endParaRPr lang="en-US" sz="1700" dirty="0"/>
          </a:p>
        </p:txBody>
      </p:sp>
      <p:sp>
        <p:nvSpPr>
          <p:cNvPr id="10" name="Text 8"/>
          <p:cNvSpPr txBox="1"/>
          <p:nvPr/>
        </p:nvSpPr>
        <p:spPr>
          <a:xfrm>
            <a:off x="1188720" y="2066544"/>
            <a:ext cx="5394960" cy="685800"/>
          </a:xfrm>
          <a:prstGeom prst="rect">
            <a:avLst/>
          </a:prstGeom>
          <a:noFill/>
          <a:ln/>
        </p:spPr>
        <p:txBody>
          <a:bodyPr wrap="square" lIns="0" tIns="0" rIns="0" bIns="0" rtlCol="0" anchor="t"/>
          <a:lstStyle/>
          <a:p>
            <a:pPr indent="0" marL="0">
              <a:buNone/>
            </a:pPr>
            <a:r>
              <a:rPr lang="en-US" sz="1400" dirty="0">
                <a:solidFill>
                  <a:schemeClr val="tx1"/>
                </a:solidFill>
              </a:rPr>
              <a:t>A linear probe recovers it at layer 42 (G1).</a:t>
            </a:r>
            <a:endParaRPr lang="en-US" sz="1400" dirty="0"/>
          </a:p>
        </p:txBody>
      </p:sp>
      <p:sp>
        <p:nvSpPr>
          <p:cNvPr id="11" name="Shape 9"/>
          <p:cNvSpPr/>
          <p:nvPr/>
        </p:nvSpPr>
        <p:spPr>
          <a:xfrm>
            <a:off x="548640" y="2852928"/>
            <a:ext cx="457200" cy="457200"/>
          </a:xfrm>
          <a:prstGeom prst="ellipse">
            <a:avLst/>
          </a:prstGeom>
          <a:solidFill>
            <a:schemeClr val="tx1"/>
          </a:solidFill>
          <a:ln w="12700">
            <a:solidFill>
              <a:schemeClr val="tx1"/>
            </a:solidFill>
            <a:prstDash val="solid"/>
          </a:ln>
        </p:spPr>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G2</a:t>
            </a:r>
            <a:endParaRPr lang="en-US" sz="1400" dirty="0"/>
          </a:p>
        </p:txBody>
      </p:sp>
      <p:sp>
        <p:nvSpPr>
          <p:cNvPr id="13" name="Text 11"/>
          <p:cNvSpPr txBox="1"/>
          <p:nvPr/>
        </p:nvSpPr>
        <p:spPr>
          <a:xfrm>
            <a:off x="1188720" y="2834640"/>
            <a:ext cx="5394960" cy="320040"/>
          </a:xfrm>
          <a:prstGeom prst="rect">
            <a:avLst/>
          </a:prstGeom>
          <a:noFill/>
          <a:ln/>
        </p:spPr>
        <p:txBody>
          <a:bodyPr wrap="square" lIns="0" tIns="0" rIns="0" bIns="0" rtlCol="0" anchor="t"/>
          <a:lstStyle/>
          <a:p>
            <a:pPr indent="0" marL="0">
              <a:buNone/>
            </a:pPr>
            <a:r>
              <a:rPr lang="en-US" sz="1700" b="1" dirty="0">
                <a:solidFill>
                  <a:schemeClr val="tx1"/>
                </a:solidFill>
              </a:rPr>
              <a:t>Outside the top-r J-space</a:t>
            </a:r>
            <a:endParaRPr lang="en-US" sz="1700" dirty="0"/>
          </a:p>
        </p:txBody>
      </p:sp>
      <p:sp>
        <p:nvSpPr>
          <p:cNvPr id="14" name="Text 12"/>
          <p:cNvSpPr txBox="1"/>
          <p:nvPr/>
        </p:nvSpPr>
        <p:spPr>
          <a:xfrm>
            <a:off x="1188720" y="3163824"/>
            <a:ext cx="5394960" cy="685800"/>
          </a:xfrm>
          <a:prstGeom prst="rect">
            <a:avLst/>
          </a:prstGeom>
          <a:noFill/>
          <a:ln/>
        </p:spPr>
        <p:txBody>
          <a:bodyPr wrap="square" lIns="0" tIns="0" rIns="0" bIns="0" rtlCol="0" anchor="t"/>
          <a:lstStyle/>
          <a:p>
            <a:pPr indent="0" marL="0">
              <a:buNone/>
            </a:pPr>
            <a:r>
              <a:rPr lang="en-US" sz="1400" dirty="0">
                <a:solidFill>
                  <a:schemeClr val="tx1"/>
                </a:solidFill>
              </a:rPr>
              <a:t>Its direction is J-depleted (enrichment ≤ 1.5 at r* and 4r*) and the J-Lens readout does not track it (G2).</a:t>
            </a:r>
            <a:endParaRPr lang="en-US" sz="1400" dirty="0"/>
          </a:p>
        </p:txBody>
      </p:sp>
      <p:sp>
        <p:nvSpPr>
          <p:cNvPr id="15" name="Shape 13"/>
          <p:cNvSpPr/>
          <p:nvPr/>
        </p:nvSpPr>
        <p:spPr>
          <a:xfrm>
            <a:off x="548640" y="3950208"/>
            <a:ext cx="457200" cy="457200"/>
          </a:xfrm>
          <a:prstGeom prst="ellipse">
            <a:avLst/>
          </a:prstGeom>
          <a:solidFill>
            <a:schemeClr val="tx1"/>
          </a:solidFill>
          <a:ln w="12700">
            <a:solidFill>
              <a:schemeClr val="tx1"/>
            </a:solidFill>
            <a:prstDash val="solid"/>
          </a:ln>
        </p:spPr>
      </p:sp>
      <p:sp>
        <p:nvSpPr>
          <p:cNvPr id="16" name="Text 14"/>
          <p:cNvSpPr txBox="1"/>
          <p:nvPr/>
        </p:nvSpPr>
        <p:spPr>
          <a:xfrm>
            <a:off x="548640" y="39502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7" name="Text 15"/>
          <p:cNvSpPr txBox="1"/>
          <p:nvPr/>
        </p:nvSpPr>
        <p:spPr>
          <a:xfrm>
            <a:off x="1188720" y="3931920"/>
            <a:ext cx="5394960" cy="320040"/>
          </a:xfrm>
          <a:prstGeom prst="rect">
            <a:avLst/>
          </a:prstGeom>
          <a:noFill/>
          <a:ln/>
        </p:spPr>
        <p:txBody>
          <a:bodyPr wrap="square" lIns="0" tIns="0" rIns="0" bIns="0" rtlCol="0" anchor="t"/>
          <a:lstStyle/>
          <a:p>
            <a:pPr indent="0" marL="0">
              <a:buNone/>
            </a:pPr>
            <a:r>
              <a:rPr lang="en-US" sz="1700" b="1" dirty="0">
                <a:solidFill>
                  <a:schemeClr val="tx1"/>
                </a:solidFill>
              </a:rPr>
              <a:t>Causally used</a:t>
            </a:r>
            <a:endParaRPr lang="en-US" sz="1700" dirty="0"/>
          </a:p>
        </p:txBody>
      </p:sp>
      <p:sp>
        <p:nvSpPr>
          <p:cNvPr id="18" name="Text 16"/>
          <p:cNvSpPr txBox="1"/>
          <p:nvPr/>
        </p:nvSpPr>
        <p:spPr>
          <a:xfrm>
            <a:off x="1188720" y="4261104"/>
            <a:ext cx="5394960" cy="685800"/>
          </a:xfrm>
          <a:prstGeom prst="rect">
            <a:avLst/>
          </a:prstGeom>
          <a:noFill/>
          <a:ln/>
        </p:spPr>
        <p:txBody>
          <a:bodyPr wrap="square" lIns="0" tIns="0" rIns="0" bIns="0" rtlCol="0" anchor="t"/>
          <a:lstStyle/>
          <a:p>
            <a:pPr indent="0" marL="0">
              <a:buNone/>
            </a:pPr>
            <a:r>
              <a:rPr lang="en-US" sz="1400" dirty="0">
                <a:solidFill>
                  <a:schemeClr val="tx1"/>
                </a:solidFill>
              </a:rPr>
              <a:t>Steering along its J-removed direction changes behaviour far more than random directions do (G4).</a:t>
            </a:r>
            <a:endParaRPr lang="en-US" sz="1400" dirty="0"/>
          </a:p>
        </p:txBody>
      </p:sp>
      <p:sp>
        <p:nvSpPr>
          <p:cNvPr id="19" name="Shape 17"/>
          <p:cNvSpPr/>
          <p:nvPr/>
        </p:nvSpPr>
        <p:spPr>
          <a:xfrm>
            <a:off x="548640" y="5047488"/>
            <a:ext cx="457200" cy="457200"/>
          </a:xfrm>
          <a:prstGeom prst="ellipse">
            <a:avLst/>
          </a:prstGeom>
          <a:solidFill>
            <a:schemeClr val="accent6"/>
          </a:solidFill>
          <a:ln w="12700">
            <a:solidFill>
              <a:schemeClr val="accent6"/>
            </a:solidFill>
            <a:prstDash val="solid"/>
          </a:ln>
        </p:spPr>
      </p:sp>
      <p:sp>
        <p:nvSpPr>
          <p:cNvPr id="20" name="Text 18"/>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 19"/>
          <p:cNvSpPr txBox="1"/>
          <p:nvPr/>
        </p:nvSpPr>
        <p:spPr>
          <a:xfrm>
            <a:off x="1188720" y="5029200"/>
            <a:ext cx="5394960" cy="320040"/>
          </a:xfrm>
          <a:prstGeom prst="rect">
            <a:avLst/>
          </a:prstGeom>
          <a:noFill/>
          <a:ln/>
        </p:spPr>
        <p:txBody>
          <a:bodyPr wrap="square" lIns="0" tIns="0" rIns="0" bIns="0" rtlCol="0" anchor="t"/>
          <a:lstStyle/>
          <a:p>
            <a:pPr indent="0" marL="0">
              <a:buNone/>
            </a:pPr>
            <a:r>
              <a:rPr lang="en-US" sz="1700" b="1" dirty="0">
                <a:solidFill>
                  <a:schemeClr val="accent5"/>
                </a:solidFill>
              </a:rPr>
              <a:t>Self-report (reported, not a gate)</a:t>
            </a:r>
            <a:endParaRPr lang="en-US" sz="1700" dirty="0"/>
          </a:p>
        </p:txBody>
      </p:sp>
      <p:sp>
        <p:nvSpPr>
          <p:cNvPr id="22" name="Text 20"/>
          <p:cNvSpPr txBox="1"/>
          <p:nvPr/>
        </p:nvSpPr>
        <p:spPr>
          <a:xfrm>
            <a:off x="1188720" y="5358384"/>
            <a:ext cx="5394960" cy="685800"/>
          </a:xfrm>
          <a:prstGeom prst="rect">
            <a:avLst/>
          </a:prstGeom>
          <a:noFill/>
          <a:ln/>
        </p:spPr>
        <p:txBody>
          <a:bodyPr wrap="square" lIns="0" tIns="0" rIns="0" bIns="0" rtlCol="0" anchor="t"/>
          <a:lstStyle/>
          <a:p>
            <a:pPr indent="0" marL="0">
              <a:buNone/>
            </a:pPr>
            <a:r>
              <a:rPr lang="en-US" sz="1400" dirty="0">
                <a:solidFill>
                  <a:schemeClr val="accent5"/>
                </a:solidFill>
              </a:rPr>
              <a:t>Self-report failures are often elicitation failures, so they can't define non-J.</a:t>
            </a:r>
            <a:endParaRPr lang="en-US" sz="1400" dirty="0"/>
          </a:p>
        </p:txBody>
      </p:sp>
      <p:sp>
        <p:nvSpPr>
          <p:cNvPr id="23" name="Shape 21"/>
          <p:cNvSpPr/>
          <p:nvPr/>
        </p:nvSpPr>
        <p:spPr>
          <a:xfrm>
            <a:off x="6995160" y="1737360"/>
            <a:ext cx="4647895" cy="4434840"/>
          </a:xfrm>
          <a:prstGeom prst="roundRect">
            <a:avLst>
              <a:gd name="adj" fmla="val 1649"/>
            </a:avLst>
          </a:prstGeom>
          <a:solidFill>
            <a:schemeClr val="bg2"/>
          </a:solidFill>
          <a:ln w="12700">
            <a:solidFill>
              <a:schemeClr val="bg2"/>
            </a:solidFill>
            <a:prstDash val="solid"/>
          </a:ln>
        </p:spPr>
      </p:sp>
      <p:sp>
        <p:nvSpPr>
          <p:cNvPr id="24" name="Text 22"/>
          <p:cNvSpPr txBox="1"/>
          <p:nvPr/>
        </p:nvSpPr>
        <p:spPr>
          <a:xfrm>
            <a:off x="7159752" y="1901952"/>
            <a:ext cx="4318711" cy="329184"/>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Our running example: col</a:t>
            </a:r>
            <a:endParaRPr lang="en-US" sz="1800" dirty="0"/>
          </a:p>
        </p:txBody>
      </p:sp>
      <p:sp>
        <p:nvSpPr>
          <p:cNvPr id="25" name="Text 23"/>
          <p:cNvSpPr txBox="1"/>
          <p:nvPr/>
        </p:nvSpPr>
        <p:spPr>
          <a:xfrm>
            <a:off x="7159752" y="2276856"/>
            <a:ext cx="4318711" cy="3796589"/>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In hard-wrapped text, col = characters since the last newline. The model tracks it to decide when to break the line. It is used, decodable, and invisible to the J-Lens.</a:t>
            </a:r>
            <a:endParaRPr lang="en-US" sz="1500" dirty="0"/>
          </a:p>
        </p:txBody>
      </p:sp>
      <p:sp>
        <p:nvSpPr>
          <p:cNvPr id="26" name="Shape 24"/>
          <p:cNvSpPr/>
          <p:nvPr/>
        </p:nvSpPr>
        <p:spPr>
          <a:xfrm>
            <a:off x="7178040" y="4160520"/>
            <a:ext cx="4282135" cy="914400"/>
          </a:xfrm>
          <a:prstGeom prst="roundRect">
            <a:avLst>
              <a:gd name="adj" fmla="val 6000"/>
            </a:avLst>
          </a:prstGeom>
          <a:solidFill>
            <a:schemeClr val="bg1"/>
          </a:solidFill>
          <a:ln w="12700">
            <a:solidFill>
              <a:schemeClr val="accent6"/>
            </a:solidFill>
            <a:prstDash val="solid"/>
          </a:ln>
        </p:spPr>
      </p:sp>
      <p:sp>
        <p:nvSpPr>
          <p:cNvPr id="27" name="Text 25"/>
          <p:cNvSpPr txBox="1"/>
          <p:nvPr/>
        </p:nvSpPr>
        <p:spPr>
          <a:xfrm>
            <a:off x="7287768" y="4206240"/>
            <a:ext cx="4099255" cy="82296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 quick brown fox jumps over the</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lazy dog and keeps running across the▌</a:t>
            </a:r>
            <a:endParaRPr lang="en-US" sz="1200" dirty="0"/>
          </a:p>
        </p:txBody>
      </p:sp>
      <p:sp>
        <p:nvSpPr>
          <p:cNvPr id="28" name="Text 26"/>
          <p:cNvSpPr txBox="1"/>
          <p:nvPr/>
        </p:nvSpPr>
        <p:spPr>
          <a:xfrm>
            <a:off x="7178040" y="5212080"/>
            <a:ext cx="4282135" cy="548640"/>
          </a:xfrm>
          <a:prstGeom prst="rect">
            <a:avLst/>
          </a:prstGeom>
          <a:noFill/>
          <a:ln/>
        </p:spPr>
        <p:txBody>
          <a:bodyPr wrap="square" lIns="0" tIns="0" rIns="0" bIns="0" rtlCol="0" anchor="t"/>
          <a:lstStyle/>
          <a:p>
            <a:pPr indent="0" marL="0">
              <a:buNone/>
            </a:pPr>
            <a:r>
              <a:rPr lang="en-US" sz="1200" dirty="0">
                <a:solidFill>
                  <a:schemeClr val="accent5"/>
                </a:solidFill>
              </a:rPr>
              <a:t>col = 37 here ↑ (the model must track it to know a break is near)</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4B / 4: THE CORE CONFOUND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reader can be right without reading the latent: it can rebuild the prompt and re-solve it</a:t>
            </a:r>
            <a:endParaRPr lang="en-US" sz="2800" dirty="0"/>
          </a:p>
        </p:txBody>
      </p:sp>
      <p:sp>
        <p:nvSpPr>
          <p:cNvPr id="7" name="Shape 5"/>
          <p:cNvSpPr/>
          <p:nvPr/>
        </p:nvSpPr>
        <p:spPr>
          <a:xfrm>
            <a:off x="548640" y="2514600"/>
            <a:ext cx="2011680" cy="1234440"/>
          </a:xfrm>
          <a:prstGeom prst="roundRect">
            <a:avLst>
              <a:gd name="adj" fmla="val 5926"/>
            </a:avLst>
          </a:prstGeom>
          <a:solidFill>
            <a:schemeClr val="bg2"/>
          </a:solidFill>
          <a:ln w="15875">
            <a:solidFill>
              <a:schemeClr val="bg2"/>
            </a:solidFill>
            <a:prstDash val="solid"/>
          </a:ln>
        </p:spPr>
      </p:sp>
      <p:sp>
        <p:nvSpPr>
          <p:cNvPr id="8" name="Text 6"/>
          <p:cNvSpPr txBox="1"/>
          <p:nvPr/>
        </p:nvSpPr>
        <p:spPr>
          <a:xfrm>
            <a:off x="685800" y="2606040"/>
            <a:ext cx="173736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Prompt text</a:t>
            </a:r>
            <a:endParaRPr lang="en-US" sz="1600" dirty="0"/>
          </a:p>
        </p:txBody>
      </p:sp>
      <p:sp>
        <p:nvSpPr>
          <p:cNvPr id="9" name="Text 7"/>
          <p:cNvSpPr txBox="1"/>
          <p:nvPr/>
        </p:nvSpPr>
        <p:spPr>
          <a:xfrm>
            <a:off x="685800" y="2944368"/>
            <a:ext cx="1737360" cy="731520"/>
          </a:xfrm>
          <a:prstGeom prst="rect">
            <a:avLst/>
          </a:prstGeom>
          <a:noFill/>
          <a:ln/>
        </p:spPr>
        <p:txBody>
          <a:bodyPr wrap="square" lIns="0" tIns="0" rIns="0" bIns="0" rtlCol="0" anchor="t"/>
          <a:lstStyle/>
          <a:p>
            <a:pPr indent="0" marL="0">
              <a:buNone/>
            </a:pPr>
            <a:r>
              <a:rPr lang="en-US" sz="1300" dirty="0">
                <a:solidFill>
                  <a:schemeClr val="tx1"/>
                </a:solidFill>
              </a:rPr>
              <a:t>"…famous for the Eiffel Tower is"</a:t>
            </a:r>
            <a:endParaRPr lang="en-US" sz="1300" dirty="0"/>
          </a:p>
        </p:txBody>
      </p:sp>
      <p:sp>
        <p:nvSpPr>
          <p:cNvPr id="10" name="Shape 8"/>
          <p:cNvSpPr/>
          <p:nvPr/>
        </p:nvSpPr>
        <p:spPr>
          <a:xfrm>
            <a:off x="2606040" y="3127248"/>
            <a:ext cx="320040" cy="914"/>
          </a:xfrm>
          <a:prstGeom prst="line">
            <a:avLst/>
          </a:prstGeom>
          <a:noFill/>
          <a:ln w="25400">
            <a:solidFill>
              <a:schemeClr val="accent5"/>
            </a:solidFill>
            <a:prstDash val="solid"/>
            <a:tailEnd type="triangle"/>
          </a:ln>
        </p:spPr>
      </p:sp>
      <p:sp>
        <p:nvSpPr>
          <p:cNvPr id="11" name="Shape 9"/>
          <p:cNvSpPr/>
          <p:nvPr/>
        </p:nvSpPr>
        <p:spPr>
          <a:xfrm>
            <a:off x="2971800" y="2331720"/>
            <a:ext cx="2514600" cy="1600200"/>
          </a:xfrm>
          <a:prstGeom prst="roundRect">
            <a:avLst>
              <a:gd name="adj" fmla="val 4571"/>
            </a:avLst>
          </a:prstGeom>
          <a:solidFill>
            <a:schemeClr val="bg2"/>
          </a:solidFill>
          <a:ln w="15875">
            <a:solidFill>
              <a:schemeClr val="tx1"/>
            </a:solidFill>
            <a:prstDash val="solid"/>
          </a:ln>
        </p:spPr>
      </p:sp>
      <p:sp>
        <p:nvSpPr>
          <p:cNvPr id="12" name="Text 10"/>
          <p:cNvSpPr txBox="1"/>
          <p:nvPr/>
        </p:nvSpPr>
        <p:spPr>
          <a:xfrm>
            <a:off x="3108960" y="2423160"/>
            <a:ext cx="224028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Activation, layer 42</a:t>
            </a:r>
            <a:endParaRPr lang="en-US" sz="1600" dirty="0"/>
          </a:p>
        </p:txBody>
      </p:sp>
      <p:sp>
        <p:nvSpPr>
          <p:cNvPr id="13" name="Text 11"/>
          <p:cNvSpPr txBox="1"/>
          <p:nvPr/>
        </p:nvSpPr>
        <p:spPr>
          <a:xfrm>
            <a:off x="3108960" y="2761488"/>
            <a:ext cx="2240280" cy="1097280"/>
          </a:xfrm>
          <a:prstGeom prst="rect">
            <a:avLst/>
          </a:prstGeom>
          <a:noFill/>
          <a:ln/>
        </p:spPr>
        <p:txBody>
          <a:bodyPr wrap="square" lIns="0" tIns="0" rIns="0" bIns="0" rtlCol="0" anchor="t"/>
          <a:lstStyle/>
          <a:p>
            <a:pPr indent="0" marL="0">
              <a:buNone/>
            </a:pPr>
            <a:r>
              <a:rPr lang="en-US" sz="1300" dirty="0">
                <a:solidFill>
                  <a:schemeClr val="tx1"/>
                </a:solidFill>
              </a:rPr>
              <a:t>encodes the prompt and the features the model computed</a:t>
            </a:r>
            <a:endParaRPr lang="en-US" sz="1300" dirty="0"/>
          </a:p>
        </p:txBody>
      </p:sp>
      <p:sp>
        <p:nvSpPr>
          <p:cNvPr id="14" name="Shape 12"/>
          <p:cNvSpPr/>
          <p:nvPr/>
        </p:nvSpPr>
        <p:spPr>
          <a:xfrm>
            <a:off x="6172200" y="1691640"/>
            <a:ext cx="3063240" cy="1188720"/>
          </a:xfrm>
          <a:prstGeom prst="roundRect">
            <a:avLst>
              <a:gd name="adj" fmla="val 6154"/>
            </a:avLst>
          </a:prstGeom>
          <a:solidFill>
            <a:schemeClr val="accent1">
              <a:alpha val="15000"/>
            </a:schemeClr>
          </a:solidFill>
          <a:ln w="15875">
            <a:solidFill>
              <a:schemeClr val="accent1"/>
            </a:solidFill>
            <a:prstDash val="solid"/>
          </a:ln>
        </p:spPr>
      </p:sp>
      <p:sp>
        <p:nvSpPr>
          <p:cNvPr id="15" name="Text 13"/>
          <p:cNvSpPr txBox="1"/>
          <p:nvPr/>
        </p:nvSpPr>
        <p:spPr>
          <a:xfrm>
            <a:off x="6309360" y="178308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Reading</a:t>
            </a:r>
            <a:endParaRPr lang="en-US" sz="1600" dirty="0"/>
          </a:p>
        </p:txBody>
      </p:sp>
      <p:sp>
        <p:nvSpPr>
          <p:cNvPr id="16" name="Text 14"/>
          <p:cNvSpPr txBox="1"/>
          <p:nvPr/>
        </p:nvSpPr>
        <p:spPr>
          <a:xfrm>
            <a:off x="6309360" y="2121408"/>
            <a:ext cx="2788920" cy="685800"/>
          </a:xfrm>
          <a:prstGeom prst="rect">
            <a:avLst/>
          </a:prstGeom>
          <a:noFill/>
          <a:ln/>
        </p:spPr>
        <p:txBody>
          <a:bodyPr wrap="square" lIns="0" tIns="0" rIns="0" bIns="0" rtlCol="0" anchor="t"/>
          <a:lstStyle/>
          <a:p>
            <a:pPr indent="0" marL="0">
              <a:buNone/>
            </a:pPr>
            <a:r>
              <a:rPr lang="en-US" sz="1300" dirty="0">
                <a:solidFill>
                  <a:schemeClr val="tx1"/>
                </a:solidFill>
              </a:rPr>
              <a:t>Reports the feature straight from the activation.</a:t>
            </a:r>
            <a:endParaRPr lang="en-US" sz="1300" dirty="0"/>
          </a:p>
        </p:txBody>
      </p:sp>
      <p:sp>
        <p:nvSpPr>
          <p:cNvPr id="17" name="Shape 15"/>
          <p:cNvSpPr/>
          <p:nvPr/>
        </p:nvSpPr>
        <p:spPr>
          <a:xfrm>
            <a:off x="6172200" y="3337560"/>
            <a:ext cx="3063240" cy="1371600"/>
          </a:xfrm>
          <a:prstGeom prst="roundRect">
            <a:avLst>
              <a:gd name="adj" fmla="val 5333"/>
            </a:avLst>
          </a:prstGeom>
          <a:solidFill>
            <a:schemeClr val="accent4">
              <a:alpha val="18000"/>
            </a:schemeClr>
          </a:solidFill>
          <a:ln w="15875">
            <a:solidFill>
              <a:schemeClr val="accent4"/>
            </a:solidFill>
            <a:prstDash val="solid"/>
          </a:ln>
        </p:spPr>
      </p:sp>
      <p:sp>
        <p:nvSpPr>
          <p:cNvPr id="18" name="Text 16"/>
          <p:cNvSpPr txBox="1"/>
          <p:nvPr/>
        </p:nvSpPr>
        <p:spPr>
          <a:xfrm>
            <a:off x="6309360" y="342900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Re-solving</a:t>
            </a:r>
            <a:endParaRPr lang="en-US" sz="1600" dirty="0"/>
          </a:p>
        </p:txBody>
      </p:sp>
      <p:sp>
        <p:nvSpPr>
          <p:cNvPr id="19" name="Text 17"/>
          <p:cNvSpPr txBox="1"/>
          <p:nvPr/>
        </p:nvSpPr>
        <p:spPr>
          <a:xfrm>
            <a:off x="6309360" y="3767328"/>
            <a:ext cx="2788920" cy="868680"/>
          </a:xfrm>
          <a:prstGeom prst="rect">
            <a:avLst/>
          </a:prstGeom>
          <a:noFill/>
          <a:ln/>
        </p:spPr>
        <p:txBody>
          <a:bodyPr wrap="square" lIns="0" tIns="0" rIns="0" bIns="0" rtlCol="0" anchor="t"/>
          <a:lstStyle/>
          <a:p>
            <a:pPr indent="0" marL="0">
              <a:buNone/>
            </a:pPr>
            <a:r>
              <a:rPr lang="en-US" sz="1300" dirty="0">
                <a:solidFill>
                  <a:schemeClr val="tx1"/>
                </a:solidFill>
              </a:rPr>
              <a:t>Rebuilds the prompt from the activation, then works out the answer itself, like a text model would.</a:t>
            </a:r>
            <a:endParaRPr lang="en-US" sz="1300" dirty="0"/>
          </a:p>
        </p:txBody>
      </p:sp>
      <p:sp>
        <p:nvSpPr>
          <p:cNvPr id="20" name="Shape 18"/>
          <p:cNvSpPr/>
          <p:nvPr/>
        </p:nvSpPr>
        <p:spPr>
          <a:xfrm flipV="1">
            <a:off x="5532120" y="2331720"/>
            <a:ext cx="594360" cy="594360"/>
          </a:xfrm>
          <a:prstGeom prst="line">
            <a:avLst/>
          </a:prstGeom>
          <a:noFill/>
          <a:ln w="25400">
            <a:solidFill>
              <a:schemeClr val="accent1"/>
            </a:solidFill>
            <a:prstDash val="solid"/>
            <a:tailEnd type="triangle"/>
          </a:ln>
        </p:spPr>
      </p:sp>
      <p:sp>
        <p:nvSpPr>
          <p:cNvPr id="21" name="Shape 19"/>
          <p:cNvSpPr/>
          <p:nvPr/>
        </p:nvSpPr>
        <p:spPr>
          <a:xfrm>
            <a:off x="5532120" y="3337560"/>
            <a:ext cx="594360" cy="640080"/>
          </a:xfrm>
          <a:prstGeom prst="line">
            <a:avLst/>
          </a:prstGeom>
          <a:noFill/>
          <a:ln w="25400">
            <a:solidFill>
              <a:schemeClr val="accent4"/>
            </a:solidFill>
            <a:prstDash val="solid"/>
            <a:tailEnd type="triangle"/>
          </a:ln>
        </p:spPr>
      </p:sp>
      <p:sp>
        <p:nvSpPr>
          <p:cNvPr id="22" name="Shape 20"/>
          <p:cNvSpPr/>
          <p:nvPr/>
        </p:nvSpPr>
        <p:spPr>
          <a:xfrm>
            <a:off x="9875520" y="2514600"/>
            <a:ext cx="1764792" cy="1234440"/>
          </a:xfrm>
          <a:prstGeom prst="roundRect">
            <a:avLst>
              <a:gd name="adj" fmla="val 5926"/>
            </a:avLst>
          </a:prstGeom>
          <a:solidFill>
            <a:schemeClr val="bg2"/>
          </a:solidFill>
          <a:ln w="15875">
            <a:solidFill>
              <a:schemeClr val="bg2"/>
            </a:solidFill>
            <a:prstDash val="solid"/>
          </a:ln>
        </p:spPr>
      </p:sp>
      <p:sp>
        <p:nvSpPr>
          <p:cNvPr id="23" name="Text 21"/>
          <p:cNvSpPr txBox="1"/>
          <p:nvPr/>
        </p:nvSpPr>
        <p:spPr>
          <a:xfrm>
            <a:off x="10012680" y="2606040"/>
            <a:ext cx="1490472"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Same answer</a:t>
            </a:r>
            <a:endParaRPr lang="en-US" sz="1600" dirty="0"/>
          </a:p>
        </p:txBody>
      </p:sp>
      <p:sp>
        <p:nvSpPr>
          <p:cNvPr id="24" name="Text 22"/>
          <p:cNvSpPr txBox="1"/>
          <p:nvPr/>
        </p:nvSpPr>
        <p:spPr>
          <a:xfrm>
            <a:off x="10012680" y="2944368"/>
            <a:ext cx="1490472" cy="731520"/>
          </a:xfrm>
          <a:prstGeom prst="rect">
            <a:avLst/>
          </a:prstGeom>
          <a:noFill/>
          <a:ln/>
        </p:spPr>
        <p:txBody>
          <a:bodyPr wrap="square" lIns="0" tIns="0" rIns="0" bIns="0" rtlCol="0" anchor="t"/>
          <a:lstStyle/>
          <a:p>
            <a:pPr indent="0" marL="0">
              <a:buNone/>
            </a:pPr>
            <a:r>
              <a:rPr lang="en-US" sz="1300" dirty="0">
                <a:solidFill>
                  <a:schemeClr val="tx1"/>
                </a:solidFill>
              </a:rPr>
              <a:t>"France"</a:t>
            </a:r>
            <a:endParaRPr lang="en-US" sz="1300" dirty="0"/>
          </a:p>
        </p:txBody>
      </p:sp>
      <p:sp>
        <p:nvSpPr>
          <p:cNvPr id="25" name="Shape 23"/>
          <p:cNvSpPr/>
          <p:nvPr/>
        </p:nvSpPr>
        <p:spPr>
          <a:xfrm>
            <a:off x="9281160" y="2331720"/>
            <a:ext cx="548640" cy="594360"/>
          </a:xfrm>
          <a:prstGeom prst="line">
            <a:avLst/>
          </a:prstGeom>
          <a:noFill/>
          <a:ln w="19050">
            <a:solidFill>
              <a:schemeClr val="accent5"/>
            </a:solidFill>
            <a:prstDash val="solid"/>
            <a:tailEnd type="triangle"/>
          </a:ln>
        </p:spPr>
      </p:sp>
      <p:sp>
        <p:nvSpPr>
          <p:cNvPr id="26" name="Shape 24"/>
          <p:cNvSpPr/>
          <p:nvPr/>
        </p:nvSpPr>
        <p:spPr>
          <a:xfrm flipV="1">
            <a:off x="9281160" y="3337560"/>
            <a:ext cx="548640" cy="640080"/>
          </a:xfrm>
          <a:prstGeom prst="line">
            <a:avLst/>
          </a:prstGeom>
          <a:noFill/>
          <a:ln w="19050">
            <a:solidFill>
              <a:schemeClr val="accent5"/>
            </a:solidFill>
            <a:prstDash val="solid"/>
            <a:tailEnd type="triangle"/>
          </a:ln>
        </p:spPr>
      </p:sp>
      <p:sp>
        <p:nvSpPr>
          <p:cNvPr id="27" name="Shape 25"/>
          <p:cNvSpPr/>
          <p:nvPr/>
        </p:nvSpPr>
        <p:spPr>
          <a:xfrm>
            <a:off x="548640" y="4983480"/>
            <a:ext cx="11094415" cy="868680"/>
          </a:xfrm>
          <a:prstGeom prst="roundRect">
            <a:avLst>
              <a:gd name="adj" fmla="val 8421"/>
            </a:avLst>
          </a:prstGeom>
          <a:solidFill>
            <a:schemeClr val="bg2"/>
          </a:solidFill>
          <a:ln w="12700">
            <a:solidFill>
              <a:schemeClr val="bg2"/>
            </a:solidFill>
            <a:prstDash val="solid"/>
          </a:ln>
        </p:spPr>
      </p:sp>
      <p:sp>
        <p:nvSpPr>
          <p:cNvPr id="28" name="Text 26"/>
          <p:cNvSpPr txBox="1"/>
          <p:nvPr/>
        </p:nvSpPr>
        <p:spPr>
          <a:xfrm>
            <a:off x="731520" y="5029200"/>
            <a:ext cx="10728655" cy="777240"/>
          </a:xfrm>
          <a:prstGeom prst="rect">
            <a:avLst/>
          </a:prstGeom>
          <a:noFill/>
          <a:ln/>
        </p:spPr>
        <p:txBody>
          <a:bodyPr wrap="square" lIns="0" tIns="0" rIns="0" bIns="0" rtlCol="0" anchor="ctr"/>
          <a:lstStyle/>
          <a:p>
            <a:pPr indent="0" marL="0">
              <a:buNone/>
            </a:pPr>
            <a:r>
              <a:rPr lang="en-US" sz="1500" dirty="0">
                <a:solidFill>
                  <a:schemeClr val="tx1"/>
                </a:solidFill>
              </a:rPr>
              <a:t>On natural data both paths give the same, correct answer, so accuracy alone cannot tell them apart. </a:t>
            </a:r>
            <a:pPr indent="0" marL="0">
              <a:buNone/>
            </a:pPr>
            <a:r>
              <a:rPr lang="en-US" sz="1500" b="1" dirty="0">
                <a:solidFill>
                  <a:schemeClr val="accent1"/>
                </a:solidFill>
              </a:rPr>
              <a:t>The fix: change the feature in the activation while the text stays fixed. A reader follows; a re-solver doesn't.</a:t>
            </a:r>
            <a:endParaRPr lang="en-US" sz="1500" dirty="0"/>
          </a:p>
        </p:txBody>
      </p:sp>
      <p:sp>
        <p:nvSpPr>
          <p:cNvPr id="29" name="Text 27"/>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00" dirty="0">
                <a:solidFill>
                  <a:schemeClr val="accent5"/>
                </a:solidFill>
              </a:rPr>
              <a:t>Why worry: the NLA's warm-start explanations were written by Sonnet from the text prefix alone, with no activation.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PRIOR WORK</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showed pieces; reading vs re-solving on natural features was still open</a:t>
            </a:r>
            <a:endParaRPr lang="en-US" sz="2800" dirty="0"/>
          </a:p>
        </p:txBody>
      </p:sp>
      <p:sp>
        <p:nvSpPr>
          <p:cNvPr id="7" name="Shape 5"/>
          <p:cNvSpPr/>
          <p:nvPr/>
        </p:nvSpPr>
        <p:spPr>
          <a:xfrm>
            <a:off x="548640" y="1691640"/>
            <a:ext cx="2567864" cy="3611880"/>
          </a:xfrm>
          <a:prstGeom prst="roundRect">
            <a:avLst>
              <a:gd name="adj" fmla="val 2849"/>
            </a:avLst>
          </a:prstGeom>
          <a:solidFill>
            <a:schemeClr val="bg2"/>
          </a:solidFill>
          <a:ln w="12700">
            <a:solidFill>
              <a:schemeClr val="bg2"/>
            </a:solidFill>
            <a:prstDash val="solid"/>
          </a:ln>
        </p:spPr>
      </p:sp>
      <p:sp>
        <p:nvSpPr>
          <p:cNvPr id="8" name="Text 6"/>
          <p:cNvSpPr txBox="1"/>
          <p:nvPr/>
        </p:nvSpPr>
        <p:spPr>
          <a:xfrm>
            <a:off x="694944"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Concurrent MATS pilot</a:t>
            </a:r>
            <a:endParaRPr lang="en-US" sz="1600" dirty="0"/>
          </a:p>
        </p:txBody>
      </p:sp>
      <p:sp>
        <p:nvSpPr>
          <p:cNvPr id="9" name="Text 7"/>
          <p:cNvSpPr txBox="1"/>
          <p:nvPr/>
        </p:nvSpPr>
        <p:spPr>
          <a:xfrm>
            <a:off x="694944"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LittleMeHere/nla-vs-lenses · Oct 2026</a:t>
            </a:r>
            <a:endParaRPr lang="en-US" sz="1050" dirty="0"/>
          </a:p>
        </p:txBody>
      </p:sp>
      <p:sp>
        <p:nvSpPr>
          <p:cNvPr id="10" name="Text 8"/>
          <p:cNvSpPr txBox="1"/>
          <p:nvPr/>
        </p:nvSpPr>
        <p:spPr>
          <a:xfrm>
            <a:off x="694944"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Same model and readers. Multihop bridge named: J-Lens 39/100, OL 80, NLA 75. Readers mostly re-solve; 'on no task does the NLA find a hidden step the oracle lens misses'. Lists 'content known to be outside J-space' as not tested.</a:t>
            </a:r>
            <a:endParaRPr lang="en-US" sz="1250" dirty="0"/>
          </a:p>
        </p:txBody>
      </p:sp>
      <p:sp>
        <p:nvSpPr>
          <p:cNvPr id="11" name="Shape 9"/>
          <p:cNvSpPr/>
          <p:nvPr/>
        </p:nvSpPr>
        <p:spPr>
          <a:xfrm>
            <a:off x="3390824" y="1691640"/>
            <a:ext cx="2567864" cy="3611880"/>
          </a:xfrm>
          <a:prstGeom prst="roundRect">
            <a:avLst>
              <a:gd name="adj" fmla="val 2849"/>
            </a:avLst>
          </a:prstGeom>
          <a:solidFill>
            <a:schemeClr val="bg2"/>
          </a:solidFill>
          <a:ln w="12700">
            <a:solidFill>
              <a:schemeClr val="bg2"/>
            </a:solidFill>
            <a:prstDash val="solid"/>
          </a:ln>
        </p:spPr>
      </p:sp>
      <p:sp>
        <p:nvSpPr>
          <p:cNvPr id="12" name="Text 10"/>
          <p:cNvSpPr txBox="1"/>
          <p:nvPr/>
        </p:nvSpPr>
        <p:spPr>
          <a:xfrm>
            <a:off x="3537128"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Viswanath</a:t>
            </a:r>
            <a:endParaRPr lang="en-US" sz="1600" dirty="0"/>
          </a:p>
        </p:txBody>
      </p:sp>
      <p:sp>
        <p:nvSpPr>
          <p:cNvPr id="13" name="Text 11"/>
          <p:cNvSpPr txBox="1"/>
          <p:nvPr/>
        </p:nvSpPr>
        <p:spPr>
          <a:xfrm>
            <a:off x="3537128"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Llama-3.3-70B</a:t>
            </a:r>
            <a:endParaRPr lang="en-US" sz="1050" dirty="0"/>
          </a:p>
        </p:txBody>
      </p:sp>
      <p:sp>
        <p:nvSpPr>
          <p:cNvPr id="14" name="Text 12"/>
          <p:cNvSpPr txBox="1"/>
          <p:nvPr/>
        </p:nvSpPr>
        <p:spPr>
          <a:xfrm>
            <a:off x="3537128"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Injected split vectors: the model names the J part 80%, the non-J part 0%; the NLA names both 100%. Follow-up: natural safety contrasts are mostly non-J (enrichment 1.45). Open caveat: 'thematic residue' vs decoding. No Oracle Lens.</a:t>
            </a:r>
            <a:endParaRPr lang="en-US" sz="1250" dirty="0"/>
          </a:p>
        </p:txBody>
      </p:sp>
      <p:sp>
        <p:nvSpPr>
          <p:cNvPr id="15" name="Shape 13"/>
          <p:cNvSpPr/>
          <p:nvPr/>
        </p:nvSpPr>
        <p:spPr>
          <a:xfrm>
            <a:off x="6233008" y="1691640"/>
            <a:ext cx="2567864" cy="3611880"/>
          </a:xfrm>
          <a:prstGeom prst="roundRect">
            <a:avLst>
              <a:gd name="adj" fmla="val 2849"/>
            </a:avLst>
          </a:prstGeom>
          <a:solidFill>
            <a:schemeClr val="bg2"/>
          </a:solidFill>
          <a:ln w="12700">
            <a:solidFill>
              <a:schemeClr val="bg2"/>
            </a:solidFill>
            <a:prstDash val="solid"/>
          </a:ln>
        </p:spPr>
      </p:sp>
      <p:sp>
        <p:nvSpPr>
          <p:cNvPr id="16" name="Text 14"/>
          <p:cNvSpPr txBox="1"/>
          <p:nvPr/>
        </p:nvSpPr>
        <p:spPr>
          <a:xfrm>
            <a:off x="6379312"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Hong</a:t>
            </a:r>
            <a:endParaRPr lang="en-US" sz="1600" dirty="0"/>
          </a:p>
        </p:txBody>
      </p:sp>
      <p:sp>
        <p:nvSpPr>
          <p:cNvPr id="17" name="Text 15"/>
          <p:cNvSpPr txBox="1"/>
          <p:nvPr/>
        </p:nvSpPr>
        <p:spPr>
          <a:xfrm>
            <a:off x="6379312"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Qwen3.6-27B</a:t>
            </a:r>
            <a:endParaRPr lang="en-US" sz="1050" dirty="0"/>
          </a:p>
        </p:txBody>
      </p:sp>
      <p:sp>
        <p:nvSpPr>
          <p:cNvPr id="18" name="Text 16"/>
          <p:cNvSpPr txBox="1"/>
          <p:nvPr/>
        </p:nvSpPr>
        <p:spPr>
          <a:xfrm>
            <a:off x="6379312"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About 95% of the NLA's RL reconstruction gain lies outside the J-space, but about 90% of its specific claims are unsupported.</a:t>
            </a:r>
            <a:endParaRPr lang="en-US" sz="1250" dirty="0"/>
          </a:p>
        </p:txBody>
      </p:sp>
      <p:sp>
        <p:nvSpPr>
          <p:cNvPr id="19" name="Shape 17"/>
          <p:cNvSpPr/>
          <p:nvPr/>
        </p:nvSpPr>
        <p:spPr>
          <a:xfrm>
            <a:off x="9075191" y="1691640"/>
            <a:ext cx="2567864" cy="3611880"/>
          </a:xfrm>
          <a:prstGeom prst="roundRect">
            <a:avLst>
              <a:gd name="adj" fmla="val 2849"/>
            </a:avLst>
          </a:prstGeom>
          <a:solidFill>
            <a:schemeClr val="bg2"/>
          </a:solidFill>
          <a:ln w="12700">
            <a:solidFill>
              <a:schemeClr val="bg2"/>
            </a:solidFill>
            <a:prstDash val="solid"/>
          </a:ln>
        </p:spPr>
      </p:sp>
      <p:sp>
        <p:nvSpPr>
          <p:cNvPr id="20" name="Text 18"/>
          <p:cNvSpPr txBox="1"/>
          <p:nvPr/>
        </p:nvSpPr>
        <p:spPr>
          <a:xfrm>
            <a:off x="9221495"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Global workspace paper</a:t>
            </a:r>
            <a:endParaRPr lang="en-US" sz="1600" dirty="0"/>
          </a:p>
        </p:txBody>
      </p:sp>
      <p:sp>
        <p:nvSpPr>
          <p:cNvPr id="21" name="Text 19"/>
          <p:cNvSpPr txBox="1"/>
          <p:nvPr/>
        </p:nvSpPr>
        <p:spPr>
          <a:xfrm>
            <a:off x="9221495"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Anthropic · Jul 2026</a:t>
            </a:r>
            <a:endParaRPr lang="en-US" sz="1050" dirty="0"/>
          </a:p>
        </p:txBody>
      </p:sp>
      <p:sp>
        <p:nvSpPr>
          <p:cNvPr id="22" name="Text 20"/>
          <p:cNvSpPr txBox="1"/>
          <p:nvPr/>
        </p:nvSpPr>
        <p:spPr>
          <a:xfrm>
            <a:off x="9221495"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Reports features used but not in J: part of speech, tense, and the character count during line wrapping. A source of natural ground truth.</a:t>
            </a:r>
            <a:endParaRPr lang="en-US" sz="1250" dirty="0"/>
          </a:p>
        </p:txBody>
      </p:sp>
      <p:sp>
        <p:nvSpPr>
          <p:cNvPr id="23" name="Shape 21"/>
          <p:cNvSpPr/>
          <p:nvPr/>
        </p:nvSpPr>
        <p:spPr>
          <a:xfrm>
            <a:off x="548640" y="5486400"/>
            <a:ext cx="11094415" cy="777240"/>
          </a:xfrm>
          <a:prstGeom prst="roundRect">
            <a:avLst>
              <a:gd name="adj" fmla="val 9412"/>
            </a:avLst>
          </a:prstGeom>
          <a:solidFill>
            <a:schemeClr val="bg1"/>
          </a:solidFill>
          <a:ln w="15875">
            <a:solidFill>
              <a:schemeClr val="accent1"/>
            </a:solidFill>
            <a:prstDash val="solid"/>
          </a:ln>
        </p:spPr>
      </p:sp>
      <p:sp>
        <p:nvSpPr>
          <p:cNvPr id="24" name="Text 22"/>
          <p:cNvSpPr txBox="1"/>
          <p:nvPr/>
        </p:nvSpPr>
        <p:spPr>
          <a:xfrm>
            <a:off x="731520" y="5522976"/>
            <a:ext cx="10728655" cy="704088"/>
          </a:xfrm>
          <a:prstGeom prst="rect">
            <a:avLst/>
          </a:prstGeom>
          <a:noFill/>
          <a:ln/>
        </p:spPr>
        <p:txBody>
          <a:bodyPr wrap="square" lIns="0" tIns="0" rIns="0" bIns="0" rtlCol="0" anchor="ctr"/>
          <a:lstStyle/>
          <a:p>
            <a:pPr indent="0" marL="0">
              <a:buNone/>
            </a:pPr>
            <a:r>
              <a:rPr lang="en-US" sz="1400" b="1" dirty="0">
                <a:solidFill>
                  <a:schemeClr val="tx1"/>
                </a:solidFill>
              </a:rPr>
              <a:t>Still open: (1) natural features with known values, (2) a causal test that separates reading from re-solving, (3) all three readers, including the Oracle Lens, on Qwen3.6-27B at a matched layer.</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02</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Design, and how we worked</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 2×2 frame, three tools, one decisive measurement, an adversarial research guide, and a four-part story</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FRAME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sort reader behaviour into a 2×2: where the content lives × what the reader tracks</a:t>
            </a:r>
            <a:endParaRPr lang="en-US" sz="2800" dirty="0"/>
          </a:p>
        </p:txBody>
      </p:sp>
      <p:sp>
        <p:nvSpPr>
          <p:cNvPr id="7" name="Text 5"/>
          <p:cNvSpPr txBox="1"/>
          <p:nvPr/>
        </p:nvSpPr>
        <p:spPr>
          <a:xfrm>
            <a:off x="2880360" y="1691640"/>
            <a:ext cx="4289908" cy="365760"/>
          </a:xfrm>
          <a:prstGeom prst="rect">
            <a:avLst/>
          </a:prstGeom>
          <a:noFill/>
          <a:ln/>
        </p:spPr>
        <p:txBody>
          <a:bodyPr wrap="square" lIns="0" tIns="0" rIns="0" bIns="0" rtlCol="0" anchor="t"/>
          <a:lstStyle/>
          <a:p>
            <a:pPr algn="ctr" indent="0" marL="0">
              <a:buNone/>
            </a:pPr>
            <a:r>
              <a:rPr lang="en-US" sz="1700" b="1" dirty="0">
                <a:solidFill>
                  <a:schemeClr val="accent1"/>
                </a:solidFill>
              </a:rPr>
              <a:t>Tracks the activation</a:t>
            </a:r>
            <a:endParaRPr lang="en-US" sz="1700" dirty="0"/>
          </a:p>
        </p:txBody>
      </p:sp>
      <p:sp>
        <p:nvSpPr>
          <p:cNvPr id="8" name="Text 6"/>
          <p:cNvSpPr txBox="1"/>
          <p:nvPr/>
        </p:nvSpPr>
        <p:spPr>
          <a:xfrm>
            <a:off x="2880360"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feature moved with the text fixed</a:t>
            </a:r>
            <a:endParaRPr lang="en-US" sz="1200" dirty="0"/>
          </a:p>
        </p:txBody>
      </p:sp>
      <p:sp>
        <p:nvSpPr>
          <p:cNvPr id="9" name="Text 7"/>
          <p:cNvSpPr txBox="1"/>
          <p:nvPr/>
        </p:nvSpPr>
        <p:spPr>
          <a:xfrm>
            <a:off x="7353148" y="1691640"/>
            <a:ext cx="4289908" cy="365760"/>
          </a:xfrm>
          <a:prstGeom prst="rect">
            <a:avLst/>
          </a:prstGeom>
          <a:noFill/>
          <a:ln/>
        </p:spPr>
        <p:txBody>
          <a:bodyPr wrap="square" lIns="0" tIns="0" rIns="0" bIns="0" rtlCol="0" anchor="t"/>
          <a:lstStyle/>
          <a:p>
            <a:pPr algn="ctr" indent="0" marL="0">
              <a:buNone/>
            </a:pPr>
            <a:r>
              <a:rPr lang="en-US" sz="1700" b="1" dirty="0">
                <a:solidFill>
                  <a:schemeClr val="accent4"/>
                </a:solidFill>
              </a:rPr>
              <a:t>Tracks the text</a:t>
            </a:r>
            <a:endParaRPr lang="en-US" sz="1700" dirty="0"/>
          </a:p>
        </p:txBody>
      </p:sp>
      <p:sp>
        <p:nvSpPr>
          <p:cNvPr id="10" name="Text 8"/>
          <p:cNvSpPr txBox="1"/>
          <p:nvPr/>
        </p:nvSpPr>
        <p:spPr>
          <a:xfrm>
            <a:off x="7353148"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text change with the feature clamped</a:t>
            </a:r>
            <a:endParaRPr lang="en-US" sz="1200" dirty="0"/>
          </a:p>
        </p:txBody>
      </p:sp>
      <p:sp>
        <p:nvSpPr>
          <p:cNvPr id="11" name="Text 9"/>
          <p:cNvSpPr txBox="1"/>
          <p:nvPr/>
        </p:nvSpPr>
        <p:spPr>
          <a:xfrm>
            <a:off x="548640" y="2606040"/>
            <a:ext cx="2148840" cy="1463040"/>
          </a:xfrm>
          <a:prstGeom prst="rect">
            <a:avLst/>
          </a:prstGeom>
          <a:noFill/>
          <a:ln/>
        </p:spPr>
        <p:txBody>
          <a:bodyPr wrap="square" lIns="0" tIns="0" rIns="0" bIns="0" rtlCol="0" anchor="ctr"/>
          <a:lstStyle/>
          <a:p>
            <a:pPr indent="0" marL="0">
              <a:buNone/>
            </a:pPr>
            <a:r>
              <a:rPr lang="en-US" sz="1600" b="1" dirty="0">
                <a:solidFill>
                  <a:schemeClr val="accent3"/>
                </a:solidFill>
              </a:rPr>
              <a:t>Content in the J-space</a:t>
            </a:r>
            <a:endParaRPr lang="en-US" sz="1600" dirty="0"/>
          </a:p>
        </p:txBody>
      </p:sp>
      <p:sp>
        <p:nvSpPr>
          <p:cNvPr id="12" name="Text 10"/>
          <p:cNvSpPr txBox="1"/>
          <p:nvPr/>
        </p:nvSpPr>
        <p:spPr>
          <a:xfrm>
            <a:off x="548640" y="4251960"/>
            <a:ext cx="2148840" cy="1463040"/>
          </a:xfrm>
          <a:prstGeom prst="rect">
            <a:avLst/>
          </a:prstGeom>
          <a:noFill/>
          <a:ln/>
        </p:spPr>
        <p:txBody>
          <a:bodyPr wrap="square" lIns="0" tIns="0" rIns="0" bIns="0" rtlCol="0" anchor="ctr"/>
          <a:lstStyle/>
          <a:p>
            <a:pPr indent="0" marL="0">
              <a:buNone/>
            </a:pPr>
            <a:r>
              <a:rPr lang="en-US" sz="1600" b="1" dirty="0">
                <a:solidFill>
                  <a:schemeClr val="tx1"/>
                </a:solidFill>
              </a:rPr>
              <a:t>Content outside the J-space</a:t>
            </a:r>
            <a:endParaRPr lang="en-US" sz="1600" dirty="0"/>
          </a:p>
        </p:txBody>
      </p:sp>
      <p:sp>
        <p:nvSpPr>
          <p:cNvPr id="13" name="Shape 11"/>
          <p:cNvSpPr/>
          <p:nvPr/>
        </p:nvSpPr>
        <p:spPr>
          <a:xfrm>
            <a:off x="2880360" y="2606040"/>
            <a:ext cx="428990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3044952"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Workspace reading</a:t>
            </a:r>
            <a:endParaRPr lang="en-US" sz="1700" dirty="0"/>
          </a:p>
        </p:txBody>
      </p:sp>
      <p:sp>
        <p:nvSpPr>
          <p:cNvPr id="15" name="Text 13"/>
          <p:cNvSpPr txBox="1"/>
          <p:nvPr/>
        </p:nvSpPr>
        <p:spPr>
          <a:xfrm>
            <a:off x="3044952"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Expected for all three readers: the calibration.</a:t>
            </a:r>
            <a:endParaRPr lang="en-US" sz="1400" dirty="0"/>
          </a:p>
        </p:txBody>
      </p:sp>
      <p:sp>
        <p:nvSpPr>
          <p:cNvPr id="16" name="Shape 14"/>
          <p:cNvSpPr/>
          <p:nvPr/>
        </p:nvSpPr>
        <p:spPr>
          <a:xfrm>
            <a:off x="7353148" y="2606040"/>
            <a:ext cx="428990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7517740"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workspace-type content</a:t>
            </a:r>
            <a:endParaRPr lang="en-US" sz="1700" dirty="0"/>
          </a:p>
        </p:txBody>
      </p:sp>
      <p:sp>
        <p:nvSpPr>
          <p:cNvPr id="18" name="Text 16"/>
          <p:cNvSpPr txBox="1"/>
          <p:nvPr/>
        </p:nvSpPr>
        <p:spPr>
          <a:xfrm>
            <a:off x="7517740"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Rebuild the prompt, then describe or answer it.</a:t>
            </a:r>
            <a:endParaRPr lang="en-US" sz="1400" dirty="0"/>
          </a:p>
        </p:txBody>
      </p:sp>
      <p:sp>
        <p:nvSpPr>
          <p:cNvPr id="19" name="Shape 17"/>
          <p:cNvSpPr/>
          <p:nvPr/>
        </p:nvSpPr>
        <p:spPr>
          <a:xfrm>
            <a:off x="2880360" y="4251960"/>
            <a:ext cx="4289908" cy="1463040"/>
          </a:xfrm>
          <a:prstGeom prst="roundRect">
            <a:avLst>
              <a:gd name="adj" fmla="val 5000"/>
            </a:avLst>
          </a:prstGeom>
          <a:solidFill>
            <a:schemeClr val="accent1">
              <a:alpha val="18000"/>
            </a:schemeClr>
          </a:solidFill>
          <a:ln w="15875">
            <a:solidFill>
              <a:schemeClr val="accent1"/>
            </a:solidFill>
            <a:prstDash val="solid"/>
          </a:ln>
        </p:spPr>
      </p:sp>
      <p:sp>
        <p:nvSpPr>
          <p:cNvPr id="20" name="Text 18"/>
          <p:cNvSpPr txBox="1"/>
          <p:nvPr/>
        </p:nvSpPr>
        <p:spPr>
          <a:xfrm>
            <a:off x="3044952"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Non-workspace reading</a:t>
            </a:r>
            <a:endParaRPr lang="en-US" sz="1700" dirty="0"/>
          </a:p>
        </p:txBody>
      </p:sp>
      <p:sp>
        <p:nvSpPr>
          <p:cNvPr id="21" name="Text 19"/>
          <p:cNvSpPr txBox="1"/>
          <p:nvPr/>
        </p:nvSpPr>
        <p:spPr>
          <a:xfrm>
            <a:off x="3044952"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Neel's hypothesis for the NLA.</a:t>
            </a:r>
            <a:endParaRPr lang="en-US" sz="1400" dirty="0"/>
          </a:p>
        </p:txBody>
      </p:sp>
      <p:sp>
        <p:nvSpPr>
          <p:cNvPr id="22" name="Shape 20"/>
          <p:cNvSpPr/>
          <p:nvPr/>
        </p:nvSpPr>
        <p:spPr>
          <a:xfrm>
            <a:off x="7353148" y="4251960"/>
            <a:ext cx="4289908" cy="1463040"/>
          </a:xfrm>
          <a:prstGeom prst="roundRect">
            <a:avLst>
              <a:gd name="adj" fmla="val 5000"/>
            </a:avLst>
          </a:prstGeom>
          <a:solidFill>
            <a:schemeClr val="bg2"/>
          </a:solidFill>
          <a:ln w="12700">
            <a:solidFill>
              <a:schemeClr val="bg2"/>
            </a:solidFill>
            <a:prstDash val="solid"/>
          </a:ln>
        </p:spPr>
      </p:sp>
      <p:sp>
        <p:nvSpPr>
          <p:cNvPr id="23" name="Text 21"/>
          <p:cNvSpPr txBox="1"/>
          <p:nvPr/>
        </p:nvSpPr>
        <p:spPr>
          <a:xfrm>
            <a:off x="7517740"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non-J-type content</a:t>
            </a:r>
            <a:endParaRPr lang="en-US" sz="1700" dirty="0"/>
          </a:p>
        </p:txBody>
      </p:sp>
      <p:sp>
        <p:nvSpPr>
          <p:cNvPr id="24" name="Text 22"/>
          <p:cNvSpPr txBox="1"/>
          <p:nvPr/>
        </p:nvSpPr>
        <p:spPr>
          <a:xfrm>
            <a:off x="7517740"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e.g. counting characters in decoded text.</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Plus 'unsupported': output that follows neither manipulation (confabulation). Measured at population level by intervention sensitivity.</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THREE TOOLS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tools attack the 2×2 from different sides</a:t>
            </a:r>
            <a:endParaRPr lang="en-US" sz="2800" dirty="0"/>
          </a:p>
        </p:txBody>
      </p:sp>
      <p:sp>
        <p:nvSpPr>
          <p:cNvPr id="7" name="Shape 5"/>
          <p:cNvSpPr/>
          <p:nvPr/>
        </p:nvSpPr>
        <p:spPr>
          <a:xfrm>
            <a:off x="548640" y="1691640"/>
            <a:ext cx="3484778" cy="3429000"/>
          </a:xfrm>
          <a:prstGeom prst="roundRect">
            <a:avLst>
              <a:gd name="adj" fmla="val 2133"/>
            </a:avLst>
          </a:prstGeom>
          <a:solidFill>
            <a:schemeClr val="bg2"/>
          </a:solidFill>
          <a:ln w="12700">
            <a:solidFill>
              <a:schemeClr val="bg2"/>
            </a:solidFill>
            <a:prstDash val="solid"/>
          </a:ln>
        </p:spPr>
      </p:sp>
      <p:sp>
        <p:nvSpPr>
          <p:cNvPr id="8" name="Shape 6"/>
          <p:cNvSpPr/>
          <p:nvPr/>
        </p:nvSpPr>
        <p:spPr>
          <a:xfrm>
            <a:off x="731520" y="1847088"/>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731520"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0" name="Text 8"/>
          <p:cNvSpPr txBox="1"/>
          <p:nvPr/>
        </p:nvSpPr>
        <p:spPr>
          <a:xfrm>
            <a:off x="1371600"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Natural non-J features + text-fixed steering</a:t>
            </a:r>
            <a:endParaRPr lang="en-US" sz="1600" dirty="0"/>
          </a:p>
        </p:txBody>
      </p:sp>
      <p:sp>
        <p:nvSpPr>
          <p:cNvPr id="11" name="Text 9"/>
          <p:cNvSpPr txBox="1"/>
          <p:nvPr/>
        </p:nvSpPr>
        <p:spPr>
          <a:xfrm>
            <a:off x="731520"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Gate natural features for 'outside the top-r J-space' (Part A), then push the best one (col) up and down inside the activation with the text fixed (Part B).</a:t>
            </a:r>
            <a:endParaRPr lang="en-US" sz="1400" dirty="0"/>
          </a:p>
        </p:txBody>
      </p:sp>
      <p:sp>
        <p:nvSpPr>
          <p:cNvPr id="12" name="Text 10"/>
          <p:cNvSpPr txBox="1"/>
          <p:nvPr/>
        </p:nvSpPr>
        <p:spPr>
          <a:xfrm>
            <a:off x="731520"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bottom-left cell</a:t>
            </a:r>
            <a:endParaRPr lang="en-US" sz="1200" dirty="0"/>
          </a:p>
        </p:txBody>
      </p:sp>
      <p:sp>
        <p:nvSpPr>
          <p:cNvPr id="13" name="Shape 11"/>
          <p:cNvSpPr/>
          <p:nvPr/>
        </p:nvSpPr>
        <p:spPr>
          <a:xfrm>
            <a:off x="4353458" y="1691640"/>
            <a:ext cx="3484778" cy="3429000"/>
          </a:xfrm>
          <a:prstGeom prst="roundRect">
            <a:avLst>
              <a:gd name="adj" fmla="val 2133"/>
            </a:avLst>
          </a:prstGeom>
          <a:solidFill>
            <a:schemeClr val="bg2"/>
          </a:solidFill>
          <a:ln w="12700">
            <a:solidFill>
              <a:schemeClr val="bg2"/>
            </a:solidFill>
            <a:prstDash val="solid"/>
          </a:ln>
        </p:spPr>
      </p:sp>
      <p:sp>
        <p:nvSpPr>
          <p:cNvPr id="14" name="Shape 12"/>
          <p:cNvSpPr/>
          <p:nvPr/>
        </p:nvSpPr>
        <p:spPr>
          <a:xfrm>
            <a:off x="4536338" y="1847088"/>
            <a:ext cx="502920" cy="502920"/>
          </a:xfrm>
          <a:prstGeom prst="ellipse">
            <a:avLst/>
          </a:prstGeom>
          <a:solidFill>
            <a:schemeClr val="tx1"/>
          </a:solidFill>
          <a:ln w="12700">
            <a:solidFill>
              <a:schemeClr val="tx1"/>
            </a:solidFill>
            <a:prstDash val="solid"/>
          </a:ln>
        </p:spPr>
      </p:sp>
      <p:sp>
        <p:nvSpPr>
          <p:cNvPr id="15" name="Text 13"/>
          <p:cNvSpPr txBox="1"/>
          <p:nvPr/>
        </p:nvSpPr>
        <p:spPr>
          <a:xfrm>
            <a:off x="4536338"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Text 14"/>
          <p:cNvSpPr txBox="1"/>
          <p:nvPr/>
        </p:nvSpPr>
        <p:spPr>
          <a:xfrm>
            <a:off x="5176418"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Planted intermediates</a:t>
            </a:r>
            <a:endParaRPr lang="en-US" sz="1600" dirty="0"/>
          </a:p>
        </p:txBody>
      </p:sp>
      <p:sp>
        <p:nvSpPr>
          <p:cNvPr id="17" name="Text 15"/>
          <p:cNvSpPr txBox="1"/>
          <p:nvPr/>
        </p:nvSpPr>
        <p:spPr>
          <a:xfrm>
            <a:off x="4536338"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Swap the bridge entity of a two-hop fact inside the activation (Eiffel Tower → France becomes Sweden) with the prompt fixed, at a dose that flips the model's own answer.</a:t>
            </a:r>
            <a:endParaRPr lang="en-US" sz="1400" dirty="0"/>
          </a:p>
        </p:txBody>
      </p:sp>
      <p:sp>
        <p:nvSpPr>
          <p:cNvPr id="18" name="Text 16"/>
          <p:cNvSpPr txBox="1"/>
          <p:nvPr/>
        </p:nvSpPr>
        <p:spPr>
          <a:xfrm>
            <a:off x="4536338"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Role: in-J calibration, and a window on how the NLA builds its story</a:t>
            </a:r>
            <a:endParaRPr lang="en-US" sz="1200" dirty="0"/>
          </a:p>
        </p:txBody>
      </p:sp>
      <p:sp>
        <p:nvSpPr>
          <p:cNvPr id="19" name="Shape 17"/>
          <p:cNvSpPr/>
          <p:nvPr/>
        </p:nvSpPr>
        <p:spPr>
          <a:xfrm>
            <a:off x="8158277" y="1691640"/>
            <a:ext cx="3484778" cy="3429000"/>
          </a:xfrm>
          <a:prstGeom prst="roundRect">
            <a:avLst>
              <a:gd name="adj" fmla="val 2133"/>
            </a:avLst>
          </a:prstGeom>
          <a:solidFill>
            <a:schemeClr val="bg2"/>
          </a:solidFill>
          <a:ln w="12700">
            <a:solidFill>
              <a:schemeClr val="bg2"/>
            </a:solidFill>
            <a:prstDash val="solid"/>
          </a:ln>
        </p:spPr>
      </p:sp>
      <p:sp>
        <p:nvSpPr>
          <p:cNvPr id="20" name="Shape 18"/>
          <p:cNvSpPr/>
          <p:nvPr/>
        </p:nvSpPr>
        <p:spPr>
          <a:xfrm>
            <a:off x="8341157" y="1847088"/>
            <a:ext cx="502920" cy="502920"/>
          </a:xfrm>
          <a:prstGeom prst="ellipse">
            <a:avLst/>
          </a:prstGeom>
          <a:solidFill>
            <a:schemeClr val="accent4"/>
          </a:solidFill>
          <a:ln w="12700">
            <a:solidFill>
              <a:schemeClr val="accent4"/>
            </a:solidFill>
            <a:prstDash val="solid"/>
          </a:ln>
        </p:spPr>
      </p:sp>
      <p:sp>
        <p:nvSpPr>
          <p:cNvPr id="21" name="Text 19"/>
          <p:cNvSpPr txBox="1"/>
          <p:nvPr/>
        </p:nvSpPr>
        <p:spPr>
          <a:xfrm>
            <a:off x="8341157"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8981237"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Re-solving decomposition</a:t>
            </a:r>
            <a:endParaRPr lang="en-US" sz="1600" dirty="0"/>
          </a:p>
        </p:txBody>
      </p:sp>
      <p:sp>
        <p:nvSpPr>
          <p:cNvPr id="23" name="Text 21"/>
          <p:cNvSpPr txBox="1"/>
          <p:nvPr/>
        </p:nvSpPr>
        <p:spPr>
          <a:xfrm>
            <a:off x="8341157"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On WorkspaceBench, compare readers with text-only models that never see the activation, and with a model re-solving from the reader's own readout.</a:t>
            </a:r>
            <a:endParaRPr lang="en-US" sz="1400" dirty="0"/>
          </a:p>
        </p:txBody>
      </p:sp>
      <p:sp>
        <p:nvSpPr>
          <p:cNvPr id="24" name="Text 22"/>
          <p:cNvSpPr txBox="1"/>
          <p:nvPr/>
        </p:nvSpPr>
        <p:spPr>
          <a:xfrm>
            <a:off x="8341157"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right column (one consistency check open)</a:t>
            </a:r>
            <a:endParaRPr lang="en-US" sz="1200" dirty="0"/>
          </a:p>
        </p:txBody>
      </p:sp>
      <p:sp>
        <p:nvSpPr>
          <p:cNvPr id="25" name="Shape 23"/>
          <p:cNvSpPr/>
          <p:nvPr/>
        </p:nvSpPr>
        <p:spPr>
          <a:xfrm>
            <a:off x="548640" y="5349240"/>
            <a:ext cx="11094415" cy="868680"/>
          </a:xfrm>
          <a:prstGeom prst="roundRect">
            <a:avLst>
              <a:gd name="adj" fmla="val 8421"/>
            </a:avLst>
          </a:prstGeom>
          <a:solidFill>
            <a:schemeClr val="bg1"/>
          </a:solidFill>
          <a:ln w="15875">
            <a:solidFill>
              <a:schemeClr val="accent6"/>
            </a:solidFill>
            <a:prstDash val="solid"/>
          </a:ln>
        </p:spPr>
      </p:sp>
      <p:sp>
        <p:nvSpPr>
          <p:cNvPr id="26" name="Text 24"/>
          <p:cNvSpPr txBox="1"/>
          <p:nvPr/>
        </p:nvSpPr>
        <p:spPr>
          <a:xfrm>
            <a:off x="731520" y="5532120"/>
            <a:ext cx="10728655" cy="57607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Common currency: paired log-odds of two candidate strings in each reader's native format, compared against null bands of K = 20 random directions of the same norm (never subtracted).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DECISIVE MEASUREMENT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Push a feature up or down inside the activation, keep the text, and ask whether the reader's words follow</a:t>
            </a:r>
            <a:endParaRPr lang="en-US" sz="2800" dirty="0"/>
          </a:p>
        </p:txBody>
      </p:sp>
      <p:sp>
        <p:nvSpPr>
          <p:cNvPr id="7" name="Shape 5"/>
          <p:cNvSpPr/>
          <p:nvPr/>
        </p:nvSpPr>
        <p:spPr>
          <a:xfrm>
            <a:off x="548640" y="1691640"/>
            <a:ext cx="2513000" cy="1783080"/>
          </a:xfrm>
          <a:prstGeom prst="roundRect">
            <a:avLst>
              <a:gd name="adj" fmla="val 4103"/>
            </a:avLst>
          </a:prstGeom>
          <a:solidFill>
            <a:schemeClr val="tx2"/>
          </a:solidFill>
          <a:ln w="12700">
            <a:solidFill>
              <a:schemeClr val="tx2"/>
            </a:solidFill>
            <a:prstDash val="solid"/>
          </a:ln>
        </p:spPr>
      </p:sp>
      <p:sp>
        <p:nvSpPr>
          <p:cNvPr id="8" name="Text 6"/>
          <p:cNvSpPr txBox="1"/>
          <p:nvPr/>
        </p:nvSpPr>
        <p:spPr>
          <a:xfrm>
            <a:off x="685800" y="1783080"/>
            <a:ext cx="2238680" cy="320040"/>
          </a:xfrm>
          <a:prstGeom prst="rect">
            <a:avLst/>
          </a:prstGeom>
          <a:noFill/>
          <a:ln/>
        </p:spPr>
        <p:txBody>
          <a:bodyPr wrap="square" lIns="0" tIns="0" rIns="0" bIns="0" rtlCol="0" anchor="t"/>
          <a:lstStyle/>
          <a:p>
            <a:pPr indent="0" marL="0">
              <a:buNone/>
            </a:pPr>
            <a:r>
              <a:rPr lang="en-US" sz="1500" b="1" dirty="0">
                <a:solidFill>
                  <a:schemeClr val="bg1"/>
                </a:solidFill>
              </a:rPr>
              <a:t>Same text, ± push</a:t>
            </a:r>
            <a:endParaRPr lang="en-US" sz="1500" dirty="0"/>
          </a:p>
        </p:txBody>
      </p:sp>
      <p:sp>
        <p:nvSpPr>
          <p:cNvPr id="9" name="Text 7"/>
          <p:cNvSpPr txBox="1"/>
          <p:nvPr/>
        </p:nvSpPr>
        <p:spPr>
          <a:xfrm>
            <a:off x="685800" y="2176272"/>
            <a:ext cx="2238680" cy="123444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h± = h − (v·h)v ± Δv</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(centred: equal norm on both sides)</a:t>
            </a:r>
            <a:endParaRPr lang="en-US" sz="1300" dirty="0"/>
          </a:p>
        </p:txBody>
      </p:sp>
      <p:sp>
        <p:nvSpPr>
          <p:cNvPr id="10" name="Shape 8"/>
          <p:cNvSpPr/>
          <p:nvPr/>
        </p:nvSpPr>
        <p:spPr>
          <a:xfrm>
            <a:off x="3107360" y="2578608"/>
            <a:ext cx="256032" cy="914"/>
          </a:xfrm>
          <a:prstGeom prst="line">
            <a:avLst/>
          </a:prstGeom>
          <a:noFill/>
          <a:ln w="25400">
            <a:solidFill>
              <a:schemeClr val="accent5"/>
            </a:solidFill>
            <a:prstDash val="solid"/>
            <a:tailEnd type="triangle"/>
          </a:ln>
        </p:spPr>
      </p:sp>
      <p:sp>
        <p:nvSpPr>
          <p:cNvPr id="11" name="Shape 9"/>
          <p:cNvSpPr/>
          <p:nvPr/>
        </p:nvSpPr>
        <p:spPr>
          <a:xfrm>
            <a:off x="3409112" y="1691640"/>
            <a:ext cx="2513000"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3546272"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Reader scores</a:t>
            </a:r>
            <a:endParaRPr lang="en-US" sz="1500" dirty="0"/>
          </a:p>
        </p:txBody>
      </p:sp>
      <p:sp>
        <p:nvSpPr>
          <p:cNvPr id="13" name="Text 11"/>
          <p:cNvSpPr txBox="1"/>
          <p:nvPr/>
        </p:nvSpPr>
        <p:spPr>
          <a:xfrm>
            <a:off x="3546272"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log p("near the end of a long line") − log p("at the start of a line")</a:t>
            </a:r>
            <a:endParaRPr lang="en-US" sz="1300" dirty="0"/>
          </a:p>
        </p:txBody>
      </p:sp>
      <p:sp>
        <p:nvSpPr>
          <p:cNvPr id="14" name="Shape 12"/>
          <p:cNvSpPr/>
          <p:nvPr/>
        </p:nvSpPr>
        <p:spPr>
          <a:xfrm>
            <a:off x="5967832" y="2578608"/>
            <a:ext cx="256032" cy="914"/>
          </a:xfrm>
          <a:prstGeom prst="line">
            <a:avLst/>
          </a:prstGeom>
          <a:noFill/>
          <a:ln w="25400">
            <a:solidFill>
              <a:schemeClr val="accent5"/>
            </a:solidFill>
            <a:prstDash val="solid"/>
            <a:tailEnd type="triangle"/>
          </a:ln>
        </p:spPr>
      </p:sp>
      <p:sp>
        <p:nvSpPr>
          <p:cNvPr id="15" name="Shape 13"/>
          <p:cNvSpPr/>
          <p:nvPr/>
        </p:nvSpPr>
        <p:spPr>
          <a:xfrm>
            <a:off x="6269584" y="1691640"/>
            <a:ext cx="2513000"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6406744"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Does it follow?</a:t>
            </a:r>
            <a:endParaRPr lang="en-US" sz="1500" dirty="0"/>
          </a:p>
        </p:txBody>
      </p:sp>
      <p:sp>
        <p:nvSpPr>
          <p:cNvPr id="17" name="Text 15"/>
          <p:cNvSpPr txBox="1"/>
          <p:nvPr/>
        </p:nvSpPr>
        <p:spPr>
          <a:xfrm>
            <a:off x="6406744"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paired win rate and mean shift over items</a:t>
            </a:r>
            <a:endParaRPr lang="en-US" sz="1300" dirty="0"/>
          </a:p>
        </p:txBody>
      </p:sp>
      <p:sp>
        <p:nvSpPr>
          <p:cNvPr id="18" name="Shape 16"/>
          <p:cNvSpPr/>
          <p:nvPr/>
        </p:nvSpPr>
        <p:spPr>
          <a:xfrm>
            <a:off x="8828303" y="2578608"/>
            <a:ext cx="256032" cy="914"/>
          </a:xfrm>
          <a:prstGeom prst="line">
            <a:avLst/>
          </a:prstGeom>
          <a:noFill/>
          <a:ln w="25400">
            <a:solidFill>
              <a:schemeClr val="accent5"/>
            </a:solidFill>
            <a:prstDash val="solid"/>
            <a:tailEnd type="triangle"/>
          </a:ln>
        </p:spPr>
      </p:sp>
      <p:sp>
        <p:nvSpPr>
          <p:cNvPr id="19" name="Shape 17"/>
          <p:cNvSpPr/>
          <p:nvPr/>
        </p:nvSpPr>
        <p:spPr>
          <a:xfrm>
            <a:off x="9130055" y="1691640"/>
            <a:ext cx="2513000" cy="1783080"/>
          </a:xfrm>
          <a:prstGeom prst="roundRect">
            <a:avLst>
              <a:gd name="adj" fmla="val 4103"/>
            </a:avLst>
          </a:prstGeom>
          <a:solidFill>
            <a:schemeClr val="bg2"/>
          </a:solidFill>
          <a:ln w="12700">
            <a:solidFill>
              <a:schemeClr val="bg2"/>
            </a:solidFill>
            <a:prstDash val="solid"/>
          </a:ln>
        </p:spPr>
      </p:sp>
      <p:sp>
        <p:nvSpPr>
          <p:cNvPr id="20" name="Text 18"/>
          <p:cNvSpPr txBox="1"/>
          <p:nvPr/>
        </p:nvSpPr>
        <p:spPr>
          <a:xfrm>
            <a:off x="9267215"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Against chance</a:t>
            </a:r>
            <a:endParaRPr lang="en-US" sz="1500" dirty="0"/>
          </a:p>
        </p:txBody>
      </p:sp>
      <p:sp>
        <p:nvSpPr>
          <p:cNvPr id="21" name="Text 19"/>
          <p:cNvSpPr txBox="1"/>
          <p:nvPr/>
        </p:nvSpPr>
        <p:spPr>
          <a:xfrm>
            <a:off x="9267215"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 vs K = 20 random directions of the same norm (isotropic and J-complement)</a:t>
            </a:r>
            <a:endParaRPr lang="en-US" sz="1300" dirty="0"/>
          </a:p>
        </p:txBody>
      </p:sp>
      <p:sp>
        <p:nvSpPr>
          <p:cNvPr id="22" name="Text 20"/>
          <p:cNvSpPr txBox="1"/>
          <p:nvPr/>
        </p:nvSpPr>
        <p:spPr>
          <a:xfrm>
            <a:off x="548640" y="3703320"/>
            <a:ext cx="2743200" cy="274320"/>
          </a:xfrm>
          <a:prstGeom prst="rect">
            <a:avLst/>
          </a:prstGeom>
          <a:noFill/>
          <a:ln/>
        </p:spPr>
        <p:txBody>
          <a:bodyPr wrap="square" lIns="0" tIns="0" rIns="0" bIns="0" rtlCol="0" anchor="t"/>
          <a:lstStyle/>
          <a:p>
            <a:pPr indent="0" marL="0">
              <a:buNone/>
            </a:pPr>
            <a:r>
              <a:rPr lang="en-US" sz="1100" b="1" spc="150" kern="0" dirty="0">
                <a:solidFill>
                  <a:schemeClr val="accent5"/>
                </a:solidFill>
              </a:rPr>
              <a:t>GUARDS</a:t>
            </a:r>
            <a:endParaRPr lang="en-US" sz="1100" dirty="0"/>
          </a:p>
        </p:txBody>
      </p:sp>
      <p:sp>
        <p:nvSpPr>
          <p:cNvPr id="23" name="Shape 21"/>
          <p:cNvSpPr/>
          <p:nvPr/>
        </p:nvSpPr>
        <p:spPr>
          <a:xfrm>
            <a:off x="548640" y="4023360"/>
            <a:ext cx="3484778" cy="2194560"/>
          </a:xfrm>
          <a:prstGeom prst="roundRect">
            <a:avLst>
              <a:gd name="adj" fmla="val 3333"/>
            </a:avLst>
          </a:prstGeom>
          <a:solidFill>
            <a:schemeClr val="bg1"/>
          </a:solidFill>
          <a:ln w="15875">
            <a:solidFill>
              <a:schemeClr val="accent3"/>
            </a:solidFill>
            <a:prstDash val="solid"/>
          </a:ln>
        </p:spPr>
      </p:sp>
      <p:sp>
        <p:nvSpPr>
          <p:cNvPr id="24" name="Text 22"/>
          <p:cNvSpPr txBox="1"/>
          <p:nvPr/>
        </p:nvSpPr>
        <p:spPr>
          <a:xfrm>
            <a:off x="713232" y="4187952"/>
            <a:ext cx="3155594" cy="329184"/>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Leak detector</a:t>
            </a:r>
            <a:endParaRPr lang="en-US" sz="1600" dirty="0"/>
          </a:p>
        </p:txBody>
      </p:sp>
      <p:sp>
        <p:nvSpPr>
          <p:cNvPr id="25" name="Text 23"/>
          <p:cNvSpPr txBox="1"/>
          <p:nvPr/>
        </p:nvSpPr>
        <p:spPr>
          <a:xfrm>
            <a:off x="713232"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J-Lens must not move (two-sided, vs the J-complement band). If it moves, the content leaked into J and the dose is void for non-J claims.</a:t>
            </a:r>
            <a:endParaRPr lang="en-US" sz="1350" dirty="0"/>
          </a:p>
        </p:txBody>
      </p:sp>
      <p:sp>
        <p:nvSpPr>
          <p:cNvPr id="26" name="Shape 24"/>
          <p:cNvSpPr/>
          <p:nvPr/>
        </p:nvSpPr>
        <p:spPr>
          <a:xfrm>
            <a:off x="4353458" y="4023360"/>
            <a:ext cx="3484778" cy="2194560"/>
          </a:xfrm>
          <a:prstGeom prst="roundRect">
            <a:avLst>
              <a:gd name="adj" fmla="val 3333"/>
            </a:avLst>
          </a:prstGeom>
          <a:solidFill>
            <a:schemeClr val="bg1"/>
          </a:solidFill>
          <a:ln w="15875">
            <a:solidFill>
              <a:schemeClr val="accent4"/>
            </a:solidFill>
            <a:prstDash val="solid"/>
          </a:ln>
        </p:spPr>
      </p:sp>
      <p:sp>
        <p:nvSpPr>
          <p:cNvPr id="27" name="Text 25"/>
          <p:cNvSpPr txBox="1"/>
          <p:nvPr/>
        </p:nvSpPr>
        <p:spPr>
          <a:xfrm>
            <a:off x="4518050" y="4187952"/>
            <a:ext cx="3155594" cy="329184"/>
          </a:xfrm>
          <a:prstGeom prst="rect">
            <a:avLst/>
          </a:prstGeom>
          <a:noFill/>
          <a:ln/>
        </p:spPr>
        <p:txBody>
          <a:bodyPr wrap="square" lIns="0" tIns="0" rIns="0" bIns="0" rtlCol="0" anchor="t"/>
          <a:lstStyle/>
          <a:p>
            <a:pPr indent="0" marL="0">
              <a:buNone/>
            </a:pPr>
            <a:r>
              <a:rPr lang="en-US" sz="1600" b="1" dirty="0">
                <a:solidFill>
                  <a:schemeClr val="accent4"/>
                </a:solidFill>
                <a:latin typeface="Cambria" pitchFamily="34" charset="0"/>
                <a:ea typeface="Cambria" pitchFamily="34" charset="-122"/>
                <a:cs typeface="Cambria" pitchFamily="34" charset="-120"/>
              </a:rPr>
              <a:t>Dose in range</a:t>
            </a:r>
            <a:endParaRPr lang="en-US" sz="1600" dirty="0"/>
          </a:p>
        </p:txBody>
      </p:sp>
      <p:sp>
        <p:nvSpPr>
          <p:cNvPr id="28" name="Text 26"/>
          <p:cNvSpPr txBox="1"/>
          <p:nvPr/>
        </p:nvSpPr>
        <p:spPr>
          <a:xfrm>
            <a:off x="4518050"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q90 of the natural projection: ‖Δ‖/‖h‖ ≈ 0.08–0.11 for col. FVE guard: the NLA's reconstruction must not degrade by &gt; 0.05.</a:t>
            </a:r>
            <a:endParaRPr lang="en-US" sz="1350" dirty="0"/>
          </a:p>
        </p:txBody>
      </p:sp>
      <p:sp>
        <p:nvSpPr>
          <p:cNvPr id="29" name="Shape 27"/>
          <p:cNvSpPr/>
          <p:nvPr/>
        </p:nvSpPr>
        <p:spPr>
          <a:xfrm>
            <a:off x="8158277" y="4023360"/>
            <a:ext cx="3484778" cy="2194560"/>
          </a:xfrm>
          <a:prstGeom prst="roundRect">
            <a:avLst>
              <a:gd name="adj" fmla="val 3333"/>
            </a:avLst>
          </a:prstGeom>
          <a:solidFill>
            <a:schemeClr val="bg1"/>
          </a:solidFill>
          <a:ln w="15875">
            <a:solidFill>
              <a:schemeClr val="tx1"/>
            </a:solidFill>
            <a:prstDash val="solid"/>
          </a:ln>
        </p:spPr>
      </p:sp>
      <p:sp>
        <p:nvSpPr>
          <p:cNvPr id="30" name="Text 28"/>
          <p:cNvSpPr txBox="1"/>
          <p:nvPr/>
        </p:nvSpPr>
        <p:spPr>
          <a:xfrm>
            <a:off x="8322869" y="4187952"/>
            <a:ext cx="3155594"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Direction</a:t>
            </a:r>
            <a:endParaRPr lang="en-US" sz="1600" dirty="0"/>
          </a:p>
        </p:txBody>
      </p:sp>
      <p:sp>
        <p:nvSpPr>
          <p:cNvPr id="31" name="Text 29"/>
          <p:cNvSpPr txBox="1"/>
          <p:nvPr/>
        </p:nvSpPr>
        <p:spPr>
          <a:xfrm>
            <a:off x="8322869"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Steer along the J-removed direction (top-1,536 J-space projected out) so the push itself carries no J content.</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 WORKED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An adversarial research guide changed the design four times before any headline run</a:t>
            </a:r>
            <a:endParaRPr lang="en-US" sz="2800" dirty="0"/>
          </a:p>
        </p:txBody>
      </p:sp>
      <p:sp>
        <p:nvSpPr>
          <p:cNvPr id="7" name="Shape 5"/>
          <p:cNvSpPr/>
          <p:nvPr/>
        </p:nvSpPr>
        <p:spPr>
          <a:xfrm>
            <a:off x="3356240" y="2539796"/>
            <a:ext cx="635470" cy="510013"/>
          </a:xfrm>
          <a:prstGeom prst="line">
            <a:avLst/>
          </a:prstGeom>
          <a:noFill/>
          <a:ln w="22225">
            <a:solidFill>
              <a:schemeClr val="accent5"/>
            </a:solidFill>
            <a:prstDash val="solid"/>
            <a:tailEnd type="triangle"/>
          </a:ln>
        </p:spPr>
      </p:sp>
      <p:sp>
        <p:nvSpPr>
          <p:cNvPr id="8" name="Shape 6"/>
          <p:cNvSpPr/>
          <p:nvPr/>
        </p:nvSpPr>
        <p:spPr>
          <a:xfrm flipH="1">
            <a:off x="3957458" y="3758577"/>
            <a:ext cx="357485" cy="1215367"/>
          </a:xfrm>
          <a:prstGeom prst="line">
            <a:avLst/>
          </a:prstGeom>
          <a:noFill/>
          <a:ln w="22225">
            <a:solidFill>
              <a:schemeClr val="accent5"/>
            </a:solidFill>
            <a:prstDash val="solid"/>
            <a:tailEnd type="triangle"/>
          </a:ln>
        </p:spPr>
      </p:sp>
      <p:sp>
        <p:nvSpPr>
          <p:cNvPr id="9" name="Shape 7"/>
          <p:cNvSpPr/>
          <p:nvPr/>
        </p:nvSpPr>
        <p:spPr>
          <a:xfrm flipH="1">
            <a:off x="2925174" y="5337474"/>
            <a:ext cx="1812" cy="914"/>
          </a:xfrm>
          <a:prstGeom prst="line">
            <a:avLst/>
          </a:prstGeom>
          <a:noFill/>
          <a:ln w="22225">
            <a:solidFill>
              <a:schemeClr val="accent5"/>
            </a:solidFill>
            <a:prstDash val="solid"/>
            <a:tailEnd type="triangle"/>
          </a:ln>
        </p:spPr>
      </p:sp>
      <p:sp>
        <p:nvSpPr>
          <p:cNvPr id="10" name="Shape 8"/>
          <p:cNvSpPr/>
          <p:nvPr/>
        </p:nvSpPr>
        <p:spPr>
          <a:xfrm flipH="1" flipV="1">
            <a:off x="1537217" y="3758577"/>
            <a:ext cx="357485" cy="1215367"/>
          </a:xfrm>
          <a:prstGeom prst="line">
            <a:avLst/>
          </a:prstGeom>
          <a:noFill/>
          <a:ln w="22225">
            <a:solidFill>
              <a:schemeClr val="accent5"/>
            </a:solidFill>
            <a:prstDash val="solid"/>
            <a:tailEnd type="triangle"/>
          </a:ln>
        </p:spPr>
      </p:sp>
      <p:sp>
        <p:nvSpPr>
          <p:cNvPr id="11" name="Shape 9"/>
          <p:cNvSpPr/>
          <p:nvPr/>
        </p:nvSpPr>
        <p:spPr>
          <a:xfrm flipV="1">
            <a:off x="1860449" y="2539796"/>
            <a:ext cx="635470" cy="510013"/>
          </a:xfrm>
          <a:prstGeom prst="line">
            <a:avLst/>
          </a:prstGeom>
          <a:noFill/>
          <a:ln w="22225">
            <a:solidFill>
              <a:schemeClr val="accent5"/>
            </a:solidFill>
            <a:prstDash val="solid"/>
            <a:tailEnd type="triangle"/>
          </a:ln>
        </p:spPr>
      </p:sp>
      <p:sp>
        <p:nvSpPr>
          <p:cNvPr id="12" name="Shape 10"/>
          <p:cNvSpPr/>
          <p:nvPr/>
        </p:nvSpPr>
        <p:spPr>
          <a:xfrm>
            <a:off x="2103120" y="1938528"/>
            <a:ext cx="1645920" cy="512064"/>
          </a:xfrm>
          <a:prstGeom prst="roundRect">
            <a:avLst>
              <a:gd name="adj" fmla="val 17857"/>
            </a:avLst>
          </a:prstGeom>
          <a:solidFill>
            <a:schemeClr val="bg2"/>
          </a:solidFill>
          <a:ln w="12700">
            <a:solidFill>
              <a:schemeClr val="accent6"/>
            </a:solidFill>
            <a:prstDash val="solid"/>
          </a:ln>
        </p:spPr>
      </p:sp>
      <p:sp>
        <p:nvSpPr>
          <p:cNvPr id="13" name="Text 11"/>
          <p:cNvSpPr txBox="1"/>
          <p:nvPr/>
        </p:nvSpPr>
        <p:spPr>
          <a:xfrm>
            <a:off x="2148840" y="1938528"/>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Plan + pre-register</a:t>
            </a:r>
            <a:endParaRPr lang="en-US" sz="1200" dirty="0"/>
          </a:p>
        </p:txBody>
      </p:sp>
      <p:sp>
        <p:nvSpPr>
          <p:cNvPr id="14" name="Shape 12"/>
          <p:cNvSpPr/>
          <p:nvPr/>
        </p:nvSpPr>
        <p:spPr>
          <a:xfrm>
            <a:off x="3598911" y="3139014"/>
            <a:ext cx="1645920" cy="512064"/>
          </a:xfrm>
          <a:prstGeom prst="roundRect">
            <a:avLst>
              <a:gd name="adj" fmla="val 17857"/>
            </a:avLst>
          </a:prstGeom>
          <a:solidFill>
            <a:schemeClr val="bg2"/>
          </a:solidFill>
          <a:ln w="12700">
            <a:solidFill>
              <a:schemeClr val="accent6"/>
            </a:solidFill>
            <a:prstDash val="solid"/>
          </a:ln>
        </p:spPr>
      </p:sp>
      <p:sp>
        <p:nvSpPr>
          <p:cNvPr id="15" name="Text 13"/>
          <p:cNvSpPr txBox="1"/>
          <p:nvPr/>
        </p:nvSpPr>
        <p:spPr>
          <a:xfrm>
            <a:off x="3644631" y="3139014"/>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Agents run gates</a:t>
            </a:r>
            <a:endParaRPr lang="en-US" sz="1200" dirty="0"/>
          </a:p>
        </p:txBody>
      </p:sp>
      <p:sp>
        <p:nvSpPr>
          <p:cNvPr id="16" name="Shape 14"/>
          <p:cNvSpPr/>
          <p:nvPr/>
        </p:nvSpPr>
        <p:spPr>
          <a:xfrm>
            <a:off x="3027570" y="5081442"/>
            <a:ext cx="1645920" cy="512064"/>
          </a:xfrm>
          <a:prstGeom prst="roundRect">
            <a:avLst>
              <a:gd name="adj" fmla="val 17857"/>
            </a:avLst>
          </a:prstGeom>
          <a:solidFill>
            <a:schemeClr val="bg2"/>
          </a:solidFill>
          <a:ln w="12700">
            <a:solidFill>
              <a:schemeClr val="accent6"/>
            </a:solidFill>
            <a:prstDash val="solid"/>
          </a:ln>
        </p:spPr>
      </p:sp>
      <p:sp>
        <p:nvSpPr>
          <p:cNvPr id="17" name="Text 15"/>
          <p:cNvSpPr txBox="1"/>
          <p:nvPr/>
        </p:nvSpPr>
        <p:spPr>
          <a:xfrm>
            <a:off x="3073290" y="5081442"/>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Decision log D1–D21</a:t>
            </a:r>
            <a:endParaRPr lang="en-US" sz="1200" dirty="0"/>
          </a:p>
        </p:txBody>
      </p:sp>
      <p:sp>
        <p:nvSpPr>
          <p:cNvPr id="18" name="Shape 16"/>
          <p:cNvSpPr/>
          <p:nvPr/>
        </p:nvSpPr>
        <p:spPr>
          <a:xfrm>
            <a:off x="1178670" y="5081442"/>
            <a:ext cx="1645920" cy="512064"/>
          </a:xfrm>
          <a:prstGeom prst="roundRect">
            <a:avLst>
              <a:gd name="adj" fmla="val 17857"/>
            </a:avLst>
          </a:prstGeom>
          <a:solidFill>
            <a:schemeClr val="accent2"/>
          </a:solidFill>
          <a:ln w="12700">
            <a:solidFill>
              <a:schemeClr val="accent2"/>
            </a:solidFill>
            <a:prstDash val="solid"/>
          </a:ln>
        </p:spPr>
      </p:sp>
      <p:sp>
        <p:nvSpPr>
          <p:cNvPr id="19" name="Text 17"/>
          <p:cNvSpPr txBox="1"/>
          <p:nvPr/>
        </p:nvSpPr>
        <p:spPr>
          <a:xfrm>
            <a:off x="1224390" y="5081442"/>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Hand off to Fable</a:t>
            </a:r>
            <a:endParaRPr lang="en-US" sz="1200" dirty="0"/>
          </a:p>
        </p:txBody>
      </p:sp>
      <p:sp>
        <p:nvSpPr>
          <p:cNvPr id="20" name="Shape 18"/>
          <p:cNvSpPr/>
          <p:nvPr/>
        </p:nvSpPr>
        <p:spPr>
          <a:xfrm>
            <a:off x="607329" y="3139014"/>
            <a:ext cx="1645920" cy="512064"/>
          </a:xfrm>
          <a:prstGeom prst="roundRect">
            <a:avLst>
              <a:gd name="adj" fmla="val 17857"/>
            </a:avLst>
          </a:prstGeom>
          <a:solidFill>
            <a:schemeClr val="accent2"/>
          </a:solidFill>
          <a:ln w="12700">
            <a:solidFill>
              <a:schemeClr val="accent2"/>
            </a:solidFill>
            <a:prstDash val="solid"/>
          </a:ln>
        </p:spPr>
      </p:sp>
      <p:sp>
        <p:nvSpPr>
          <p:cNvPr id="21" name="Text 19"/>
          <p:cNvSpPr txBox="1"/>
          <p:nvPr/>
        </p:nvSpPr>
        <p:spPr>
          <a:xfrm>
            <a:off x="653049" y="3139014"/>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Critique: accept or push back</a:t>
            </a:r>
            <a:endParaRPr lang="en-US" sz="1200" dirty="0"/>
          </a:p>
        </p:txBody>
      </p:sp>
      <p:sp>
        <p:nvSpPr>
          <p:cNvPr id="22" name="Shape 20"/>
          <p:cNvSpPr/>
          <p:nvPr/>
        </p:nvSpPr>
        <p:spPr>
          <a:xfrm>
            <a:off x="5486400" y="1719072"/>
            <a:ext cx="1051560" cy="274320"/>
          </a:xfrm>
          <a:prstGeom prst="roundRect">
            <a:avLst>
              <a:gd name="adj" fmla="val 50000"/>
            </a:avLst>
          </a:prstGeom>
          <a:solidFill>
            <a:schemeClr val="accent2"/>
          </a:solidFill>
          <a:ln w="12700">
            <a:solidFill>
              <a:schemeClr val="accent2"/>
            </a:solidFill>
            <a:prstDash val="solid"/>
          </a:ln>
        </p:spPr>
      </p:sp>
      <p:sp>
        <p:nvSpPr>
          <p:cNvPr id="23" name="Text 21"/>
          <p:cNvSpPr txBox="1"/>
          <p:nvPr/>
        </p:nvSpPr>
        <p:spPr>
          <a:xfrm>
            <a:off x="5486400" y="171907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1</a:t>
            </a:r>
            <a:endParaRPr lang="en-US" sz="1100" dirty="0"/>
          </a:p>
        </p:txBody>
      </p:sp>
      <p:sp>
        <p:nvSpPr>
          <p:cNvPr id="24" name="Text 22"/>
          <p:cNvSpPr txBox="1"/>
          <p:nvPr/>
        </p:nvSpPr>
        <p:spPr>
          <a:xfrm>
            <a:off x="6675120" y="1691640"/>
            <a:ext cx="4967935" cy="475488"/>
          </a:xfrm>
          <a:prstGeom prst="rect">
            <a:avLst/>
          </a:prstGeom>
          <a:noFill/>
          <a:ln/>
        </p:spPr>
        <p:txBody>
          <a:bodyPr wrap="square" lIns="0" tIns="0" rIns="0" bIns="0" rtlCol="0" anchor="t"/>
          <a:lstStyle/>
          <a:p>
            <a:pPr indent="0" marL="0">
              <a:buNone/>
            </a:pPr>
            <a:r>
              <a:rPr lang="en-US" sz="1350" dirty="0">
                <a:solidFill>
                  <a:schemeClr val="tx1"/>
                </a:solidFill>
              </a:rPr>
              <a:t>Four attribution buckets weren't a partition (a character count is both non-J and text-computable).</a:t>
            </a:r>
            <a:endParaRPr lang="en-US" sz="1350" dirty="0"/>
          </a:p>
        </p:txBody>
      </p:sp>
      <p:sp>
        <p:nvSpPr>
          <p:cNvPr id="25" name="Text 23"/>
          <p:cNvSpPr txBox="1"/>
          <p:nvPr/>
        </p:nvSpPr>
        <p:spPr>
          <a:xfrm>
            <a:off x="6675120" y="218541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the 2×2 frame (D2)</a:t>
            </a:r>
            <a:endParaRPr lang="en-US" sz="1350" dirty="0"/>
          </a:p>
        </p:txBody>
      </p:sp>
      <p:sp>
        <p:nvSpPr>
          <p:cNvPr id="26" name="Shape 24"/>
          <p:cNvSpPr/>
          <p:nvPr/>
        </p:nvSpPr>
        <p:spPr>
          <a:xfrm>
            <a:off x="5486400" y="2724912"/>
            <a:ext cx="1051560" cy="274320"/>
          </a:xfrm>
          <a:prstGeom prst="roundRect">
            <a:avLst>
              <a:gd name="adj" fmla="val 50000"/>
            </a:avLst>
          </a:prstGeom>
          <a:solidFill>
            <a:schemeClr val="accent2"/>
          </a:solidFill>
          <a:ln w="12700">
            <a:solidFill>
              <a:schemeClr val="accent2"/>
            </a:solidFill>
            <a:prstDash val="solid"/>
          </a:ln>
        </p:spPr>
      </p:sp>
      <p:sp>
        <p:nvSpPr>
          <p:cNvPr id="27" name="Text 25"/>
          <p:cNvSpPr txBox="1"/>
          <p:nvPr/>
        </p:nvSpPr>
        <p:spPr>
          <a:xfrm>
            <a:off x="5486400" y="272491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2</a:t>
            </a:r>
            <a:endParaRPr lang="en-US" sz="1100" dirty="0"/>
          </a:p>
        </p:txBody>
      </p:sp>
      <p:sp>
        <p:nvSpPr>
          <p:cNvPr id="28" name="Text 26"/>
          <p:cNvSpPr txBox="1"/>
          <p:nvPr/>
        </p:nvSpPr>
        <p:spPr>
          <a:xfrm>
            <a:off x="6675120" y="2697480"/>
            <a:ext cx="4967935" cy="475488"/>
          </a:xfrm>
          <a:prstGeom prst="rect">
            <a:avLst/>
          </a:prstGeom>
          <a:noFill/>
          <a:ln/>
        </p:spPr>
        <p:txBody>
          <a:bodyPr wrap="square" lIns="0" tIns="0" rIns="0" bIns="0" rtlCol="0" anchor="t"/>
          <a:lstStyle/>
          <a:p>
            <a:pPr indent="0" marL="0">
              <a:buNone/>
            </a:pPr>
            <a:r>
              <a:rPr lang="en-US" sz="1350" dirty="0">
                <a:solidFill>
                  <a:schemeClr val="tx1"/>
                </a:solidFill>
              </a:rPr>
              <a:t>Steering at layer 38 lets non-J content rotate into J before the read layers.</a:t>
            </a:r>
            <a:endParaRPr lang="en-US" sz="1350" dirty="0"/>
          </a:p>
        </p:txBody>
      </p:sp>
      <p:sp>
        <p:nvSpPr>
          <p:cNvPr id="29" name="Text 27"/>
          <p:cNvSpPr txBox="1"/>
          <p:nvPr/>
        </p:nvSpPr>
        <p:spPr>
          <a:xfrm>
            <a:off x="6675120" y="319125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J-removed directions, leak detector, read-layer steering (D4)</a:t>
            </a:r>
            <a:endParaRPr lang="en-US" sz="1350" dirty="0"/>
          </a:p>
        </p:txBody>
      </p:sp>
      <p:sp>
        <p:nvSpPr>
          <p:cNvPr id="30" name="Shape 28"/>
          <p:cNvSpPr/>
          <p:nvPr/>
        </p:nvSpPr>
        <p:spPr>
          <a:xfrm>
            <a:off x="5486400" y="3730752"/>
            <a:ext cx="1051560" cy="274320"/>
          </a:xfrm>
          <a:prstGeom prst="roundRect">
            <a:avLst>
              <a:gd name="adj" fmla="val 50000"/>
            </a:avLst>
          </a:prstGeom>
          <a:solidFill>
            <a:schemeClr val="accent2"/>
          </a:solidFill>
          <a:ln w="12700">
            <a:solidFill>
              <a:schemeClr val="accent2"/>
            </a:solidFill>
            <a:prstDash val="solid"/>
          </a:ln>
        </p:spPr>
      </p:sp>
      <p:sp>
        <p:nvSpPr>
          <p:cNvPr id="31" name="Text 29"/>
          <p:cNvSpPr txBox="1"/>
          <p:nvPr/>
        </p:nvSpPr>
        <p:spPr>
          <a:xfrm>
            <a:off x="5486400" y="373075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a:t>
            </a:r>
            <a:endParaRPr lang="en-US" sz="1100" dirty="0"/>
          </a:p>
        </p:txBody>
      </p:sp>
      <p:sp>
        <p:nvSpPr>
          <p:cNvPr id="32" name="Text 30"/>
          <p:cNvSpPr txBox="1"/>
          <p:nvPr/>
        </p:nvSpPr>
        <p:spPr>
          <a:xfrm>
            <a:off x="6675120" y="3703320"/>
            <a:ext cx="4967935" cy="475488"/>
          </a:xfrm>
          <a:prstGeom prst="rect">
            <a:avLst/>
          </a:prstGeom>
          <a:noFill/>
          <a:ln/>
        </p:spPr>
        <p:txBody>
          <a:bodyPr wrap="square" lIns="0" tIns="0" rIns="0" bIns="0" rtlCol="0" anchor="t"/>
          <a:lstStyle/>
          <a:p>
            <a:pPr indent="0" marL="0">
              <a:buNone/>
            </a:pPr>
            <a:r>
              <a:rPr lang="en-US" sz="1350" dirty="0">
                <a:solidFill>
                  <a:schemeClr val="tx1"/>
                </a:solidFill>
              </a:rPr>
              <a:t>'Probe survives J-removal' passes topic and language too: it can't label anything.</a:t>
            </a:r>
            <a:endParaRPr lang="en-US" sz="1350" dirty="0"/>
          </a:p>
        </p:txBody>
      </p:sp>
      <p:sp>
        <p:nvSpPr>
          <p:cNvPr id="33" name="Text 31"/>
          <p:cNvSpPr txBox="1"/>
          <p:nvPr/>
        </p:nvSpPr>
        <p:spPr>
          <a:xfrm>
            <a:off x="6675120" y="419709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calibrated gate: enrichment + J-Lens readout (D8–D9)</a:t>
            </a:r>
            <a:endParaRPr lang="en-US" sz="1350" dirty="0"/>
          </a:p>
        </p:txBody>
      </p:sp>
      <p:sp>
        <p:nvSpPr>
          <p:cNvPr id="34" name="Shape 32"/>
          <p:cNvSpPr/>
          <p:nvPr/>
        </p:nvSpPr>
        <p:spPr>
          <a:xfrm>
            <a:off x="5486400" y="4736592"/>
            <a:ext cx="1051560" cy="274320"/>
          </a:xfrm>
          <a:prstGeom prst="roundRect">
            <a:avLst>
              <a:gd name="adj" fmla="val 50000"/>
            </a:avLst>
          </a:prstGeom>
          <a:solidFill>
            <a:schemeClr val="accent2"/>
          </a:solidFill>
          <a:ln w="12700">
            <a:solidFill>
              <a:schemeClr val="accent2"/>
            </a:solidFill>
            <a:prstDash val="solid"/>
          </a:ln>
        </p:spPr>
      </p:sp>
      <p:sp>
        <p:nvSpPr>
          <p:cNvPr id="35" name="Text 33"/>
          <p:cNvSpPr txBox="1"/>
          <p:nvPr/>
        </p:nvSpPr>
        <p:spPr>
          <a:xfrm>
            <a:off x="5486400" y="473659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3–4</a:t>
            </a:r>
            <a:endParaRPr lang="en-US" sz="1100" dirty="0"/>
          </a:p>
        </p:txBody>
      </p:sp>
      <p:sp>
        <p:nvSpPr>
          <p:cNvPr id="36" name="Text 34"/>
          <p:cNvSpPr txBox="1"/>
          <p:nvPr/>
        </p:nvSpPr>
        <p:spPr>
          <a:xfrm>
            <a:off x="6675120" y="4709160"/>
            <a:ext cx="4967935" cy="475488"/>
          </a:xfrm>
          <a:prstGeom prst="rect">
            <a:avLst/>
          </a:prstGeom>
          <a:noFill/>
          <a:ln/>
        </p:spPr>
        <p:txBody>
          <a:bodyPr wrap="square" lIns="0" tIns="0" rIns="0" bIns="0" rtlCol="0" anchor="t"/>
          <a:lstStyle/>
          <a:p>
            <a:pPr indent="0" marL="0">
              <a:buNone/>
            </a:pPr>
            <a:r>
              <a:rPr lang="en-US" sz="1350" dirty="0">
                <a:solidFill>
                  <a:schemeClr val="tx1"/>
                </a:solidFill>
              </a:rPr>
              <a:t>The ± contrast isn't dilution-immune; OL's 'anti-tracking' might be an artefact.</a:t>
            </a:r>
            <a:endParaRPr lang="en-US" sz="1350" dirty="0"/>
          </a:p>
        </p:txBody>
      </p:sp>
      <p:sp>
        <p:nvSpPr>
          <p:cNvPr id="37" name="Text 35"/>
          <p:cNvSpPr txBox="1"/>
          <p:nvPr/>
        </p:nvSpPr>
        <p:spPr>
          <a:xfrm>
            <a:off x="6675120" y="520293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centred steering: OL 0.45 → 0.49 = chance (D9, D11)</a:t>
            </a:r>
            <a:endParaRPr lang="en-US" sz="1350" dirty="0"/>
          </a:p>
        </p:txBody>
      </p:sp>
      <p:sp>
        <p:nvSpPr>
          <p:cNvPr id="38" name="Text 36"/>
          <p:cNvSpPr txBox="1"/>
          <p:nvPr/>
        </p:nvSpPr>
        <p:spPr>
          <a:xfrm>
            <a:off x="5486400" y="5806440"/>
            <a:ext cx="6156655" cy="502920"/>
          </a:xfrm>
          <a:prstGeom prst="rect">
            <a:avLst/>
          </a:prstGeom>
          <a:noFill/>
          <a:ln/>
        </p:spPr>
        <p:txBody>
          <a:bodyPr wrap="square" lIns="0" tIns="0" rIns="0" bIns="0" rtlCol="0" anchor="t"/>
          <a:lstStyle/>
          <a:p>
            <a:pPr indent="0" marL="0">
              <a:buNone/>
            </a:pPr>
            <a:r>
              <a:rPr lang="en-US" sz="1200" i="1" dirty="0">
                <a:solidFill>
                  <a:schemeClr val="accent5"/>
                </a:solidFill>
              </a:rPr>
              <a:t>We pushed back too: a linear probe is a reference, not a ceiling; the FVE out-of-distribution check is partly circular (the reconstructor was co-trained).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03</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Gates: are the instruments sound?</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Layer convention, a full benchmark replication, and a protocol asymmetry we found on the way</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K0 · NLA LAYER CONVENTION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Gate K0: the NLA reads block-42 output, with 1.7% error against 20% for the neighbouring layer</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0.9999</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median cosine at block 42 (block 41: 0.979); best match on 64/64 examples</a:t>
            </a:r>
            <a:endParaRPr lang="en-US" sz="1300" dirty="0"/>
          </a:p>
        </p:txBody>
      </p:sp>
      <p:sp>
        <p:nvSpPr>
          <p:cNvPr id="10" name="Text 7"/>
          <p:cNvSpPr txBox="1"/>
          <p:nvPr/>
        </p:nvSpPr>
        <p:spPr>
          <a:xfrm>
            <a:off x="7452360" y="287528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0.761</a:t>
            </a:r>
            <a:endParaRPr lang="en-US" sz="3200" dirty="0"/>
          </a:p>
        </p:txBody>
      </p:sp>
      <p:sp>
        <p:nvSpPr>
          <p:cNvPr id="11" name="Text 8"/>
          <p:cNvSpPr txBox="1"/>
          <p:nvPr/>
        </p:nvSpPr>
        <p:spPr>
          <a:xfrm>
            <a:off x="7452360" y="34188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FVE reproduced (model card 0.766; iter 300: 0.759 vs 0.756)</a:t>
            </a:r>
            <a:endParaRPr lang="en-US" sz="1300" dirty="0"/>
          </a:p>
        </p:txBody>
      </p:sp>
      <p:sp>
        <p:nvSpPr>
          <p:cNvPr id="12" name="Text 9"/>
          <p:cNvSpPr txBox="1"/>
          <p:nvPr/>
        </p:nvSpPr>
        <p:spPr>
          <a:xfrm>
            <a:off x="7452360" y="4058920"/>
            <a:ext cx="4190695" cy="439928"/>
          </a:xfrm>
          <a:prstGeom prst="rect">
            <a:avLst/>
          </a:prstGeom>
          <a:noFill/>
          <a:ln/>
        </p:spPr>
        <p:txBody>
          <a:bodyPr wrap="square" lIns="0" tIns="0" rIns="0" bIns="0" rtlCol="0" anchor="b"/>
          <a:lstStyle/>
          <a:p>
            <a:pPr indent="0" marL="0">
              <a:buNone/>
            </a:pPr>
            <a:r>
              <a:rPr lang="en-US" sz="2600" b="1" dirty="0">
                <a:solidFill>
                  <a:schemeClr val="tx1"/>
                </a:solidFill>
                <a:latin typeface="Cambria" pitchFamily="34" charset="0"/>
                <a:ea typeface="Cambria" pitchFamily="34" charset="-122"/>
                <a:cs typeface="Cambria" pitchFamily="34" charset="-120"/>
              </a:rPr>
              <a:t>0.760 vs 0.695</a:t>
            </a:r>
            <a:endParaRPr lang="en-US" sz="26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functional test: FVE on block-42 vs block-41 captures</a:t>
            </a:r>
            <a:endParaRPr lang="en-US" sz="1300" dirty="0"/>
          </a:p>
        </p:txBody>
      </p:sp>
      <p:sp>
        <p:nvSpPr>
          <p:cNvPr id="14" name="Shape 11"/>
          <p:cNvSpPr/>
          <p:nvPr/>
        </p:nvSpPr>
        <p:spPr>
          <a:xfrm>
            <a:off x="7452360" y="5166360"/>
            <a:ext cx="419069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580376" y="5294376"/>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Correction logged: an early handoff called the layer 'ambiguous, 0.974 vs 0.95'. The 0.974 was the wrong convention.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WORKSPACEBENCH REPLICATION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reproduce all 12 published WorkspaceBench numbers inside our 95% confidence intervals</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12 / 12</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published values inside our 95% bootstrap CIs (largest gap: NLA multihop 0.15 vs 0.22, CI edge)</a:t>
            </a:r>
            <a:endParaRPr lang="en-US" sz="1300" dirty="0"/>
          </a:p>
        </p:txBody>
      </p:sp>
      <p:sp>
        <p:nvSpPr>
          <p:cNvPr id="10" name="Text 7"/>
          <p:cNvSpPr txBox="1"/>
          <p:nvPr/>
        </p:nvSpPr>
        <p:spPr>
          <a:xfrm>
            <a:off x="7452360" y="28752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$2.80</a:t>
            </a:r>
            <a:endParaRPr lang="en-US" sz="3000" dirty="0"/>
          </a:p>
        </p:txBody>
      </p:sp>
      <p:sp>
        <p:nvSpPr>
          <p:cNvPr id="11" name="Text 8"/>
          <p:cNvSpPr txBox="1"/>
          <p:nvPr/>
        </p:nvSpPr>
        <p:spPr>
          <a:xfrm>
            <a:off x="7452360" y="33934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OpenRouter + ~1.5 GPU-h on Modal for the full replication</a:t>
            </a:r>
            <a:endParaRPr lang="en-US" sz="1300" dirty="0"/>
          </a:p>
        </p:txBody>
      </p:sp>
      <p:sp>
        <p:nvSpPr>
          <p:cNvPr id="12" name="Text 9"/>
          <p:cNvSpPr txBox="1"/>
          <p:nvPr/>
        </p:nvSpPr>
        <p:spPr>
          <a:xfrm>
            <a:off x="7452360" y="4033520"/>
            <a:ext cx="4190695" cy="640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Protocol as published: Oracle Lens and J-Lens best-of-11 layers; NLA at layer 42 only.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A PROTOCOL ASYMMETRY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Oracle Lens's published lead comes from scoring the best of 11 layers; at layer 42 the NLA ties or wins</a:t>
            </a:r>
            <a:endParaRPr lang="en-US" sz="2800" dirty="0"/>
          </a:p>
        </p:txBody>
      </p:sp>
      <p:graphicFrame>
        <p:nvGraphicFramePr>
          <p:cNvPr id="7" name="Chart 0" descr=""/>
          <p:cNvGraphicFramePr/>
          <p:nvPr/>
        </p:nvGraphicFramePr>
        <p:xfrm>
          <a:off x="548640" y="1645920"/>
          <a:ext cx="536432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78728" y="164592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5257800"/>
            <a:ext cx="3515258" cy="1005840"/>
          </a:xfrm>
          <a:prstGeom prst="roundRect">
            <a:avLst>
              <a:gd name="adj" fmla="val 7273"/>
            </a:avLst>
          </a:prstGeom>
          <a:solidFill>
            <a:schemeClr val="bg2"/>
          </a:solidFill>
          <a:ln w="12700">
            <a:solidFill>
              <a:schemeClr val="bg2"/>
            </a:solidFill>
            <a:prstDash val="solid"/>
          </a:ln>
        </p:spPr>
      </p:sp>
      <p:sp>
        <p:nvSpPr>
          <p:cNvPr id="10" name="Text 6"/>
          <p:cNvSpPr txBox="1"/>
          <p:nvPr/>
        </p:nvSpPr>
        <p:spPr>
          <a:xfrm>
            <a:off x="676656"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Published rule = per-item any-layer: an item passes if any of 11 layers hits. That is layer selection plus a best-of-11-samples bonus.</a:t>
            </a:r>
            <a:endParaRPr lang="en-US" sz="1250" dirty="0"/>
          </a:p>
        </p:txBody>
      </p:sp>
      <p:sp>
        <p:nvSpPr>
          <p:cNvPr id="11" name="Shape 7"/>
          <p:cNvSpPr/>
          <p:nvPr/>
        </p:nvSpPr>
        <p:spPr>
          <a:xfrm>
            <a:off x="4338218" y="5257800"/>
            <a:ext cx="3515258" cy="1005840"/>
          </a:xfrm>
          <a:prstGeom prst="roundRect">
            <a:avLst>
              <a:gd name="adj" fmla="val 7273"/>
            </a:avLst>
          </a:prstGeom>
          <a:solidFill>
            <a:schemeClr val="bg2"/>
          </a:solidFill>
          <a:ln w="12700">
            <a:solidFill>
              <a:schemeClr val="bg2"/>
            </a:solidFill>
            <a:prstDash val="solid"/>
          </a:ln>
        </p:spPr>
      </p:sp>
      <p:sp>
        <p:nvSpPr>
          <p:cNvPr id="12" name="Text 8"/>
          <p:cNvSpPr txBox="1"/>
          <p:nvPr/>
        </p:nvSpPr>
        <p:spPr>
          <a:xfrm>
            <a:off x="4466234"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At OL's best single layer (mostly L56) it slightly exceeds the NLA, within noise: typo .78 vs .73, multilingual .43 vs .42, basic .62 vs .57.</a:t>
            </a:r>
            <a:endParaRPr lang="en-US" sz="1250" dirty="0"/>
          </a:p>
        </p:txBody>
      </p:sp>
      <p:sp>
        <p:nvSpPr>
          <p:cNvPr id="13" name="Shape 9"/>
          <p:cNvSpPr/>
          <p:nvPr/>
        </p:nvSpPr>
        <p:spPr>
          <a:xfrm>
            <a:off x="8127797" y="5257800"/>
            <a:ext cx="3515258" cy="1005840"/>
          </a:xfrm>
          <a:prstGeom prst="roundRect">
            <a:avLst>
              <a:gd name="adj" fmla="val 7273"/>
            </a:avLst>
          </a:prstGeom>
          <a:solidFill>
            <a:schemeClr val="bg2"/>
          </a:solidFill>
          <a:ln w="12700">
            <a:solidFill>
              <a:schemeClr val="bg2"/>
            </a:solidFill>
            <a:prstDash val="solid"/>
          </a:ln>
        </p:spPr>
      </p:sp>
      <p:sp>
        <p:nvSpPr>
          <p:cNvPr id="14" name="Text 10"/>
          <p:cNvSpPr txBox="1"/>
          <p:nvPr/>
        </p:nvSpPr>
        <p:spPr>
          <a:xfrm>
            <a:off x="8255813"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Decision (D7): layer 42 is the primary layer for every reader; OL at 40/44 is sensitivity.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(1 / 4): the instruments work</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A: what even counts as non-workspace content?</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b="1" dirty="0">
                <a:solidFill>
                  <a:schemeClr val="tx1"/>
                </a:solidFill>
              </a:rPr>
              <a:t>At the same layer (42) the NLA ties or beats the Oracle Lens; OL's published lead comes from a best-of-11-layers protocol.</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04</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A: what even counts as non-workspace?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standard test is uninformative; a calibrated gate leaves one clean feature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STANDARD TEST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standard test, 'does a probe survive removing the J-space?', passes every feature, topic included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0.849 → 0.834</a:t>
            </a:r>
            <a:endParaRPr lang="en-US" sz="2800" dirty="0"/>
          </a:p>
        </p:txBody>
      </p:sp>
      <p:sp>
        <p:nvSpPr>
          <p:cNvPr id="9" name="Text 6"/>
          <p:cNvSpPr txBox="1"/>
          <p:nvPr/>
        </p:nvSpPr>
        <p:spPr>
          <a:xfrm>
            <a:off x="7452360" y="21844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topic probe accuracy after removing the top-1,536 J-space (language: 0.966 → 0.966)</a:t>
            </a:r>
            <a:endParaRPr lang="en-US" sz="1300" dirty="0"/>
          </a:p>
        </p:txBody>
      </p:sp>
      <p:sp>
        <p:nvSpPr>
          <p:cNvPr id="10" name="Text 7"/>
          <p:cNvSpPr txBox="1"/>
          <p:nvPr/>
        </p:nvSpPr>
        <p:spPr>
          <a:xfrm>
            <a:off x="7452360" y="282448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0.900 → 0.880</a:t>
            </a:r>
            <a:endParaRPr lang="en-US" sz="2800" dirty="0"/>
          </a:p>
        </p:txBody>
      </p:sp>
      <p:sp>
        <p:nvSpPr>
          <p:cNvPr id="11" name="Text 8"/>
          <p:cNvSpPr txBox="1"/>
          <p:nvPr/>
        </p:nvSpPr>
        <p:spPr>
          <a:xfrm>
            <a:off x="7452360" y="3317240"/>
            <a:ext cx="4190695" cy="676656"/>
          </a:xfrm>
          <a:prstGeom prst="rect">
            <a:avLst/>
          </a:prstGeom>
          <a:noFill/>
          <a:ln/>
        </p:spPr>
        <p:txBody>
          <a:bodyPr wrap="square" lIns="0" tIns="0" rIns="0" bIns="0" rtlCol="0" anchor="t"/>
          <a:lstStyle/>
          <a:p>
            <a:pPr indent="0" marL="0">
              <a:buNone/>
            </a:pPr>
            <a:r>
              <a:rPr lang="en-US" sz="1300" dirty="0">
                <a:solidFill>
                  <a:schemeClr val="accent5"/>
                </a:solidFill>
              </a:rPr>
              <a:t>topic under the J-space paper's own recipe (25 J atoms projected out); tense .853 → .848, POS .908 → .904</a:t>
            </a:r>
            <a:endParaRPr lang="en-US" sz="1300" dirty="0"/>
          </a:p>
        </p:txBody>
      </p:sp>
      <p:sp>
        <p:nvSpPr>
          <p:cNvPr id="12" name="Shape 9"/>
          <p:cNvSpPr/>
          <p:nvPr/>
        </p:nvSpPr>
        <p:spPr>
          <a:xfrm>
            <a:off x="7452360" y="4167632"/>
            <a:ext cx="419069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580376" y="4295648"/>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Why: strong features are redundantly encoded. Removing any 384 or 1,536 of 5,120 dimensions, random ones included, leaves them decodable.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CALIBRATED GATE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calibrated gate does separate them: the count features are J-depleted, the rest J-enriched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285750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Geometric: </a:t>
            </a:r>
            <a:pPr indent="0" marL="0">
              <a:spcAft>
                <a:spcPts val="600"/>
              </a:spcAft>
              <a:buNone/>
            </a:pPr>
            <a:r>
              <a:rPr lang="en-US" sz="1400" dirty="0">
                <a:solidFill>
                  <a:schemeClr val="tx1"/>
                </a:solidFill>
              </a:rPr>
              <a:t>how concentrated the feature's direction is in the top-r J-space (≤ 1.5 at both ranks = non-J). Generic activation directions are 2.2× at r*.</a:t>
            </a:r>
            <a:endParaRPr lang="en-US" sz="1400" dirty="0"/>
          </a:p>
          <a:p>
            <a:pPr marL="203200" indent="-203200">
              <a:spcAft>
                <a:spcPts val="600"/>
              </a:spcAft>
              <a:buSzPct val="100000"/>
              <a:buChar char="•"/>
            </a:pPr>
            <a:r>
              <a:rPr lang="en-US" sz="1400" b="1" dirty="0">
                <a:solidFill>
                  <a:schemeClr val="tx1"/>
                </a:solidFill>
              </a:rPr>
              <a:t>Functional: </a:t>
            </a:r>
            <a:pPr indent="0" marL="0">
              <a:spcAft>
                <a:spcPts val="600"/>
              </a:spcAft>
              <a:buNone/>
            </a:pPr>
            <a:r>
              <a:rPr lang="en-US" sz="1400" dirty="0">
                <a:solidFill>
                  <a:schemeClr val="tx1"/>
                </a:solidFill>
              </a:rPr>
              <a:t>does the full J-Lens readout track the value, in the form the lens emits, beyond a shuffled-label null band?</a:t>
            </a:r>
            <a:endParaRPr lang="en-US" sz="1400" dirty="0"/>
          </a:p>
          <a:p>
            <a:pPr marL="203200" indent="-203200">
              <a:spcAft>
                <a:spcPts val="600"/>
              </a:spcAft>
              <a:buSzPct val="100000"/>
              <a:buChar char="•"/>
            </a:pPr>
            <a:r>
              <a:rPr lang="en-US" sz="1400" b="1" dirty="0">
                <a:solidFill>
                  <a:schemeClr val="tx1"/>
                </a:solidFill>
              </a:rPr>
              <a:t>J-Lens readout AUROC: </a:t>
            </a:r>
            <a:pPr indent="0" marL="0">
              <a:spcAft>
                <a:spcPts val="600"/>
              </a:spcAft>
              <a:buNone/>
            </a:pPr>
            <a:r>
              <a:rPr lang="en-US" sz="1400" dirty="0">
                <a:solidFill>
                  <a:schemeClr val="tx1"/>
                </a:solidFill>
              </a:rPr>
              <a:t>col 0.500 [0.499, 0.501] · depth 0.5035 (just above) · tense 0.52 · language 0.62 · topic 0.83 · POS (token classes) 0.664.</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GATE TABLE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Only one feature is cleanly non-J, and the label survives a change of J-Lens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325880"/>
                <a:gridCol w="2423160"/>
                <a:gridCol w="1600200"/>
                <a:gridCol w="1234440"/>
                <a:gridCol w="1508760"/>
                <a:gridCol w="1463040"/>
                <a:gridCol w="1536192"/>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Feature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is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Enrichment r* / 4r* (n1000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(25-prompt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J-Lens readout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Causal effect kept after J-removal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Label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characters since the last newline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 / 1.10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0.82 / 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col_report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same count, asked explicitly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0.59 / 0.86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 / 0.93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bracket depth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nesting level of brackets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0.57 / 1.16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0.5035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DIFFUSE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pred. POS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predicted next-word part of speech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2.62 / 1.56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 / 1.61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0.664 (token classes)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past vs present at verb slots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5.60 / 2.31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4.36 / 2.37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Russian vs Polish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3.32 / 1.73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2.74 / 1.83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reference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5.98 / 2.34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 col_report was meant to be the in-J count calibration; it stayed non-J (Qwen doesn't pull the count into J on request). r* = 384, 4r* = 1,536 at layer 42.</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SURVEY OF ~12 FEATURES (EXPERIMENTS 02 + 04)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Survey: no natural non-count feature is outside J; the non-J content Qwen uses looks like positional bookkeeping</a:t>
            </a:r>
            <a:endParaRPr lang="en-US" sz="2800" dirty="0"/>
          </a:p>
        </p:txBody>
      </p:sp>
      <p:graphicFrame>
        <p:nvGraphicFramePr>
          <p:cNvPr id="7"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178040" y="1755648"/>
            <a:ext cx="146304" cy="146304"/>
          </a:xfrm>
          <a:prstGeom prst="ellipse">
            <a:avLst/>
          </a:prstGeom>
          <a:solidFill>
            <a:schemeClr val="accent3"/>
          </a:solidFill>
          <a:ln w="12700">
            <a:solidFill>
              <a:schemeClr val="accent3"/>
            </a:solidFill>
            <a:prstDash val="solid"/>
          </a:ln>
        </p:spPr>
      </p:sp>
      <p:sp>
        <p:nvSpPr>
          <p:cNvPr id="9" name="Text 6"/>
          <p:cNvSpPr txBox="1"/>
          <p:nvPr/>
        </p:nvSpPr>
        <p:spPr>
          <a:xfrm>
            <a:off x="7452360" y="1691640"/>
            <a:ext cx="4190695" cy="429768"/>
          </a:xfrm>
          <a:prstGeom prst="rect">
            <a:avLst/>
          </a:prstGeom>
          <a:noFill/>
          <a:ln/>
        </p:spPr>
        <p:txBody>
          <a:bodyPr wrap="square" lIns="0" tIns="0" rIns="0" bIns="0" rtlCol="0" anchor="t"/>
          <a:lstStyle/>
          <a:p>
            <a:pPr indent="0" marL="0">
              <a:buNone/>
            </a:pPr>
            <a:r>
              <a:rPr lang="en-US" sz="1300" b="1" dirty="0">
                <a:solidFill>
                  <a:schemeClr val="tx1"/>
                </a:solidFill>
              </a:rPr>
              <a:t>Capitalisation · in-quote  </a:t>
            </a:r>
            <a:pPr indent="0" marL="0">
              <a:buNone/>
            </a:pPr>
            <a:r>
              <a:rPr lang="en-US" sz="1300" dirty="0">
                <a:solidFill>
                  <a:schemeClr val="accent5"/>
                </a:solidFill>
              </a:rPr>
              <a:t>IN-J (enrichment 2.71 · 2.22)</a:t>
            </a:r>
            <a:endParaRPr lang="en-US" sz="1300" dirty="0"/>
          </a:p>
        </p:txBody>
      </p:sp>
      <p:sp>
        <p:nvSpPr>
          <p:cNvPr id="10" name="Shape 7"/>
          <p:cNvSpPr/>
          <p:nvPr/>
        </p:nvSpPr>
        <p:spPr>
          <a:xfrm>
            <a:off x="7178040" y="2231136"/>
            <a:ext cx="146304" cy="146304"/>
          </a:xfrm>
          <a:prstGeom prst="ellipse">
            <a:avLst/>
          </a:prstGeom>
          <a:solidFill>
            <a:schemeClr val="accent5"/>
          </a:solidFill>
          <a:ln w="12700">
            <a:solidFill>
              <a:schemeClr val="accent5"/>
            </a:solidFill>
            <a:prstDash val="solid"/>
          </a:ln>
        </p:spPr>
      </p:sp>
      <p:sp>
        <p:nvSpPr>
          <p:cNvPr id="11" name="Text 8"/>
          <p:cNvSpPr txBox="1"/>
          <p:nvPr/>
        </p:nvSpPr>
        <p:spPr>
          <a:xfrm>
            <a:off x="7452360" y="2167128"/>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Coding language  </a:t>
            </a:r>
            <a:pPr indent="0" marL="0">
              <a:buNone/>
            </a:pPr>
            <a:r>
              <a:rPr lang="en-US" sz="1300" dirty="0">
                <a:solidFill>
                  <a:schemeClr val="accent5"/>
                </a:solidFill>
              </a:rPr>
              <a:t>DIFFUSE-BUT-J-READABLE; its steering leaks into J (z 2.4–5.8)</a:t>
            </a:r>
            <a:endParaRPr lang="en-US" sz="1300" dirty="0"/>
          </a:p>
        </p:txBody>
      </p:sp>
      <p:sp>
        <p:nvSpPr>
          <p:cNvPr id="12" name="Shape 9"/>
          <p:cNvSpPr/>
          <p:nvPr/>
        </p:nvSpPr>
        <p:spPr>
          <a:xfrm>
            <a:off x="7178040" y="2907792"/>
            <a:ext cx="146304" cy="146304"/>
          </a:xfrm>
          <a:prstGeom prst="ellipse">
            <a:avLst/>
          </a:prstGeom>
          <a:solidFill>
            <a:schemeClr val="accent4"/>
          </a:solidFill>
          <a:ln w="12700">
            <a:solidFill>
              <a:schemeClr val="accent4"/>
            </a:solidFill>
            <a:prstDash val="solid"/>
          </a:ln>
        </p:spPr>
      </p:sp>
      <p:sp>
        <p:nvSpPr>
          <p:cNvPr id="13" name="Text 10"/>
          <p:cNvSpPr txBox="1"/>
          <p:nvPr/>
        </p:nvSpPr>
        <p:spPr>
          <a:xfrm>
            <a:off x="7452360" y="2843784"/>
            <a:ext cx="4190695" cy="429768"/>
          </a:xfrm>
          <a:prstGeom prst="rect">
            <a:avLst/>
          </a:prstGeom>
          <a:noFill/>
          <a:ln/>
        </p:spPr>
        <p:txBody>
          <a:bodyPr wrap="square" lIns="0" tIns="0" rIns="0" bIns="0" rtlCol="0" anchor="t"/>
          <a:lstStyle/>
          <a:p>
            <a:pPr indent="0" marL="0">
              <a:buNone/>
            </a:pPr>
            <a:r>
              <a:rPr lang="en-US" sz="1300" b="1" dirty="0">
                <a:solidFill>
                  <a:schemeClr val="tx1"/>
                </a:solidFill>
              </a:rPr>
              <a:t>French gender  </a:t>
            </a:r>
            <a:pPr indent="0" marL="0">
              <a:buNone/>
            </a:pPr>
            <a:r>
              <a:rPr lang="en-US" sz="1300" dirty="0">
                <a:solidFill>
                  <a:schemeClr val="accent5"/>
                </a:solidFill>
              </a:rPr>
              <a:t>fails decodability (AUROC 0.60)</a:t>
            </a:r>
            <a:endParaRPr lang="en-US" sz="1300" dirty="0"/>
          </a:p>
        </p:txBody>
      </p:sp>
      <p:sp>
        <p:nvSpPr>
          <p:cNvPr id="14" name="Shape 11"/>
          <p:cNvSpPr/>
          <p:nvPr/>
        </p:nvSpPr>
        <p:spPr>
          <a:xfrm>
            <a:off x="7178040" y="3383280"/>
            <a:ext cx="146304" cy="146304"/>
          </a:xfrm>
          <a:prstGeom prst="ellipse">
            <a:avLst/>
          </a:prstGeom>
          <a:solidFill>
            <a:schemeClr val="tx1"/>
          </a:solidFill>
          <a:ln w="12700">
            <a:solidFill>
              <a:schemeClr val="tx1"/>
            </a:solidFill>
            <a:prstDash val="solid"/>
          </a:ln>
        </p:spPr>
      </p:sp>
      <p:sp>
        <p:nvSpPr>
          <p:cNvPr id="15" name="Text 12"/>
          <p:cNvSpPr txBox="1"/>
          <p:nvPr/>
        </p:nvSpPr>
        <p:spPr>
          <a:xfrm>
            <a:off x="7452360" y="331927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non-J (1.11 / 1.14) but unused: steering doesn't move it</a:t>
            </a:r>
            <a:endParaRPr lang="en-US" sz="1300" dirty="0"/>
          </a:p>
        </p:txBody>
      </p:sp>
      <p:sp>
        <p:nvSpPr>
          <p:cNvPr id="16" name="Shape 13"/>
          <p:cNvSpPr/>
          <p:nvPr/>
        </p:nvSpPr>
        <p:spPr>
          <a:xfrm>
            <a:off x="7178040" y="4059936"/>
            <a:ext cx="146304" cy="146304"/>
          </a:xfrm>
          <a:prstGeom prst="ellipse">
            <a:avLst/>
          </a:prstGeom>
          <a:solidFill>
            <a:schemeClr val="accent5"/>
          </a:solidFill>
          <a:ln w="12700">
            <a:solidFill>
              <a:schemeClr val="accent5"/>
            </a:solidFill>
            <a:prstDash val="solid"/>
          </a:ln>
        </p:spPr>
      </p:sp>
      <p:sp>
        <p:nvSpPr>
          <p:cNvPr id="17" name="Text 14"/>
          <p:cNvSpPr txBox="1"/>
          <p:nvPr/>
        </p:nvSpPr>
        <p:spPr>
          <a:xfrm>
            <a:off x="7452360" y="3995928"/>
            <a:ext cx="4190695" cy="429768"/>
          </a:xfrm>
          <a:prstGeom prst="rect">
            <a:avLst/>
          </a:prstGeom>
          <a:noFill/>
          <a:ln/>
        </p:spPr>
        <p:txBody>
          <a:bodyPr wrap="square" lIns="0" tIns="0" rIns="0" bIns="0" rtlCol="0" anchor="t"/>
          <a:lstStyle/>
          <a:p>
            <a:pPr indent="0" marL="0">
              <a:buNone/>
            </a:pPr>
            <a:r>
              <a:rPr lang="en-US" sz="1300" b="1" dirty="0">
                <a:solidFill>
                  <a:schemeClr val="tx1"/>
                </a:solidFill>
              </a:rPr>
              <a:t>Words since sentence start  </a:t>
            </a:r>
            <a:pPr indent="0" marL="0">
              <a:buNone/>
            </a:pPr>
            <a:r>
              <a:rPr lang="en-US" sz="1300" dirty="0">
                <a:solidFill>
                  <a:schemeClr val="accent5"/>
                </a:solidFill>
              </a:rPr>
              <a:t>J-depleted (1.03 / 1.09) but J-Lens-readable</a:t>
            </a:r>
            <a:endParaRPr lang="en-US" sz="1300" dirty="0"/>
          </a:p>
        </p:txBody>
      </p:sp>
      <p:sp>
        <p:nvSpPr>
          <p:cNvPr id="18" name="Shape 15"/>
          <p:cNvSpPr/>
          <p:nvPr/>
        </p:nvSpPr>
        <p:spPr>
          <a:xfrm>
            <a:off x="7178040" y="4535424"/>
            <a:ext cx="146304" cy="146304"/>
          </a:xfrm>
          <a:prstGeom prst="ellipse">
            <a:avLst/>
          </a:prstGeom>
          <a:solidFill>
            <a:schemeClr val="accent4"/>
          </a:solidFill>
          <a:ln w="12700">
            <a:solidFill>
              <a:schemeClr val="accent4"/>
            </a:solidFill>
            <a:prstDash val="solid"/>
          </a:ln>
        </p:spPr>
      </p:sp>
      <p:sp>
        <p:nvSpPr>
          <p:cNvPr id="19" name="Text 16"/>
          <p:cNvSpPr txBox="1"/>
          <p:nvPr/>
        </p:nvSpPr>
        <p:spPr>
          <a:xfrm>
            <a:off x="7452360" y="4471416"/>
            <a:ext cx="4190695" cy="630936"/>
          </a:xfrm>
          <a:prstGeom prst="rect">
            <a:avLst/>
          </a:prstGeom>
          <a:noFill/>
          <a:ln/>
        </p:spPr>
        <p:txBody>
          <a:bodyPr wrap="square" lIns="0" tIns="0" rIns="0" bIns="0" rtlCol="0" anchor="t"/>
          <a:lstStyle/>
          <a:p>
            <a:pPr indent="0" marL="0">
              <a:buNone/>
            </a:pPr>
            <a:r>
              <a:rPr lang="en-US" sz="1300" b="1" dirty="0">
                <a:solidFill>
                  <a:schemeClr val="tx1"/>
                </a:solidFill>
              </a:rPr>
              <a:t>List index with numerals  </a:t>
            </a:r>
            <a:pPr indent="0" marL="0">
              <a:buNone/>
            </a:pPr>
            <a:r>
              <a:rPr lang="en-US" sz="1300" dirty="0">
                <a:solidFill>
                  <a:schemeClr val="accent5"/>
                </a:solidFill>
              </a:rPr>
              <a:t>the in-J count control FAILED: digits never reach the J-Lens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(2 / 4): one clean non-workspace feature, and it is a count</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B: does any reader follow col when we push it inside the activation?</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dirty="0">
                <a:solidFill>
                  <a:schemeClr val="accent5"/>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dirty="0">
                <a:solidFill>
                  <a:schemeClr val="accent5"/>
                </a:solidFill>
              </a:rPr>
              <a:t>At the same layer (42) the NLA ties or beats the Oracle Lens; OL's published lead comes from a best-of-11-layers protocol.</a:t>
            </a:r>
            <a:endParaRPr lang="en-US" sz="1500" dirty="0"/>
          </a:p>
        </p:txBody>
      </p:sp>
      <p:sp>
        <p:nvSpPr>
          <p:cNvPr id="15" name="Shape 13"/>
          <p:cNvSpPr/>
          <p:nvPr/>
        </p:nvSpPr>
        <p:spPr>
          <a:xfrm>
            <a:off x="548640" y="2834640"/>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83464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798064"/>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standard 'probe survives J-removal' test cannot tell in-J from non-J: topic and language pass it too.</a:t>
            </a:r>
            <a:endParaRPr lang="en-US" sz="1500" dirty="0"/>
          </a:p>
        </p:txBody>
      </p:sp>
      <p:sp>
        <p:nvSpPr>
          <p:cNvPr id="18" name="Shape 16"/>
          <p:cNvSpPr/>
          <p:nvPr/>
        </p:nvSpPr>
        <p:spPr>
          <a:xfrm>
            <a:off x="548640" y="3401568"/>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40156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364992"/>
            <a:ext cx="9539935" cy="530352"/>
          </a:xfrm>
          <a:prstGeom prst="rect">
            <a:avLst/>
          </a:prstGeom>
          <a:noFill/>
          <a:ln/>
        </p:spPr>
        <p:txBody>
          <a:bodyPr wrap="square" lIns="0" tIns="0" rIns="0" bIns="0" rtlCol="0" anchor="t"/>
          <a:lstStyle/>
          <a:p>
            <a:pPr indent="0" marL="0">
              <a:buNone/>
            </a:pPr>
            <a:r>
              <a:rPr lang="en-US" sz="1500" b="1" dirty="0">
                <a:solidFill>
                  <a:schemeClr val="tx1"/>
                </a:solidFill>
              </a:rPr>
              <a:t>Under a calibrated gate only col (characters since newline) is cleanly non-J; POS, tense, capitalisation, quotes, code language are J-enriched or J-readable.</a:t>
            </a:r>
            <a:endParaRPr lang="en-US" sz="1500" dirty="0"/>
          </a:p>
        </p:txBody>
      </p:sp>
      <p:sp>
        <p:nvSpPr>
          <p:cNvPr id="21" name="Shape 19"/>
          <p:cNvSpPr/>
          <p:nvPr/>
        </p:nvSpPr>
        <p:spPr>
          <a:xfrm>
            <a:off x="548640" y="3968496"/>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9684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931920"/>
            <a:ext cx="9539935" cy="530352"/>
          </a:xfrm>
          <a:prstGeom prst="rect">
            <a:avLst/>
          </a:prstGeom>
          <a:noFill/>
          <a:ln/>
        </p:spPr>
        <p:txBody>
          <a:bodyPr wrap="square" lIns="0" tIns="0" rIns="0" bIns="0" rtlCol="0" anchor="t"/>
          <a:lstStyle/>
          <a:p>
            <a:pPr indent="0" marL="0">
              <a:buNone/>
            </a:pPr>
            <a:r>
              <a:rPr lang="en-US" sz="1500" b="1" dirty="0">
                <a:solidFill>
                  <a:schemeClr val="tx1"/>
                </a:solidFill>
              </a:rPr>
              <a:t>Survey of ~12 features: non-J content the model uses on Qwen L42 looks like positional bookkeeping; numbers never enter the J-space.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05</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B: no decoder reads col</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…although both read workspace features at the same dose (n = 1 non-J feature, pilot scale)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COL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col is a doubly clean test: the model relies on it, and Qwen can't recompute it from the text</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49×</a:t>
            </a:r>
            <a:endParaRPr lang="en-US" sz="3400" dirty="0"/>
          </a:p>
        </p:txBody>
      </p:sp>
      <p:sp>
        <p:nvSpPr>
          <p:cNvPr id="9" name="Text 6"/>
          <p:cNvSpPr txBox="1"/>
          <p:nvPr/>
        </p:nvSpPr>
        <p:spPr>
          <a:xfrm>
            <a:off x="6903720" y="22606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col's J-removed steering moves newline log-odds +0.99 vs ≤ 0.02 for random directions</a:t>
            </a:r>
            <a:endParaRPr lang="en-US" sz="1300" dirty="0"/>
          </a:p>
        </p:txBody>
      </p:sp>
      <p:sp>
        <p:nvSpPr>
          <p:cNvPr id="10" name="Text 7"/>
          <p:cNvSpPr txBox="1"/>
          <p:nvPr/>
        </p:nvSpPr>
        <p:spPr>
          <a:xfrm>
            <a:off x="6903720" y="290068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7%</a:t>
            </a:r>
            <a:endParaRPr lang="en-US" sz="3400" dirty="0"/>
          </a:p>
        </p:txBody>
      </p:sp>
      <p:sp>
        <p:nvSpPr>
          <p:cNvPr id="11" name="Text 8"/>
          <p:cNvSpPr txBox="1"/>
          <p:nvPr/>
        </p:nvSpPr>
        <p:spPr>
          <a:xfrm>
            <a:off x="6903720" y="34696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Qwen's exact accuracy when asked to count characters without chain of thought</a:t>
            </a:r>
            <a:endParaRPr lang="en-US" sz="1300" dirty="0"/>
          </a:p>
        </p:txBody>
      </p:sp>
      <p:sp>
        <p:nvSpPr>
          <p:cNvPr id="12" name="Text 9"/>
          <p:cNvSpPr txBox="1"/>
          <p:nvPr/>
        </p:nvSpPr>
        <p:spPr>
          <a:xfrm>
            <a:off x="6903720" y="410972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ρ 0.42</a:t>
            </a:r>
            <a:endParaRPr lang="en-US" sz="3400" dirty="0"/>
          </a:p>
        </p:txBody>
      </p:sp>
      <p:sp>
        <p:nvSpPr>
          <p:cNvPr id="13" name="Text 10"/>
          <p:cNvSpPr txBox="1"/>
          <p:nvPr/>
        </p:nvSpPr>
        <p:spPr>
          <a:xfrm>
            <a:off x="6903720" y="467868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free self-report vs truth; error no better than guessing the mean (MAE 16.4 vs 15.7)</a:t>
            </a:r>
            <a:endParaRPr lang="en-US" sz="1300" dirty="0"/>
          </a:p>
        </p:txBody>
      </p:sp>
      <p:sp>
        <p:nvSpPr>
          <p:cNvPr id="14" name="Shape 11"/>
          <p:cNvSpPr/>
          <p:nvPr/>
        </p:nvSpPr>
        <p:spPr>
          <a:xfrm>
            <a:off x="6903720" y="5318760"/>
            <a:ext cx="473933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031736" y="5446776"/>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So a Qwen decoder can't re-solve col by counting. Nuance: the newline decision col feeds is weakly J-visible (soft newline mass AUROC 0.58).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an apparent NLA-vs-Oracle Lens contrast was partly an artefact of how we steered</a:t>
            </a:r>
            <a:endParaRPr lang="en-US" sz="2800" dirty="0"/>
          </a:p>
        </p:txBody>
      </p:sp>
      <p:graphicFrame>
        <p:nvGraphicFramePr>
          <p:cNvPr id="7" name="Chart 0" descr=""/>
          <p:cNvGraphicFramePr/>
          <p:nvPr/>
        </p:nvGraphicFramePr>
        <p:xfrm>
          <a:off x="457200" y="164592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720840" y="1691640"/>
            <a:ext cx="4922215" cy="256032"/>
          </a:xfrm>
          <a:prstGeom prst="rect">
            <a:avLst/>
          </a:prstGeom>
          <a:noFill/>
          <a:ln/>
        </p:spPr>
        <p:txBody>
          <a:bodyPr wrap="square" lIns="0" tIns="0" rIns="0" bIns="0" rtlCol="0" anchor="t"/>
          <a:lstStyle/>
          <a:p>
            <a:pPr indent="0" marL="0">
              <a:buNone/>
            </a:pPr>
            <a:r>
              <a:rPr lang="en-US" sz="1400" b="1" dirty="0">
                <a:solidFill>
                  <a:schemeClr val="tx1"/>
                </a:solidFill>
              </a:rPr>
              <a:t>1 · The puzzle</a:t>
            </a:r>
            <a:endParaRPr lang="en-US" sz="1400" dirty="0"/>
          </a:p>
        </p:txBody>
      </p:sp>
      <p:sp>
        <p:nvSpPr>
          <p:cNvPr id="9" name="Text 6"/>
          <p:cNvSpPr txBox="1"/>
          <p:nvPr/>
        </p:nvSpPr>
        <p:spPr>
          <a:xfrm>
            <a:off x="6720840" y="1947672"/>
            <a:ext cx="4922215" cy="438912"/>
          </a:xfrm>
          <a:prstGeom prst="rect">
            <a:avLst/>
          </a:prstGeom>
          <a:noFill/>
          <a:ln/>
        </p:spPr>
        <p:txBody>
          <a:bodyPr wrap="square" lIns="0" tIns="0" rIns="0" bIns="0" rtlCol="0" anchor="t"/>
          <a:lstStyle/>
          <a:p>
            <a:pPr indent="0" marL="0">
              <a:buNone/>
            </a:pPr>
            <a:r>
              <a:rPr lang="en-US" sz="1300" dirty="0">
                <a:solidFill>
                  <a:schemeClr val="tx1"/>
                </a:solidFill>
              </a:rPr>
              <a:t>Oracle Lens anti-tracked the J-removed direction (0.45); the NLA tracked it (0.60).</a:t>
            </a:r>
            <a:endParaRPr lang="en-US" sz="1300" dirty="0"/>
          </a:p>
        </p:txBody>
      </p:sp>
      <p:sp>
        <p:nvSpPr>
          <p:cNvPr id="10" name="Text 7"/>
          <p:cNvSpPr txBox="1"/>
          <p:nvPr/>
        </p:nvSpPr>
        <p:spPr>
          <a:xfrm>
            <a:off x="6720840" y="2514600"/>
            <a:ext cx="4922215" cy="256032"/>
          </a:xfrm>
          <a:prstGeom prst="rect">
            <a:avLst/>
          </a:prstGeom>
          <a:noFill/>
          <a:ln/>
        </p:spPr>
        <p:txBody>
          <a:bodyPr wrap="square" lIns="0" tIns="0" rIns="0" bIns="0" rtlCol="0" anchor="t"/>
          <a:lstStyle/>
          <a:p>
            <a:pPr indent="0" marL="0">
              <a:buNone/>
            </a:pPr>
            <a:r>
              <a:rPr lang="en-US" sz="1400" b="1" dirty="0">
                <a:solidFill>
                  <a:schemeClr val="tx1"/>
                </a:solidFill>
              </a:rPr>
              <a:t>2 · Fable's test</a:t>
            </a:r>
            <a:endParaRPr lang="en-US" sz="1400" dirty="0"/>
          </a:p>
        </p:txBody>
      </p:sp>
      <p:sp>
        <p:nvSpPr>
          <p:cNvPr id="11" name="Text 8"/>
          <p:cNvSpPr txBox="1"/>
          <p:nvPr/>
        </p:nvSpPr>
        <p:spPr>
          <a:xfrm>
            <a:off x="6720840" y="2770632"/>
            <a:ext cx="4922215" cy="438912"/>
          </a:xfrm>
          <a:prstGeom prst="rect">
            <a:avLst/>
          </a:prstGeom>
          <a:noFill/>
          <a:ln/>
        </p:spPr>
        <p:txBody>
          <a:bodyPr wrap="square" lIns="0" tIns="0" rIns="0" bIns="0" rtlCol="0" anchor="t"/>
          <a:lstStyle/>
          <a:p>
            <a:pPr indent="0" marL="0">
              <a:buNone/>
            </a:pPr>
            <a:r>
              <a:rPr lang="en-US" sz="1300" dirty="0">
                <a:solidFill>
                  <a:schemeClr val="tx1"/>
                </a:solidFill>
              </a:rPr>
              <a:t>Norm-preserving steering changed nothing: both decoders renormalise their input anyway.</a:t>
            </a:r>
            <a:endParaRPr lang="en-US" sz="1300" dirty="0"/>
          </a:p>
        </p:txBody>
      </p:sp>
      <p:sp>
        <p:nvSpPr>
          <p:cNvPr id="12" name="Text 9"/>
          <p:cNvSpPr txBox="1"/>
          <p:nvPr/>
        </p:nvSpPr>
        <p:spPr>
          <a:xfrm>
            <a:off x="6720840" y="3337560"/>
            <a:ext cx="4922215" cy="256032"/>
          </a:xfrm>
          <a:prstGeom prst="rect">
            <a:avLst/>
          </a:prstGeom>
          <a:noFill/>
          <a:ln/>
        </p:spPr>
        <p:txBody>
          <a:bodyPr wrap="square" lIns="0" tIns="0" rIns="0" bIns="0" rtlCol="0" anchor="t"/>
          <a:lstStyle/>
          <a:p>
            <a:pPr indent="0" marL="0">
              <a:buNone/>
            </a:pPr>
            <a:r>
              <a:rPr lang="en-US" sz="1400" b="1" dirty="0">
                <a:solidFill>
                  <a:schemeClr val="tx1"/>
                </a:solidFill>
              </a:rPr>
              <a:t>3 · Real cause</a:t>
            </a:r>
            <a:endParaRPr lang="en-US" sz="1400" dirty="0"/>
          </a:p>
        </p:txBody>
      </p:sp>
      <p:sp>
        <p:nvSpPr>
          <p:cNvPr id="13" name="Text 10"/>
          <p:cNvSpPr txBox="1"/>
          <p:nvPr/>
        </p:nvSpPr>
        <p:spPr>
          <a:xfrm>
            <a:off x="6720840" y="3593592"/>
            <a:ext cx="4922215" cy="438912"/>
          </a:xfrm>
          <a:prstGeom prst="rect">
            <a:avLst/>
          </a:prstGeom>
          <a:noFill/>
          <a:ln/>
        </p:spPr>
        <p:txBody>
          <a:bodyPr wrap="square" lIns="0" tIns="0" rIns="0" bIns="0" rtlCol="0" anchor="t"/>
          <a:lstStyle/>
          <a:p>
            <a:pPr indent="0" marL="0">
              <a:buNone/>
            </a:pPr>
            <a:r>
              <a:rPr lang="en-US" sz="1300" dirty="0">
                <a:solidFill>
                  <a:schemeClr val="tx1"/>
                </a:solidFill>
              </a:rPr>
              <a:t>Unequal dilution when the item already carries the feature. Fix: centred steering, equal norm on both sides.</a:t>
            </a:r>
            <a:endParaRPr lang="en-US" sz="1300" dirty="0"/>
          </a:p>
        </p:txBody>
      </p:sp>
      <p:sp>
        <p:nvSpPr>
          <p:cNvPr id="14" name="Text 11"/>
          <p:cNvSpPr txBox="1"/>
          <p:nvPr/>
        </p:nvSpPr>
        <p:spPr>
          <a:xfrm>
            <a:off x="6720840" y="4160520"/>
            <a:ext cx="4922215" cy="256032"/>
          </a:xfrm>
          <a:prstGeom prst="rect">
            <a:avLst/>
          </a:prstGeom>
          <a:noFill/>
          <a:ln/>
        </p:spPr>
        <p:txBody>
          <a:bodyPr wrap="square" lIns="0" tIns="0" rIns="0" bIns="0" rtlCol="0" anchor="t"/>
          <a:lstStyle/>
          <a:p>
            <a:pPr indent="0" marL="0">
              <a:buNone/>
            </a:pPr>
            <a:r>
              <a:rPr lang="en-US" sz="1400" b="1" dirty="0">
                <a:solidFill>
                  <a:schemeClr val="tx1"/>
                </a:solidFill>
              </a:rPr>
              <a:t>4 · Result</a:t>
            </a:r>
            <a:endParaRPr lang="en-US" sz="1400" dirty="0"/>
          </a:p>
        </p:txBody>
      </p:sp>
      <p:sp>
        <p:nvSpPr>
          <p:cNvPr id="15" name="Text 12"/>
          <p:cNvSpPr txBox="1"/>
          <p:nvPr/>
        </p:nvSpPr>
        <p:spPr>
          <a:xfrm>
            <a:off x="6720840" y="4416552"/>
            <a:ext cx="4922215" cy="649224"/>
          </a:xfrm>
          <a:prstGeom prst="rect">
            <a:avLst/>
          </a:prstGeom>
          <a:noFill/>
          <a:ln/>
        </p:spPr>
        <p:txBody>
          <a:bodyPr wrap="square" lIns="0" tIns="0" rIns="0" bIns="0" rtlCol="0" anchor="t"/>
          <a:lstStyle/>
          <a:p>
            <a:pPr indent="0" marL="0">
              <a:buNone/>
            </a:pPr>
            <a:r>
              <a:rPr lang="en-US" sz="1300" dirty="0">
                <a:solidFill>
                  <a:schemeClr val="tx1"/>
                </a:solidFill>
              </a:rPr>
              <a:t>OL → 0.49, inside the null band. NLA 0.62 (+8.3 SD). J-Lens still anti-tracks: a real leak, so by our own rule the toy is not a non-J read.</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2</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removing the top-384 J-space isn't enough for col; removing 1,536 is leak-free at layer 42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2633472"/>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Leak: </a:t>
            </a:r>
            <a:pPr indent="0" marL="0">
              <a:spcAft>
                <a:spcPts val="600"/>
              </a:spcAft>
              <a:buNone/>
            </a:pPr>
            <a:r>
              <a:rPr lang="en-US" sz="1400" dirty="0">
                <a:solidFill>
                  <a:schemeClr val="tx1"/>
                </a:solidFill>
              </a:rPr>
              <a:t>at r* the J-removed col direction still pushes the J-Lens towards newline (z +2.6 to +3.0). The main run steers at 4r* at layer 42.</a:t>
            </a:r>
            <a:endParaRPr lang="en-US" sz="1400" dirty="0"/>
          </a:p>
          <a:p>
            <a:pPr marL="203200" indent="-203200">
              <a:spcAft>
                <a:spcPts val="600"/>
              </a:spcAft>
              <a:buSzPct val="100000"/>
              <a:buChar char="•"/>
            </a:pPr>
            <a:r>
              <a:rPr lang="en-US" sz="1400" b="1" dirty="0">
                <a:solidFill>
                  <a:schemeClr val="tx1"/>
                </a:solidFill>
              </a:rPr>
              <a:t>'CI excludes 0.5' is too weak: </a:t>
            </a:r>
            <a:pPr indent="0" marL="0">
              <a:spcAft>
                <a:spcPts val="600"/>
              </a:spcAft>
              <a:buNone/>
            </a:pPr>
            <a:r>
              <a:rPr lang="en-US" sz="1400" dirty="0">
                <a:solidFill>
                  <a:schemeClr val="tx1"/>
                </a:solidFill>
              </a:rPr>
              <a:t>the NLA's numeral template at r* gave 0.54 [0.53, 0.57], but random directions move it as much (z +1.4 / +1.8). The null band must be part of every primary test.</a:t>
            </a:r>
            <a:endParaRPr lang="en-US" sz="1400" dirty="0"/>
          </a:p>
          <a:p>
            <a:pPr marL="203200" indent="-203200">
              <a:spcAft>
                <a:spcPts val="600"/>
              </a:spcAft>
              <a:buSzPct val="100000"/>
              <a:buChar char="•"/>
            </a:pPr>
            <a:r>
              <a:rPr lang="en-US" sz="1400" b="1" dirty="0">
                <a:solidFill>
                  <a:schemeClr val="tx1"/>
                </a:solidFill>
              </a:rPr>
              <a:t>The FVE guard measures norm: </a:t>
            </a:r>
            <a:pPr indent="0" marL="0">
              <a:spcAft>
                <a:spcPts val="600"/>
              </a:spcAft>
              <a:buNone/>
            </a:pPr>
            <a:r>
              <a:rPr lang="en-US" sz="1400" dirty="0">
                <a:solidFill>
                  <a:schemeClr val="tx1"/>
                </a:solidFill>
              </a:rPr>
              <a:t>at q99 random directions also fail it (−0.045 to −0.062). q90 is primary.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THE COL RESULT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col result: no reader follows col beyond what random directions of the same size do</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635240" y="169164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0.50–0.53</a:t>
            </a:r>
            <a:endParaRPr lang="en-US" sz="3000" dirty="0"/>
          </a:p>
        </p:txBody>
      </p:sp>
      <p:sp>
        <p:nvSpPr>
          <p:cNvPr id="11" name="Text 8"/>
          <p:cNvSpPr txBox="1"/>
          <p:nvPr/>
        </p:nvSpPr>
        <p:spPr>
          <a:xfrm>
            <a:off x="7635240" y="220980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AUROC across template families (Oracle Lens 0.49–0.51)</a:t>
            </a:r>
            <a:endParaRPr lang="en-US" sz="1300" dirty="0"/>
          </a:p>
        </p:txBody>
      </p:sp>
      <p:sp>
        <p:nvSpPr>
          <p:cNvPr id="12" name="Text 9"/>
          <p:cNvSpPr txBox="1"/>
          <p:nvPr/>
        </p:nvSpPr>
        <p:spPr>
          <a:xfrm>
            <a:off x="7635240" y="284988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 0.12</a:t>
            </a:r>
            <a:endParaRPr lang="en-US" sz="3000" dirty="0"/>
          </a:p>
        </p:txBody>
      </p:sp>
      <p:sp>
        <p:nvSpPr>
          <p:cNvPr id="13" name="Text 10"/>
          <p:cNvSpPr txBox="1"/>
          <p:nvPr/>
        </p:nvSpPr>
        <p:spPr>
          <a:xfrm>
            <a:off x="7635240" y="336804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fraction of probe information (OL ≤ 0.03; pre-registered bar 0.25)</a:t>
            </a:r>
            <a:endParaRPr lang="en-US" sz="1300" dirty="0"/>
          </a:p>
        </p:txBody>
      </p:sp>
      <p:sp>
        <p:nvSpPr>
          <p:cNvPr id="14" name="Text 11"/>
          <p:cNvSpPr txBox="1"/>
          <p:nvPr/>
        </p:nvSpPr>
        <p:spPr>
          <a:xfrm>
            <a:off x="7635240" y="4008120"/>
            <a:ext cx="40078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 / 5,760</a:t>
            </a:r>
            <a:endParaRPr lang="en-US" sz="3000" dirty="0"/>
          </a:p>
        </p:txBody>
      </p:sp>
      <p:sp>
        <p:nvSpPr>
          <p:cNvPr id="15" name="Text 12"/>
          <p:cNvSpPr txBox="1"/>
          <p:nvPr/>
        </p:nvSpPr>
        <p:spPr>
          <a:xfrm>
            <a:off x="7635240" y="452628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free readouts mentioning line length (4,080 NLA, 1,680 OL)</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FIGURE 1 · MATCHED-DOSE CALIBRATION (K3: PASS)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readers do track workspace features at the same steering strength; they just don't track col</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755648"/>
            <a:ext cx="146304" cy="146304"/>
          </a:xfrm>
          <a:prstGeom prst="ellipse">
            <a:avLst/>
          </a:prstGeom>
          <a:solidFill>
            <a:schemeClr val="accent1"/>
          </a:solidFill>
          <a:ln w="12700">
            <a:solidFill>
              <a:schemeClr val="accent1"/>
            </a:solidFill>
            <a:prstDash val="solid"/>
          </a:ln>
        </p:spPr>
      </p:sp>
      <p:sp>
        <p:nvSpPr>
          <p:cNvPr id="11" name="Text 8"/>
          <p:cNvSpPr txBox="1"/>
          <p:nvPr/>
        </p:nvSpPr>
        <p:spPr>
          <a:xfrm>
            <a:off x="8092440" y="1691640"/>
            <a:ext cx="3550615" cy="832104"/>
          </a:xfrm>
          <a:prstGeom prst="rect">
            <a:avLst/>
          </a:prstGeom>
          <a:noFill/>
          <a:ln/>
        </p:spPr>
        <p:txBody>
          <a:bodyPr wrap="square" lIns="0" tIns="0" rIns="0" bIns="0" rtlCol="0" anchor="t"/>
          <a:lstStyle/>
          <a:p>
            <a:pPr indent="0" marL="0">
              <a:buNone/>
            </a:pPr>
            <a:r>
              <a:rPr lang="en-US" sz="1300" b="1" dirty="0">
                <a:solidFill>
                  <a:schemeClr val="tx1"/>
                </a:solidFill>
              </a:rPr>
              <a:t>NLA  </a:t>
            </a:r>
            <a:pPr indent="0" marL="0">
              <a:buNone/>
            </a:pPr>
            <a:r>
              <a:rPr lang="en-US" sz="1300" dirty="0">
                <a:solidFill>
                  <a:schemeClr val="accent5"/>
                </a:solidFill>
              </a:rPr>
              <a:t>language z +25 / +31, tense +12 / +18 (isotropic / J-complement bands); col inside both</a:t>
            </a:r>
            <a:endParaRPr lang="en-US" sz="1300" dirty="0"/>
          </a:p>
        </p:txBody>
      </p:sp>
      <p:sp>
        <p:nvSpPr>
          <p:cNvPr id="12" name="Shape 9"/>
          <p:cNvSpPr/>
          <p:nvPr/>
        </p:nvSpPr>
        <p:spPr>
          <a:xfrm>
            <a:off x="7818120" y="2633472"/>
            <a:ext cx="146304" cy="146304"/>
          </a:xfrm>
          <a:prstGeom prst="ellipse">
            <a:avLst/>
          </a:prstGeom>
          <a:solidFill>
            <a:schemeClr val="accent2"/>
          </a:solidFill>
          <a:ln w="12700">
            <a:solidFill>
              <a:schemeClr val="accent2"/>
            </a:solidFill>
            <a:prstDash val="solid"/>
          </a:ln>
        </p:spPr>
      </p:sp>
      <p:sp>
        <p:nvSpPr>
          <p:cNvPr id="13" name="Text 10"/>
          <p:cNvSpPr txBox="1"/>
          <p:nvPr/>
        </p:nvSpPr>
        <p:spPr>
          <a:xfrm>
            <a:off x="8092440" y="2569464"/>
            <a:ext cx="3550615" cy="630936"/>
          </a:xfrm>
          <a:prstGeom prst="rect">
            <a:avLst/>
          </a:prstGeom>
          <a:noFill/>
          <a:ln/>
        </p:spPr>
        <p:txBody>
          <a:bodyPr wrap="square" lIns="0" tIns="0" rIns="0" bIns="0" rtlCol="0" anchor="t"/>
          <a:lstStyle/>
          <a:p>
            <a:pPr indent="0" marL="0">
              <a:buNone/>
            </a:pPr>
            <a:r>
              <a:rPr lang="en-US" sz="1300" b="1" dirty="0">
                <a:solidFill>
                  <a:schemeClr val="tx1"/>
                </a:solidFill>
              </a:rPr>
              <a:t>Oracle Lens  </a:t>
            </a:r>
            <a:pPr indent="0" marL="0">
              <a:buNone/>
            </a:pPr>
            <a:r>
              <a:rPr lang="en-US" sz="1300" dirty="0">
                <a:solidFill>
                  <a:schemeClr val="accent5"/>
                </a:solidFill>
              </a:rPr>
              <a:t>language z +11 / +21; tense +2.3 / +2.5, below the 0.65 bar; col inside both</a:t>
            </a:r>
            <a:endParaRPr lang="en-US" sz="1300" dirty="0"/>
          </a:p>
        </p:txBody>
      </p:sp>
      <p:sp>
        <p:nvSpPr>
          <p:cNvPr id="14" name="Shape 11"/>
          <p:cNvSpPr/>
          <p:nvPr/>
        </p:nvSpPr>
        <p:spPr>
          <a:xfrm>
            <a:off x="7818120" y="3310128"/>
            <a:ext cx="146304" cy="146304"/>
          </a:xfrm>
          <a:prstGeom prst="ellipse">
            <a:avLst/>
          </a:prstGeom>
          <a:solidFill>
            <a:schemeClr val="accent3"/>
          </a:solidFill>
          <a:ln w="12700">
            <a:solidFill>
              <a:schemeClr val="accent3"/>
            </a:solidFill>
            <a:prstDash val="solid"/>
          </a:ln>
        </p:spPr>
      </p:sp>
      <p:sp>
        <p:nvSpPr>
          <p:cNvPr id="15" name="Text 12"/>
          <p:cNvSpPr txBox="1"/>
          <p:nvPr/>
        </p:nvSpPr>
        <p:spPr>
          <a:xfrm>
            <a:off x="8092440" y="3246120"/>
            <a:ext cx="3550615" cy="630936"/>
          </a:xfrm>
          <a:prstGeom prst="rect">
            <a:avLst/>
          </a:prstGeom>
          <a:noFill/>
          <a:ln/>
        </p:spPr>
        <p:txBody>
          <a:bodyPr wrap="square" lIns="0" tIns="0" rIns="0" bIns="0" rtlCol="0" anchor="t"/>
          <a:lstStyle/>
          <a:p>
            <a:pPr indent="0" marL="0">
              <a:buNone/>
            </a:pPr>
            <a:r>
              <a:rPr lang="en-US" sz="1300" b="1" dirty="0">
                <a:solidFill>
                  <a:schemeClr val="tx1"/>
                </a:solidFill>
              </a:rPr>
              <a:t>J-Lens  </a:t>
            </a:r>
            <a:pPr indent="0" marL="0">
              <a:buNone/>
            </a:pPr>
            <a:r>
              <a:rPr lang="en-US" sz="1300" dirty="0">
                <a:solidFill>
                  <a:schemeClr val="accent5"/>
                </a:solidFill>
              </a:rPr>
              <a:t>language z +3.3 / +24, tense +8.3 / +21 (a competitor for in-J content)</a:t>
            </a:r>
            <a:endParaRPr lang="en-US" sz="1300" dirty="0"/>
          </a:p>
        </p:txBody>
      </p:sp>
      <p:sp>
        <p:nvSpPr>
          <p:cNvPr id="16" name="Shape 13"/>
          <p:cNvSpPr/>
          <p:nvPr/>
        </p:nvSpPr>
        <p:spPr>
          <a:xfrm>
            <a:off x="7818120" y="3922776"/>
            <a:ext cx="3824935" cy="1060704"/>
          </a:xfrm>
          <a:prstGeom prst="roundRect">
            <a:avLst>
              <a:gd name="adj" fmla="val 6897"/>
            </a:avLst>
          </a:prstGeom>
          <a:solidFill>
            <a:schemeClr val="bg2"/>
          </a:solidFill>
          <a:ln w="12700">
            <a:solidFill>
              <a:schemeClr val="bg2"/>
            </a:solidFill>
            <a:prstDash val="solid"/>
          </a:ln>
        </p:spPr>
      </p:sp>
      <p:sp>
        <p:nvSpPr>
          <p:cNvPr id="17" name="Text 14"/>
          <p:cNvSpPr txBox="1"/>
          <p:nvPr/>
        </p:nvSpPr>
        <p:spPr>
          <a:xfrm>
            <a:off x="7946136" y="4050792"/>
            <a:ext cx="356890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Workspace features were steered slightly less (0.095 of ‖h‖) than col (0.108). K3 rule: OL or NLA ≥ 0.65 on ≥ 1 in-J feature at col's dose. Passed: NLA on both, OL on language.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EQUAL RELATIVE NORM</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At exactly equal steering norm, the decoders track language and tense;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704088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909560" y="1691640"/>
            <a:ext cx="3733495" cy="465328"/>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z +18 to +31</a:t>
            </a:r>
            <a:endParaRPr lang="en-US" sz="2800" dirty="0"/>
          </a:p>
        </p:txBody>
      </p:sp>
      <p:sp>
        <p:nvSpPr>
          <p:cNvPr id="11" name="Text 8"/>
          <p:cNvSpPr txBox="1"/>
          <p:nvPr/>
        </p:nvSpPr>
        <p:spPr>
          <a:xfrm>
            <a:off x="7909560" y="2184400"/>
            <a:ext cx="3733495" cy="466344"/>
          </a:xfrm>
          <a:prstGeom prst="rect">
            <a:avLst/>
          </a:prstGeom>
          <a:noFill/>
          <a:ln/>
        </p:spPr>
        <p:txBody>
          <a:bodyPr wrap="square" lIns="0" tIns="0" rIns="0" bIns="0" rtlCol="0" anchor="t"/>
          <a:lstStyle/>
          <a:p>
            <a:pPr indent="0" marL="0">
              <a:buNone/>
            </a:pPr>
            <a:r>
              <a:rPr lang="en-US" sz="1300" dirty="0">
                <a:solidFill>
                  <a:schemeClr val="accent5"/>
                </a:solidFill>
              </a:rPr>
              <a:t>NLA on language and tense vs the same null directions; OL language z +20</a:t>
            </a:r>
            <a:endParaRPr lang="en-US" sz="1300" dirty="0"/>
          </a:p>
        </p:txBody>
      </p:sp>
      <p:sp>
        <p:nvSpPr>
          <p:cNvPr id="12" name="Text 9"/>
          <p:cNvSpPr txBox="1"/>
          <p:nvPr/>
        </p:nvSpPr>
        <p:spPr>
          <a:xfrm>
            <a:off x="7909560" y="2824480"/>
            <a:ext cx="3733495" cy="465328"/>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0.56–0.57</a:t>
            </a:r>
            <a:endParaRPr lang="en-US" sz="2800" dirty="0"/>
          </a:p>
        </p:txBody>
      </p:sp>
      <p:sp>
        <p:nvSpPr>
          <p:cNvPr id="13" name="Text 10"/>
          <p:cNvSpPr txBox="1"/>
          <p:nvPr/>
        </p:nvSpPr>
        <p:spPr>
          <a:xfrm>
            <a:off x="7909560" y="3317240"/>
            <a:ext cx="3733495" cy="676656"/>
          </a:xfrm>
          <a:prstGeom prst="rect">
            <a:avLst/>
          </a:prstGeom>
          <a:noFill/>
          <a:ln/>
        </p:spPr>
        <p:txBody>
          <a:bodyPr wrap="square" lIns="0" tIns="0" rIns="0" bIns="0" rtlCol="0" anchor="t"/>
          <a:lstStyle/>
          <a:p>
            <a:pPr indent="0" marL="0">
              <a:buNone/>
            </a:pPr>
            <a:r>
              <a:rPr lang="en-US" sz="1300" dirty="0">
                <a:solidFill>
                  <a:schemeClr val="accent5"/>
                </a:solidFill>
              </a:rPr>
              <a:t>OL on tense: out of band but below the 0.65 bar, so OL's col null is less secure than the NLA's</a:t>
            </a:r>
            <a:endParaRPr lang="en-US" sz="1300" dirty="0"/>
          </a:p>
        </p:txBody>
      </p:sp>
      <p:sp>
        <p:nvSpPr>
          <p:cNvPr id="14" name="Shape 11"/>
          <p:cNvSpPr/>
          <p:nvPr/>
        </p:nvSpPr>
        <p:spPr>
          <a:xfrm>
            <a:off x="7909560" y="4167632"/>
            <a:ext cx="3733495" cy="1060704"/>
          </a:xfrm>
          <a:prstGeom prst="roundRect">
            <a:avLst>
              <a:gd name="adj" fmla="val 6897"/>
            </a:avLst>
          </a:prstGeom>
          <a:solidFill>
            <a:schemeClr val="bg2"/>
          </a:solidFill>
          <a:ln w="12700">
            <a:solidFill>
              <a:schemeClr val="bg2"/>
            </a:solidFill>
            <a:prstDash val="solid"/>
          </a:ln>
        </p:spPr>
      </p:sp>
      <p:sp>
        <p:nvSpPr>
          <p:cNvPr id="15" name="Text 12"/>
          <p:cNvSpPr txBox="1"/>
          <p:nvPr/>
        </p:nvSpPr>
        <p:spPr>
          <a:xfrm>
            <a:off x="8037576" y="4295648"/>
            <a:ext cx="347746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Caveat: templates matter (OL tense 0.39–0.87 across templates), so the col claim is 'with the frozen col templates'. The main run adds continuation-style col candidates.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CONTENT TYPE, NOT LOCATION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Even when col's downstream decision is visible to the J-Lens, neither decoder follows it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0.73–0.84</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J-Lens newline readout AUROC when we push the raw col direction (z +3.5 to +4.6 vs the isotropic band)</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 0.54</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NLA on the same raw push, across count, numeric and newline-decision templates (q99)</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 0.50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Oracle Lens on the same push, same three template families (q99)</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If location were the story</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decoders should follow once the push makes the newline decision J-readable. They don't.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So the null is about content type</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positional bookkeeping isn't something these decoders report, in any phrasing they use, including newline-continuation phrasing.</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test that settles it</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 next-digit cell in a numbered list ('next digit 5 vs 7'): maximally J. Tracked → col null is about location; not → content type.</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Main run: the raw-direction cell with newline-continuation candidates becomes primary (separating the count from the decision), with OL continuation-style candidates and a class-mean col direction.</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POWER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For col, more items won't help: its effect is about zero, while workspace features clear the same band by 10–30 SD</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291840"/>
                <a:gridCol w="1737360"/>
                <a:gridCol w="2651760"/>
                <a:gridCol w="1645920"/>
                <a:gridCol w="173736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NLA, q90, J-complement band</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Real shift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Null SD (direction ⊕ item)</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z at n = 60</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z at n → ∞</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 'long line', 4r*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+0.051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 'about 60 characters', 4r*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+0.118</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0.109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+0.99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 'line break coming', 4r*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+0.050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 raw (calibration)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d_z +1.5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band SD 0.013 (AUROC)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 +30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 raw (calibration)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d_z +1.3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band SD 0.021 (AUROC)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 +18</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Random directions genuinely move the decoders, and that spread doesn't shrink with n. NLA − OL ΔAUROC on col is +0.015 to +0.028, below the pre-registered H3 bar of 0.05: H3 will likely fail for col, stated at the freeze.</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NATURAL ITEMS (NO STEERING)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 natural text the readers describe in-J features well but barely discriminate col</a:t>
            </a:r>
            <a:endParaRPr lang="en-US" sz="2800" dirty="0"/>
          </a:p>
        </p:txBody>
      </p:sp>
      <p:graphicFrame>
        <p:nvGraphicFramePr>
          <p:cNvPr id="7"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635240" y="1691640"/>
            <a:ext cx="400781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Readers name a visible list index well (NLA .84, OL .99), but numbers never enter Qwen's J-space, so this is likely text re-description, not J-space reading.</a:t>
            </a:r>
            <a:endParaRPr lang="en-US" sz="1400" dirty="0"/>
          </a:p>
          <a:p>
            <a:pPr marL="203200" indent="-203200">
              <a:spcAft>
                <a:spcPts val="600"/>
              </a:spcAft>
              <a:buSzPct val="100000"/>
              <a:buChar char="•"/>
            </a:pPr>
            <a:r>
              <a:rPr lang="en-US" sz="1400" dirty="0">
                <a:solidFill>
                  <a:schemeClr val="tx1"/>
                </a:solidFill>
              </a:rPr>
              <a:t>0 of 320 NLA and 0 of 960 OL mining readouts ever mention line length, column or wrapping.</a:t>
            </a:r>
            <a:endParaRPr lang="en-US" sz="1400" dirty="0"/>
          </a:p>
          <a:p>
            <a:pPr marL="203200" indent="-203200">
              <a:spcAft>
                <a:spcPts val="600"/>
              </a:spcAft>
              <a:buSzPct val="100000"/>
              <a:buChar char="•"/>
            </a:pPr>
            <a:r>
              <a:rPr lang="en-US" sz="1400" dirty="0">
                <a:solidFill>
                  <a:schemeClr val="tx1"/>
                </a:solidFill>
              </a:rPr>
              <a:t>A probe correlates 0.88 with col on the same items; NLA / OL |ρ| ≤ 0.16.</a:t>
            </a:r>
            <a:endParaRPr lang="en-US" sz="1400" dirty="0"/>
          </a:p>
          <a:p>
            <a:pPr marL="203200" indent="-203200">
              <a:spcAft>
                <a:spcPts val="600"/>
              </a:spcAft>
              <a:buSzPct val="100000"/>
              <a:buChar char="•"/>
            </a:pPr>
            <a:r>
              <a:rPr lang="en-US" sz="1400" dirty="0">
                <a:solidFill>
                  <a:schemeClr val="tx1"/>
                </a:solidFill>
              </a:rPr>
              <a:t>Open check: the NLA's natural 0.60 needs a text-only decoder on the same items (long vs short lines are visible without counting).</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(3 / 4): the decoders read workspace features, not col</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C: so what does the NLA read beyond the workspace?</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instruments are sound: NLA layer convention pinned (block 42), FVE 0.761 reproduced, WorkspaceBench 12/12 replicated.</a:t>
            </a:r>
            <a:endParaRPr lang="en-US" sz="1350" dirty="0"/>
          </a:p>
        </p:txBody>
      </p:sp>
      <p:sp>
        <p:nvSpPr>
          <p:cNvPr id="12" name="Shape 10"/>
          <p:cNvSpPr/>
          <p:nvPr/>
        </p:nvSpPr>
        <p:spPr>
          <a:xfrm>
            <a:off x="548640" y="2163699"/>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16369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12712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At the same layer (42) the NLA ties or beats the Oracle Lens; OL's published lead comes from a best-of-11-layers protocol.</a:t>
            </a:r>
            <a:endParaRPr lang="en-US" sz="1350" dirty="0"/>
          </a:p>
        </p:txBody>
      </p:sp>
      <p:sp>
        <p:nvSpPr>
          <p:cNvPr id="15" name="Shape 13"/>
          <p:cNvSpPr/>
          <p:nvPr/>
        </p:nvSpPr>
        <p:spPr>
          <a:xfrm>
            <a:off x="548640" y="2626614"/>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62661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59003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standard 'probe survives J-removal' test cannot tell in-J from non-J: topic and language pass it too.</a:t>
            </a:r>
            <a:endParaRPr lang="en-US" sz="1350" dirty="0"/>
          </a:p>
        </p:txBody>
      </p:sp>
      <p:sp>
        <p:nvSpPr>
          <p:cNvPr id="18" name="Shape 16"/>
          <p:cNvSpPr/>
          <p:nvPr/>
        </p:nvSpPr>
        <p:spPr>
          <a:xfrm>
            <a:off x="548640" y="3089529"/>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08952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05295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Under a calibrated gate only col (characters since newline) is cleanly non-J; POS, tense, capitalisation, quotes, code language are J-enriched or J-readable.</a:t>
            </a:r>
            <a:endParaRPr lang="en-US" sz="1350" dirty="0"/>
          </a:p>
        </p:txBody>
      </p:sp>
      <p:sp>
        <p:nvSpPr>
          <p:cNvPr id="21" name="Shape 19"/>
          <p:cNvSpPr/>
          <p:nvPr/>
        </p:nvSpPr>
        <p:spPr>
          <a:xfrm>
            <a:off x="548640" y="3552444"/>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5524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51586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Survey of ~12 features: non-J content the model uses on Qwen L42 looks like positional bookkeeping; numbers never enter the J-space.</a:t>
            </a:r>
            <a:endParaRPr lang="en-US" sz="1350" dirty="0"/>
          </a:p>
        </p:txBody>
      </p:sp>
      <p:sp>
        <p:nvSpPr>
          <p:cNvPr id="24" name="Shape 22"/>
          <p:cNvSpPr/>
          <p:nvPr/>
        </p:nvSpPr>
        <p:spPr>
          <a:xfrm>
            <a:off x="548640" y="4015359"/>
            <a:ext cx="1325880" cy="256032"/>
          </a:xfrm>
          <a:prstGeom prst="roundRect">
            <a:avLst>
              <a:gd name="adj" fmla="val 53571"/>
            </a:avLst>
          </a:prstGeom>
          <a:solidFill>
            <a:schemeClr val="accent4"/>
          </a:solidFill>
          <a:ln w="12700">
            <a:solidFill>
              <a:schemeClr val="accent4"/>
            </a:solidFill>
            <a:prstDash val="solid"/>
          </a:ln>
        </p:spPr>
      </p:sp>
      <p:sp>
        <p:nvSpPr>
          <p:cNvPr id="25" name="Text 23"/>
          <p:cNvSpPr txBox="1"/>
          <p:nvPr/>
        </p:nvSpPr>
        <p:spPr>
          <a:xfrm>
            <a:off x="548640" y="401535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6" name="Text 24"/>
          <p:cNvSpPr txBox="1"/>
          <p:nvPr/>
        </p:nvSpPr>
        <p:spPr>
          <a:xfrm>
            <a:off x="2103120" y="3978783"/>
            <a:ext cx="9539935" cy="426339"/>
          </a:xfrm>
          <a:prstGeom prst="rect">
            <a:avLst/>
          </a:prstGeom>
          <a:noFill/>
          <a:ln/>
        </p:spPr>
        <p:txBody>
          <a:bodyPr wrap="square" lIns="0" tIns="0" rIns="0" bIns="0" rtlCol="0" anchor="t"/>
          <a:lstStyle/>
          <a:p>
            <a:pPr indent="0" marL="0">
              <a:buNone/>
            </a:pPr>
            <a:r>
              <a:rPr lang="en-US" sz="1350" b="1" dirty="0">
                <a:solidFill>
                  <a:schemeClr val="tx1"/>
                </a:solidFill>
              </a:rPr>
              <a:t>Neither decoder tracks col beyond random directions at leak-free doses (NLA ≤ 0.53, OL ≤ 0.51 AUROC).</a:t>
            </a:r>
            <a:endParaRPr lang="en-US" sz="1350" dirty="0"/>
          </a:p>
        </p:txBody>
      </p:sp>
      <p:sp>
        <p:nvSpPr>
          <p:cNvPr id="27" name="Shape 25"/>
          <p:cNvSpPr/>
          <p:nvPr/>
        </p:nvSpPr>
        <p:spPr>
          <a:xfrm>
            <a:off x="548640" y="4478274"/>
            <a:ext cx="1325880" cy="256032"/>
          </a:xfrm>
          <a:prstGeom prst="roundRect">
            <a:avLst>
              <a:gd name="adj" fmla="val 53571"/>
            </a:avLst>
          </a:prstGeom>
          <a:solidFill>
            <a:schemeClr val="accent4"/>
          </a:solidFill>
          <a:ln w="12700">
            <a:solidFill>
              <a:schemeClr val="accent4"/>
            </a:solidFill>
            <a:prstDash val="solid"/>
          </a:ln>
        </p:spPr>
      </p:sp>
      <p:sp>
        <p:nvSpPr>
          <p:cNvPr id="28" name="Text 26"/>
          <p:cNvSpPr txBox="1"/>
          <p:nvPr/>
        </p:nvSpPr>
        <p:spPr>
          <a:xfrm>
            <a:off x="548640" y="447827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9" name="Text 27"/>
          <p:cNvSpPr txBox="1"/>
          <p:nvPr/>
        </p:nvSpPr>
        <p:spPr>
          <a:xfrm>
            <a:off x="2103120" y="4441698"/>
            <a:ext cx="9539935" cy="426339"/>
          </a:xfrm>
          <a:prstGeom prst="rect">
            <a:avLst/>
          </a:prstGeom>
          <a:noFill/>
          <a:ln/>
        </p:spPr>
        <p:txBody>
          <a:bodyPr wrap="square" lIns="0" tIns="0" rIns="0" bIns="0" rtlCol="0" anchor="t"/>
          <a:lstStyle/>
          <a:p>
            <a:pPr indent="0" marL="0">
              <a:buNone/>
            </a:pPr>
            <a:r>
              <a:rPr lang="en-US" sz="1350" b="1" dirty="0">
                <a:solidFill>
                  <a:schemeClr val="tx1"/>
                </a:solidFill>
              </a:rPr>
              <a:t>At the same dose the NLA tracks language and tense (0.83–0.92) and OL tracks language; col stays at 0.47–0.48. NLA's null is secure; OL's less so (tense 0.55, template-fragile).</a:t>
            </a:r>
            <a:endParaRPr lang="en-US" sz="1350" dirty="0"/>
          </a:p>
        </p:txBody>
      </p:sp>
      <p:sp>
        <p:nvSpPr>
          <p:cNvPr id="30" name="Shape 28"/>
          <p:cNvSpPr/>
          <p:nvPr/>
        </p:nvSpPr>
        <p:spPr>
          <a:xfrm>
            <a:off x="548640" y="4941189"/>
            <a:ext cx="1325880" cy="256032"/>
          </a:xfrm>
          <a:prstGeom prst="roundRect">
            <a:avLst>
              <a:gd name="adj" fmla="val 53571"/>
            </a:avLst>
          </a:prstGeom>
          <a:solidFill>
            <a:schemeClr val="accent4"/>
          </a:solidFill>
          <a:ln w="12700">
            <a:solidFill>
              <a:schemeClr val="accent4"/>
            </a:solidFill>
            <a:prstDash val="solid"/>
          </a:ln>
        </p:spPr>
      </p:sp>
      <p:sp>
        <p:nvSpPr>
          <p:cNvPr id="31" name="Text 29"/>
          <p:cNvSpPr txBox="1"/>
          <p:nvPr/>
        </p:nvSpPr>
        <p:spPr>
          <a:xfrm>
            <a:off x="548640" y="494118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2" name="Text 30"/>
          <p:cNvSpPr txBox="1"/>
          <p:nvPr/>
        </p:nvSpPr>
        <p:spPr>
          <a:xfrm>
            <a:off x="2103120" y="4904613"/>
            <a:ext cx="9539935" cy="426339"/>
          </a:xfrm>
          <a:prstGeom prst="rect">
            <a:avLst/>
          </a:prstGeom>
          <a:noFill/>
          <a:ln/>
        </p:spPr>
        <p:txBody>
          <a:bodyPr wrap="square" lIns="0" tIns="0" rIns="0" bIns="0" rtlCol="0" anchor="t"/>
          <a:lstStyle/>
          <a:p>
            <a:pPr indent="0" marL="0">
              <a:buNone/>
            </a:pPr>
            <a:r>
              <a:rPr lang="en-US" sz="1350" b="1" dirty="0">
                <a:solidFill>
                  <a:schemeClr val="tx1"/>
                </a:solidFill>
              </a:rPr>
              <a:t>The raw col direction moves the J-Lens newline readout (AUROC up to 0.84) yet no decoder tracks it: content type, not location.</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06</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C: what the NLA does read beyond the 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distributed tail of verbalisable features, and a story generated from the latent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TENSE TAIL (PRE-REGISTERED SECONDARY)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reads tense even with the top-1,536 J-space removed, leak-free; the Oracle Lens doesn't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z +8.7</a:t>
            </a:r>
            <a:endParaRPr lang="en-US" sz="3200" dirty="0"/>
          </a:p>
        </p:txBody>
      </p:sp>
      <p:sp>
        <p:nvSpPr>
          <p:cNvPr id="11" name="Text 8"/>
          <p:cNvSpPr txBox="1"/>
          <p:nvPr/>
        </p:nvSpPr>
        <p:spPr>
          <a:xfrm>
            <a:off x="6903720" y="22352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NLA vs the J-complement band (+5.7 isotropic); paired win 0.90; Oracle Lens inside the band (z +1.5 / +1.7)</a:t>
            </a:r>
            <a:endParaRPr lang="en-US" sz="1300" dirty="0"/>
          </a:p>
        </p:txBody>
      </p:sp>
      <p:sp>
        <p:nvSpPr>
          <p:cNvPr id="12" name="Text 9"/>
          <p:cNvSpPr txBox="1"/>
          <p:nvPr/>
        </p:nvSpPr>
        <p:spPr>
          <a:xfrm>
            <a:off x="6903720" y="2875280"/>
            <a:ext cx="4739335" cy="516128"/>
          </a:xfrm>
          <a:prstGeom prst="rect">
            <a:avLst/>
          </a:prstGeom>
          <a:noFill/>
          <a:ln/>
        </p:spPr>
        <p:txBody>
          <a:bodyPr wrap="square" lIns="0" tIns="0" rIns="0" bIns="0" rtlCol="0" anchor="b"/>
          <a:lstStyle/>
          <a:p>
            <a:pPr indent="0" marL="0">
              <a:buNone/>
            </a:pPr>
            <a:r>
              <a:rPr lang="en-US" sz="3200" b="1" dirty="0">
                <a:solidFill>
                  <a:schemeClr val="accent3"/>
                </a:solidFill>
                <a:latin typeface="Cambria" pitchFamily="34" charset="0"/>
                <a:ea typeface="Cambria" pitchFamily="34" charset="-122"/>
                <a:cs typeface="Cambria" pitchFamily="34" charset="-120"/>
              </a:rPr>
              <a:t>leak-free</a:t>
            </a:r>
            <a:endParaRPr lang="en-US" sz="3200" dirty="0"/>
          </a:p>
        </p:txBody>
      </p:sp>
      <p:sp>
        <p:nvSpPr>
          <p:cNvPr id="13" name="Text 10"/>
          <p:cNvSpPr txBox="1"/>
          <p:nvPr/>
        </p:nvSpPr>
        <p:spPr>
          <a:xfrm>
            <a:off x="6903720" y="34188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J-Lens label words and a 66-verb content set don't move at layers 42 / 40 (z −0.3 / +0.1)</a:t>
            </a:r>
            <a:endParaRPr lang="en-US" sz="1300" dirty="0"/>
          </a:p>
        </p:txBody>
      </p:sp>
      <p:sp>
        <p:nvSpPr>
          <p:cNvPr id="14" name="Shape 11"/>
          <p:cNvSpPr/>
          <p:nvPr/>
        </p:nvSpPr>
        <p:spPr>
          <a:xfrm>
            <a:off x="6903720" y="4058920"/>
            <a:ext cx="4739335" cy="1257300"/>
          </a:xfrm>
          <a:prstGeom prst="roundRect">
            <a:avLst>
              <a:gd name="adj" fmla="val 5818"/>
            </a:avLst>
          </a:prstGeom>
          <a:solidFill>
            <a:schemeClr val="bg2"/>
          </a:solidFill>
          <a:ln w="12700">
            <a:solidFill>
              <a:schemeClr val="bg2"/>
            </a:solidFill>
            <a:prstDash val="solid"/>
          </a:ln>
        </p:spPr>
      </p:sp>
      <p:sp>
        <p:nvSpPr>
          <p:cNvPr id="15" name="Text 12"/>
          <p:cNvSpPr txBox="1"/>
          <p:nvPr/>
        </p:nvSpPr>
        <p:spPr>
          <a:xfrm>
            <a:off x="7031736" y="4186936"/>
            <a:ext cx="448330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Provenance: found in the K3 calibration pilot (60 items, excluded), then pre-registered as a secondary main-run cell. A geometric claim, not 'reads what the model can't say': tense is self-reported at 87%. The language version is void (Cyrillic content leak, z +3.7).</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PLANTED INTERMEDIATES = IN-J CALIBRATION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In-J calibration: when we plant a different bridge entity, all three readers report the planted one</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431 / 614</a:t>
            </a:r>
            <a:endParaRPr lang="en-US" sz="3000" dirty="0"/>
          </a:p>
        </p:txBody>
      </p:sp>
      <p:sp>
        <p:nvSpPr>
          <p:cNvPr id="9" name="Text 6"/>
          <p:cNvSpPr txBox="1"/>
          <p:nvPr/>
        </p:nvSpPr>
        <p:spPr>
          <a:xfrm>
            <a:off x="6903720" y="2209800"/>
            <a:ext cx="4739335" cy="676656"/>
          </a:xfrm>
          <a:prstGeom prst="rect">
            <a:avLst/>
          </a:prstGeom>
          <a:noFill/>
          <a:ln/>
        </p:spPr>
        <p:txBody>
          <a:bodyPr wrap="square" lIns="0" tIns="0" rIns="0" bIns="0" rtlCol="0" anchor="t"/>
          <a:lstStyle/>
          <a:p>
            <a:pPr indent="0" marL="0">
              <a:buNone/>
            </a:pPr>
            <a:r>
              <a:rPr lang="en-US" sz="1300" dirty="0">
                <a:solidFill>
                  <a:schemeClr val="accent5"/>
                </a:solidFill>
              </a:rPr>
              <a:t>items kept at layer 38: the model's answer flips, unrelated prompts barely change (KL ≤ 0.1), the prompt is still decodable</a:t>
            </a:r>
            <a:endParaRPr lang="en-US" sz="1300" dirty="0"/>
          </a:p>
        </p:txBody>
      </p:sp>
      <p:sp>
        <p:nvSpPr>
          <p:cNvPr id="10" name="Text 7"/>
          <p:cNvSpPr txBox="1"/>
          <p:nvPr/>
        </p:nvSpPr>
        <p:spPr>
          <a:xfrm>
            <a:off x="6903720" y="3060192"/>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z ≥ +84</a:t>
            </a:r>
            <a:endParaRPr lang="en-US" sz="3000" dirty="0"/>
          </a:p>
        </p:txBody>
      </p:sp>
      <p:sp>
        <p:nvSpPr>
          <p:cNvPr id="11" name="Text 8"/>
          <p:cNvSpPr txBox="1"/>
          <p:nvPr/>
        </p:nvSpPr>
        <p:spPr>
          <a:xfrm>
            <a:off x="6903720" y="3578352"/>
            <a:ext cx="4739335" cy="466344"/>
          </a:xfrm>
          <a:prstGeom prst="rect">
            <a:avLst/>
          </a:prstGeom>
          <a:noFill/>
          <a:ln/>
        </p:spPr>
        <p:txBody>
          <a:bodyPr wrap="square" lIns="0" tIns="0" rIns="0" bIns="0" rtlCol="0" anchor="t"/>
          <a:lstStyle/>
          <a:p>
            <a:pPr indent="0" marL="0">
              <a:buNone/>
            </a:pPr>
            <a:r>
              <a:rPr lang="en-US" sz="1300" dirty="0">
                <a:solidFill>
                  <a:schemeClr val="accent5"/>
                </a:solidFill>
              </a:rPr>
              <a:t>against random plants of the same size (OL +166, NLA +112, J-Lens +168 vs the isotropic band)</a:t>
            </a:r>
            <a:endParaRPr lang="en-US" sz="1300" dirty="0"/>
          </a:p>
        </p:txBody>
      </p:sp>
      <p:sp>
        <p:nvSpPr>
          <p:cNvPr id="12" name="Shape 9"/>
          <p:cNvSpPr/>
          <p:nvPr/>
        </p:nvSpPr>
        <p:spPr>
          <a:xfrm>
            <a:off x="6903720" y="4218432"/>
            <a:ext cx="473933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031736" y="4346448"/>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This is in-J calibration, not non-J evidence: the swap direction is 6.5× J-enriched, and by layer 42 the model already encodes Y's answer.</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NLA GENERATES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doesn't re-solve the text: it rewrites the clue to fit the planted bridge</a:t>
            </a:r>
            <a:endParaRPr lang="en-US" sz="2800" dirty="0"/>
          </a:p>
        </p:txBody>
      </p:sp>
      <p:sp>
        <p:nvSpPr>
          <p:cNvPr id="7" name="Text 5"/>
          <p:cNvSpPr txBox="1"/>
          <p:nvPr/>
        </p:nvSpPr>
        <p:spPr>
          <a:xfrm>
            <a:off x="548640" y="1691640"/>
            <a:ext cx="6400800" cy="256032"/>
          </a:xfrm>
          <a:prstGeom prst="rect">
            <a:avLst/>
          </a:prstGeom>
          <a:noFill/>
          <a:ln/>
        </p:spPr>
        <p:txBody>
          <a:bodyPr wrap="square" lIns="0" tIns="0" rIns="0" bIns="0" rtlCol="0" anchor="t"/>
          <a:lstStyle/>
          <a:p>
            <a:pPr indent="0" marL="0">
              <a:buNone/>
            </a:pPr>
            <a:r>
              <a:rPr lang="en-US" sz="1100" b="1" spc="150" kern="0" dirty="0">
                <a:solidFill>
                  <a:schemeClr val="accent5"/>
                </a:solidFill>
              </a:rPr>
              <a:t>PROMPT (UNCHANGED)</a:t>
            </a:r>
            <a:endParaRPr lang="en-US" sz="1100" dirty="0"/>
          </a:p>
        </p:txBody>
      </p:sp>
      <p:sp>
        <p:nvSpPr>
          <p:cNvPr id="8" name="Shape 6"/>
          <p:cNvSpPr/>
          <p:nvPr/>
        </p:nvSpPr>
        <p:spPr>
          <a:xfrm>
            <a:off x="548640" y="1965960"/>
            <a:ext cx="6400800" cy="685800"/>
          </a:xfrm>
          <a:prstGeom prst="roundRect">
            <a:avLst>
              <a:gd name="adj" fmla="val 10667"/>
            </a:avLst>
          </a:prstGeom>
          <a:solidFill>
            <a:schemeClr val="bg2"/>
          </a:solidFill>
          <a:ln w="12700">
            <a:solidFill>
              <a:schemeClr val="bg2"/>
            </a:solidFill>
            <a:prstDash val="solid"/>
          </a:ln>
        </p:spPr>
      </p:sp>
      <p:sp>
        <p:nvSpPr>
          <p:cNvPr id="9" name="Text 7"/>
          <p:cNvSpPr txBox="1"/>
          <p:nvPr/>
        </p:nvSpPr>
        <p:spPr>
          <a:xfrm>
            <a:off x="731520" y="2011680"/>
            <a:ext cx="6035040" cy="59436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Fact: The capital of the country famous for the Eiffel Tower is</a:t>
            </a:r>
            <a:endParaRPr lang="en-US" sz="1400" dirty="0"/>
          </a:p>
        </p:txBody>
      </p:sp>
      <p:sp>
        <p:nvSpPr>
          <p:cNvPr id="10" name="Text 8"/>
          <p:cNvSpPr txBox="1"/>
          <p:nvPr/>
        </p:nvSpPr>
        <p:spPr>
          <a:xfrm>
            <a:off x="548640" y="2743200"/>
            <a:ext cx="6400800" cy="502920"/>
          </a:xfrm>
          <a:prstGeom prst="rect">
            <a:avLst/>
          </a:prstGeom>
          <a:noFill/>
          <a:ln/>
        </p:spPr>
        <p:txBody>
          <a:bodyPr wrap="square" lIns="0" tIns="0" rIns="0" bIns="0" rtlCol="0" anchor="t"/>
          <a:lstStyle/>
          <a:p>
            <a:pPr indent="0" marL="0">
              <a:buNone/>
            </a:pPr>
            <a:r>
              <a:rPr lang="en-US" sz="1400" b="1" dirty="0">
                <a:solidFill>
                  <a:schemeClr val="accent5"/>
                </a:solidFill>
              </a:rPr>
              <a:t>Bridge planted inside the activation: Sweden (the text still says Eiffel Tower)</a:t>
            </a:r>
            <a:endParaRPr lang="en-US" sz="1400" dirty="0"/>
          </a:p>
        </p:txBody>
      </p:sp>
      <p:sp>
        <p:nvSpPr>
          <p:cNvPr id="11" name="Shape 9"/>
          <p:cNvSpPr/>
          <p:nvPr/>
        </p:nvSpPr>
        <p:spPr>
          <a:xfrm>
            <a:off x="3749040" y="3246120"/>
            <a:ext cx="914" cy="274320"/>
          </a:xfrm>
          <a:prstGeom prst="line">
            <a:avLst/>
          </a:prstGeom>
          <a:noFill/>
          <a:ln w="25400">
            <a:solidFill>
              <a:schemeClr val="accent1"/>
            </a:solidFill>
            <a:prstDash val="solid"/>
            <a:tailEnd type="triangle"/>
          </a:ln>
        </p:spPr>
      </p:sp>
      <p:sp>
        <p:nvSpPr>
          <p:cNvPr id="12" name="Shape 10"/>
          <p:cNvSpPr/>
          <p:nvPr/>
        </p:nvSpPr>
        <p:spPr>
          <a:xfrm>
            <a:off x="548640" y="3566160"/>
            <a:ext cx="6400800" cy="1143000"/>
          </a:xfrm>
          <a:prstGeom prst="roundRect">
            <a:avLst>
              <a:gd name="adj" fmla="val 6400"/>
            </a:avLst>
          </a:prstGeom>
          <a:solidFill>
            <a:schemeClr val="accent1">
              <a:alpha val="15000"/>
            </a:schemeClr>
          </a:solidFill>
          <a:ln w="15875">
            <a:solidFill>
              <a:schemeClr val="accent1"/>
            </a:solidFill>
            <a:prstDash val="solid"/>
          </a:ln>
        </p:spPr>
      </p:sp>
      <p:sp>
        <p:nvSpPr>
          <p:cNvPr id="13" name="Text 11"/>
          <p:cNvSpPr txBox="1"/>
          <p:nvPr/>
        </p:nvSpPr>
        <p:spPr>
          <a:xfrm>
            <a:off x="777240" y="3611880"/>
            <a:ext cx="5943600" cy="1051560"/>
          </a:xfrm>
          <a:prstGeom prst="rect">
            <a:avLst/>
          </a:prstGeom>
          <a:noFill/>
          <a:ln/>
        </p:spPr>
        <p:txBody>
          <a:bodyPr wrap="square" lIns="0" tIns="0" rIns="0" bIns="0" rtlCol="0" anchor="ctr"/>
          <a:lstStyle/>
          <a:p>
            <a:pPr indent="0" marL="0">
              <a:buNone/>
            </a:pPr>
            <a:r>
              <a:rPr lang="en-US" sz="2400" i="1" dirty="0">
                <a:solidFill>
                  <a:schemeClr val="tx1"/>
                </a:solidFill>
                <a:latin typeface="Cambria" pitchFamily="34" charset="0"/>
                <a:ea typeface="Cambria" pitchFamily="34" charset="-122"/>
                <a:cs typeface="Cambria" pitchFamily="34" charset="-120"/>
              </a:rPr>
              <a:t>"…the country whose CEO designed adopted Volvo… Sweden"</a:t>
            </a:r>
            <a:endParaRPr lang="en-US" sz="2400" dirty="0"/>
          </a:p>
        </p:txBody>
      </p:sp>
      <p:sp>
        <p:nvSpPr>
          <p:cNvPr id="14" name="Text 12"/>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250" dirty="0">
                <a:solidFill>
                  <a:schemeClr val="accent5"/>
                </a:solidFill>
              </a:rPr>
              <a:t>NLA free-form explanation of the planted activation (12 of 12 such explanations name the planted country and none the original; other rewrites include "…maple leaves (Canada)")</a:t>
            </a:r>
            <a:endParaRPr lang="en-US" sz="1250" dirty="0"/>
          </a:p>
        </p:txBody>
      </p:sp>
      <p:sp>
        <p:nvSpPr>
          <p:cNvPr id="15" name="Shape 13"/>
          <p:cNvSpPr/>
          <p:nvPr/>
        </p:nvSpPr>
        <p:spPr>
          <a:xfrm>
            <a:off x="7315200" y="1691640"/>
            <a:ext cx="4327855" cy="2103120"/>
          </a:xfrm>
          <a:prstGeom prst="roundRect">
            <a:avLst>
              <a:gd name="adj" fmla="val 3478"/>
            </a:avLst>
          </a:prstGeom>
          <a:solidFill>
            <a:schemeClr val="bg2"/>
          </a:solidFill>
          <a:ln w="12700">
            <a:solidFill>
              <a:schemeClr val="bg2"/>
            </a:solidFill>
            <a:prstDash val="solid"/>
          </a:ln>
        </p:spPr>
      </p:sp>
      <p:sp>
        <p:nvSpPr>
          <p:cNvPr id="16" name="Text 14"/>
          <p:cNvSpPr txBox="1"/>
          <p:nvPr/>
        </p:nvSpPr>
        <p:spPr>
          <a:xfrm>
            <a:off x="7479792" y="1856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it means</a:t>
            </a:r>
            <a:endParaRPr lang="en-US" sz="1600" dirty="0"/>
          </a:p>
        </p:txBody>
      </p:sp>
      <p:sp>
        <p:nvSpPr>
          <p:cNvPr id="17" name="Text 15"/>
          <p:cNvSpPr txBox="1"/>
          <p:nvPr/>
        </p:nvSpPr>
        <p:spPr>
          <a:xfrm>
            <a:off x="7479792" y="2231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NLA's 'prompt reconstruction' is generated from the latent. That rules out 'decode the text, then compute' as its mechanism: its language model writes a story consistent with the latent.</a:t>
            </a:r>
            <a:endParaRPr lang="en-US" sz="1350" dirty="0"/>
          </a:p>
        </p:txBody>
      </p:sp>
      <p:sp>
        <p:nvSpPr>
          <p:cNvPr id="18" name="Shape 16"/>
          <p:cNvSpPr/>
          <p:nvPr/>
        </p:nvSpPr>
        <p:spPr>
          <a:xfrm>
            <a:off x="7315200" y="3977640"/>
            <a:ext cx="4327855" cy="2103120"/>
          </a:xfrm>
          <a:prstGeom prst="roundRect">
            <a:avLst>
              <a:gd name="adj" fmla="val 3478"/>
            </a:avLst>
          </a:prstGeom>
          <a:solidFill>
            <a:schemeClr val="bg2"/>
          </a:solidFill>
          <a:ln w="12700">
            <a:solidFill>
              <a:schemeClr val="bg2"/>
            </a:solidFill>
            <a:prstDash val="solid"/>
          </a:ln>
        </p:spPr>
      </p:sp>
      <p:sp>
        <p:nvSpPr>
          <p:cNvPr id="19" name="Text 17"/>
          <p:cNvSpPr txBox="1"/>
          <p:nvPr/>
        </p:nvSpPr>
        <p:spPr>
          <a:xfrm>
            <a:off x="7479792" y="4142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Dose caveat</a:t>
            </a:r>
            <a:endParaRPr lang="en-US" sz="1600" dirty="0"/>
          </a:p>
        </p:txBody>
      </p:sp>
      <p:sp>
        <p:nvSpPr>
          <p:cNvPr id="20" name="Text 18"/>
          <p:cNvSpPr txBox="1"/>
          <p:nvPr/>
        </p:nvSpPr>
        <p:spPr>
          <a:xfrm>
            <a:off x="7479792" y="4517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Answer flips needed ‖Δ‖/‖h‖ ≈ 0.49 (q10–q90 0.33–0.71), 1.5–3× the natural France–Sweden distance. The main run makes α ≤ 1.5 (109 items) primary.</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07</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D: on WorkspaceBench, a text-only model matches the readers</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Re-solving decomposition at layer 42 · 4 regex families · n = 400 items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TEXT-ONLY BASELINES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text-only Qwen that never sees the activation scores as well as the NLA: 0.46 vs 0.47</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5"/>
          </a:solidFill>
          <a:ln w="12700">
            <a:solidFill>
              <a:schemeClr val="accent5"/>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CONSISTENCY CHECK PENDING</a:t>
            </a:r>
            <a:endParaRPr lang="en-US" sz="1100" dirty="0"/>
          </a:p>
        </p:txBody>
      </p:sp>
      <p:graphicFrame>
        <p:nvGraphicFramePr>
          <p:cNvPr id="9" name="Chart 0" descr=""/>
          <p:cNvGraphicFramePr/>
          <p:nvPr/>
        </p:nvGraphicFramePr>
        <p:xfrm>
          <a:off x="457200" y="16459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092440" y="1691640"/>
            <a:ext cx="35506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p = 0.75</a:t>
            </a:r>
            <a:endParaRPr lang="en-US" sz="3000" dirty="0"/>
          </a:p>
        </p:txBody>
      </p:sp>
      <p:sp>
        <p:nvSpPr>
          <p:cNvPr id="11" name="Text 8"/>
          <p:cNvSpPr txBox="1"/>
          <p:nvPr/>
        </p:nvSpPr>
        <p:spPr>
          <a:xfrm>
            <a:off x="8092440" y="2209800"/>
            <a:ext cx="3550615" cy="676656"/>
          </a:xfrm>
          <a:prstGeom prst="rect">
            <a:avLst/>
          </a:prstGeom>
          <a:noFill/>
          <a:ln/>
        </p:spPr>
        <p:txBody>
          <a:bodyPr wrap="square" lIns="0" tIns="0" rIns="0" bIns="0" rtlCol="0" anchor="t"/>
          <a:lstStyle/>
          <a:p>
            <a:pPr indent="0" marL="0">
              <a:buNone/>
            </a:pPr>
            <a:r>
              <a:rPr lang="en-US" sz="1300" dirty="0">
                <a:solidFill>
                  <a:schemeClr val="accent5"/>
                </a:solidFill>
              </a:rPr>
              <a:t>NLA vs text-only Qwen in the NLA's own style, sample-matched (McNemar); OL vs text: p = 0.09</a:t>
            </a:r>
            <a:endParaRPr lang="en-US" sz="1300" dirty="0"/>
          </a:p>
        </p:txBody>
      </p:sp>
      <p:sp>
        <p:nvSpPr>
          <p:cNvPr id="12" name="Text 9"/>
          <p:cNvSpPr txBox="1"/>
          <p:nvPr/>
        </p:nvSpPr>
        <p:spPr>
          <a:xfrm>
            <a:off x="8092440" y="3060192"/>
            <a:ext cx="35506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187 vs 159</a:t>
            </a:r>
            <a:endParaRPr lang="en-US" sz="3000" dirty="0"/>
          </a:p>
        </p:txBody>
      </p:sp>
      <p:sp>
        <p:nvSpPr>
          <p:cNvPr id="13" name="Text 10"/>
          <p:cNvSpPr txBox="1"/>
          <p:nvPr/>
        </p:nvSpPr>
        <p:spPr>
          <a:xfrm>
            <a:off x="8092440" y="3578352"/>
            <a:ext cx="3550615" cy="466344"/>
          </a:xfrm>
          <a:prstGeom prst="rect">
            <a:avLst/>
          </a:prstGeom>
          <a:noFill/>
          <a:ln/>
        </p:spPr>
        <p:txBody>
          <a:bodyPr wrap="square" lIns="0" tIns="0" rIns="0" bIns="0" rtlCol="0" anchor="t"/>
          <a:lstStyle/>
          <a:p>
            <a:pPr indent="0" marL="0">
              <a:buNone/>
            </a:pPr>
            <a:r>
              <a:rPr lang="en-US" sz="1300" dirty="0">
                <a:solidFill>
                  <a:schemeClr val="accent5"/>
                </a:solidFill>
              </a:rPr>
              <a:t>same-layer hits, NLA vs Oracle Lens (p = 0.002)</a:t>
            </a:r>
            <a:endParaRPr lang="en-US" sz="1300" dirty="0"/>
          </a:p>
        </p:txBody>
      </p:sp>
      <p:sp>
        <p:nvSpPr>
          <p:cNvPr id="14" name="Text 11"/>
          <p:cNvSpPr txBox="1"/>
          <p:nvPr/>
        </p:nvSpPr>
        <p:spPr>
          <a:xfrm>
            <a:off x="8092440" y="4218432"/>
            <a:ext cx="3550615" cy="1088136"/>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The template matters a lot (typo: 0.45 vs 0.85 for the same model), so 'text explains it' is judged against a union of templates.</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ITEM LEVEL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Nothing the readers get right is out of text's reach: 0 of 187 NLA hits are reader-only</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5"/>
          </a:solidFill>
          <a:ln w="12700">
            <a:solidFill>
              <a:schemeClr val="accent5"/>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CONSISTENCY CHECK PENDING</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0 / 187</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NLA hits that no text-only sample reaches (8 samples: 2 models × 2 templates × k)</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4 / 159</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Oracle Lens hits no text sample reaches; all 4 are Chinese code-switching on multilingual items (a scoring-form artefact)</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4"/>
                </a:solidFill>
                <a:latin typeface="Cambria" pitchFamily="34" charset="0"/>
                <a:ea typeface="Cambria" pitchFamily="34" charset="-122"/>
                <a:cs typeface="Cambria" pitchFamily="34" charset="-120"/>
              </a:rPr>
              <a:t>0.57–0.60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pass rate when a text model re-solves from the NLA's readout alone, above the NLA's own 0.47</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typo</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only family where readers beat text at k = 1 (NLA 73 vs 45), a register/length effect: the text arm quotes the misspelling without correcting it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multihop</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text crushes the readers: NLA 15 vs text-only Qwen 44 vs Gemini 75</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multilingual / basic</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NLA ≈ text-only Qwen (p = 0.87 / 0.63)</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This does not show the readers don't read. The layer-42 activation encodes the prompt, so reading-then-re-solving looks identical here. It shows WorkspaceBench cannot separate the two, which is why the causal test matters.</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CLAIM PRECISION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Readers' claims are text-true less often than a text-only model's: precision 0.62 and 0.52 vs 0.92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5"/>
          </a:solidFill>
          <a:ln w="12700">
            <a:solidFill>
              <a:schemeClr val="accent5"/>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CONSISTENCY CHECK PENDING</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818120" y="1691640"/>
            <a:ext cx="382493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0.62 · 0.52 · 0.92</a:t>
            </a:r>
            <a:endParaRPr lang="en-US" sz="2800" dirty="0"/>
          </a:p>
        </p:txBody>
      </p:sp>
      <p:sp>
        <p:nvSpPr>
          <p:cNvPr id="11" name="Text 8"/>
          <p:cNvSpPr txBox="1"/>
          <p:nvPr/>
        </p:nvSpPr>
        <p:spPr>
          <a:xfrm>
            <a:off x="7818120" y="2184400"/>
            <a:ext cx="3824935" cy="466344"/>
          </a:xfrm>
          <a:prstGeom prst="rect">
            <a:avLst/>
          </a:prstGeom>
          <a:noFill/>
          <a:ln/>
        </p:spPr>
        <p:txBody>
          <a:bodyPr wrap="square" lIns="0" tIns="0" rIns="0" bIns="0" rtlCol="0" anchor="t"/>
          <a:lstStyle/>
          <a:p>
            <a:pPr indent="0" marL="0">
              <a:buNone/>
            </a:pPr>
            <a:r>
              <a:rPr lang="en-US" sz="1300" dirty="0">
                <a:solidFill>
                  <a:schemeClr val="accent5"/>
                </a:solidFill>
              </a:rPr>
              <a:t>text-verifiable precision (NLA · OL · text-only), 100 readouts each</a:t>
            </a:r>
            <a:endParaRPr lang="en-US" sz="1300" dirty="0"/>
          </a:p>
        </p:txBody>
      </p:sp>
      <p:sp>
        <p:nvSpPr>
          <p:cNvPr id="12" name="Text 9"/>
          <p:cNvSpPr txBox="1"/>
          <p:nvPr/>
        </p:nvSpPr>
        <p:spPr>
          <a:xfrm>
            <a:off x="7818120" y="2824480"/>
            <a:ext cx="3824935" cy="2633472"/>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NLA errors are mostly misquotes of the prompt (246 of 301 contradicted claims look like quotes).</a:t>
            </a:r>
            <a:endParaRPr lang="en-US" sz="1400" dirty="0"/>
          </a:p>
          <a:p>
            <a:pPr marL="203200" indent="-203200">
              <a:spcAft>
                <a:spcPts val="600"/>
              </a:spcAft>
              <a:buSzPct val="100000"/>
              <a:buChar char="•"/>
            </a:pPr>
            <a:r>
              <a:rPr lang="en-US" sz="1400" dirty="0">
                <a:solidFill>
                  <a:schemeClr val="tx1"/>
                </a:solidFill>
              </a:rPr>
              <a:t>OL errors are wrong entities and facts; 28% of its claims are unsupported specifics.</a:t>
            </a:r>
            <a:endParaRPr lang="en-US" sz="1400" dirty="0"/>
          </a:p>
          <a:p>
            <a:pPr marL="203200" indent="-203200">
              <a:spcAft>
                <a:spcPts val="600"/>
              </a:spcAft>
              <a:buSzPct val="100000"/>
              <a:buChar char="•"/>
            </a:pPr>
            <a:r>
              <a:rPr lang="en-US" sz="1400" dirty="0">
                <a:solidFill>
                  <a:schemeClr val="tx1"/>
                </a:solidFill>
              </a:rPr>
              <a:t>Judge: Gemini 3.8 Flash; second judge kimi-k3 agrees at κ 0.72 (5-way) / 0.77 (3-way) on 40 claims. Human labels still to do.</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SIDE FINDING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Side finding: the benchmark's frozen prompt-only floors appear about 0.14 too low</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Significant on 3 of 4 families (z ≈ +2.2 to +3.3); an earlier independent draw shows the same pattern.</a:t>
            </a:r>
            <a:endParaRPr lang="en-US" sz="1400" dirty="0"/>
          </a:p>
          <a:p>
            <a:pPr marL="203200" indent="-203200">
              <a:spcAft>
                <a:spcPts val="600"/>
              </a:spcAft>
              <a:buSzPct val="100000"/>
              <a:buChar char="•"/>
            </a:pPr>
            <a:r>
              <a:rPr lang="en-US" sz="1400" dirty="0">
                <a:solidFill>
                  <a:schemeClr val="tx1"/>
                </a:solidFill>
              </a:rPr>
              <a:t>Cause inconclusive: no rendering reproduces the frozen values; the frozen run has empty cells; the generator isn't public.</a:t>
            </a:r>
            <a:endParaRPr lang="en-US" sz="1400" dirty="0"/>
          </a:p>
          <a:p>
            <a:pPr marL="203200" indent="-203200">
              <a:spcAft>
                <a:spcPts val="600"/>
              </a:spcAft>
              <a:buSzPct val="100000"/>
              <a:buChar char="•"/>
            </a:pPr>
            <a:r>
              <a:rPr lang="en-US" sz="1400" dirty="0">
                <a:solidFill>
                  <a:schemeClr val="tx1"/>
                </a:solidFill>
              </a:rPr>
              <a:t>Implication: published reader-vs-floor gaps flatter the readers. Our conclusions use our own text arms, not the frozen floor.</a:t>
            </a:r>
            <a:endParaRPr lang="en-US" sz="1400" dirty="0"/>
          </a:p>
          <a:p>
            <a:pPr marL="203200" indent="-203200">
              <a:spcAft>
                <a:spcPts val="600"/>
              </a:spcAft>
              <a:buSzPct val="100000"/>
              <a:buChar char="•"/>
            </a:pPr>
            <a:r>
              <a:rPr lang="en-US" sz="1400" dirty="0">
                <a:solidFill>
                  <a:schemeClr val="tx1"/>
                </a:solidFill>
              </a:rPr>
              <a:t>Plan (D21): file a factual issue with the re-run table first, then one paragraph in the write-up. Outward-facing, so it needs Suraj's approval.</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08</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Where we stand</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provisional answer, the checks before the freeze, what could be wrong, and the sprint plan</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(4 / 4): the full ledger</a:t>
            </a:r>
            <a:endParaRPr lang="en-US" sz="2800" dirty="0"/>
          </a:p>
        </p:txBody>
      </p:sp>
      <p:sp>
        <p:nvSpPr>
          <p:cNvPr id="7" name="Shape 5"/>
          <p:cNvSpPr/>
          <p:nvPr/>
        </p:nvSpPr>
        <p:spPr>
          <a:xfrm>
            <a:off x="548640" y="1426464"/>
            <a:ext cx="1325880" cy="256032"/>
          </a:xfrm>
          <a:prstGeom prst="roundRect">
            <a:avLst>
              <a:gd name="adj" fmla="val 53571"/>
            </a:avLst>
          </a:prstGeom>
          <a:solidFill>
            <a:schemeClr val="tx1"/>
          </a:solidFill>
          <a:ln w="12700">
            <a:solidFill>
              <a:schemeClr val="tx1"/>
            </a:solidFill>
            <a:prstDash val="solid"/>
          </a:ln>
        </p:spPr>
      </p:sp>
      <p:sp>
        <p:nvSpPr>
          <p:cNvPr id="8" name="Text 6"/>
          <p:cNvSpPr txBox="1"/>
          <p:nvPr/>
        </p:nvSpPr>
        <p:spPr>
          <a:xfrm>
            <a:off x="548640" y="14264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9" name="Text 7"/>
          <p:cNvSpPr txBox="1"/>
          <p:nvPr/>
        </p:nvSpPr>
        <p:spPr>
          <a:xfrm>
            <a:off x="2103120" y="1389888"/>
            <a:ext cx="9539935" cy="412311"/>
          </a:xfrm>
          <a:prstGeom prst="rect">
            <a:avLst/>
          </a:prstGeom>
          <a:noFill/>
          <a:ln/>
        </p:spPr>
        <p:txBody>
          <a:bodyPr wrap="square" lIns="0" tIns="0" rIns="0" bIns="0" rtlCol="0" anchor="t"/>
          <a:lstStyle/>
          <a:p>
            <a:pPr indent="0" marL="0">
              <a:buNone/>
            </a:pPr>
            <a:r>
              <a:rPr lang="en-US" sz="1250" dirty="0">
                <a:solidFill>
                  <a:schemeClr val="tx1"/>
                </a:solidFill>
              </a:rPr>
              <a:t>The instruments are sound: NLA layer convention pinned (block 42), FVE 0.761 reproduced, WorkspaceBench 12/12 replicated.</a:t>
            </a:r>
            <a:endParaRPr lang="en-US" sz="1250" dirty="0"/>
          </a:p>
        </p:txBody>
      </p:sp>
      <p:sp>
        <p:nvSpPr>
          <p:cNvPr id="10" name="Shape 8"/>
          <p:cNvSpPr/>
          <p:nvPr/>
        </p:nvSpPr>
        <p:spPr>
          <a:xfrm>
            <a:off x="548640" y="1875351"/>
            <a:ext cx="1325880" cy="256032"/>
          </a:xfrm>
          <a:prstGeom prst="roundRect">
            <a:avLst>
              <a:gd name="adj" fmla="val 53571"/>
            </a:avLst>
          </a:prstGeom>
          <a:solidFill>
            <a:schemeClr val="tx1"/>
          </a:solidFill>
          <a:ln w="12700">
            <a:solidFill>
              <a:schemeClr val="tx1"/>
            </a:solidFill>
            <a:prstDash val="solid"/>
          </a:ln>
        </p:spPr>
      </p:sp>
      <p:sp>
        <p:nvSpPr>
          <p:cNvPr id="11" name="Text 9"/>
          <p:cNvSpPr txBox="1"/>
          <p:nvPr/>
        </p:nvSpPr>
        <p:spPr>
          <a:xfrm>
            <a:off x="548640" y="1875351"/>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2" name="Text 10"/>
          <p:cNvSpPr txBox="1"/>
          <p:nvPr/>
        </p:nvSpPr>
        <p:spPr>
          <a:xfrm>
            <a:off x="2103120" y="1838775"/>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layer (42) the NLA ties or beats the Oracle Lens; OL's published lead comes from a best-of-11-layers protocol.</a:t>
            </a:r>
            <a:endParaRPr lang="en-US" sz="1250" dirty="0"/>
          </a:p>
        </p:txBody>
      </p:sp>
      <p:sp>
        <p:nvSpPr>
          <p:cNvPr id="13" name="Shape 11"/>
          <p:cNvSpPr/>
          <p:nvPr/>
        </p:nvSpPr>
        <p:spPr>
          <a:xfrm>
            <a:off x="548640" y="2324239"/>
            <a:ext cx="1325880" cy="256032"/>
          </a:xfrm>
          <a:prstGeom prst="roundRect">
            <a:avLst>
              <a:gd name="adj" fmla="val 53571"/>
            </a:avLst>
          </a:prstGeom>
          <a:solidFill>
            <a:schemeClr val="tx1"/>
          </a:solidFill>
          <a:ln w="12700">
            <a:solidFill>
              <a:schemeClr val="tx1"/>
            </a:solidFill>
            <a:prstDash val="solid"/>
          </a:ln>
        </p:spPr>
      </p:sp>
      <p:sp>
        <p:nvSpPr>
          <p:cNvPr id="14" name="Text 12"/>
          <p:cNvSpPr txBox="1"/>
          <p:nvPr/>
        </p:nvSpPr>
        <p:spPr>
          <a:xfrm>
            <a:off x="548640" y="232423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5" name="Text 13"/>
          <p:cNvSpPr txBox="1"/>
          <p:nvPr/>
        </p:nvSpPr>
        <p:spPr>
          <a:xfrm>
            <a:off x="2103120" y="228766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standard 'probe survives J-removal' test cannot tell in-J from non-J: topic and language pass it too.</a:t>
            </a:r>
            <a:endParaRPr lang="en-US" sz="1250" dirty="0"/>
          </a:p>
        </p:txBody>
      </p:sp>
      <p:sp>
        <p:nvSpPr>
          <p:cNvPr id="16" name="Shape 14"/>
          <p:cNvSpPr/>
          <p:nvPr/>
        </p:nvSpPr>
        <p:spPr>
          <a:xfrm>
            <a:off x="548640" y="2773126"/>
            <a:ext cx="1325880" cy="256032"/>
          </a:xfrm>
          <a:prstGeom prst="roundRect">
            <a:avLst>
              <a:gd name="adj" fmla="val 53571"/>
            </a:avLst>
          </a:prstGeom>
          <a:solidFill>
            <a:schemeClr val="tx1"/>
          </a:solidFill>
          <a:ln w="12700">
            <a:solidFill>
              <a:schemeClr val="tx1"/>
            </a:solidFill>
            <a:prstDash val="solid"/>
          </a:ln>
        </p:spPr>
      </p:sp>
      <p:sp>
        <p:nvSpPr>
          <p:cNvPr id="17" name="Text 15"/>
          <p:cNvSpPr txBox="1"/>
          <p:nvPr/>
        </p:nvSpPr>
        <p:spPr>
          <a:xfrm>
            <a:off x="548640" y="277312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8" name="Text 16"/>
          <p:cNvSpPr txBox="1"/>
          <p:nvPr/>
        </p:nvSpPr>
        <p:spPr>
          <a:xfrm>
            <a:off x="2103120" y="2736550"/>
            <a:ext cx="9539935" cy="412311"/>
          </a:xfrm>
          <a:prstGeom prst="rect">
            <a:avLst/>
          </a:prstGeom>
          <a:noFill/>
          <a:ln/>
        </p:spPr>
        <p:txBody>
          <a:bodyPr wrap="square" lIns="0" tIns="0" rIns="0" bIns="0" rtlCol="0" anchor="t"/>
          <a:lstStyle/>
          <a:p>
            <a:pPr indent="0" marL="0">
              <a:buNone/>
            </a:pPr>
            <a:r>
              <a:rPr lang="en-US" sz="1250" dirty="0">
                <a:solidFill>
                  <a:schemeClr val="tx1"/>
                </a:solidFill>
              </a:rPr>
              <a:t>Under a calibrated gate only col (characters since newline) is cleanly non-J; POS, tense, capitalisation, quotes, code language are J-enriched or J-readable.</a:t>
            </a:r>
            <a:endParaRPr lang="en-US" sz="1250" dirty="0"/>
          </a:p>
        </p:txBody>
      </p:sp>
      <p:sp>
        <p:nvSpPr>
          <p:cNvPr id="19" name="Shape 17"/>
          <p:cNvSpPr/>
          <p:nvPr/>
        </p:nvSpPr>
        <p:spPr>
          <a:xfrm>
            <a:off x="548640" y="3222013"/>
            <a:ext cx="1325880" cy="256032"/>
          </a:xfrm>
          <a:prstGeom prst="roundRect">
            <a:avLst>
              <a:gd name="adj" fmla="val 53571"/>
            </a:avLst>
          </a:prstGeom>
          <a:solidFill>
            <a:schemeClr val="tx1"/>
          </a:solidFill>
          <a:ln w="12700">
            <a:solidFill>
              <a:schemeClr val="tx1"/>
            </a:solidFill>
            <a:prstDash val="solid"/>
          </a:ln>
        </p:spPr>
      </p:sp>
      <p:sp>
        <p:nvSpPr>
          <p:cNvPr id="20" name="Text 18"/>
          <p:cNvSpPr txBox="1"/>
          <p:nvPr/>
        </p:nvSpPr>
        <p:spPr>
          <a:xfrm>
            <a:off x="548640" y="3222013"/>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1" name="Text 19"/>
          <p:cNvSpPr txBox="1"/>
          <p:nvPr/>
        </p:nvSpPr>
        <p:spPr>
          <a:xfrm>
            <a:off x="2103120" y="3185437"/>
            <a:ext cx="9539935" cy="412311"/>
          </a:xfrm>
          <a:prstGeom prst="rect">
            <a:avLst/>
          </a:prstGeom>
          <a:noFill/>
          <a:ln/>
        </p:spPr>
        <p:txBody>
          <a:bodyPr wrap="square" lIns="0" tIns="0" rIns="0" bIns="0" rtlCol="0" anchor="t"/>
          <a:lstStyle/>
          <a:p>
            <a:pPr indent="0" marL="0">
              <a:buNone/>
            </a:pPr>
            <a:r>
              <a:rPr lang="en-US" sz="1250" dirty="0">
                <a:solidFill>
                  <a:schemeClr val="tx1"/>
                </a:solidFill>
              </a:rPr>
              <a:t>Survey of ~12 features: non-J content the model uses on Qwen L42 looks like positional bookkeeping; numbers never enter the J-space.</a:t>
            </a:r>
            <a:endParaRPr lang="en-US" sz="1250" dirty="0"/>
          </a:p>
        </p:txBody>
      </p:sp>
      <p:sp>
        <p:nvSpPr>
          <p:cNvPr id="22" name="Shape 20"/>
          <p:cNvSpPr/>
          <p:nvPr/>
        </p:nvSpPr>
        <p:spPr>
          <a:xfrm>
            <a:off x="548640" y="3670900"/>
            <a:ext cx="1325880" cy="256032"/>
          </a:xfrm>
          <a:prstGeom prst="roundRect">
            <a:avLst>
              <a:gd name="adj" fmla="val 53571"/>
            </a:avLst>
          </a:prstGeom>
          <a:solidFill>
            <a:schemeClr val="accent4"/>
          </a:solidFill>
          <a:ln w="12700">
            <a:solidFill>
              <a:schemeClr val="accent4"/>
            </a:solidFill>
            <a:prstDash val="solid"/>
          </a:ln>
        </p:spPr>
      </p:sp>
      <p:sp>
        <p:nvSpPr>
          <p:cNvPr id="23" name="Text 21"/>
          <p:cNvSpPr txBox="1"/>
          <p:nvPr/>
        </p:nvSpPr>
        <p:spPr>
          <a:xfrm>
            <a:off x="548640" y="367090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4" name="Text 22"/>
          <p:cNvSpPr txBox="1"/>
          <p:nvPr/>
        </p:nvSpPr>
        <p:spPr>
          <a:xfrm>
            <a:off x="2103120" y="3634324"/>
            <a:ext cx="9539935" cy="412311"/>
          </a:xfrm>
          <a:prstGeom prst="rect">
            <a:avLst/>
          </a:prstGeom>
          <a:noFill/>
          <a:ln/>
        </p:spPr>
        <p:txBody>
          <a:bodyPr wrap="square" lIns="0" tIns="0" rIns="0" bIns="0" rtlCol="0" anchor="t"/>
          <a:lstStyle/>
          <a:p>
            <a:pPr indent="0" marL="0">
              <a:buNone/>
            </a:pPr>
            <a:r>
              <a:rPr lang="en-US" sz="1250" dirty="0">
                <a:solidFill>
                  <a:schemeClr val="tx1"/>
                </a:solidFill>
              </a:rPr>
              <a:t>Neither decoder tracks col beyond random directions at leak-free doses (NLA ≤ 0.53, OL ≤ 0.51 AUROC).</a:t>
            </a:r>
            <a:endParaRPr lang="en-US" sz="1250" dirty="0"/>
          </a:p>
        </p:txBody>
      </p:sp>
      <p:sp>
        <p:nvSpPr>
          <p:cNvPr id="25" name="Shape 23"/>
          <p:cNvSpPr/>
          <p:nvPr/>
        </p:nvSpPr>
        <p:spPr>
          <a:xfrm>
            <a:off x="548640" y="4119788"/>
            <a:ext cx="1325880" cy="256032"/>
          </a:xfrm>
          <a:prstGeom prst="roundRect">
            <a:avLst>
              <a:gd name="adj" fmla="val 53571"/>
            </a:avLst>
          </a:prstGeom>
          <a:solidFill>
            <a:schemeClr val="accent4"/>
          </a:solidFill>
          <a:ln w="12700">
            <a:solidFill>
              <a:schemeClr val="accent4"/>
            </a:solidFill>
            <a:prstDash val="solid"/>
          </a:ln>
        </p:spPr>
      </p:sp>
      <p:sp>
        <p:nvSpPr>
          <p:cNvPr id="26" name="Text 24"/>
          <p:cNvSpPr txBox="1"/>
          <p:nvPr/>
        </p:nvSpPr>
        <p:spPr>
          <a:xfrm>
            <a:off x="548640" y="411978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7" name="Text 25"/>
          <p:cNvSpPr txBox="1"/>
          <p:nvPr/>
        </p:nvSpPr>
        <p:spPr>
          <a:xfrm>
            <a:off x="2103120" y="4083212"/>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dose the NLA tracks language and tense (0.83–0.92) and OL tracks language; col stays at 0.47–0.48. NLA's null is secure; OL's less so (tense 0.55, template-fragile).</a:t>
            </a:r>
            <a:endParaRPr lang="en-US" sz="1250" dirty="0"/>
          </a:p>
        </p:txBody>
      </p:sp>
      <p:sp>
        <p:nvSpPr>
          <p:cNvPr id="28" name="Shape 26"/>
          <p:cNvSpPr/>
          <p:nvPr/>
        </p:nvSpPr>
        <p:spPr>
          <a:xfrm>
            <a:off x="548640" y="4568675"/>
            <a:ext cx="1325880" cy="256032"/>
          </a:xfrm>
          <a:prstGeom prst="roundRect">
            <a:avLst>
              <a:gd name="adj" fmla="val 53571"/>
            </a:avLst>
          </a:prstGeom>
          <a:solidFill>
            <a:schemeClr val="accent4"/>
          </a:solidFill>
          <a:ln w="12700">
            <a:solidFill>
              <a:schemeClr val="accent4"/>
            </a:solidFill>
            <a:prstDash val="solid"/>
          </a:ln>
        </p:spPr>
      </p:sp>
      <p:sp>
        <p:nvSpPr>
          <p:cNvPr id="29" name="Text 27"/>
          <p:cNvSpPr txBox="1"/>
          <p:nvPr/>
        </p:nvSpPr>
        <p:spPr>
          <a:xfrm>
            <a:off x="548640" y="4568675"/>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0" name="Text 28"/>
          <p:cNvSpPr txBox="1"/>
          <p:nvPr/>
        </p:nvSpPr>
        <p:spPr>
          <a:xfrm>
            <a:off x="2103120" y="4532099"/>
            <a:ext cx="9539935" cy="412311"/>
          </a:xfrm>
          <a:prstGeom prst="rect">
            <a:avLst/>
          </a:prstGeom>
          <a:noFill/>
          <a:ln/>
        </p:spPr>
        <p:txBody>
          <a:bodyPr wrap="square" lIns="0" tIns="0" rIns="0" bIns="0" rtlCol="0" anchor="t"/>
          <a:lstStyle/>
          <a:p>
            <a:pPr indent="0" marL="0">
              <a:buNone/>
            </a:pPr>
            <a:r>
              <a:rPr lang="en-US" sz="1250" dirty="0">
                <a:solidFill>
                  <a:schemeClr val="tx1"/>
                </a:solidFill>
              </a:rPr>
              <a:t>The raw col direction moves the J-Lens newline readout (AUROC up to 0.84) yet no decoder tracks it: content type, not location.</a:t>
            </a:r>
            <a:endParaRPr lang="en-US" sz="1250" dirty="0"/>
          </a:p>
        </p:txBody>
      </p:sp>
      <p:sp>
        <p:nvSpPr>
          <p:cNvPr id="31" name="Shape 29"/>
          <p:cNvSpPr/>
          <p:nvPr/>
        </p:nvSpPr>
        <p:spPr>
          <a:xfrm>
            <a:off x="548640" y="5017562"/>
            <a:ext cx="1325880" cy="256032"/>
          </a:xfrm>
          <a:prstGeom prst="roundRect">
            <a:avLst>
              <a:gd name="adj" fmla="val 53571"/>
            </a:avLst>
          </a:prstGeom>
          <a:solidFill>
            <a:schemeClr val="accent4"/>
          </a:solidFill>
          <a:ln w="12700">
            <a:solidFill>
              <a:schemeClr val="accent4"/>
            </a:solidFill>
            <a:prstDash val="solid"/>
          </a:ln>
        </p:spPr>
      </p:sp>
      <p:sp>
        <p:nvSpPr>
          <p:cNvPr id="32" name="Text 30"/>
          <p:cNvSpPr txBox="1"/>
          <p:nvPr/>
        </p:nvSpPr>
        <p:spPr>
          <a:xfrm>
            <a:off x="548640" y="501756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3" name="Text 31"/>
          <p:cNvSpPr txBox="1"/>
          <p:nvPr/>
        </p:nvSpPr>
        <p:spPr>
          <a:xfrm>
            <a:off x="2103120" y="4980986"/>
            <a:ext cx="9539935" cy="412311"/>
          </a:xfrm>
          <a:prstGeom prst="rect">
            <a:avLst/>
          </a:prstGeom>
          <a:noFill/>
          <a:ln/>
        </p:spPr>
        <p:txBody>
          <a:bodyPr wrap="square" lIns="0" tIns="0" rIns="0" bIns="0" rtlCol="0" anchor="t"/>
          <a:lstStyle/>
          <a:p>
            <a:pPr indent="0" marL="0">
              <a:buNone/>
            </a:pPr>
            <a:r>
              <a:rPr lang="en-US" sz="1250" dirty="0">
                <a:solidFill>
                  <a:schemeClr val="tx1"/>
                </a:solidFill>
              </a:rPr>
              <a:t>Beyond the top-1,536 J-space the NLA reads the tail of a verbalisable feature (tense 0.60, z +8.7) where OL doesn't; pre-registered secondary.</a:t>
            </a:r>
            <a:endParaRPr lang="en-US" sz="1250" dirty="0"/>
          </a:p>
        </p:txBody>
      </p:sp>
      <p:sp>
        <p:nvSpPr>
          <p:cNvPr id="34" name="Shape 32"/>
          <p:cNvSpPr/>
          <p:nvPr/>
        </p:nvSpPr>
        <p:spPr>
          <a:xfrm>
            <a:off x="548640" y="5466449"/>
            <a:ext cx="1325880" cy="256032"/>
          </a:xfrm>
          <a:prstGeom prst="roundRect">
            <a:avLst>
              <a:gd name="adj" fmla="val 53571"/>
            </a:avLst>
          </a:prstGeom>
          <a:solidFill>
            <a:schemeClr val="tx1"/>
          </a:solidFill>
          <a:ln w="12700">
            <a:solidFill>
              <a:schemeClr val="tx1"/>
            </a:solidFill>
            <a:prstDash val="solid"/>
          </a:ln>
        </p:spPr>
      </p:sp>
      <p:sp>
        <p:nvSpPr>
          <p:cNvPr id="35" name="Text 33"/>
          <p:cNvSpPr txBox="1"/>
          <p:nvPr/>
        </p:nvSpPr>
        <p:spPr>
          <a:xfrm>
            <a:off x="548640" y="546644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6" name="Text 34"/>
          <p:cNvSpPr txBox="1"/>
          <p:nvPr/>
        </p:nvSpPr>
        <p:spPr>
          <a:xfrm>
            <a:off x="2103120" y="542987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NLA generates its 'prompt' from the latent: under a planted bridge it rewrites the clue 12/12 times (Eiffel Tower → Volvo… Sweden).</a:t>
            </a:r>
            <a:endParaRPr lang="en-US" sz="1250" dirty="0"/>
          </a:p>
        </p:txBody>
      </p:sp>
      <p:sp>
        <p:nvSpPr>
          <p:cNvPr id="37" name="Shape 35"/>
          <p:cNvSpPr/>
          <p:nvPr/>
        </p:nvSpPr>
        <p:spPr>
          <a:xfrm>
            <a:off x="548640" y="5915337"/>
            <a:ext cx="1325880" cy="256032"/>
          </a:xfrm>
          <a:prstGeom prst="roundRect">
            <a:avLst>
              <a:gd name="adj" fmla="val 53571"/>
            </a:avLst>
          </a:prstGeom>
          <a:solidFill>
            <a:schemeClr val="accent5"/>
          </a:solidFill>
          <a:ln w="12700">
            <a:solidFill>
              <a:schemeClr val="accent5"/>
            </a:solidFill>
            <a:prstDash val="solid"/>
          </a:ln>
        </p:spPr>
      </p:sp>
      <p:sp>
        <p:nvSpPr>
          <p:cNvPr id="38" name="Text 36"/>
          <p:cNvSpPr txBox="1"/>
          <p:nvPr/>
        </p:nvSpPr>
        <p:spPr>
          <a:xfrm>
            <a:off x="548640" y="5915337"/>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TENTATIVE</a:t>
            </a:r>
            <a:endParaRPr lang="en-US" sz="1000" dirty="0"/>
          </a:p>
        </p:txBody>
      </p:sp>
      <p:sp>
        <p:nvSpPr>
          <p:cNvPr id="39" name="Text 37"/>
          <p:cNvSpPr txBox="1"/>
          <p:nvPr/>
        </p:nvSpPr>
        <p:spPr>
          <a:xfrm>
            <a:off x="2103120" y="5878761"/>
            <a:ext cx="9539935" cy="412311"/>
          </a:xfrm>
          <a:prstGeom prst="rect">
            <a:avLst/>
          </a:prstGeom>
          <a:noFill/>
          <a:ln/>
        </p:spPr>
        <p:txBody>
          <a:bodyPr wrap="square" lIns="0" tIns="0" rIns="0" bIns="0" rtlCol="0" anchor="t"/>
          <a:lstStyle/>
          <a:p>
            <a:pPr indent="0" marL="0">
              <a:buNone/>
            </a:pPr>
            <a:r>
              <a:rPr lang="en-US" sz="1250" dirty="0">
                <a:solidFill>
                  <a:schemeClr val="tx1"/>
                </a:solidFill>
              </a:rPr>
              <a:t>WorkspaceBench successes are matched by a text-only model (0.46 vs 0.47; 0/187 reader-only), pending a re-solver consistency check.</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OUR PROVISIONAL ANSWER TO THE TITLE QUESTION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 what the model can't say, or re-solve what it read? Neither: the NLA generates</a:t>
            </a:r>
            <a:endParaRPr lang="en-US" sz="2800" dirty="0"/>
          </a:p>
        </p:txBody>
      </p:sp>
      <p:sp>
        <p:nvSpPr>
          <p:cNvPr id="7" name="Shape 5"/>
          <p:cNvSpPr/>
          <p:nvPr/>
        </p:nvSpPr>
        <p:spPr>
          <a:xfrm>
            <a:off x="548640" y="1691640"/>
            <a:ext cx="4846320" cy="4526280"/>
          </a:xfrm>
          <a:prstGeom prst="roundRect">
            <a:avLst>
              <a:gd name="adj" fmla="val 1616"/>
            </a:avLst>
          </a:prstGeom>
          <a:solidFill>
            <a:schemeClr val="tx2"/>
          </a:solidFill>
          <a:ln w="12700">
            <a:solidFill>
              <a:schemeClr val="tx2"/>
            </a:solidFill>
            <a:prstDash val="solid"/>
          </a:ln>
        </p:spPr>
      </p:sp>
      <p:sp>
        <p:nvSpPr>
          <p:cNvPr id="8" name="Text 6"/>
          <p:cNvSpPr txBox="1"/>
          <p:nvPr/>
        </p:nvSpPr>
        <p:spPr>
          <a:xfrm>
            <a:off x="822960" y="1874520"/>
            <a:ext cx="4297680" cy="640080"/>
          </a:xfrm>
          <a:prstGeom prst="rect">
            <a:avLst/>
          </a:prstGeom>
          <a:noFill/>
          <a:ln/>
        </p:spPr>
        <p:txBody>
          <a:bodyPr wrap="square" lIns="0" tIns="0" rIns="0" bIns="0" rtlCol="0" anchor="t"/>
          <a:lstStyle/>
          <a:p>
            <a:pPr indent="0" marL="0">
              <a:buNone/>
            </a:pPr>
            <a:r>
              <a:rPr lang="en-US" sz="1500" i="1" dirty="0">
                <a:solidFill>
                  <a:schemeClr val="accent6"/>
                </a:solidFill>
              </a:rPr>
              <a:t>Do NLAs read what the model can't say, or re-solve what it read?</a:t>
            </a:r>
            <a:endParaRPr lang="en-US" sz="1500" dirty="0"/>
          </a:p>
        </p:txBody>
      </p:sp>
      <p:sp>
        <p:nvSpPr>
          <p:cNvPr id="9" name="Text 7"/>
          <p:cNvSpPr txBox="1"/>
          <p:nvPr/>
        </p:nvSpPr>
        <p:spPr>
          <a:xfrm>
            <a:off x="822960" y="2514600"/>
            <a:ext cx="4297680" cy="82296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Neither.</a:t>
            </a:r>
            <a:endParaRPr lang="en-US" sz="4400" dirty="0"/>
          </a:p>
        </p:txBody>
      </p:sp>
      <p:sp>
        <p:nvSpPr>
          <p:cNvPr id="10" name="Text 8"/>
          <p:cNvSpPr txBox="1"/>
          <p:nvPr/>
        </p:nvSpPr>
        <p:spPr>
          <a:xfrm>
            <a:off x="822960" y="3429000"/>
            <a:ext cx="4297680" cy="1737360"/>
          </a:xfrm>
          <a:prstGeom prst="rect">
            <a:avLst/>
          </a:prstGeom>
          <a:noFill/>
          <a:ln/>
        </p:spPr>
        <p:txBody>
          <a:bodyPr wrap="square" lIns="0" tIns="0" rIns="0" bIns="0" rtlCol="0" anchor="t"/>
          <a:lstStyle/>
          <a:p>
            <a:pPr indent="0" marL="0">
              <a:buNone/>
            </a:pPr>
            <a:r>
              <a:rPr lang="en-US" sz="1600" dirty="0">
                <a:solidFill>
                  <a:schemeClr val="bg1"/>
                </a:solidFill>
              </a:rPr>
              <a:t>The non-J content Qwen uses is positional bookkeeping, and neither decoder reads it, even when its downstream decision is lens-readable. The NLA doesn't re-solve either: it writes a story consistent with the latent. What it reads beyond J-Lens is the tail of features the model can already verbalise.</a:t>
            </a:r>
            <a:endParaRPr lang="en-US" sz="1600" dirty="0"/>
          </a:p>
        </p:txBody>
      </p:sp>
      <p:sp>
        <p:nvSpPr>
          <p:cNvPr id="11" name="Text 9"/>
          <p:cNvSpPr txBox="1"/>
          <p:nvPr/>
        </p:nvSpPr>
        <p:spPr>
          <a:xfrm>
            <a:off x="822960" y="5349240"/>
            <a:ext cx="4297680" cy="731520"/>
          </a:xfrm>
          <a:prstGeom prst="rect">
            <a:avLst/>
          </a:prstGeom>
          <a:noFill/>
          <a:ln/>
        </p:spPr>
        <p:txBody>
          <a:bodyPr wrap="square" lIns="0" tIns="0" rIns="0" bIns="0" rtlCol="0" anchor="t"/>
          <a:lstStyle/>
          <a:p>
            <a:pPr indent="0" marL="0">
              <a:buNone/>
            </a:pPr>
            <a:r>
              <a:rPr lang="en-US" sz="1300" b="1" dirty="0">
                <a:solidFill>
                  <a:schemeClr val="accent4"/>
                </a:solidFill>
              </a:rPr>
              <a:t>Confidence: moderate for col with the NLA; lower for OL; low for 'non-J content in general'. Final wording after check (e).</a:t>
            </a:r>
            <a:endParaRPr lang="en-US" sz="1300" dirty="0"/>
          </a:p>
        </p:txBody>
      </p:sp>
      <p:sp>
        <p:nvSpPr>
          <p:cNvPr id="12" name="Text 10"/>
          <p:cNvSpPr txBox="1"/>
          <p:nvPr/>
        </p:nvSpPr>
        <p:spPr>
          <a:xfrm>
            <a:off x="5806440" y="1691640"/>
            <a:ext cx="5836615"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Caveats we state with it</a:t>
            </a:r>
            <a:endParaRPr lang="en-US" sz="1900" dirty="0"/>
          </a:p>
        </p:txBody>
      </p:sp>
      <p:sp>
        <p:nvSpPr>
          <p:cNvPr id="13" name="Shape 11"/>
          <p:cNvSpPr/>
          <p:nvPr/>
        </p:nvSpPr>
        <p:spPr>
          <a:xfrm>
            <a:off x="5806440" y="2194560"/>
            <a:ext cx="329184" cy="329184"/>
          </a:xfrm>
          <a:prstGeom prst="ellipse">
            <a:avLst/>
          </a:prstGeom>
          <a:solidFill>
            <a:schemeClr val="accent5"/>
          </a:solidFill>
          <a:ln w="12700">
            <a:solidFill>
              <a:schemeClr val="accent5"/>
            </a:solidFill>
            <a:prstDash val="solid"/>
          </a:ln>
        </p:spPr>
      </p:sp>
      <p:sp>
        <p:nvSpPr>
          <p:cNvPr id="14" name="Text 12"/>
          <p:cNvSpPr txBox="1"/>
          <p:nvPr/>
        </p:nvSpPr>
        <p:spPr>
          <a:xfrm>
            <a:off x="5806440" y="21945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ext 13"/>
          <p:cNvSpPr txBox="1"/>
          <p:nvPr/>
        </p:nvSpPr>
        <p:spPr>
          <a:xfrm>
            <a:off x="6309360" y="2176272"/>
            <a:ext cx="5333695" cy="640080"/>
          </a:xfrm>
          <a:prstGeom prst="rect">
            <a:avLst/>
          </a:prstGeom>
          <a:noFill/>
          <a:ln/>
        </p:spPr>
        <p:txBody>
          <a:bodyPr wrap="square" lIns="0" tIns="0" rIns="0" bIns="0" rtlCol="0" anchor="t"/>
          <a:lstStyle/>
          <a:p>
            <a:pPr indent="0" marL="0">
              <a:buNone/>
            </a:pPr>
            <a:r>
              <a:rPr lang="en-US" sz="1400" dirty="0">
                <a:solidFill>
                  <a:schemeClr val="tx1"/>
                </a:solidFill>
              </a:rPr>
              <a:t>n = 1 clean non-J feature; 'non-J = positional bookkeeping' is a survey of ~12 features, not a theorem.</a:t>
            </a:r>
            <a:endParaRPr lang="en-US" sz="1400" dirty="0"/>
          </a:p>
        </p:txBody>
      </p:sp>
      <p:sp>
        <p:nvSpPr>
          <p:cNvPr id="16" name="Shape 14"/>
          <p:cNvSpPr/>
          <p:nvPr/>
        </p:nvSpPr>
        <p:spPr>
          <a:xfrm>
            <a:off x="5806440" y="2944368"/>
            <a:ext cx="329184" cy="329184"/>
          </a:xfrm>
          <a:prstGeom prst="ellipse">
            <a:avLst/>
          </a:prstGeom>
          <a:solidFill>
            <a:schemeClr val="accent5"/>
          </a:solidFill>
          <a:ln w="12700">
            <a:solidFill>
              <a:schemeClr val="accent5"/>
            </a:solidFill>
            <a:prstDash val="solid"/>
          </a:ln>
        </p:spPr>
      </p:sp>
      <p:sp>
        <p:nvSpPr>
          <p:cNvPr id="17" name="Text 15"/>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6"/>
          <p:cNvSpPr txBox="1"/>
          <p:nvPr/>
        </p:nvSpPr>
        <p:spPr>
          <a:xfrm>
            <a:off x="6309360" y="2926080"/>
            <a:ext cx="5333695" cy="868680"/>
          </a:xfrm>
          <a:prstGeom prst="rect">
            <a:avLst/>
          </a:prstGeom>
          <a:noFill/>
          <a:ln/>
        </p:spPr>
        <p:txBody>
          <a:bodyPr wrap="square" lIns="0" tIns="0" rIns="0" bIns="0" rtlCol="0" anchor="t"/>
          <a:lstStyle/>
          <a:p>
            <a:pPr indent="0" marL="0">
              <a:buNone/>
            </a:pPr>
            <a:r>
              <a:rPr lang="en-US" sz="1400" dirty="0">
                <a:solidFill>
                  <a:schemeClr val="tx1"/>
                </a:solidFill>
              </a:rPr>
              <a:t>OL's col null is less secure than the NLA's: OL passes K3 on language only (tense 0.55) and is template-fragile (0.39–0.87).</a:t>
            </a:r>
            <a:endParaRPr lang="en-US" sz="1400" dirty="0"/>
          </a:p>
        </p:txBody>
      </p:sp>
      <p:sp>
        <p:nvSpPr>
          <p:cNvPr id="19" name="Shape 17"/>
          <p:cNvSpPr/>
          <p:nvPr/>
        </p:nvSpPr>
        <p:spPr>
          <a:xfrm>
            <a:off x="5806440" y="3922776"/>
            <a:ext cx="329184" cy="329184"/>
          </a:xfrm>
          <a:prstGeom prst="ellipse">
            <a:avLst/>
          </a:prstGeom>
          <a:solidFill>
            <a:schemeClr val="accent5"/>
          </a:solidFill>
          <a:ln w="12700">
            <a:solidFill>
              <a:schemeClr val="accent5"/>
            </a:solidFill>
            <a:prstDash val="solid"/>
          </a:ln>
        </p:spPr>
      </p:sp>
      <p:sp>
        <p:nvSpPr>
          <p:cNvPr id="20" name="Text 18"/>
          <p:cNvSpPr txBox="1"/>
          <p:nvPr/>
        </p:nvSpPr>
        <p:spPr>
          <a:xfrm>
            <a:off x="5806440" y="392277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9"/>
          <p:cNvSpPr txBox="1"/>
          <p:nvPr/>
        </p:nvSpPr>
        <p:spPr>
          <a:xfrm>
            <a:off x="6309360" y="3904488"/>
            <a:ext cx="5333695" cy="640080"/>
          </a:xfrm>
          <a:prstGeom prst="rect">
            <a:avLst/>
          </a:prstGeom>
          <a:noFill/>
          <a:ln/>
        </p:spPr>
        <p:txBody>
          <a:bodyPr wrap="square" lIns="0" tIns="0" rIns="0" bIns="0" rtlCol="0" anchor="t"/>
          <a:lstStyle/>
          <a:p>
            <a:pPr indent="0" marL="0">
              <a:buNone/>
            </a:pPr>
            <a:r>
              <a:rPr lang="en-US" sz="1400" dirty="0">
                <a:solidFill>
                  <a:schemeClr val="tx1"/>
                </a:solidFill>
              </a:rPr>
              <a:t>Templates: the col claim holds 'in any phrasing they use'; main run adds continuation-style candidates.</a:t>
            </a:r>
            <a:endParaRPr lang="en-US" sz="1400" dirty="0"/>
          </a:p>
        </p:txBody>
      </p:sp>
      <p:sp>
        <p:nvSpPr>
          <p:cNvPr id="22" name="Shape 20"/>
          <p:cNvSpPr/>
          <p:nvPr/>
        </p:nvSpPr>
        <p:spPr>
          <a:xfrm>
            <a:off x="5806440" y="4672584"/>
            <a:ext cx="329184" cy="329184"/>
          </a:xfrm>
          <a:prstGeom prst="ellipse">
            <a:avLst/>
          </a:prstGeom>
          <a:solidFill>
            <a:schemeClr val="accent5"/>
          </a:solidFill>
          <a:ln w="12700">
            <a:solidFill>
              <a:schemeClr val="accent5"/>
            </a:solidFill>
            <a:prstDash val="solid"/>
          </a:ln>
        </p:spPr>
      </p:sp>
      <p:sp>
        <p:nvSpPr>
          <p:cNvPr id="23" name="Text 21"/>
          <p:cNvSpPr txBox="1"/>
          <p:nvPr/>
        </p:nvSpPr>
        <p:spPr>
          <a:xfrm>
            <a:off x="5806440" y="467258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6309360" y="4654296"/>
            <a:ext cx="5333695" cy="640080"/>
          </a:xfrm>
          <a:prstGeom prst="rect">
            <a:avLst/>
          </a:prstGeom>
          <a:noFill/>
          <a:ln/>
        </p:spPr>
        <p:txBody>
          <a:bodyPr wrap="square" lIns="0" tIns="0" rIns="0" bIns="0" rtlCol="0" anchor="t"/>
          <a:lstStyle/>
          <a:p>
            <a:pPr indent="0" marL="0">
              <a:buNone/>
            </a:pPr>
            <a:r>
              <a:rPr lang="en-US" sz="1400" dirty="0">
                <a:solidFill>
                  <a:schemeClr val="tx1"/>
                </a:solidFill>
              </a:rPr>
              <a:t>col's newline decision is weakly J-visible (soft newline mass AUROC 0.58), so count and decision cells are separate.</a:t>
            </a:r>
            <a:endParaRPr lang="en-US" sz="1400" dirty="0"/>
          </a:p>
        </p:txBody>
      </p:sp>
      <p:sp>
        <p:nvSpPr>
          <p:cNvPr id="25" name="Shape 23"/>
          <p:cNvSpPr/>
          <p:nvPr/>
        </p:nvSpPr>
        <p:spPr>
          <a:xfrm>
            <a:off x="5806440" y="5422392"/>
            <a:ext cx="329184" cy="329184"/>
          </a:xfrm>
          <a:prstGeom prst="ellipse">
            <a:avLst/>
          </a:prstGeom>
          <a:solidFill>
            <a:schemeClr val="accent5"/>
          </a:solidFill>
          <a:ln w="12700">
            <a:solidFill>
              <a:schemeClr val="accent5"/>
            </a:solidFill>
            <a:prstDash val="solid"/>
          </a:ln>
        </p:spPr>
      </p:sp>
      <p:sp>
        <p:nvSpPr>
          <p:cNvPr id="26" name="Text 24"/>
          <p:cNvSpPr txBox="1"/>
          <p:nvPr/>
        </p:nvSpPr>
        <p:spPr>
          <a:xfrm>
            <a:off x="5806440" y="54223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6309360" y="5404104"/>
            <a:ext cx="5333695" cy="640080"/>
          </a:xfrm>
          <a:prstGeom prst="rect">
            <a:avLst/>
          </a:prstGeom>
          <a:noFill/>
          <a:ln/>
        </p:spPr>
        <p:txBody>
          <a:bodyPr wrap="square" lIns="0" tIns="0" rIns="0" bIns="0" rtlCol="0" anchor="t"/>
          <a:lstStyle/>
          <a:p>
            <a:pPr indent="0" marL="0">
              <a:buNone/>
            </a:pPr>
            <a:r>
              <a:rPr lang="en-US" sz="1400" dirty="0">
                <a:solidFill>
                  <a:schemeClr val="tx1"/>
                </a:solidFill>
              </a:rPr>
              <a:t>Pilot-scale numbers (60 items per feature, excluded split); the tense-tail result is a pre-registered secondary.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OPEN CHECKS BEFORE THE PRE-REGISTRATION FREEZES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Five open checks before we freeze, each of which could change a sentence</a:t>
            </a:r>
            <a:endParaRPr lang="en-US" sz="2800" dirty="0"/>
          </a:p>
        </p:txBody>
      </p:sp>
      <p:sp>
        <p:nvSpPr>
          <p:cNvPr id="7" name="Shape 5"/>
          <p:cNvSpPr/>
          <p:nvPr/>
        </p:nvSpPr>
        <p:spPr>
          <a:xfrm>
            <a:off x="548640" y="1691640"/>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548640" y="16916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9" name="Text 7"/>
          <p:cNvSpPr txBox="1"/>
          <p:nvPr/>
        </p:nvSpPr>
        <p:spPr>
          <a:xfrm>
            <a:off x="1143000" y="1645920"/>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Re-solver consistency</a:t>
            </a:r>
            <a:endParaRPr lang="en-US" sz="1500" dirty="0"/>
          </a:p>
        </p:txBody>
      </p:sp>
      <p:sp>
        <p:nvSpPr>
          <p:cNvPr id="10" name="Text 8"/>
          <p:cNvSpPr txBox="1"/>
          <p:nvPr/>
        </p:nvSpPr>
        <p:spPr>
          <a:xfrm>
            <a:off x="3977640" y="1645920"/>
            <a:ext cx="7665415" cy="713232"/>
          </a:xfrm>
          <a:prstGeom prst="rect">
            <a:avLst/>
          </a:prstGeom>
          <a:noFill/>
          <a:ln/>
        </p:spPr>
        <p:txBody>
          <a:bodyPr wrap="square" lIns="0" tIns="0" rIns="0" bIns="0" rtlCol="0" anchor="ctr"/>
          <a:lstStyle/>
          <a:p>
            <a:pPr indent="0" marL="0">
              <a:buNone/>
            </a:pPr>
            <a:r>
              <a:rPr lang="en-US" sz="1350" dirty="0">
                <a:solidFill>
                  <a:schemeClr val="tx1"/>
                </a:solidFill>
              </a:rPr>
              <a:t>Readout-only re-solving (0.57–0.60) beats the k = 1 text arm (0.46) but not the prompt arms (0.75–0.76). Does it ever succeed where every prompt arm fails? Until then, don't freeze 'fully explained by text'.</a:t>
            </a:r>
            <a:endParaRPr lang="en-US" sz="1350" dirty="0"/>
          </a:p>
        </p:txBody>
      </p:sp>
      <p:sp>
        <p:nvSpPr>
          <p:cNvPr id="11" name="Shape 9"/>
          <p:cNvSpPr/>
          <p:nvPr/>
        </p:nvSpPr>
        <p:spPr>
          <a:xfrm>
            <a:off x="548640" y="2478024"/>
            <a:ext cx="420624" cy="420624"/>
          </a:xfrm>
          <a:prstGeom prst="ellipse">
            <a:avLst/>
          </a:prstGeom>
          <a:solidFill>
            <a:schemeClr val="tx1"/>
          </a:solidFill>
          <a:ln w="12700">
            <a:solidFill>
              <a:schemeClr val="tx1"/>
            </a:solidFill>
            <a:prstDash val="solid"/>
          </a:ln>
        </p:spPr>
      </p:sp>
      <p:sp>
        <p:nvSpPr>
          <p:cNvPr id="12" name="Text 10"/>
          <p:cNvSpPr txBox="1"/>
          <p:nvPr/>
        </p:nvSpPr>
        <p:spPr>
          <a:xfrm>
            <a:off x="548640" y="247802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3" name="Text 11"/>
          <p:cNvSpPr txBox="1"/>
          <p:nvPr/>
        </p:nvSpPr>
        <p:spPr>
          <a:xfrm>
            <a:off x="1143000" y="2432304"/>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Next-digit in-J number cell</a:t>
            </a:r>
            <a:endParaRPr lang="en-US" sz="1500" dirty="0"/>
          </a:p>
        </p:txBody>
      </p:sp>
      <p:sp>
        <p:nvSpPr>
          <p:cNvPr id="14" name="Text 12"/>
          <p:cNvSpPr txBox="1"/>
          <p:nvPr/>
        </p:nvSpPr>
        <p:spPr>
          <a:xfrm>
            <a:off x="3977640" y="2432304"/>
            <a:ext cx="7665415" cy="713232"/>
          </a:xfrm>
          <a:prstGeom prst="rect">
            <a:avLst/>
          </a:prstGeom>
          <a:noFill/>
          <a:ln/>
        </p:spPr>
        <p:txBody>
          <a:bodyPr wrap="square" lIns="0" tIns="0" rIns="0" bIns="0" rtlCol="0" anchor="ctr"/>
          <a:lstStyle/>
          <a:p>
            <a:pPr indent="0" marL="0">
              <a:buNone/>
            </a:pPr>
            <a:r>
              <a:rPr lang="en-US" sz="1350" dirty="0">
                <a:solidFill>
                  <a:schemeClr val="tx1"/>
                </a:solidFill>
              </a:rPr>
              <a:t>Next token in a numbered list ('next digit 5 vs 7'): maximally J. Tracked → the col null is about location; not tracked → Part B is scoped to content type.</a:t>
            </a:r>
            <a:endParaRPr lang="en-US" sz="1350" dirty="0"/>
          </a:p>
        </p:txBody>
      </p:sp>
      <p:sp>
        <p:nvSpPr>
          <p:cNvPr id="15" name="Shape 13"/>
          <p:cNvSpPr/>
          <p:nvPr/>
        </p:nvSpPr>
        <p:spPr>
          <a:xfrm>
            <a:off x="548640" y="3264408"/>
            <a:ext cx="420624" cy="420624"/>
          </a:xfrm>
          <a:prstGeom prst="ellipse">
            <a:avLst/>
          </a:prstGeom>
          <a:solidFill>
            <a:schemeClr val="tx1"/>
          </a:solidFill>
          <a:ln w="12700">
            <a:solidFill>
              <a:schemeClr val="tx1"/>
            </a:solidFill>
            <a:prstDash val="solid"/>
          </a:ln>
        </p:spPr>
      </p:sp>
      <p:sp>
        <p:nvSpPr>
          <p:cNvPr id="16" name="Text 14"/>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q</a:t>
            </a:r>
            <a:endParaRPr lang="en-US" sz="1400" dirty="0"/>
          </a:p>
        </p:txBody>
      </p:sp>
      <p:sp>
        <p:nvSpPr>
          <p:cNvPr id="17" name="Text 15"/>
          <p:cNvSpPr txBox="1"/>
          <p:nvPr/>
        </p:nvSpPr>
        <p:spPr>
          <a:xfrm>
            <a:off x="1143000" y="3218688"/>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q90 behavioural validation</a:t>
            </a:r>
            <a:endParaRPr lang="en-US" sz="1500" dirty="0"/>
          </a:p>
        </p:txBody>
      </p:sp>
      <p:sp>
        <p:nvSpPr>
          <p:cNvPr id="18" name="Text 16"/>
          <p:cNvSpPr txBox="1"/>
          <p:nvPr/>
        </p:nvSpPr>
        <p:spPr>
          <a:xfrm>
            <a:off x="3977640" y="3218688"/>
            <a:ext cx="7665415" cy="713232"/>
          </a:xfrm>
          <a:prstGeom prst="rect">
            <a:avLst/>
          </a:prstGeom>
          <a:noFill/>
          <a:ln/>
        </p:spPr>
        <p:txBody>
          <a:bodyPr wrap="square" lIns="0" tIns="0" rIns="0" bIns="0" rtlCol="0" anchor="ctr"/>
          <a:lstStyle/>
          <a:p>
            <a:pPr indent="0" marL="0">
              <a:buNone/>
            </a:pPr>
            <a:r>
              <a:rPr lang="en-US" sz="1350" dirty="0">
                <a:solidFill>
                  <a:schemeClr val="tx1"/>
                </a:solidFill>
              </a:rPr>
              <a:t>Report the realised newline log-odds shift at the exact dose and direction where the null is claimed.</a:t>
            </a:r>
            <a:endParaRPr lang="en-US" sz="1350" dirty="0"/>
          </a:p>
        </p:txBody>
      </p:sp>
      <p:sp>
        <p:nvSpPr>
          <p:cNvPr id="19" name="Shape 17"/>
          <p:cNvSpPr/>
          <p:nvPr/>
        </p:nvSpPr>
        <p:spPr>
          <a:xfrm>
            <a:off x="548640" y="4050792"/>
            <a:ext cx="420624" cy="420624"/>
          </a:xfrm>
          <a:prstGeom prst="ellipse">
            <a:avLst/>
          </a:prstGeom>
          <a:solidFill>
            <a:schemeClr val="tx1"/>
          </a:solidFill>
          <a:ln w="12700">
            <a:solidFill>
              <a:schemeClr val="tx1"/>
            </a:solidFill>
            <a:prstDash val="solid"/>
          </a:ln>
        </p:spPr>
      </p:sp>
      <p:sp>
        <p:nvSpPr>
          <p:cNvPr id="20" name="Text 18"/>
          <p:cNvSpPr txBox="1"/>
          <p:nvPr/>
        </p:nvSpPr>
        <p:spPr>
          <a:xfrm>
            <a:off x="548640" y="405079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1" name="Text 19"/>
          <p:cNvSpPr txBox="1"/>
          <p:nvPr/>
        </p:nvSpPr>
        <p:spPr>
          <a:xfrm>
            <a:off x="1143000" y="4005072"/>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Class-mean col direction</a:t>
            </a:r>
            <a:endParaRPr lang="en-US" sz="1500" dirty="0"/>
          </a:p>
        </p:txBody>
      </p:sp>
      <p:sp>
        <p:nvSpPr>
          <p:cNvPr id="22" name="Text 20"/>
          <p:cNvSpPr txBox="1"/>
          <p:nvPr/>
        </p:nvSpPr>
        <p:spPr>
          <a:xfrm>
            <a:off x="3977640" y="4005072"/>
            <a:ext cx="7665415" cy="713232"/>
          </a:xfrm>
          <a:prstGeom prst="rect">
            <a:avLst/>
          </a:prstGeom>
          <a:noFill/>
          <a:ln/>
        </p:spPr>
        <p:txBody>
          <a:bodyPr wrap="square" lIns="0" tIns="0" rIns="0" bIns="0" rtlCol="0" anchor="ctr"/>
          <a:lstStyle/>
          <a:p>
            <a:pPr indent="0" marL="0">
              <a:buNone/>
            </a:pPr>
            <a:r>
              <a:rPr lang="en-US" sz="1350" dirty="0">
                <a:solidFill>
                  <a:schemeClr val="tx1"/>
                </a:solidFill>
              </a:rPr>
              <a:t>Add a binary short-vs-long-line direction next to the regression-covariance direction (closer in kind to language/tense).</a:t>
            </a:r>
            <a:endParaRPr lang="en-US" sz="1350" dirty="0"/>
          </a:p>
        </p:txBody>
      </p:sp>
      <p:sp>
        <p:nvSpPr>
          <p:cNvPr id="23" name="Shape 21"/>
          <p:cNvSpPr/>
          <p:nvPr/>
        </p:nvSpPr>
        <p:spPr>
          <a:xfrm>
            <a:off x="548640" y="4837176"/>
            <a:ext cx="420624" cy="420624"/>
          </a:xfrm>
          <a:prstGeom prst="ellipse">
            <a:avLst/>
          </a:prstGeom>
          <a:solidFill>
            <a:schemeClr val="tx1"/>
          </a:solidFill>
          <a:ln w="12700">
            <a:solidFill>
              <a:schemeClr val="tx1"/>
            </a:solidFill>
            <a:prstDash val="solid"/>
          </a:ln>
        </p:spPr>
      </p:sp>
      <p:sp>
        <p:nvSpPr>
          <p:cNvPr id="24" name="Text 22"/>
          <p:cNvSpPr txBox="1"/>
          <p:nvPr/>
        </p:nvSpPr>
        <p:spPr>
          <a:xfrm>
            <a:off x="548640" y="483717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t</a:t>
            </a:r>
            <a:endParaRPr lang="en-US" sz="1400" dirty="0"/>
          </a:p>
        </p:txBody>
      </p:sp>
      <p:sp>
        <p:nvSpPr>
          <p:cNvPr id="25" name="Text 23"/>
          <p:cNvSpPr txBox="1"/>
          <p:nvPr/>
        </p:nvSpPr>
        <p:spPr>
          <a:xfrm>
            <a:off x="1143000" y="4791456"/>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Natural col vs TextNLA</a:t>
            </a:r>
            <a:endParaRPr lang="en-US" sz="1500" dirty="0"/>
          </a:p>
        </p:txBody>
      </p:sp>
      <p:sp>
        <p:nvSpPr>
          <p:cNvPr id="26" name="Text 24"/>
          <p:cNvSpPr txBox="1"/>
          <p:nvPr/>
        </p:nvSpPr>
        <p:spPr>
          <a:xfrm>
            <a:off x="3977640" y="4791456"/>
            <a:ext cx="7665415" cy="713232"/>
          </a:xfrm>
          <a:prstGeom prst="rect">
            <a:avLst/>
          </a:prstGeom>
          <a:noFill/>
          <a:ln/>
        </p:spPr>
        <p:txBody>
          <a:bodyPr wrap="square" lIns="0" tIns="0" rIns="0" bIns="0" rtlCol="0" anchor="ctr"/>
          <a:lstStyle/>
          <a:p>
            <a:pPr indent="0" marL="0">
              <a:buNone/>
            </a:pPr>
            <a:r>
              <a:rPr lang="en-US" sz="1350" dirty="0">
                <a:solidFill>
                  <a:schemeClr val="tx1"/>
                </a:solidFill>
              </a:rPr>
              <a:t>The NLA's natural col AUROC (0.60) needs a text-only decoder on the same items: long vs short lines are visible without counting.</a:t>
            </a:r>
            <a:endParaRPr lang="en-US" sz="1350" dirty="0"/>
          </a:p>
        </p:txBody>
      </p:sp>
      <p:sp>
        <p:nvSpPr>
          <p:cNvPr id="27" name="Shape 25"/>
          <p:cNvSpPr/>
          <p:nvPr/>
        </p:nvSpPr>
        <p:spPr>
          <a:xfrm>
            <a:off x="548640" y="5623560"/>
            <a:ext cx="11094415" cy="685800"/>
          </a:xfrm>
          <a:prstGeom prst="roundRect">
            <a:avLst>
              <a:gd name="adj" fmla="val 10667"/>
            </a:avLst>
          </a:prstGeom>
          <a:solidFill>
            <a:schemeClr val="bg2"/>
          </a:solidFill>
          <a:ln w="12700">
            <a:solidFill>
              <a:schemeClr val="bg2"/>
            </a:solidFill>
            <a:prstDash val="solid"/>
          </a:ln>
        </p:spPr>
      </p:sp>
      <p:sp>
        <p:nvSpPr>
          <p:cNvPr id="28" name="Text 26"/>
          <p:cNvSpPr txBox="1"/>
          <p:nvPr/>
        </p:nvSpPr>
        <p:spPr>
          <a:xfrm>
            <a:off x="676656" y="5751576"/>
            <a:ext cx="10838383" cy="4809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Main-run changes (D21): |z| ≥ 3 against both bands · equivalence test for col (SESOI: fraction of probe 0.25) · content token sets in every leak check · raw-direction newline-continuation cell primary · tense 4r* NLA-vs-OL as secondary · planting α ≤ 1.5 primary.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LIMITATIONS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Threats to validity we are tracking, and what addresses each</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non-J feature</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second clean feature in the ~12-feature survey; non-J content looks positional. Stated as a scope limit.</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Count-verbalisation gap</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Numbers never enter Qwen's J-space (col_report, list index), so there is no in-J count control. The next-digit cell is the planned fix.</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 sensitivity</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tense 0.39–0.87 across templates. Templates mined and frozen before steering; continuation-style col candidates added.</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Pilot scale</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K3 and tense-tail numbers: 60 items per feature on a declared, excluded split. Main run: 240 col items, two directions.</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Direction choice</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probe R² 0.655 (a curved manifold); covariance vs class-mean direction. Adds the binary direction.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J-space definition</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spectral elbow; two lenses differ (cosine 0.79). Claims say 'outside the top-r J-space', at r* and 4r*, under both lenses.</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Judges</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Claim precision is judge-based (κ 0.72–0.77 judge vs judge). 300 human-labelled claims still to do.</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Scope</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One model, one layer (42). OL is off-grid at 42 but no worse than at 40/44. Planted doses are large (0.49 of ‖h‖).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SPRINT PLAN · 19 OCTOBER – 1 NOVEMBER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sprint replicates the col null with positive controls, with kill checks on days 2, 3 and 7</a:t>
            </a:r>
            <a:endParaRPr lang="en-US" sz="2800" dirty="0"/>
          </a:p>
        </p:txBody>
      </p:sp>
      <p:sp>
        <p:nvSpPr>
          <p:cNvPr id="7" name="Text 5"/>
          <p:cNvSpPr txBox="1"/>
          <p:nvPr/>
        </p:nvSpPr>
        <p:spPr>
          <a:xfrm>
            <a:off x="5760720"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Oct</a:t>
            </a:r>
            <a:endParaRPr lang="en-US" sz="1000" dirty="0"/>
          </a:p>
        </p:txBody>
      </p:sp>
      <p:sp>
        <p:nvSpPr>
          <p:cNvPr id="8" name="Text 6"/>
          <p:cNvSpPr txBox="1"/>
          <p:nvPr/>
        </p:nvSpPr>
        <p:spPr>
          <a:xfrm>
            <a:off x="11222888"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Nov</a:t>
            </a:r>
            <a:endParaRPr lang="en-US" sz="1000" dirty="0"/>
          </a:p>
        </p:txBody>
      </p:sp>
      <p:sp>
        <p:nvSpPr>
          <p:cNvPr id="9" name="Text 7"/>
          <p:cNvSpPr txBox="1"/>
          <p:nvPr/>
        </p:nvSpPr>
        <p:spPr>
          <a:xfrm>
            <a:off x="57607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19</a:t>
            </a:r>
            <a:endParaRPr lang="en-US" sz="1100" dirty="0"/>
          </a:p>
        </p:txBody>
      </p:sp>
      <p:sp>
        <p:nvSpPr>
          <p:cNvPr id="10" name="Shape 8"/>
          <p:cNvSpPr/>
          <p:nvPr/>
        </p:nvSpPr>
        <p:spPr>
          <a:xfrm>
            <a:off x="5760720" y="2148840"/>
            <a:ext cx="420167" cy="3566160"/>
          </a:xfrm>
          <a:prstGeom prst="rect">
            <a:avLst/>
          </a:prstGeom>
          <a:solidFill>
            <a:schemeClr val="bg2"/>
          </a:solidFill>
          <a:ln w="12700">
            <a:solidFill>
              <a:schemeClr val="bg2"/>
            </a:solidFill>
            <a:prstDash val="solid"/>
          </a:ln>
        </p:spPr>
      </p:sp>
      <p:sp>
        <p:nvSpPr>
          <p:cNvPr id="11" name="Text 9"/>
          <p:cNvSpPr txBox="1"/>
          <p:nvPr/>
        </p:nvSpPr>
        <p:spPr>
          <a:xfrm>
            <a:off x="61808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20</a:t>
            </a:r>
            <a:endParaRPr lang="en-US" sz="1100" dirty="0"/>
          </a:p>
        </p:txBody>
      </p:sp>
      <p:sp>
        <p:nvSpPr>
          <p:cNvPr id="12" name="Text 10"/>
          <p:cNvSpPr txBox="1"/>
          <p:nvPr/>
        </p:nvSpPr>
        <p:spPr>
          <a:xfrm>
            <a:off x="6601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21</a:t>
            </a:r>
            <a:endParaRPr lang="en-US" sz="1100" dirty="0"/>
          </a:p>
        </p:txBody>
      </p:sp>
      <p:sp>
        <p:nvSpPr>
          <p:cNvPr id="13" name="Shape 11"/>
          <p:cNvSpPr/>
          <p:nvPr/>
        </p:nvSpPr>
        <p:spPr>
          <a:xfrm>
            <a:off x="6601054" y="2148840"/>
            <a:ext cx="420167" cy="3566160"/>
          </a:xfrm>
          <a:prstGeom prst="rect">
            <a:avLst/>
          </a:prstGeom>
          <a:solidFill>
            <a:schemeClr val="bg2"/>
          </a:solidFill>
          <a:ln w="12700">
            <a:solidFill>
              <a:schemeClr val="bg2"/>
            </a:solidFill>
            <a:prstDash val="solid"/>
          </a:ln>
        </p:spPr>
      </p:sp>
      <p:sp>
        <p:nvSpPr>
          <p:cNvPr id="14" name="Text 12"/>
          <p:cNvSpPr txBox="1"/>
          <p:nvPr/>
        </p:nvSpPr>
        <p:spPr>
          <a:xfrm>
            <a:off x="70212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22</a:t>
            </a:r>
            <a:endParaRPr lang="en-US" sz="1100" dirty="0"/>
          </a:p>
        </p:txBody>
      </p:sp>
      <p:sp>
        <p:nvSpPr>
          <p:cNvPr id="15" name="Text 13"/>
          <p:cNvSpPr txBox="1"/>
          <p:nvPr/>
        </p:nvSpPr>
        <p:spPr>
          <a:xfrm>
            <a:off x="74413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23</a:t>
            </a:r>
            <a:endParaRPr lang="en-US" sz="1100" dirty="0"/>
          </a:p>
        </p:txBody>
      </p:sp>
      <p:sp>
        <p:nvSpPr>
          <p:cNvPr id="16" name="Shape 14"/>
          <p:cNvSpPr/>
          <p:nvPr/>
        </p:nvSpPr>
        <p:spPr>
          <a:xfrm>
            <a:off x="7441387" y="2148840"/>
            <a:ext cx="420167" cy="3566160"/>
          </a:xfrm>
          <a:prstGeom prst="rect">
            <a:avLst/>
          </a:prstGeom>
          <a:solidFill>
            <a:schemeClr val="bg2"/>
          </a:solidFill>
          <a:ln w="12700">
            <a:solidFill>
              <a:schemeClr val="bg2"/>
            </a:solidFill>
            <a:prstDash val="solid"/>
          </a:ln>
        </p:spPr>
      </p:sp>
      <p:sp>
        <p:nvSpPr>
          <p:cNvPr id="17" name="Text 15"/>
          <p:cNvSpPr txBox="1"/>
          <p:nvPr/>
        </p:nvSpPr>
        <p:spPr>
          <a:xfrm>
            <a:off x="78615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24</a:t>
            </a:r>
            <a:endParaRPr lang="en-US" sz="1100" dirty="0"/>
          </a:p>
        </p:txBody>
      </p:sp>
      <p:sp>
        <p:nvSpPr>
          <p:cNvPr id="18" name="Text 16"/>
          <p:cNvSpPr txBox="1"/>
          <p:nvPr/>
        </p:nvSpPr>
        <p:spPr>
          <a:xfrm>
            <a:off x="82817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25</a:t>
            </a:r>
            <a:endParaRPr lang="en-US" sz="1100" dirty="0"/>
          </a:p>
        </p:txBody>
      </p:sp>
      <p:sp>
        <p:nvSpPr>
          <p:cNvPr id="19" name="Shape 17"/>
          <p:cNvSpPr/>
          <p:nvPr/>
        </p:nvSpPr>
        <p:spPr>
          <a:xfrm>
            <a:off x="8281721" y="2148840"/>
            <a:ext cx="420167" cy="3566160"/>
          </a:xfrm>
          <a:prstGeom prst="rect">
            <a:avLst/>
          </a:prstGeom>
          <a:solidFill>
            <a:schemeClr val="bg2"/>
          </a:solidFill>
          <a:ln w="12700">
            <a:solidFill>
              <a:schemeClr val="bg2"/>
            </a:solidFill>
            <a:prstDash val="solid"/>
          </a:ln>
        </p:spPr>
      </p:sp>
      <p:sp>
        <p:nvSpPr>
          <p:cNvPr id="20" name="Text 18"/>
          <p:cNvSpPr txBox="1"/>
          <p:nvPr/>
        </p:nvSpPr>
        <p:spPr>
          <a:xfrm>
            <a:off x="8701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26</a:t>
            </a:r>
            <a:endParaRPr lang="en-US" sz="1100" dirty="0"/>
          </a:p>
        </p:txBody>
      </p:sp>
      <p:sp>
        <p:nvSpPr>
          <p:cNvPr id="21" name="Text 19"/>
          <p:cNvSpPr txBox="1"/>
          <p:nvPr/>
        </p:nvSpPr>
        <p:spPr>
          <a:xfrm>
            <a:off x="9122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27</a:t>
            </a:r>
            <a:endParaRPr lang="en-US" sz="1100" dirty="0"/>
          </a:p>
        </p:txBody>
      </p:sp>
      <p:sp>
        <p:nvSpPr>
          <p:cNvPr id="22" name="Shape 20"/>
          <p:cNvSpPr/>
          <p:nvPr/>
        </p:nvSpPr>
        <p:spPr>
          <a:xfrm>
            <a:off x="9122054" y="2148840"/>
            <a:ext cx="420167" cy="3566160"/>
          </a:xfrm>
          <a:prstGeom prst="rect">
            <a:avLst/>
          </a:prstGeom>
          <a:solidFill>
            <a:schemeClr val="bg2"/>
          </a:solidFill>
          <a:ln w="12700">
            <a:solidFill>
              <a:schemeClr val="bg2"/>
            </a:solidFill>
            <a:prstDash val="solid"/>
          </a:ln>
        </p:spPr>
      </p:sp>
      <p:sp>
        <p:nvSpPr>
          <p:cNvPr id="23" name="Text 21"/>
          <p:cNvSpPr txBox="1"/>
          <p:nvPr/>
        </p:nvSpPr>
        <p:spPr>
          <a:xfrm>
            <a:off x="95422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28</a:t>
            </a:r>
            <a:endParaRPr lang="en-US" sz="1100" dirty="0"/>
          </a:p>
        </p:txBody>
      </p:sp>
      <p:sp>
        <p:nvSpPr>
          <p:cNvPr id="24" name="Text 22"/>
          <p:cNvSpPr txBox="1"/>
          <p:nvPr/>
        </p:nvSpPr>
        <p:spPr>
          <a:xfrm>
            <a:off x="99623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29</a:t>
            </a:r>
            <a:endParaRPr lang="en-US" sz="1100" dirty="0"/>
          </a:p>
        </p:txBody>
      </p:sp>
      <p:sp>
        <p:nvSpPr>
          <p:cNvPr id="25" name="Shape 23"/>
          <p:cNvSpPr/>
          <p:nvPr/>
        </p:nvSpPr>
        <p:spPr>
          <a:xfrm>
            <a:off x="9962388" y="2148840"/>
            <a:ext cx="420167" cy="3566160"/>
          </a:xfrm>
          <a:prstGeom prst="rect">
            <a:avLst/>
          </a:prstGeom>
          <a:solidFill>
            <a:schemeClr val="bg2"/>
          </a:solidFill>
          <a:ln w="12700">
            <a:solidFill>
              <a:schemeClr val="bg2"/>
            </a:solidFill>
            <a:prstDash val="solid"/>
          </a:ln>
        </p:spPr>
      </p:sp>
      <p:sp>
        <p:nvSpPr>
          <p:cNvPr id="26" name="Text 24"/>
          <p:cNvSpPr txBox="1"/>
          <p:nvPr/>
        </p:nvSpPr>
        <p:spPr>
          <a:xfrm>
            <a:off x="10382555"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30</a:t>
            </a:r>
            <a:endParaRPr lang="en-US" sz="1100" dirty="0"/>
          </a:p>
        </p:txBody>
      </p:sp>
      <p:sp>
        <p:nvSpPr>
          <p:cNvPr id="27" name="Text 25"/>
          <p:cNvSpPr txBox="1"/>
          <p:nvPr/>
        </p:nvSpPr>
        <p:spPr>
          <a:xfrm>
            <a:off x="10802722"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31</a:t>
            </a:r>
            <a:endParaRPr lang="en-US" sz="1100" dirty="0"/>
          </a:p>
        </p:txBody>
      </p:sp>
      <p:sp>
        <p:nvSpPr>
          <p:cNvPr id="28" name="Shape 26"/>
          <p:cNvSpPr/>
          <p:nvPr/>
        </p:nvSpPr>
        <p:spPr>
          <a:xfrm>
            <a:off x="10802722" y="2148840"/>
            <a:ext cx="420167" cy="3566160"/>
          </a:xfrm>
          <a:prstGeom prst="rect">
            <a:avLst/>
          </a:prstGeom>
          <a:solidFill>
            <a:schemeClr val="bg2"/>
          </a:solidFill>
          <a:ln w="12700">
            <a:solidFill>
              <a:schemeClr val="bg2"/>
            </a:solidFill>
            <a:prstDash val="solid"/>
          </a:ln>
        </p:spPr>
      </p:sp>
      <p:sp>
        <p:nvSpPr>
          <p:cNvPr id="29" name="Text 27"/>
          <p:cNvSpPr txBox="1"/>
          <p:nvPr/>
        </p:nvSpPr>
        <p:spPr>
          <a:xfrm>
            <a:off x="11222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a:t>
            </a:r>
            <a:endParaRPr lang="en-US" sz="1100" dirty="0"/>
          </a:p>
        </p:txBody>
      </p:sp>
      <p:sp>
        <p:nvSpPr>
          <p:cNvPr id="30" name="Text 28"/>
          <p:cNvSpPr txBox="1"/>
          <p:nvPr/>
        </p:nvSpPr>
        <p:spPr>
          <a:xfrm>
            <a:off x="548640" y="2194560"/>
            <a:ext cx="5120640" cy="292608"/>
          </a:xfrm>
          <a:prstGeom prst="rect">
            <a:avLst/>
          </a:prstGeom>
          <a:noFill/>
          <a:ln/>
        </p:spPr>
        <p:txBody>
          <a:bodyPr wrap="square" lIns="0" tIns="0" rIns="0" bIns="0" rtlCol="0" anchor="ctr"/>
          <a:lstStyle/>
          <a:p>
            <a:pPr indent="0" marL="0">
              <a:buNone/>
            </a:pPr>
            <a:r>
              <a:rPr lang="en-US" sz="1200" dirty="0">
                <a:solidFill>
                  <a:schemeClr val="tx1"/>
                </a:solidFill>
              </a:rPr>
              <a:t>Part B: col null replication (raw newline cell primary; 4r*; class-mean direction)</a:t>
            </a:r>
            <a:endParaRPr lang="en-US" sz="1200" dirty="0"/>
          </a:p>
        </p:txBody>
      </p:sp>
      <p:sp>
        <p:nvSpPr>
          <p:cNvPr id="31" name="Shape 29"/>
          <p:cNvSpPr/>
          <p:nvPr/>
        </p:nvSpPr>
        <p:spPr>
          <a:xfrm>
            <a:off x="5797296" y="2231136"/>
            <a:ext cx="347015" cy="219456"/>
          </a:xfrm>
          <a:prstGeom prst="roundRect">
            <a:avLst>
              <a:gd name="adj" fmla="val 25000"/>
            </a:avLst>
          </a:prstGeom>
          <a:solidFill>
            <a:schemeClr val="accent1"/>
          </a:solidFill>
          <a:ln w="12700">
            <a:solidFill>
              <a:schemeClr val="accent1"/>
            </a:solidFill>
            <a:prstDash val="solid"/>
          </a:ln>
        </p:spPr>
      </p:sp>
      <p:sp>
        <p:nvSpPr>
          <p:cNvPr id="32" name="Text 30"/>
          <p:cNvSpPr txBox="1"/>
          <p:nvPr/>
        </p:nvSpPr>
        <p:spPr>
          <a:xfrm>
            <a:off x="548640" y="2551176"/>
            <a:ext cx="5120640" cy="292608"/>
          </a:xfrm>
          <a:prstGeom prst="rect">
            <a:avLst/>
          </a:prstGeom>
          <a:noFill/>
          <a:ln/>
        </p:spPr>
        <p:txBody>
          <a:bodyPr wrap="square" lIns="0" tIns="0" rIns="0" bIns="0" rtlCol="0" anchor="ctr"/>
          <a:lstStyle/>
          <a:p>
            <a:pPr indent="0" marL="0">
              <a:buNone/>
            </a:pPr>
            <a:r>
              <a:rPr lang="en-US" sz="1200" dirty="0">
                <a:solidFill>
                  <a:schemeClr val="tx1"/>
                </a:solidFill>
              </a:rPr>
              <a:t>Upstream (layer 38) arm, q90 behavioural check, leak test, FVE guard</a:t>
            </a:r>
            <a:endParaRPr lang="en-US" sz="1200" dirty="0"/>
          </a:p>
        </p:txBody>
      </p:sp>
      <p:sp>
        <p:nvSpPr>
          <p:cNvPr id="33" name="Shape 31"/>
          <p:cNvSpPr/>
          <p:nvPr/>
        </p:nvSpPr>
        <p:spPr>
          <a:xfrm>
            <a:off x="6217463" y="2587752"/>
            <a:ext cx="347015" cy="219456"/>
          </a:xfrm>
          <a:prstGeom prst="roundRect">
            <a:avLst>
              <a:gd name="adj" fmla="val 25000"/>
            </a:avLst>
          </a:prstGeom>
          <a:solidFill>
            <a:schemeClr val="accent1"/>
          </a:solidFill>
          <a:ln w="12700">
            <a:solidFill>
              <a:schemeClr val="accent1"/>
            </a:solidFill>
            <a:prstDash val="solid"/>
          </a:ln>
        </p:spPr>
      </p:sp>
      <p:sp>
        <p:nvSpPr>
          <p:cNvPr id="34" name="Shape 32"/>
          <p:cNvSpPr/>
          <p:nvPr/>
        </p:nvSpPr>
        <p:spPr>
          <a:xfrm>
            <a:off x="6454750" y="2569464"/>
            <a:ext cx="256032" cy="256032"/>
          </a:xfrm>
          <a:prstGeom prst="diamond">
            <a:avLst/>
          </a:prstGeom>
          <a:solidFill>
            <a:schemeClr val="tx1"/>
          </a:solidFill>
          <a:ln w="12700">
            <a:solidFill>
              <a:schemeClr val="bg1"/>
            </a:solidFill>
            <a:prstDash val="solid"/>
          </a:ln>
        </p:spPr>
      </p:sp>
      <p:sp>
        <p:nvSpPr>
          <p:cNvPr id="35" name="Text 33"/>
          <p:cNvSpPr txBox="1"/>
          <p:nvPr/>
        </p:nvSpPr>
        <p:spPr>
          <a:xfrm>
            <a:off x="6729070" y="2551176"/>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K2</a:t>
            </a:r>
            <a:endParaRPr lang="en-US" sz="1000" dirty="0"/>
          </a:p>
        </p:txBody>
      </p:sp>
      <p:sp>
        <p:nvSpPr>
          <p:cNvPr id="36" name="Text 34"/>
          <p:cNvSpPr txBox="1"/>
          <p:nvPr/>
        </p:nvSpPr>
        <p:spPr>
          <a:xfrm>
            <a:off x="548640" y="2907792"/>
            <a:ext cx="5120640" cy="292608"/>
          </a:xfrm>
          <a:prstGeom prst="rect">
            <a:avLst/>
          </a:prstGeom>
          <a:noFill/>
          <a:ln/>
        </p:spPr>
        <p:txBody>
          <a:bodyPr wrap="square" lIns="0" tIns="0" rIns="0" bIns="0" rtlCol="0" anchor="ctr"/>
          <a:lstStyle/>
          <a:p>
            <a:pPr indent="0" marL="0">
              <a:buNone/>
            </a:pPr>
            <a:r>
              <a:rPr lang="en-US" sz="1200" dirty="0">
                <a:solidFill>
                  <a:schemeClr val="tx1"/>
                </a:solidFill>
              </a:rPr>
              <a:t>Positive controls at matched dose: language, tense, next-digit cell</a:t>
            </a:r>
            <a:endParaRPr lang="en-US" sz="1200" dirty="0"/>
          </a:p>
        </p:txBody>
      </p:sp>
      <p:sp>
        <p:nvSpPr>
          <p:cNvPr id="37" name="Shape 35"/>
          <p:cNvSpPr/>
          <p:nvPr/>
        </p:nvSpPr>
        <p:spPr>
          <a:xfrm>
            <a:off x="6637630" y="2944368"/>
            <a:ext cx="347015" cy="219456"/>
          </a:xfrm>
          <a:prstGeom prst="roundRect">
            <a:avLst>
              <a:gd name="adj" fmla="val 25000"/>
            </a:avLst>
          </a:prstGeom>
          <a:solidFill>
            <a:schemeClr val="accent1"/>
          </a:solidFill>
          <a:ln w="12700">
            <a:solidFill>
              <a:schemeClr val="accent1"/>
            </a:solidFill>
            <a:prstDash val="solid"/>
          </a:ln>
        </p:spPr>
      </p:sp>
      <p:sp>
        <p:nvSpPr>
          <p:cNvPr id="38" name="Shape 36"/>
          <p:cNvSpPr/>
          <p:nvPr/>
        </p:nvSpPr>
        <p:spPr>
          <a:xfrm>
            <a:off x="6874916" y="2926080"/>
            <a:ext cx="256032" cy="256032"/>
          </a:xfrm>
          <a:prstGeom prst="diamond">
            <a:avLst/>
          </a:prstGeom>
          <a:solidFill>
            <a:schemeClr val="tx1"/>
          </a:solidFill>
          <a:ln w="12700">
            <a:solidFill>
              <a:schemeClr val="bg1"/>
            </a:solidFill>
            <a:prstDash val="solid"/>
          </a:ln>
        </p:spPr>
      </p:sp>
      <p:sp>
        <p:nvSpPr>
          <p:cNvPr id="39" name="Text 37"/>
          <p:cNvSpPr txBox="1"/>
          <p:nvPr/>
        </p:nvSpPr>
        <p:spPr>
          <a:xfrm>
            <a:off x="7149236" y="2907792"/>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K3</a:t>
            </a:r>
            <a:endParaRPr lang="en-US" sz="1000" dirty="0"/>
          </a:p>
        </p:txBody>
      </p:sp>
      <p:sp>
        <p:nvSpPr>
          <p:cNvPr id="40" name="Text 38"/>
          <p:cNvSpPr txBox="1"/>
          <p:nvPr/>
        </p:nvSpPr>
        <p:spPr>
          <a:xfrm>
            <a:off x="548640" y="3264408"/>
            <a:ext cx="5120640" cy="292608"/>
          </a:xfrm>
          <a:prstGeom prst="rect">
            <a:avLst/>
          </a:prstGeom>
          <a:noFill/>
          <a:ln/>
        </p:spPr>
        <p:txBody>
          <a:bodyPr wrap="square" lIns="0" tIns="0" rIns="0" bIns="0" rtlCol="0" anchor="ctr"/>
          <a:lstStyle/>
          <a:p>
            <a:pPr indent="0" marL="0">
              <a:buNone/>
            </a:pPr>
            <a:r>
              <a:rPr lang="en-US" sz="1200" dirty="0">
                <a:solidFill>
                  <a:schemeClr val="tx1"/>
                </a:solidFill>
              </a:rPr>
              <a:t>Tense 4r* NLA vs OL (secondary); text-only decoders; natural col vs TextNLA</a:t>
            </a:r>
            <a:endParaRPr lang="en-US" sz="1200" dirty="0"/>
          </a:p>
        </p:txBody>
      </p:sp>
      <p:sp>
        <p:nvSpPr>
          <p:cNvPr id="41" name="Shape 39"/>
          <p:cNvSpPr/>
          <p:nvPr/>
        </p:nvSpPr>
        <p:spPr>
          <a:xfrm>
            <a:off x="7057796" y="3300984"/>
            <a:ext cx="347015" cy="219456"/>
          </a:xfrm>
          <a:prstGeom prst="roundRect">
            <a:avLst>
              <a:gd name="adj" fmla="val 25000"/>
            </a:avLst>
          </a:prstGeom>
          <a:solidFill>
            <a:schemeClr val="accent4"/>
          </a:solidFill>
          <a:ln w="12700">
            <a:solidFill>
              <a:schemeClr val="accent4"/>
            </a:solidFill>
            <a:prstDash val="solid"/>
          </a:ln>
        </p:spPr>
      </p:sp>
      <p:sp>
        <p:nvSpPr>
          <p:cNvPr id="42" name="Text 40"/>
          <p:cNvSpPr txBox="1"/>
          <p:nvPr/>
        </p:nvSpPr>
        <p:spPr>
          <a:xfrm>
            <a:off x="548640" y="362102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First figures; one-page interim for Fable / Neel</a:t>
            </a:r>
            <a:endParaRPr lang="en-US" sz="1200" dirty="0"/>
          </a:p>
        </p:txBody>
      </p:sp>
      <p:sp>
        <p:nvSpPr>
          <p:cNvPr id="43" name="Shape 41"/>
          <p:cNvSpPr/>
          <p:nvPr/>
        </p:nvSpPr>
        <p:spPr>
          <a:xfrm>
            <a:off x="7477963" y="3657600"/>
            <a:ext cx="347015" cy="219456"/>
          </a:xfrm>
          <a:prstGeom prst="roundRect">
            <a:avLst>
              <a:gd name="adj" fmla="val 25000"/>
            </a:avLst>
          </a:prstGeom>
          <a:solidFill>
            <a:schemeClr val="accent5"/>
          </a:solidFill>
          <a:ln w="12700">
            <a:solidFill>
              <a:schemeClr val="accent5"/>
            </a:solidFill>
            <a:prstDash val="solid"/>
          </a:ln>
        </p:spPr>
      </p:sp>
      <p:sp>
        <p:nvSpPr>
          <p:cNvPr id="44" name="Text 42"/>
          <p:cNvSpPr txBox="1"/>
          <p:nvPr/>
        </p:nvSpPr>
        <p:spPr>
          <a:xfrm>
            <a:off x="548640" y="3977640"/>
            <a:ext cx="5120640" cy="292608"/>
          </a:xfrm>
          <a:prstGeom prst="rect">
            <a:avLst/>
          </a:prstGeom>
          <a:noFill/>
          <a:ln/>
        </p:spPr>
        <p:txBody>
          <a:bodyPr wrap="square" lIns="0" tIns="0" rIns="0" bIns="0" rtlCol="0" anchor="ctr"/>
          <a:lstStyle/>
          <a:p>
            <a:pPr indent="0" marL="0">
              <a:buNone/>
            </a:pPr>
            <a:r>
              <a:rPr lang="en-US" sz="1200" dirty="0">
                <a:solidFill>
                  <a:schemeClr val="tx1"/>
                </a:solidFill>
              </a:rPr>
              <a:t>Planted intermediates (α ≤ 1.5 primary); free-form rewrites</a:t>
            </a:r>
            <a:endParaRPr lang="en-US" sz="1200" dirty="0"/>
          </a:p>
        </p:txBody>
      </p:sp>
      <p:sp>
        <p:nvSpPr>
          <p:cNvPr id="45" name="Shape 43"/>
          <p:cNvSpPr/>
          <p:nvPr/>
        </p:nvSpPr>
        <p:spPr>
          <a:xfrm>
            <a:off x="7898130" y="4014216"/>
            <a:ext cx="767182" cy="219456"/>
          </a:xfrm>
          <a:prstGeom prst="roundRect">
            <a:avLst>
              <a:gd name="adj" fmla="val 25000"/>
            </a:avLst>
          </a:prstGeom>
          <a:solidFill>
            <a:schemeClr val="accent3"/>
          </a:solidFill>
          <a:ln w="12700">
            <a:solidFill>
              <a:schemeClr val="accent3"/>
            </a:solidFill>
            <a:prstDash val="solid"/>
          </a:ln>
        </p:spPr>
      </p:sp>
      <p:sp>
        <p:nvSpPr>
          <p:cNvPr id="46" name="Shape 44"/>
          <p:cNvSpPr/>
          <p:nvPr/>
        </p:nvSpPr>
        <p:spPr>
          <a:xfrm>
            <a:off x="8555584" y="3995928"/>
            <a:ext cx="256032" cy="256032"/>
          </a:xfrm>
          <a:prstGeom prst="diamond">
            <a:avLst/>
          </a:prstGeom>
          <a:solidFill>
            <a:schemeClr val="tx1"/>
          </a:solidFill>
          <a:ln w="12700">
            <a:solidFill>
              <a:schemeClr val="bg1"/>
            </a:solidFill>
            <a:prstDash val="solid"/>
          </a:ln>
        </p:spPr>
      </p:sp>
      <p:sp>
        <p:nvSpPr>
          <p:cNvPr id="47" name="Text 45"/>
          <p:cNvSpPr txBox="1"/>
          <p:nvPr/>
        </p:nvSpPr>
        <p:spPr>
          <a:xfrm>
            <a:off x="8829904" y="3977640"/>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K4</a:t>
            </a:r>
            <a:endParaRPr lang="en-US" sz="1000" dirty="0"/>
          </a:p>
        </p:txBody>
      </p:sp>
      <p:sp>
        <p:nvSpPr>
          <p:cNvPr id="48" name="Text 46"/>
          <p:cNvSpPr txBox="1"/>
          <p:nvPr/>
        </p:nvSpPr>
        <p:spPr>
          <a:xfrm>
            <a:off x="548640" y="4334256"/>
            <a:ext cx="5120640" cy="292608"/>
          </a:xfrm>
          <a:prstGeom prst="rect">
            <a:avLst/>
          </a:prstGeom>
          <a:noFill/>
          <a:ln/>
        </p:spPr>
        <p:txBody>
          <a:bodyPr wrap="square" lIns="0" tIns="0" rIns="0" bIns="0" rtlCol="0" anchor="ctr"/>
          <a:lstStyle/>
          <a:p>
            <a:pPr indent="0" marL="0">
              <a:buNone/>
            </a:pPr>
            <a:r>
              <a:rPr lang="en-US" sz="1200" dirty="0">
                <a:solidFill>
                  <a:schemeClr val="tx1"/>
                </a:solidFill>
              </a:rPr>
              <a:t>Re-solver consistency (e), judges, human-label κ</a:t>
            </a:r>
            <a:endParaRPr lang="en-US" sz="1200" dirty="0"/>
          </a:p>
        </p:txBody>
      </p:sp>
      <p:sp>
        <p:nvSpPr>
          <p:cNvPr id="49" name="Shape 47"/>
          <p:cNvSpPr/>
          <p:nvPr/>
        </p:nvSpPr>
        <p:spPr>
          <a:xfrm>
            <a:off x="8738464" y="4370832"/>
            <a:ext cx="347015" cy="219456"/>
          </a:xfrm>
          <a:prstGeom prst="roundRect">
            <a:avLst>
              <a:gd name="adj" fmla="val 25000"/>
            </a:avLst>
          </a:prstGeom>
          <a:solidFill>
            <a:schemeClr val="accent4"/>
          </a:solidFill>
          <a:ln w="12700">
            <a:solidFill>
              <a:schemeClr val="accent4"/>
            </a:solidFill>
            <a:prstDash val="solid"/>
          </a:ln>
        </p:spPr>
      </p:sp>
      <p:sp>
        <p:nvSpPr>
          <p:cNvPr id="50" name="Text 48"/>
          <p:cNvSpPr txBox="1"/>
          <p:nvPr/>
        </p:nvSpPr>
        <p:spPr>
          <a:xfrm>
            <a:off x="548640" y="4690872"/>
            <a:ext cx="5120640" cy="292608"/>
          </a:xfrm>
          <a:prstGeom prst="rect">
            <a:avLst/>
          </a:prstGeom>
          <a:noFill/>
          <a:ln/>
        </p:spPr>
        <p:txBody>
          <a:bodyPr wrap="square" lIns="0" tIns="0" rIns="0" bIns="0" rtlCol="0" anchor="ctr"/>
          <a:lstStyle/>
          <a:p>
            <a:pPr indent="0" marL="0">
              <a:buNone/>
            </a:pPr>
            <a:r>
              <a:rPr lang="en-US" sz="1200" dirty="0">
                <a:solidFill>
                  <a:schemeClr val="tx1"/>
                </a:solidFill>
              </a:rPr>
              <a:t>Robustness: rank sweep, both lenses, OL@40/44, NLA iter 300, templates</a:t>
            </a:r>
            <a:endParaRPr lang="en-US" sz="1200" dirty="0"/>
          </a:p>
        </p:txBody>
      </p:sp>
      <p:sp>
        <p:nvSpPr>
          <p:cNvPr id="51" name="Shape 49"/>
          <p:cNvSpPr/>
          <p:nvPr/>
        </p:nvSpPr>
        <p:spPr>
          <a:xfrm>
            <a:off x="9158630" y="4727448"/>
            <a:ext cx="767182" cy="219456"/>
          </a:xfrm>
          <a:prstGeom prst="roundRect">
            <a:avLst>
              <a:gd name="adj" fmla="val 25000"/>
            </a:avLst>
          </a:prstGeom>
          <a:solidFill>
            <a:schemeClr val="accent5"/>
          </a:solidFill>
          <a:ln w="12700">
            <a:solidFill>
              <a:schemeClr val="accent5"/>
            </a:solidFill>
            <a:prstDash val="solid"/>
          </a:ln>
        </p:spPr>
      </p:sp>
      <p:sp>
        <p:nvSpPr>
          <p:cNvPr id="52" name="Text 50"/>
          <p:cNvSpPr txBox="1"/>
          <p:nvPr/>
        </p:nvSpPr>
        <p:spPr>
          <a:xfrm>
            <a:off x="548640" y="5047488"/>
            <a:ext cx="5120640" cy="292608"/>
          </a:xfrm>
          <a:prstGeom prst="rect">
            <a:avLst/>
          </a:prstGeom>
          <a:noFill/>
          <a:ln/>
        </p:spPr>
        <p:txBody>
          <a:bodyPr wrap="square" lIns="0" tIns="0" rIns="0" bIns="0" rtlCol="0" anchor="ctr"/>
          <a:lstStyle/>
          <a:p>
            <a:pPr indent="0" marL="0">
              <a:buNone/>
            </a:pPr>
            <a:r>
              <a:rPr lang="en-US" sz="1200" dirty="0">
                <a:solidFill>
                  <a:schemeClr val="tx1"/>
                </a:solidFill>
              </a:rPr>
              <a:t>Optional: 20-item split-injection replication</a:t>
            </a:r>
            <a:endParaRPr lang="en-US" sz="1200" dirty="0"/>
          </a:p>
        </p:txBody>
      </p:sp>
      <p:sp>
        <p:nvSpPr>
          <p:cNvPr id="53" name="Shape 51"/>
          <p:cNvSpPr/>
          <p:nvPr/>
        </p:nvSpPr>
        <p:spPr>
          <a:xfrm>
            <a:off x="9998964" y="5084064"/>
            <a:ext cx="347015" cy="219456"/>
          </a:xfrm>
          <a:prstGeom prst="roundRect">
            <a:avLst>
              <a:gd name="adj" fmla="val 25000"/>
            </a:avLst>
          </a:prstGeom>
          <a:solidFill>
            <a:schemeClr val="accent6"/>
          </a:solidFill>
          <a:ln w="12700">
            <a:solidFill>
              <a:schemeClr val="accent6"/>
            </a:solidFill>
            <a:prstDash val="solid"/>
          </a:ln>
        </p:spPr>
      </p:sp>
      <p:sp>
        <p:nvSpPr>
          <p:cNvPr id="54" name="Text 52"/>
          <p:cNvSpPr txBox="1"/>
          <p:nvPr/>
        </p:nvSpPr>
        <p:spPr>
          <a:xfrm>
            <a:off x="548640" y="540410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Final figures, write-up, red-team with Fable</a:t>
            </a:r>
            <a:endParaRPr lang="en-US" sz="1200" dirty="0"/>
          </a:p>
        </p:txBody>
      </p:sp>
      <p:sp>
        <p:nvSpPr>
          <p:cNvPr id="55" name="Shape 53"/>
          <p:cNvSpPr/>
          <p:nvPr/>
        </p:nvSpPr>
        <p:spPr>
          <a:xfrm>
            <a:off x="10419131" y="5440680"/>
            <a:ext cx="1187348" cy="219456"/>
          </a:xfrm>
          <a:prstGeom prst="roundRect">
            <a:avLst>
              <a:gd name="adj" fmla="val 25000"/>
            </a:avLst>
          </a:prstGeom>
          <a:solidFill>
            <a:schemeClr val="accent2"/>
          </a:solidFill>
          <a:ln w="12700">
            <a:solidFill>
              <a:schemeClr val="accent2"/>
            </a:solidFill>
            <a:prstDash val="solid"/>
          </a:ln>
        </p:spPr>
      </p:sp>
      <p:sp>
        <p:nvSpPr>
          <p:cNvPr id="56" name="Shape 54"/>
          <p:cNvSpPr/>
          <p:nvPr/>
        </p:nvSpPr>
        <p:spPr>
          <a:xfrm>
            <a:off x="548640" y="5907024"/>
            <a:ext cx="274320" cy="274320"/>
          </a:xfrm>
          <a:prstGeom prst="diamond">
            <a:avLst/>
          </a:prstGeom>
          <a:solidFill>
            <a:schemeClr val="tx1"/>
          </a:solidFill>
          <a:ln w="12700">
            <a:solidFill>
              <a:schemeClr val="tx1"/>
            </a:solidFill>
            <a:prstDash val="solid"/>
          </a:ln>
        </p:spPr>
      </p:sp>
      <p:sp>
        <p:nvSpPr>
          <p:cNvPr id="57" name="Text 55"/>
          <p:cNvSpPr txBox="1"/>
          <p:nvPr/>
        </p:nvSpPr>
        <p:spPr>
          <a:xfrm>
            <a:off x="932688"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K2  </a:t>
            </a:r>
            <a:pPr indent="0" marL="0">
              <a:buNone/>
            </a:pPr>
            <a:r>
              <a:rPr lang="en-US" sz="1250" dirty="0">
                <a:solidFill>
                  <a:schemeClr val="tx1"/>
                </a:solidFill>
              </a:rPr>
              <a:t>doses valid: FVE within margin, no leak</a:t>
            </a:r>
            <a:endParaRPr lang="en-US" sz="1250" dirty="0"/>
          </a:p>
        </p:txBody>
      </p:sp>
      <p:sp>
        <p:nvSpPr>
          <p:cNvPr id="58" name="Shape 56"/>
          <p:cNvSpPr/>
          <p:nvPr/>
        </p:nvSpPr>
        <p:spPr>
          <a:xfrm>
            <a:off x="4338218" y="5907024"/>
            <a:ext cx="274320" cy="274320"/>
          </a:xfrm>
          <a:prstGeom prst="diamond">
            <a:avLst/>
          </a:prstGeom>
          <a:solidFill>
            <a:schemeClr val="tx1"/>
          </a:solidFill>
          <a:ln w="12700">
            <a:solidFill>
              <a:schemeClr val="tx1"/>
            </a:solidFill>
            <a:prstDash val="solid"/>
          </a:ln>
        </p:spPr>
      </p:sp>
      <p:sp>
        <p:nvSpPr>
          <p:cNvPr id="59" name="Text 57"/>
          <p:cNvSpPr txBox="1"/>
          <p:nvPr/>
        </p:nvSpPr>
        <p:spPr>
          <a:xfrm>
            <a:off x="4722266"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K3  </a:t>
            </a:r>
            <a:pPr indent="0" marL="0">
              <a:buNone/>
            </a:pPr>
            <a:r>
              <a:rPr lang="en-US" sz="1250" dirty="0">
                <a:solidFill>
                  <a:schemeClr val="tx1"/>
                </a:solidFill>
              </a:rPr>
              <a:t>readers track ≥1 in-J feature at col's dose (passed in pilot)</a:t>
            </a:r>
            <a:endParaRPr lang="en-US" sz="1250" dirty="0"/>
          </a:p>
        </p:txBody>
      </p:sp>
      <p:sp>
        <p:nvSpPr>
          <p:cNvPr id="60" name="Shape 58"/>
          <p:cNvSpPr/>
          <p:nvPr/>
        </p:nvSpPr>
        <p:spPr>
          <a:xfrm>
            <a:off x="8127797" y="5907024"/>
            <a:ext cx="274320" cy="274320"/>
          </a:xfrm>
          <a:prstGeom prst="diamond">
            <a:avLst/>
          </a:prstGeom>
          <a:solidFill>
            <a:schemeClr val="tx1"/>
          </a:solidFill>
          <a:ln w="12700">
            <a:solidFill>
              <a:schemeClr val="tx1"/>
            </a:solidFill>
            <a:prstDash val="solid"/>
          </a:ln>
        </p:spPr>
      </p:sp>
      <p:sp>
        <p:nvSpPr>
          <p:cNvPr id="61" name="Text 59"/>
          <p:cNvSpPr txBox="1"/>
          <p:nvPr/>
        </p:nvSpPr>
        <p:spPr>
          <a:xfrm>
            <a:off x="8511845"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K4  </a:t>
            </a:r>
            <a:pPr indent="0" marL="0">
              <a:buNone/>
            </a:pPr>
            <a:r>
              <a:rPr lang="en-US" sz="1250" dirty="0">
                <a:solidFill>
                  <a:schemeClr val="tx1"/>
                </a:solidFill>
              </a:rPr>
              <a:t>≥60 valid planted items (431 in prep; 109 at α ≤ 1.5)</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Contributions so far, and what would change our minds</a:t>
            </a:r>
            <a:endParaRPr lang="en-US" sz="3000" dirty="0"/>
          </a:p>
        </p:txBody>
      </p:sp>
      <p:sp>
        <p:nvSpPr>
          <p:cNvPr id="3" name="Text 1"/>
          <p:cNvSpPr txBox="1"/>
          <p:nvPr/>
        </p:nvSpPr>
        <p:spPr>
          <a:xfrm>
            <a:off x="548640" y="1600200"/>
            <a:ext cx="66751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CONTRIBUTIONS</a:t>
            </a:r>
            <a:endParaRPr lang="en-US" sz="1200" dirty="0"/>
          </a:p>
        </p:txBody>
      </p:sp>
      <p:sp>
        <p:nvSpPr>
          <p:cNvPr id="4" name="Shape 2"/>
          <p:cNvSpPr/>
          <p:nvPr/>
        </p:nvSpPr>
        <p:spPr>
          <a:xfrm>
            <a:off x="548640" y="1965960"/>
            <a:ext cx="365760" cy="365760"/>
          </a:xfrm>
          <a:prstGeom prst="ellipse">
            <a:avLst/>
          </a:prstGeom>
          <a:solidFill>
            <a:schemeClr val="accent4"/>
          </a:solidFill>
          <a:ln w="12700">
            <a:solidFill>
              <a:schemeClr val="accent4"/>
            </a:solidFill>
            <a:prstDash val="solid"/>
          </a:ln>
        </p:spPr>
      </p:sp>
      <p:sp>
        <p:nvSpPr>
          <p:cNvPr id="5" name="Text 3"/>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929384"/>
            <a:ext cx="6126480" cy="914400"/>
          </a:xfrm>
          <a:prstGeom prst="rect">
            <a:avLst/>
          </a:prstGeom>
          <a:noFill/>
          <a:ln/>
        </p:spPr>
        <p:txBody>
          <a:bodyPr wrap="square" lIns="0" tIns="0" rIns="0" bIns="0" rtlCol="0" anchor="t"/>
          <a:lstStyle/>
          <a:p>
            <a:pPr indent="0" marL="0">
              <a:buNone/>
            </a:pPr>
            <a:r>
              <a:rPr lang="en-US" sz="1450" dirty="0">
                <a:solidFill>
                  <a:schemeClr val="bg1"/>
                </a:solidFill>
              </a:rPr>
              <a:t>A calibrated, random-subspace-controlled gate for 'non-workspace' content (the standard survival test is uninformative), and a survey: on Qwen L42 the non-J content the model uses is positional.</a:t>
            </a:r>
            <a:endParaRPr lang="en-US" sz="1450" dirty="0"/>
          </a:p>
        </p:txBody>
      </p:sp>
      <p:sp>
        <p:nvSpPr>
          <p:cNvPr id="7" name="Shape 5"/>
          <p:cNvSpPr/>
          <p:nvPr/>
        </p:nvSpPr>
        <p:spPr>
          <a:xfrm>
            <a:off x="548640" y="2953512"/>
            <a:ext cx="365760" cy="365760"/>
          </a:xfrm>
          <a:prstGeom prst="ellipse">
            <a:avLst/>
          </a:prstGeom>
          <a:solidFill>
            <a:schemeClr val="accent3"/>
          </a:solidFill>
          <a:ln w="12700">
            <a:solidFill>
              <a:schemeClr val="accent3"/>
            </a:solidFill>
            <a:prstDash val="solid"/>
          </a:ln>
        </p:spPr>
      </p:sp>
      <p:sp>
        <p:nvSpPr>
          <p:cNvPr id="8" name="Text 6"/>
          <p:cNvSpPr txBox="1"/>
          <p:nvPr/>
        </p:nvSpPr>
        <p:spPr>
          <a:xfrm>
            <a:off x="548640" y="29535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916936"/>
            <a:ext cx="6126480" cy="914400"/>
          </a:xfrm>
          <a:prstGeom prst="rect">
            <a:avLst/>
          </a:prstGeom>
          <a:noFill/>
          <a:ln/>
        </p:spPr>
        <p:txBody>
          <a:bodyPr wrap="square" lIns="0" tIns="0" rIns="0" bIns="0" rtlCol="0" anchor="t"/>
          <a:lstStyle/>
          <a:p>
            <a:pPr indent="0" marL="0">
              <a:buNone/>
            </a:pPr>
            <a:r>
              <a:rPr lang="en-US" sz="1450" dirty="0">
                <a:solidFill>
                  <a:schemeClr val="bg1"/>
                </a:solidFill>
              </a:rPr>
              <a:t>A text-fixed causal pipeline (centred steering, null bands, two-sided leak detector, matched-dose controls) and its first answer: decoders read workspace features but not col.</a:t>
            </a:r>
            <a:endParaRPr lang="en-US" sz="1450" dirty="0"/>
          </a:p>
        </p:txBody>
      </p:sp>
      <p:sp>
        <p:nvSpPr>
          <p:cNvPr id="10" name="Shape 8"/>
          <p:cNvSpPr/>
          <p:nvPr/>
        </p:nvSpPr>
        <p:spPr>
          <a:xfrm>
            <a:off x="548640" y="3941064"/>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904488"/>
            <a:ext cx="6126480" cy="914400"/>
          </a:xfrm>
          <a:prstGeom prst="rect">
            <a:avLst/>
          </a:prstGeom>
          <a:noFill/>
          <a:ln/>
        </p:spPr>
        <p:txBody>
          <a:bodyPr wrap="square" lIns="0" tIns="0" rIns="0" bIns="0" rtlCol="0" anchor="t"/>
          <a:lstStyle/>
          <a:p>
            <a:pPr indent="0" marL="0">
              <a:buNone/>
            </a:pPr>
            <a:r>
              <a:rPr lang="en-US" sz="1450" dirty="0">
                <a:solidFill>
                  <a:schemeClr val="bg1"/>
                </a:solidFill>
              </a:rPr>
              <a:t>Evidence that the NLA generates rather than re-solves: it reads the tail of verbalisable features and rewrites the prompt to fit the latent.</a:t>
            </a:r>
            <a:endParaRPr lang="en-US" sz="1450" dirty="0"/>
          </a:p>
        </p:txBody>
      </p:sp>
      <p:sp>
        <p:nvSpPr>
          <p:cNvPr id="13" name="Shape 11"/>
          <p:cNvSpPr/>
          <p:nvPr/>
        </p:nvSpPr>
        <p:spPr>
          <a:xfrm>
            <a:off x="548640" y="4928616"/>
            <a:ext cx="365760" cy="365760"/>
          </a:xfrm>
          <a:prstGeom prst="ellipse">
            <a:avLst/>
          </a:prstGeom>
          <a:solidFill>
            <a:schemeClr val="accent2"/>
          </a:solidFill>
          <a:ln w="12700">
            <a:solidFill>
              <a:schemeClr val="accent2"/>
            </a:solidFill>
            <a:prstDash val="solid"/>
          </a:ln>
        </p:spPr>
      </p:sp>
      <p:sp>
        <p:nvSpPr>
          <p:cNvPr id="14" name="Text 12"/>
          <p:cNvSpPr txBox="1"/>
          <p:nvPr/>
        </p:nvSpPr>
        <p:spPr>
          <a:xfrm>
            <a:off x="548640" y="49286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4892040"/>
            <a:ext cx="6126480" cy="914400"/>
          </a:xfrm>
          <a:prstGeom prst="rect">
            <a:avLst/>
          </a:prstGeom>
          <a:noFill/>
          <a:ln/>
        </p:spPr>
        <p:txBody>
          <a:bodyPr wrap="square" lIns="0" tIns="0" rIns="0" bIns="0" rtlCol="0" anchor="t"/>
          <a:lstStyle/>
          <a:p>
            <a:pPr indent="0" marL="0">
              <a:buNone/>
            </a:pPr>
            <a:r>
              <a:rPr lang="en-US" sz="1450" dirty="0">
                <a:solidFill>
                  <a:schemeClr val="bg1"/>
                </a:solidFill>
              </a:rPr>
              <a:t>WorkspaceBench successes at layer 42 are matched by a text-only model; OL's published lead is a best-of-11-layers effect.</a:t>
            </a:r>
            <a:endParaRPr lang="en-US" sz="1450" dirty="0"/>
          </a:p>
        </p:txBody>
      </p:sp>
      <p:sp>
        <p:nvSpPr>
          <p:cNvPr id="16" name="Text 14"/>
          <p:cNvSpPr txBox="1"/>
          <p:nvPr/>
        </p:nvSpPr>
        <p:spPr>
          <a:xfrm>
            <a:off x="7680960" y="1600200"/>
            <a:ext cx="3962095"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WHAT WOULD CHANGE OUR MINDS</a:t>
            </a:r>
            <a:endParaRPr lang="en-US" sz="1200" dirty="0"/>
          </a:p>
        </p:txBody>
      </p:sp>
      <p:sp>
        <p:nvSpPr>
          <p:cNvPr id="17" name="Shape 15"/>
          <p:cNvSpPr/>
          <p:nvPr/>
        </p:nvSpPr>
        <p:spPr>
          <a:xfrm>
            <a:off x="7680960" y="196596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18" name="Text 16"/>
          <p:cNvSpPr txBox="1"/>
          <p:nvPr/>
        </p:nvSpPr>
        <p:spPr>
          <a:xfrm>
            <a:off x="7827264" y="211226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reader tracking col, or the next digit, at a leak-free dose in the main run.</a:t>
            </a:r>
            <a:endParaRPr lang="en-US" sz="1400" dirty="0"/>
          </a:p>
        </p:txBody>
      </p:sp>
      <p:sp>
        <p:nvSpPr>
          <p:cNvPr id="19" name="Shape 17"/>
          <p:cNvSpPr/>
          <p:nvPr/>
        </p:nvSpPr>
        <p:spPr>
          <a:xfrm>
            <a:off x="7680960" y="306324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0" name="Text 18"/>
          <p:cNvSpPr txBox="1"/>
          <p:nvPr/>
        </p:nvSpPr>
        <p:spPr>
          <a:xfrm>
            <a:off x="7827264" y="320954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second non-J feature that is not a count, on another model or layer.</a:t>
            </a:r>
            <a:endParaRPr lang="en-US" sz="1400" dirty="0"/>
          </a:p>
        </p:txBody>
      </p:sp>
      <p:sp>
        <p:nvSpPr>
          <p:cNvPr id="21" name="Shape 19"/>
          <p:cNvSpPr/>
          <p:nvPr/>
        </p:nvSpPr>
        <p:spPr>
          <a:xfrm>
            <a:off x="7680960" y="416052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2" name="Text 20"/>
          <p:cNvSpPr txBox="1"/>
          <p:nvPr/>
        </p:nvSpPr>
        <p:spPr>
          <a:xfrm>
            <a:off x="7827264" y="430682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Readout-only re-solving succeeding where every prompt-based arm fails (check e).</a:t>
            </a:r>
            <a:endParaRPr lang="en-US" sz="1400" dirty="0"/>
          </a:p>
        </p:txBody>
      </p:sp>
      <p:sp>
        <p:nvSpPr>
          <p:cNvPr id="23" name="Shape 21"/>
          <p:cNvSpPr/>
          <p:nvPr/>
        </p:nvSpPr>
        <p:spPr>
          <a:xfrm>
            <a:off x="731520" y="6035040"/>
            <a:ext cx="10728655" cy="914"/>
          </a:xfrm>
          <a:prstGeom prst="line">
            <a:avLst/>
          </a:prstGeom>
          <a:noFill/>
          <a:ln w="15875">
            <a:solidFill>
              <a:schemeClr val="accent5"/>
            </a:solidFill>
            <a:prstDash val="solid"/>
          </a:ln>
        </p:spPr>
      </p:sp>
      <p:sp>
        <p:nvSpPr>
          <p:cNvPr id="24" name="Shape 22"/>
          <p:cNvSpPr/>
          <p:nvPr/>
        </p:nvSpPr>
        <p:spPr>
          <a:xfrm>
            <a:off x="690372" y="5993892"/>
            <a:ext cx="82296" cy="82296"/>
          </a:xfrm>
          <a:prstGeom prst="ellipse">
            <a:avLst/>
          </a:prstGeom>
          <a:solidFill>
            <a:schemeClr val="accent5"/>
          </a:solidFill>
          <a:ln w="12700">
            <a:solidFill>
              <a:schemeClr val="accent5"/>
            </a:solidFill>
            <a:prstDash val="solid"/>
          </a:ln>
        </p:spPr>
      </p:sp>
      <p:sp>
        <p:nvSpPr>
          <p:cNvPr id="25" name="Shape 23"/>
          <p:cNvSpPr/>
          <p:nvPr/>
        </p:nvSpPr>
        <p:spPr>
          <a:xfrm>
            <a:off x="1405616" y="5993892"/>
            <a:ext cx="82296" cy="82296"/>
          </a:xfrm>
          <a:prstGeom prst="ellipse">
            <a:avLst/>
          </a:prstGeom>
          <a:solidFill>
            <a:schemeClr val="accent5"/>
          </a:solidFill>
          <a:ln w="12700">
            <a:solidFill>
              <a:schemeClr val="accent5"/>
            </a:solidFill>
            <a:prstDash val="solid"/>
          </a:ln>
        </p:spPr>
      </p:sp>
      <p:sp>
        <p:nvSpPr>
          <p:cNvPr id="26" name="Shape 24"/>
          <p:cNvSpPr/>
          <p:nvPr/>
        </p:nvSpPr>
        <p:spPr>
          <a:xfrm>
            <a:off x="2120859" y="5993892"/>
            <a:ext cx="82296" cy="82296"/>
          </a:xfrm>
          <a:prstGeom prst="ellipse">
            <a:avLst/>
          </a:prstGeom>
          <a:solidFill>
            <a:schemeClr val="accent5"/>
          </a:solidFill>
          <a:ln w="12700">
            <a:solidFill>
              <a:schemeClr val="accent5"/>
            </a:solidFill>
            <a:prstDash val="solid"/>
          </a:ln>
        </p:spPr>
      </p:sp>
      <p:sp>
        <p:nvSpPr>
          <p:cNvPr id="27" name="Shape 25"/>
          <p:cNvSpPr/>
          <p:nvPr/>
        </p:nvSpPr>
        <p:spPr>
          <a:xfrm>
            <a:off x="2836103" y="5993892"/>
            <a:ext cx="82296" cy="82296"/>
          </a:xfrm>
          <a:prstGeom prst="ellipse">
            <a:avLst/>
          </a:prstGeom>
          <a:solidFill>
            <a:schemeClr val="accent5"/>
          </a:solidFill>
          <a:ln w="12700">
            <a:solidFill>
              <a:schemeClr val="accent5"/>
            </a:solidFill>
            <a:prstDash val="solid"/>
          </a:ln>
        </p:spPr>
      </p:sp>
      <p:sp>
        <p:nvSpPr>
          <p:cNvPr id="28" name="Shape 26"/>
          <p:cNvSpPr/>
          <p:nvPr/>
        </p:nvSpPr>
        <p:spPr>
          <a:xfrm>
            <a:off x="3551347" y="5993892"/>
            <a:ext cx="82296" cy="82296"/>
          </a:xfrm>
          <a:prstGeom prst="ellipse">
            <a:avLst/>
          </a:prstGeom>
          <a:solidFill>
            <a:schemeClr val="accent5"/>
          </a:solidFill>
          <a:ln w="12700">
            <a:solidFill>
              <a:schemeClr val="accent5"/>
            </a:solidFill>
            <a:prstDash val="solid"/>
          </a:ln>
        </p:spPr>
      </p:sp>
      <p:sp>
        <p:nvSpPr>
          <p:cNvPr id="29" name="Shape 27"/>
          <p:cNvSpPr/>
          <p:nvPr/>
        </p:nvSpPr>
        <p:spPr>
          <a:xfrm>
            <a:off x="4266590" y="5993892"/>
            <a:ext cx="82296" cy="82296"/>
          </a:xfrm>
          <a:prstGeom prst="ellipse">
            <a:avLst/>
          </a:prstGeom>
          <a:solidFill>
            <a:schemeClr val="accent5"/>
          </a:solidFill>
          <a:ln w="12700">
            <a:solidFill>
              <a:schemeClr val="accent5"/>
            </a:solidFill>
            <a:prstDash val="solid"/>
          </a:ln>
        </p:spPr>
      </p:sp>
      <p:sp>
        <p:nvSpPr>
          <p:cNvPr id="30" name="Shape 28"/>
          <p:cNvSpPr/>
          <p:nvPr/>
        </p:nvSpPr>
        <p:spPr>
          <a:xfrm>
            <a:off x="4981834" y="5993892"/>
            <a:ext cx="82296" cy="82296"/>
          </a:xfrm>
          <a:prstGeom prst="ellipse">
            <a:avLst/>
          </a:prstGeom>
          <a:solidFill>
            <a:schemeClr val="accent5"/>
          </a:solidFill>
          <a:ln w="12700">
            <a:solidFill>
              <a:schemeClr val="accent5"/>
            </a:solidFill>
            <a:prstDash val="solid"/>
          </a:ln>
        </p:spPr>
      </p:sp>
      <p:sp>
        <p:nvSpPr>
          <p:cNvPr id="31" name="Shape 29"/>
          <p:cNvSpPr/>
          <p:nvPr/>
        </p:nvSpPr>
        <p:spPr>
          <a:xfrm>
            <a:off x="5697078" y="5993892"/>
            <a:ext cx="82296" cy="82296"/>
          </a:xfrm>
          <a:prstGeom prst="ellipse">
            <a:avLst/>
          </a:prstGeom>
          <a:solidFill>
            <a:schemeClr val="accent5"/>
          </a:solidFill>
          <a:ln w="12700">
            <a:solidFill>
              <a:schemeClr val="accent5"/>
            </a:solidFill>
            <a:prstDash val="solid"/>
          </a:ln>
        </p:spPr>
      </p:sp>
      <p:sp>
        <p:nvSpPr>
          <p:cNvPr id="32" name="Shape 30"/>
          <p:cNvSpPr/>
          <p:nvPr/>
        </p:nvSpPr>
        <p:spPr>
          <a:xfrm>
            <a:off x="6412321" y="5993892"/>
            <a:ext cx="82296" cy="82296"/>
          </a:xfrm>
          <a:prstGeom prst="ellipse">
            <a:avLst/>
          </a:prstGeom>
          <a:solidFill>
            <a:schemeClr val="accent5"/>
          </a:solidFill>
          <a:ln w="12700">
            <a:solidFill>
              <a:schemeClr val="accent5"/>
            </a:solidFill>
            <a:prstDash val="solid"/>
          </a:ln>
        </p:spPr>
      </p:sp>
      <p:sp>
        <p:nvSpPr>
          <p:cNvPr id="33" name="Shape 31"/>
          <p:cNvSpPr/>
          <p:nvPr/>
        </p:nvSpPr>
        <p:spPr>
          <a:xfrm>
            <a:off x="7127565" y="5993892"/>
            <a:ext cx="82296" cy="82296"/>
          </a:xfrm>
          <a:prstGeom prst="ellipse">
            <a:avLst/>
          </a:prstGeom>
          <a:solidFill>
            <a:schemeClr val="accent5"/>
          </a:solidFill>
          <a:ln w="12700">
            <a:solidFill>
              <a:schemeClr val="accent5"/>
            </a:solidFill>
            <a:prstDash val="solid"/>
          </a:ln>
        </p:spPr>
      </p:sp>
      <p:sp>
        <p:nvSpPr>
          <p:cNvPr id="34" name="Shape 32"/>
          <p:cNvSpPr/>
          <p:nvPr/>
        </p:nvSpPr>
        <p:spPr>
          <a:xfrm>
            <a:off x="7842809" y="5993892"/>
            <a:ext cx="82296" cy="82296"/>
          </a:xfrm>
          <a:prstGeom prst="ellipse">
            <a:avLst/>
          </a:prstGeom>
          <a:solidFill>
            <a:schemeClr val="accent5"/>
          </a:solidFill>
          <a:ln w="12700">
            <a:solidFill>
              <a:schemeClr val="accent5"/>
            </a:solidFill>
            <a:prstDash val="solid"/>
          </a:ln>
        </p:spPr>
      </p:sp>
      <p:sp>
        <p:nvSpPr>
          <p:cNvPr id="35" name="Shape 33"/>
          <p:cNvSpPr/>
          <p:nvPr/>
        </p:nvSpPr>
        <p:spPr>
          <a:xfrm>
            <a:off x="8558052" y="5993892"/>
            <a:ext cx="82296" cy="82296"/>
          </a:xfrm>
          <a:prstGeom prst="ellipse">
            <a:avLst/>
          </a:prstGeom>
          <a:solidFill>
            <a:schemeClr val="accent5"/>
          </a:solidFill>
          <a:ln w="12700">
            <a:solidFill>
              <a:schemeClr val="accent5"/>
            </a:solidFill>
            <a:prstDash val="solid"/>
          </a:ln>
        </p:spPr>
      </p:sp>
      <p:sp>
        <p:nvSpPr>
          <p:cNvPr id="36" name="Shape 34"/>
          <p:cNvSpPr/>
          <p:nvPr/>
        </p:nvSpPr>
        <p:spPr>
          <a:xfrm>
            <a:off x="9273296" y="5993892"/>
            <a:ext cx="82296" cy="82296"/>
          </a:xfrm>
          <a:prstGeom prst="ellipse">
            <a:avLst/>
          </a:prstGeom>
          <a:solidFill>
            <a:schemeClr val="accent5"/>
          </a:solidFill>
          <a:ln w="12700">
            <a:solidFill>
              <a:schemeClr val="accent5"/>
            </a:solidFill>
            <a:prstDash val="solid"/>
          </a:ln>
        </p:spPr>
      </p:sp>
      <p:sp>
        <p:nvSpPr>
          <p:cNvPr id="37" name="Shape 35"/>
          <p:cNvSpPr/>
          <p:nvPr/>
        </p:nvSpPr>
        <p:spPr>
          <a:xfrm>
            <a:off x="9988540" y="5993892"/>
            <a:ext cx="82296" cy="82296"/>
          </a:xfrm>
          <a:prstGeom prst="ellipse">
            <a:avLst/>
          </a:prstGeom>
          <a:solidFill>
            <a:schemeClr val="accent5"/>
          </a:solidFill>
          <a:ln w="12700">
            <a:solidFill>
              <a:schemeClr val="accent5"/>
            </a:solidFill>
            <a:prstDash val="solid"/>
          </a:ln>
        </p:spPr>
      </p:sp>
      <p:sp>
        <p:nvSpPr>
          <p:cNvPr id="38" name="Shape 36"/>
          <p:cNvSpPr/>
          <p:nvPr/>
        </p:nvSpPr>
        <p:spPr>
          <a:xfrm>
            <a:off x="10703784" y="5993892"/>
            <a:ext cx="82296" cy="82296"/>
          </a:xfrm>
          <a:prstGeom prst="ellipse">
            <a:avLst/>
          </a:prstGeom>
          <a:solidFill>
            <a:schemeClr val="accent5"/>
          </a:solidFill>
          <a:ln w="12700">
            <a:solidFill>
              <a:schemeClr val="accent5"/>
            </a:solidFill>
            <a:prstDash val="solid"/>
          </a:ln>
        </p:spPr>
      </p:sp>
      <p:sp>
        <p:nvSpPr>
          <p:cNvPr id="39" name="Shape 37"/>
          <p:cNvSpPr/>
          <p:nvPr/>
        </p:nvSpPr>
        <p:spPr>
          <a:xfrm>
            <a:off x="11419027" y="5993892"/>
            <a:ext cx="82296" cy="82296"/>
          </a:xfrm>
          <a:prstGeom prst="ellipse">
            <a:avLst/>
          </a:prstGeom>
          <a:solidFill>
            <a:schemeClr val="accent5"/>
          </a:solidFill>
          <a:ln w="12700">
            <a:solidFill>
              <a:schemeClr val="accent5"/>
            </a:solidFill>
            <a:prstDash val="solid"/>
          </a:ln>
        </p:spPr>
      </p:sp>
      <p:sp>
        <p:nvSpPr>
          <p:cNvPr id="40" name="Shape 38"/>
          <p:cNvSpPr/>
          <p:nvPr/>
        </p:nvSpPr>
        <p:spPr>
          <a:xfrm>
            <a:off x="7509053" y="5934456"/>
            <a:ext cx="201168" cy="201168"/>
          </a:xfrm>
          <a:prstGeom prst="ellipse">
            <a:avLst/>
          </a:prstGeom>
          <a:solidFill>
            <a:schemeClr val="accent1"/>
          </a:solidFill>
          <a:ln w="19050">
            <a:solidFill>
              <a:schemeClr val="tx2"/>
            </a:solidFill>
            <a:prstDash val="solid"/>
          </a:ln>
        </p:spPr>
      </p:sp>
      <p:sp>
        <p:nvSpPr>
          <p:cNvPr id="41" name="Shape 39"/>
          <p:cNvSpPr/>
          <p:nvPr/>
        </p:nvSpPr>
        <p:spPr>
          <a:xfrm>
            <a:off x="7783373" y="5934456"/>
            <a:ext cx="201168" cy="201168"/>
          </a:xfrm>
          <a:prstGeom prst="ellipse">
            <a:avLst/>
          </a:prstGeom>
          <a:solidFill>
            <a:schemeClr val="accent2"/>
          </a:solidFill>
          <a:ln w="19050">
            <a:solidFill>
              <a:schemeClr val="tx2"/>
            </a:solidFill>
            <a:prstDash val="solid"/>
          </a:ln>
        </p:spPr>
      </p:sp>
      <p:sp>
        <p:nvSpPr>
          <p:cNvPr id="42" name="Shape 40"/>
          <p:cNvSpPr/>
          <p:nvPr/>
        </p:nvSpPr>
        <p:spPr>
          <a:xfrm>
            <a:off x="8057693" y="5934456"/>
            <a:ext cx="201168" cy="201168"/>
          </a:xfrm>
          <a:prstGeom prst="ellipse">
            <a:avLst/>
          </a:prstGeom>
          <a:solidFill>
            <a:schemeClr val="accent3"/>
          </a:solidFill>
          <a:ln w="19050">
            <a:solidFill>
              <a:schemeClr val="tx2"/>
            </a:solidFill>
            <a:prstDash val="solid"/>
          </a:ln>
        </p:spPr>
      </p:sp>
      <p:sp>
        <p:nvSpPr>
          <p:cNvPr id="43" name="Text 41"/>
          <p:cNvSpPr txBox="1"/>
          <p:nvPr/>
        </p:nvSpPr>
        <p:spPr>
          <a:xfrm>
            <a:off x="7335317" y="619963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A</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Appendix</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Decision log · pilot re-analysis · outcome map · costs · glossary · settings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DECISION LOG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Twenty-one logged decisions in two days of prep (5–6 October)</a:t>
            </a:r>
            <a:endParaRPr lang="en-US" sz="2800" dirty="0"/>
          </a:p>
        </p:txBody>
      </p:sp>
      <p:sp>
        <p:nvSpPr>
          <p:cNvPr id="7" name="Shape 5"/>
          <p:cNvSpPr/>
          <p:nvPr/>
        </p:nvSpPr>
        <p:spPr>
          <a:xfrm>
            <a:off x="548640" y="1645920"/>
            <a:ext cx="1005840" cy="292608"/>
          </a:xfrm>
          <a:prstGeom prst="roundRect">
            <a:avLst>
              <a:gd name="adj" fmla="val 46875"/>
            </a:avLst>
          </a:prstGeom>
          <a:solidFill>
            <a:schemeClr val="tx2"/>
          </a:solidFill>
          <a:ln w="12700">
            <a:solidFill>
              <a:schemeClr val="tx2"/>
            </a:solidFill>
            <a:prstDash val="solid"/>
          </a:ln>
        </p:spPr>
      </p:sp>
      <p:sp>
        <p:nvSpPr>
          <p:cNvPr id="8" name="Text 6"/>
          <p:cNvSpPr txBox="1"/>
          <p:nvPr/>
        </p:nvSpPr>
        <p:spPr>
          <a:xfrm>
            <a:off x="548640"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5 Oct</a:t>
            </a:r>
            <a:endParaRPr lang="en-US" sz="1200" dirty="0"/>
          </a:p>
        </p:txBody>
      </p:sp>
      <p:sp>
        <p:nvSpPr>
          <p:cNvPr id="9" name="Shape 7"/>
          <p:cNvSpPr/>
          <p:nvPr/>
        </p:nvSpPr>
        <p:spPr>
          <a:xfrm>
            <a:off x="795528" y="2011680"/>
            <a:ext cx="914" cy="3120390"/>
          </a:xfrm>
          <a:prstGeom prst="line">
            <a:avLst/>
          </a:prstGeom>
          <a:noFill/>
          <a:ln w="15875">
            <a:solidFill>
              <a:schemeClr val="accent6"/>
            </a:solidFill>
            <a:prstDash val="solid"/>
          </a:ln>
        </p:spPr>
      </p:sp>
      <p:sp>
        <p:nvSpPr>
          <p:cNvPr id="10" name="Shape 8"/>
          <p:cNvSpPr/>
          <p:nvPr/>
        </p:nvSpPr>
        <p:spPr>
          <a:xfrm>
            <a:off x="548640" y="2075688"/>
            <a:ext cx="502920" cy="256032"/>
          </a:xfrm>
          <a:prstGeom prst="roundRect">
            <a:avLst>
              <a:gd name="adj" fmla="val 53571"/>
            </a:avLst>
          </a:prstGeom>
          <a:solidFill>
            <a:schemeClr val="accent5"/>
          </a:solidFill>
          <a:ln w="12700">
            <a:solidFill>
              <a:schemeClr val="accent5"/>
            </a:solidFill>
            <a:prstDash val="solid"/>
          </a:ln>
        </p:spPr>
      </p:sp>
      <p:sp>
        <p:nvSpPr>
          <p:cNvPr id="11" name="Text 9"/>
          <p:cNvSpPr txBox="1"/>
          <p:nvPr/>
        </p:nvSpPr>
        <p:spPr>
          <a:xfrm>
            <a:off x="548640"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a:t>
            </a:r>
            <a:endParaRPr lang="en-US" sz="1000" dirty="0"/>
          </a:p>
        </p:txBody>
      </p:sp>
      <p:sp>
        <p:nvSpPr>
          <p:cNvPr id="12" name="Text 10"/>
          <p:cNvSpPr txBox="1"/>
          <p:nvPr/>
        </p:nvSpPr>
        <p:spPr>
          <a:xfrm>
            <a:off x="1188720"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Problem chosen; concurrent pilot cited, not copied</a:t>
            </a:r>
            <a:endParaRPr lang="en-US" sz="1300" dirty="0"/>
          </a:p>
        </p:txBody>
      </p:sp>
      <p:sp>
        <p:nvSpPr>
          <p:cNvPr id="13" name="Shape 11"/>
          <p:cNvSpPr/>
          <p:nvPr/>
        </p:nvSpPr>
        <p:spPr>
          <a:xfrm>
            <a:off x="548640" y="2422398"/>
            <a:ext cx="502920" cy="256032"/>
          </a:xfrm>
          <a:prstGeom prst="roundRect">
            <a:avLst>
              <a:gd name="adj" fmla="val 53571"/>
            </a:avLst>
          </a:prstGeom>
          <a:solidFill>
            <a:schemeClr val="accent2"/>
          </a:solidFill>
          <a:ln w="12700">
            <a:solidFill>
              <a:schemeClr val="accent2"/>
            </a:solidFill>
            <a:prstDash val="solid"/>
          </a:ln>
        </p:spPr>
      </p:sp>
      <p:sp>
        <p:nvSpPr>
          <p:cNvPr id="14" name="Text 12"/>
          <p:cNvSpPr txBox="1"/>
          <p:nvPr/>
        </p:nvSpPr>
        <p:spPr>
          <a:xfrm>
            <a:off x="548640" y="24223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a:t>
            </a:r>
            <a:endParaRPr lang="en-US" sz="1000" dirty="0"/>
          </a:p>
        </p:txBody>
      </p:sp>
      <p:sp>
        <p:nvSpPr>
          <p:cNvPr id="15" name="Text 13"/>
          <p:cNvSpPr txBox="1"/>
          <p:nvPr/>
        </p:nvSpPr>
        <p:spPr>
          <a:xfrm>
            <a:off x="1188720" y="240411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1: 2×2 frame; cut split-injection; text-verifiable precision</a:t>
            </a:r>
            <a:endParaRPr lang="en-US" sz="1300" dirty="0"/>
          </a:p>
        </p:txBody>
      </p:sp>
      <p:sp>
        <p:nvSpPr>
          <p:cNvPr id="16" name="Shape 14"/>
          <p:cNvSpPr/>
          <p:nvPr/>
        </p:nvSpPr>
        <p:spPr>
          <a:xfrm>
            <a:off x="548640" y="2769108"/>
            <a:ext cx="502920" cy="256032"/>
          </a:xfrm>
          <a:prstGeom prst="roundRect">
            <a:avLst>
              <a:gd name="adj" fmla="val 53571"/>
            </a:avLst>
          </a:prstGeom>
          <a:solidFill>
            <a:schemeClr val="accent5"/>
          </a:solidFill>
          <a:ln w="12700">
            <a:solidFill>
              <a:schemeClr val="accent5"/>
            </a:solidFill>
            <a:prstDash val="solid"/>
          </a:ln>
        </p:spPr>
      </p:sp>
      <p:sp>
        <p:nvSpPr>
          <p:cNvPr id="17" name="Text 15"/>
          <p:cNvSpPr txBox="1"/>
          <p:nvPr/>
        </p:nvSpPr>
        <p:spPr>
          <a:xfrm>
            <a:off x="548640" y="27691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D3</a:t>
            </a:r>
            <a:endParaRPr lang="en-US" sz="1000" dirty="0"/>
          </a:p>
        </p:txBody>
      </p:sp>
      <p:sp>
        <p:nvSpPr>
          <p:cNvPr id="18" name="Text 16"/>
          <p:cNvSpPr txBox="1"/>
          <p:nvPr/>
        </p:nvSpPr>
        <p:spPr>
          <a:xfrm>
            <a:off x="1188720" y="2750820"/>
            <a:ext cx="4632808" cy="329184"/>
          </a:xfrm>
          <a:prstGeom prst="rect">
            <a:avLst/>
          </a:prstGeom>
          <a:noFill/>
          <a:ln/>
        </p:spPr>
        <p:txBody>
          <a:bodyPr wrap="square" lIns="0" tIns="0" rIns="0" bIns="0" rtlCol="0" anchor="ctr"/>
          <a:lstStyle/>
          <a:p>
            <a:pPr indent="0" marL="0">
              <a:buNone/>
            </a:pPr>
            <a:r>
              <a:rPr lang="en-US" sz="1300" dirty="0">
                <a:solidFill>
                  <a:schemeClr val="tx1"/>
                </a:solidFill>
              </a:rPr>
              <a:t>Viswanath follow-up verified; reading vs re-solving still open</a:t>
            </a:r>
            <a:endParaRPr lang="en-US" sz="1300" dirty="0"/>
          </a:p>
        </p:txBody>
      </p:sp>
      <p:sp>
        <p:nvSpPr>
          <p:cNvPr id="19" name="Shape 17"/>
          <p:cNvSpPr/>
          <p:nvPr/>
        </p:nvSpPr>
        <p:spPr>
          <a:xfrm>
            <a:off x="548640" y="3115818"/>
            <a:ext cx="502920" cy="256032"/>
          </a:xfrm>
          <a:prstGeom prst="roundRect">
            <a:avLst>
              <a:gd name="adj" fmla="val 53571"/>
            </a:avLst>
          </a:prstGeom>
          <a:solidFill>
            <a:schemeClr val="accent2"/>
          </a:solidFill>
          <a:ln w="12700">
            <a:solidFill>
              <a:schemeClr val="accent2"/>
            </a:solidFill>
            <a:prstDash val="solid"/>
          </a:ln>
        </p:spPr>
      </p:sp>
      <p:sp>
        <p:nvSpPr>
          <p:cNvPr id="20" name="Text 18"/>
          <p:cNvSpPr txBox="1"/>
          <p:nvPr/>
        </p:nvSpPr>
        <p:spPr>
          <a:xfrm>
            <a:off x="548640" y="311581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D4</a:t>
            </a:r>
            <a:endParaRPr lang="en-US" sz="1000" dirty="0"/>
          </a:p>
        </p:txBody>
      </p:sp>
      <p:sp>
        <p:nvSpPr>
          <p:cNvPr id="21" name="Text 19"/>
          <p:cNvSpPr txBox="1"/>
          <p:nvPr/>
        </p:nvSpPr>
        <p:spPr>
          <a:xfrm>
            <a:off x="1188720" y="309753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2: steering leak → J-removed directions + leak detector</a:t>
            </a:r>
            <a:endParaRPr lang="en-US" sz="1300" dirty="0"/>
          </a:p>
        </p:txBody>
      </p:sp>
      <p:sp>
        <p:nvSpPr>
          <p:cNvPr id="22" name="Shape 20"/>
          <p:cNvSpPr/>
          <p:nvPr/>
        </p:nvSpPr>
        <p:spPr>
          <a:xfrm>
            <a:off x="548640" y="3462528"/>
            <a:ext cx="502920" cy="256032"/>
          </a:xfrm>
          <a:prstGeom prst="roundRect">
            <a:avLst>
              <a:gd name="adj" fmla="val 53571"/>
            </a:avLst>
          </a:prstGeom>
          <a:solidFill>
            <a:schemeClr val="accent5"/>
          </a:solidFill>
          <a:ln w="12700">
            <a:solidFill>
              <a:schemeClr val="accent5"/>
            </a:solidFill>
            <a:prstDash val="solid"/>
          </a:ln>
        </p:spPr>
      </p:sp>
      <p:sp>
        <p:nvSpPr>
          <p:cNvPr id="23" name="Text 21"/>
          <p:cNvSpPr txBox="1"/>
          <p:nvPr/>
        </p:nvSpPr>
        <p:spPr>
          <a:xfrm>
            <a:off x="548640" y="34625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D5</a:t>
            </a:r>
            <a:endParaRPr lang="en-US" sz="1000" dirty="0"/>
          </a:p>
        </p:txBody>
      </p:sp>
      <p:sp>
        <p:nvSpPr>
          <p:cNvPr id="24" name="Text 22"/>
          <p:cNvSpPr txBox="1"/>
          <p:nvPr/>
        </p:nvSpPr>
        <p:spPr>
          <a:xfrm>
            <a:off x="1188720" y="3444240"/>
            <a:ext cx="4632808" cy="329184"/>
          </a:xfrm>
          <a:prstGeom prst="rect">
            <a:avLst/>
          </a:prstGeom>
          <a:noFill/>
          <a:ln/>
        </p:spPr>
        <p:txBody>
          <a:bodyPr wrap="square" lIns="0" tIns="0" rIns="0" bIns="0" rtlCol="0" anchor="ctr"/>
          <a:lstStyle/>
          <a:p>
            <a:pPr indent="0" marL="0">
              <a:buNone/>
            </a:pPr>
            <a:r>
              <a:rPr lang="en-US" sz="1300" dirty="0">
                <a:solidFill>
                  <a:schemeClr val="tx1"/>
                </a:solidFill>
              </a:rPr>
              <a:t>K0 passed: block-42 output; FVE 0.761</a:t>
            </a:r>
            <a:endParaRPr lang="en-US" sz="1300" dirty="0"/>
          </a:p>
        </p:txBody>
      </p:sp>
      <p:sp>
        <p:nvSpPr>
          <p:cNvPr id="25" name="Shape 23"/>
          <p:cNvSpPr/>
          <p:nvPr/>
        </p:nvSpPr>
        <p:spPr>
          <a:xfrm>
            <a:off x="548640" y="3809238"/>
            <a:ext cx="502920" cy="256032"/>
          </a:xfrm>
          <a:prstGeom prst="roundRect">
            <a:avLst>
              <a:gd name="adj" fmla="val 53571"/>
            </a:avLst>
          </a:prstGeom>
          <a:solidFill>
            <a:schemeClr val="accent5"/>
          </a:solidFill>
          <a:ln w="12700">
            <a:solidFill>
              <a:schemeClr val="accent5"/>
            </a:solidFill>
            <a:prstDash val="solid"/>
          </a:ln>
        </p:spPr>
      </p:sp>
      <p:sp>
        <p:nvSpPr>
          <p:cNvPr id="26" name="Text 24"/>
          <p:cNvSpPr txBox="1"/>
          <p:nvPr/>
        </p:nvSpPr>
        <p:spPr>
          <a:xfrm>
            <a:off x="548640" y="380923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D6</a:t>
            </a:r>
            <a:endParaRPr lang="en-US" sz="1000" dirty="0"/>
          </a:p>
        </p:txBody>
      </p:sp>
      <p:sp>
        <p:nvSpPr>
          <p:cNvPr id="27" name="Text 25"/>
          <p:cNvSpPr txBox="1"/>
          <p:nvPr/>
        </p:nvSpPr>
        <p:spPr>
          <a:xfrm>
            <a:off x="1188720" y="3790950"/>
            <a:ext cx="4632808" cy="329184"/>
          </a:xfrm>
          <a:prstGeom prst="rect">
            <a:avLst/>
          </a:prstGeom>
          <a:noFill/>
          <a:ln/>
        </p:spPr>
        <p:txBody>
          <a:bodyPr wrap="square" lIns="0" tIns="0" rIns="0" bIns="0" rtlCol="0" anchor="ctr"/>
          <a:lstStyle/>
          <a:p>
            <a:pPr indent="0" marL="0">
              <a:buNone/>
            </a:pPr>
            <a:r>
              <a:rPr lang="en-US" sz="1300" dirty="0">
                <a:solidFill>
                  <a:schemeClr val="tx1"/>
                </a:solidFill>
              </a:rPr>
              <a:t>WorkspaceBench 12/12 replicated</a:t>
            </a:r>
            <a:endParaRPr lang="en-US" sz="1300" dirty="0"/>
          </a:p>
        </p:txBody>
      </p:sp>
      <p:sp>
        <p:nvSpPr>
          <p:cNvPr id="28" name="Shape 26"/>
          <p:cNvSpPr/>
          <p:nvPr/>
        </p:nvSpPr>
        <p:spPr>
          <a:xfrm>
            <a:off x="548640" y="4155948"/>
            <a:ext cx="502920" cy="256032"/>
          </a:xfrm>
          <a:prstGeom prst="roundRect">
            <a:avLst>
              <a:gd name="adj" fmla="val 53571"/>
            </a:avLst>
          </a:prstGeom>
          <a:solidFill>
            <a:schemeClr val="accent5"/>
          </a:solidFill>
          <a:ln w="12700">
            <a:solidFill>
              <a:schemeClr val="accent5"/>
            </a:solidFill>
            <a:prstDash val="solid"/>
          </a:ln>
        </p:spPr>
      </p:sp>
      <p:sp>
        <p:nvSpPr>
          <p:cNvPr id="29" name="Text 27"/>
          <p:cNvSpPr txBox="1"/>
          <p:nvPr/>
        </p:nvSpPr>
        <p:spPr>
          <a:xfrm>
            <a:off x="548640"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D7</a:t>
            </a:r>
            <a:endParaRPr lang="en-US" sz="1000" dirty="0"/>
          </a:p>
        </p:txBody>
      </p:sp>
      <p:sp>
        <p:nvSpPr>
          <p:cNvPr id="30" name="Text 28"/>
          <p:cNvSpPr txBox="1"/>
          <p:nvPr/>
        </p:nvSpPr>
        <p:spPr>
          <a:xfrm>
            <a:off x="1188720"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Best-of-11 rule checked; layer 42 primary for all</a:t>
            </a:r>
            <a:endParaRPr lang="en-US" sz="1300" dirty="0"/>
          </a:p>
        </p:txBody>
      </p:sp>
      <p:sp>
        <p:nvSpPr>
          <p:cNvPr id="31" name="Shape 29"/>
          <p:cNvSpPr/>
          <p:nvPr/>
        </p:nvSpPr>
        <p:spPr>
          <a:xfrm>
            <a:off x="548640" y="4502658"/>
            <a:ext cx="502920" cy="256032"/>
          </a:xfrm>
          <a:prstGeom prst="roundRect">
            <a:avLst>
              <a:gd name="adj" fmla="val 53571"/>
            </a:avLst>
          </a:prstGeom>
          <a:solidFill>
            <a:schemeClr val="accent5"/>
          </a:solidFill>
          <a:ln w="12700">
            <a:solidFill>
              <a:schemeClr val="accent5"/>
            </a:solidFill>
            <a:prstDash val="solid"/>
          </a:ln>
        </p:spPr>
      </p:sp>
      <p:sp>
        <p:nvSpPr>
          <p:cNvPr id="32" name="Text 30"/>
          <p:cNvSpPr txBox="1"/>
          <p:nvPr/>
        </p:nvSpPr>
        <p:spPr>
          <a:xfrm>
            <a:off x="548640" y="450265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D8</a:t>
            </a:r>
            <a:endParaRPr lang="en-US" sz="1000" dirty="0"/>
          </a:p>
        </p:txBody>
      </p:sp>
      <p:sp>
        <p:nvSpPr>
          <p:cNvPr id="33" name="Text 31"/>
          <p:cNvSpPr txBox="1"/>
          <p:nvPr/>
        </p:nvSpPr>
        <p:spPr>
          <a:xfrm>
            <a:off x="1188720" y="4484370"/>
            <a:ext cx="4632808" cy="329184"/>
          </a:xfrm>
          <a:prstGeom prst="rect">
            <a:avLst/>
          </a:prstGeom>
          <a:noFill/>
          <a:ln/>
        </p:spPr>
        <p:txBody>
          <a:bodyPr wrap="square" lIns="0" tIns="0" rIns="0" bIns="0" rtlCol="0" anchor="ctr"/>
          <a:lstStyle/>
          <a:p>
            <a:pPr indent="0" marL="0">
              <a:buNone/>
            </a:pPr>
            <a:r>
              <a:rPr lang="en-US" sz="1300" dirty="0">
                <a:solidFill>
                  <a:schemeClr val="tx1"/>
                </a:solidFill>
              </a:rPr>
              <a:t>Smoke test: survival test can't label; paired metrics</a:t>
            </a:r>
            <a:endParaRPr lang="en-US" sz="1300" dirty="0"/>
          </a:p>
        </p:txBody>
      </p:sp>
      <p:sp>
        <p:nvSpPr>
          <p:cNvPr id="34" name="Shape 32"/>
          <p:cNvSpPr/>
          <p:nvPr/>
        </p:nvSpPr>
        <p:spPr>
          <a:xfrm>
            <a:off x="548640" y="4849368"/>
            <a:ext cx="502920" cy="256032"/>
          </a:xfrm>
          <a:prstGeom prst="roundRect">
            <a:avLst>
              <a:gd name="adj" fmla="val 53571"/>
            </a:avLst>
          </a:prstGeom>
          <a:solidFill>
            <a:schemeClr val="accent2"/>
          </a:solidFill>
          <a:ln w="12700">
            <a:solidFill>
              <a:schemeClr val="accent2"/>
            </a:solidFill>
            <a:prstDash val="solid"/>
          </a:ln>
        </p:spPr>
      </p:sp>
      <p:sp>
        <p:nvSpPr>
          <p:cNvPr id="35" name="Text 33"/>
          <p:cNvSpPr txBox="1"/>
          <p:nvPr/>
        </p:nvSpPr>
        <p:spPr>
          <a:xfrm>
            <a:off x="548640" y="48493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D9</a:t>
            </a:r>
            <a:endParaRPr lang="en-US" sz="1000" dirty="0"/>
          </a:p>
        </p:txBody>
      </p:sp>
      <p:sp>
        <p:nvSpPr>
          <p:cNvPr id="36" name="Text 34"/>
          <p:cNvSpPr txBox="1"/>
          <p:nvPr/>
        </p:nvSpPr>
        <p:spPr>
          <a:xfrm>
            <a:off x="1188720" y="48310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3: ± not dilution-immune; calibrated gate</a:t>
            </a:r>
            <a:endParaRPr lang="en-US" sz="1300" dirty="0"/>
          </a:p>
        </p:txBody>
      </p:sp>
      <p:sp>
        <p:nvSpPr>
          <p:cNvPr id="37" name="Shape 35"/>
          <p:cNvSpPr/>
          <p:nvPr/>
        </p:nvSpPr>
        <p:spPr>
          <a:xfrm>
            <a:off x="6370168" y="1645920"/>
            <a:ext cx="1005840" cy="292608"/>
          </a:xfrm>
          <a:prstGeom prst="roundRect">
            <a:avLst>
              <a:gd name="adj" fmla="val 46875"/>
            </a:avLst>
          </a:prstGeom>
          <a:solidFill>
            <a:schemeClr val="tx2"/>
          </a:solidFill>
          <a:ln w="12700">
            <a:solidFill>
              <a:schemeClr val="tx2"/>
            </a:solidFill>
            <a:prstDash val="solid"/>
          </a:ln>
        </p:spPr>
      </p:sp>
      <p:sp>
        <p:nvSpPr>
          <p:cNvPr id="38" name="Text 36"/>
          <p:cNvSpPr txBox="1"/>
          <p:nvPr/>
        </p:nvSpPr>
        <p:spPr>
          <a:xfrm>
            <a:off x="6370168"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6 Oct</a:t>
            </a:r>
            <a:endParaRPr lang="en-US" sz="1200" dirty="0"/>
          </a:p>
        </p:txBody>
      </p:sp>
      <p:sp>
        <p:nvSpPr>
          <p:cNvPr id="39" name="Shape 37"/>
          <p:cNvSpPr/>
          <p:nvPr/>
        </p:nvSpPr>
        <p:spPr>
          <a:xfrm>
            <a:off x="6617056" y="2011680"/>
            <a:ext cx="914" cy="4160520"/>
          </a:xfrm>
          <a:prstGeom prst="line">
            <a:avLst/>
          </a:prstGeom>
          <a:noFill/>
          <a:ln w="15875">
            <a:solidFill>
              <a:schemeClr val="accent6"/>
            </a:solidFill>
            <a:prstDash val="solid"/>
          </a:ln>
        </p:spPr>
      </p:sp>
      <p:sp>
        <p:nvSpPr>
          <p:cNvPr id="40" name="Shape 38"/>
          <p:cNvSpPr/>
          <p:nvPr/>
        </p:nvSpPr>
        <p:spPr>
          <a:xfrm>
            <a:off x="6370168" y="2075688"/>
            <a:ext cx="502920" cy="256032"/>
          </a:xfrm>
          <a:prstGeom prst="roundRect">
            <a:avLst>
              <a:gd name="adj" fmla="val 53571"/>
            </a:avLst>
          </a:prstGeom>
          <a:solidFill>
            <a:schemeClr val="accent5"/>
          </a:solidFill>
          <a:ln w="12700">
            <a:solidFill>
              <a:schemeClr val="accent5"/>
            </a:solidFill>
            <a:prstDash val="solid"/>
          </a:ln>
        </p:spPr>
      </p:sp>
      <p:sp>
        <p:nvSpPr>
          <p:cNvPr id="41" name="Text 39"/>
          <p:cNvSpPr txBox="1"/>
          <p:nvPr/>
        </p:nvSpPr>
        <p:spPr>
          <a:xfrm>
            <a:off x="6370168"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D10</a:t>
            </a:r>
            <a:endParaRPr lang="en-US" sz="1000" dirty="0"/>
          </a:p>
        </p:txBody>
      </p:sp>
      <p:sp>
        <p:nvSpPr>
          <p:cNvPr id="42" name="Text 40"/>
          <p:cNvSpPr txBox="1"/>
          <p:nvPr/>
        </p:nvSpPr>
        <p:spPr>
          <a:xfrm>
            <a:off x="7010248"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Gates: col is the one clean non-J feature</a:t>
            </a:r>
            <a:endParaRPr lang="en-US" sz="1300" dirty="0"/>
          </a:p>
        </p:txBody>
      </p:sp>
      <p:sp>
        <p:nvSpPr>
          <p:cNvPr id="43" name="Shape 41"/>
          <p:cNvSpPr/>
          <p:nvPr/>
        </p:nvSpPr>
        <p:spPr>
          <a:xfrm>
            <a:off x="6370168" y="2422398"/>
            <a:ext cx="502920" cy="256032"/>
          </a:xfrm>
          <a:prstGeom prst="roundRect">
            <a:avLst>
              <a:gd name="adj" fmla="val 53571"/>
            </a:avLst>
          </a:prstGeom>
          <a:solidFill>
            <a:schemeClr val="accent5"/>
          </a:solidFill>
          <a:ln w="12700">
            <a:solidFill>
              <a:schemeClr val="accent5"/>
            </a:solidFill>
            <a:prstDash val="solid"/>
          </a:ln>
        </p:spPr>
      </p:sp>
      <p:sp>
        <p:nvSpPr>
          <p:cNvPr id="44" name="Text 42"/>
          <p:cNvSpPr txBox="1"/>
          <p:nvPr/>
        </p:nvSpPr>
        <p:spPr>
          <a:xfrm>
            <a:off x="6370168" y="24223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D11</a:t>
            </a:r>
            <a:endParaRPr lang="en-US" sz="1000" dirty="0"/>
          </a:p>
        </p:txBody>
      </p:sp>
      <p:sp>
        <p:nvSpPr>
          <p:cNvPr id="45" name="Text 43"/>
          <p:cNvSpPr txBox="1"/>
          <p:nvPr/>
        </p:nvSpPr>
        <p:spPr>
          <a:xfrm>
            <a:off x="7010248" y="2404110"/>
            <a:ext cx="4632808" cy="329184"/>
          </a:xfrm>
          <a:prstGeom prst="rect">
            <a:avLst/>
          </a:prstGeom>
          <a:noFill/>
          <a:ln/>
        </p:spPr>
        <p:txBody>
          <a:bodyPr wrap="square" lIns="0" tIns="0" rIns="0" bIns="0" rtlCol="0" anchor="ctr"/>
          <a:lstStyle/>
          <a:p>
            <a:pPr indent="0" marL="0">
              <a:buNone/>
            </a:pPr>
            <a:r>
              <a:rPr lang="en-US" sz="1300" dirty="0">
                <a:solidFill>
                  <a:schemeClr val="tx1"/>
                </a:solidFill>
              </a:rPr>
              <a:t>OL anti-tracking = dilution; centred steering</a:t>
            </a:r>
            <a:endParaRPr lang="en-US" sz="1300" dirty="0"/>
          </a:p>
        </p:txBody>
      </p:sp>
      <p:sp>
        <p:nvSpPr>
          <p:cNvPr id="46" name="Shape 44"/>
          <p:cNvSpPr/>
          <p:nvPr/>
        </p:nvSpPr>
        <p:spPr>
          <a:xfrm>
            <a:off x="6370168" y="2769108"/>
            <a:ext cx="502920" cy="256032"/>
          </a:xfrm>
          <a:prstGeom prst="roundRect">
            <a:avLst>
              <a:gd name="adj" fmla="val 53571"/>
            </a:avLst>
          </a:prstGeom>
          <a:solidFill>
            <a:schemeClr val="accent2"/>
          </a:solidFill>
          <a:ln w="12700">
            <a:solidFill>
              <a:schemeClr val="accent2"/>
            </a:solidFill>
            <a:prstDash val="solid"/>
          </a:ln>
        </p:spPr>
      </p:sp>
      <p:sp>
        <p:nvSpPr>
          <p:cNvPr id="47" name="Text 45"/>
          <p:cNvSpPr txBox="1"/>
          <p:nvPr/>
        </p:nvSpPr>
        <p:spPr>
          <a:xfrm>
            <a:off x="6370168" y="27691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D12</a:t>
            </a:r>
            <a:endParaRPr lang="en-US" sz="1000" dirty="0"/>
          </a:p>
        </p:txBody>
      </p:sp>
      <p:sp>
        <p:nvSpPr>
          <p:cNvPr id="48" name="Text 46"/>
          <p:cNvSpPr txBox="1"/>
          <p:nvPr/>
        </p:nvSpPr>
        <p:spPr>
          <a:xfrm>
            <a:off x="7010248" y="275082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4: two co-headlines (Part A, Part B)</a:t>
            </a:r>
            <a:endParaRPr lang="en-US" sz="1300" dirty="0"/>
          </a:p>
        </p:txBody>
      </p:sp>
      <p:sp>
        <p:nvSpPr>
          <p:cNvPr id="49" name="Shape 47"/>
          <p:cNvSpPr/>
          <p:nvPr/>
        </p:nvSpPr>
        <p:spPr>
          <a:xfrm>
            <a:off x="6370168" y="3115818"/>
            <a:ext cx="502920" cy="256032"/>
          </a:xfrm>
          <a:prstGeom prst="roundRect">
            <a:avLst>
              <a:gd name="adj" fmla="val 53571"/>
            </a:avLst>
          </a:prstGeom>
          <a:solidFill>
            <a:schemeClr val="accent5"/>
          </a:solidFill>
          <a:ln w="12700">
            <a:solidFill>
              <a:schemeClr val="accent5"/>
            </a:solidFill>
            <a:prstDash val="solid"/>
          </a:ln>
        </p:spPr>
      </p:sp>
      <p:sp>
        <p:nvSpPr>
          <p:cNvPr id="50" name="Text 48"/>
          <p:cNvSpPr txBox="1"/>
          <p:nvPr/>
        </p:nvSpPr>
        <p:spPr>
          <a:xfrm>
            <a:off x="6370168" y="311581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D13</a:t>
            </a:r>
            <a:endParaRPr lang="en-US" sz="1000" dirty="0"/>
          </a:p>
        </p:txBody>
      </p:sp>
      <p:sp>
        <p:nvSpPr>
          <p:cNvPr id="51" name="Text 49"/>
          <p:cNvSpPr txBox="1"/>
          <p:nvPr/>
        </p:nvSpPr>
        <p:spPr>
          <a:xfrm>
            <a:off x="7010248" y="309753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non-J under both lenses; POS in-J</a:t>
            </a:r>
            <a:endParaRPr lang="en-US" sz="1300" dirty="0"/>
          </a:p>
        </p:txBody>
      </p:sp>
      <p:sp>
        <p:nvSpPr>
          <p:cNvPr id="52" name="Shape 50"/>
          <p:cNvSpPr/>
          <p:nvPr/>
        </p:nvSpPr>
        <p:spPr>
          <a:xfrm>
            <a:off x="6370168" y="3462528"/>
            <a:ext cx="502920" cy="256032"/>
          </a:xfrm>
          <a:prstGeom prst="roundRect">
            <a:avLst>
              <a:gd name="adj" fmla="val 53571"/>
            </a:avLst>
          </a:prstGeom>
          <a:solidFill>
            <a:schemeClr val="accent5"/>
          </a:solidFill>
          <a:ln w="12700">
            <a:solidFill>
              <a:schemeClr val="accent5"/>
            </a:solidFill>
            <a:prstDash val="solid"/>
          </a:ln>
        </p:spPr>
      </p:sp>
      <p:sp>
        <p:nvSpPr>
          <p:cNvPr id="53" name="Text 51"/>
          <p:cNvSpPr txBox="1"/>
          <p:nvPr/>
        </p:nvSpPr>
        <p:spPr>
          <a:xfrm>
            <a:off x="6370168" y="34625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D14</a:t>
            </a:r>
            <a:endParaRPr lang="en-US" sz="1000" dirty="0"/>
          </a:p>
        </p:txBody>
      </p:sp>
      <p:sp>
        <p:nvSpPr>
          <p:cNvPr id="54" name="Text 52"/>
          <p:cNvSpPr txBox="1"/>
          <p:nvPr/>
        </p:nvSpPr>
        <p:spPr>
          <a:xfrm>
            <a:off x="7010248" y="3444240"/>
            <a:ext cx="4632808" cy="329184"/>
          </a:xfrm>
          <a:prstGeom prst="rect">
            <a:avLst/>
          </a:prstGeom>
          <a:noFill/>
          <a:ln/>
        </p:spPr>
        <p:txBody>
          <a:bodyPr wrap="square" lIns="0" tIns="0" rIns="0" bIns="0" rtlCol="0" anchor="ctr"/>
          <a:lstStyle/>
          <a:p>
            <a:pPr indent="0" marL="0">
              <a:buNone/>
            </a:pPr>
            <a:r>
              <a:rPr lang="en-US" sz="1300" dirty="0">
                <a:solidFill>
                  <a:schemeClr val="tx1"/>
                </a:solidFill>
              </a:rPr>
              <a:t>Re-solving decomposition: text ties readers</a:t>
            </a:r>
            <a:endParaRPr lang="en-US" sz="1300" dirty="0"/>
          </a:p>
        </p:txBody>
      </p:sp>
      <p:sp>
        <p:nvSpPr>
          <p:cNvPr id="55" name="Shape 53"/>
          <p:cNvSpPr/>
          <p:nvPr/>
        </p:nvSpPr>
        <p:spPr>
          <a:xfrm>
            <a:off x="6370168" y="3809238"/>
            <a:ext cx="502920" cy="256032"/>
          </a:xfrm>
          <a:prstGeom prst="roundRect">
            <a:avLst>
              <a:gd name="adj" fmla="val 53571"/>
            </a:avLst>
          </a:prstGeom>
          <a:solidFill>
            <a:schemeClr val="accent5"/>
          </a:solidFill>
          <a:ln w="12700">
            <a:solidFill>
              <a:schemeClr val="accent5"/>
            </a:solidFill>
            <a:prstDash val="solid"/>
          </a:ln>
        </p:spPr>
      </p:sp>
      <p:sp>
        <p:nvSpPr>
          <p:cNvPr id="56" name="Text 54"/>
          <p:cNvSpPr txBox="1"/>
          <p:nvPr/>
        </p:nvSpPr>
        <p:spPr>
          <a:xfrm>
            <a:off x="6370168" y="380923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D15</a:t>
            </a:r>
            <a:endParaRPr lang="en-US" sz="1000" dirty="0"/>
          </a:p>
        </p:txBody>
      </p:sp>
      <p:sp>
        <p:nvSpPr>
          <p:cNvPr id="57" name="Text 55"/>
          <p:cNvSpPr txBox="1"/>
          <p:nvPr/>
        </p:nvSpPr>
        <p:spPr>
          <a:xfrm>
            <a:off x="7010248" y="379095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pilot: no reader beyond null band</a:t>
            </a:r>
            <a:endParaRPr lang="en-US" sz="1300" dirty="0"/>
          </a:p>
        </p:txBody>
      </p:sp>
      <p:sp>
        <p:nvSpPr>
          <p:cNvPr id="58" name="Shape 56"/>
          <p:cNvSpPr/>
          <p:nvPr/>
        </p:nvSpPr>
        <p:spPr>
          <a:xfrm>
            <a:off x="6370168" y="4155948"/>
            <a:ext cx="502920" cy="256032"/>
          </a:xfrm>
          <a:prstGeom prst="roundRect">
            <a:avLst>
              <a:gd name="adj" fmla="val 53571"/>
            </a:avLst>
          </a:prstGeom>
          <a:solidFill>
            <a:schemeClr val="accent5"/>
          </a:solidFill>
          <a:ln w="12700">
            <a:solidFill>
              <a:schemeClr val="accent5"/>
            </a:solidFill>
            <a:prstDash val="solid"/>
          </a:ln>
        </p:spPr>
      </p:sp>
      <p:sp>
        <p:nvSpPr>
          <p:cNvPr id="59" name="Text 57"/>
          <p:cNvSpPr txBox="1"/>
          <p:nvPr/>
        </p:nvSpPr>
        <p:spPr>
          <a:xfrm>
            <a:off x="6370168"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D16</a:t>
            </a:r>
            <a:endParaRPr lang="en-US" sz="1000" dirty="0"/>
          </a:p>
        </p:txBody>
      </p:sp>
      <p:sp>
        <p:nvSpPr>
          <p:cNvPr id="60" name="Text 58"/>
          <p:cNvSpPr txBox="1"/>
          <p:nvPr/>
        </p:nvSpPr>
        <p:spPr>
          <a:xfrm>
            <a:off x="7010248"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Planted intermediates: K4 passes</a:t>
            </a:r>
            <a:endParaRPr lang="en-US" sz="1300" dirty="0"/>
          </a:p>
        </p:txBody>
      </p:sp>
      <p:sp>
        <p:nvSpPr>
          <p:cNvPr id="61" name="Shape 59"/>
          <p:cNvSpPr/>
          <p:nvPr/>
        </p:nvSpPr>
        <p:spPr>
          <a:xfrm>
            <a:off x="6370168" y="4502658"/>
            <a:ext cx="502920" cy="256032"/>
          </a:xfrm>
          <a:prstGeom prst="roundRect">
            <a:avLst>
              <a:gd name="adj" fmla="val 53571"/>
            </a:avLst>
          </a:prstGeom>
          <a:solidFill>
            <a:schemeClr val="accent5"/>
          </a:solidFill>
          <a:ln w="12700">
            <a:solidFill>
              <a:schemeClr val="accent5"/>
            </a:solidFill>
            <a:prstDash val="solid"/>
          </a:ln>
        </p:spPr>
      </p:sp>
      <p:sp>
        <p:nvSpPr>
          <p:cNvPr id="62" name="Text 60"/>
          <p:cNvSpPr txBox="1"/>
          <p:nvPr/>
        </p:nvSpPr>
        <p:spPr>
          <a:xfrm>
            <a:off x="6370168" y="450265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D17</a:t>
            </a:r>
            <a:endParaRPr lang="en-US" sz="1000" dirty="0"/>
          </a:p>
        </p:txBody>
      </p:sp>
      <p:sp>
        <p:nvSpPr>
          <p:cNvPr id="63" name="Text 61"/>
          <p:cNvSpPr txBox="1"/>
          <p:nvPr/>
        </p:nvSpPr>
        <p:spPr>
          <a:xfrm>
            <a:off x="7010248" y="448437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Prompt-only floors ~0.14 too low</a:t>
            </a:r>
            <a:endParaRPr lang="en-US" sz="1300" dirty="0"/>
          </a:p>
        </p:txBody>
      </p:sp>
      <p:sp>
        <p:nvSpPr>
          <p:cNvPr id="64" name="Shape 62"/>
          <p:cNvSpPr/>
          <p:nvPr/>
        </p:nvSpPr>
        <p:spPr>
          <a:xfrm>
            <a:off x="6370168" y="4849368"/>
            <a:ext cx="502920" cy="256032"/>
          </a:xfrm>
          <a:prstGeom prst="roundRect">
            <a:avLst>
              <a:gd name="adj" fmla="val 53571"/>
            </a:avLst>
          </a:prstGeom>
          <a:solidFill>
            <a:schemeClr val="accent5"/>
          </a:solidFill>
          <a:ln w="12700">
            <a:solidFill>
              <a:schemeClr val="accent5"/>
            </a:solidFill>
            <a:prstDash val="solid"/>
          </a:ln>
        </p:spPr>
      </p:sp>
      <p:sp>
        <p:nvSpPr>
          <p:cNvPr id="65" name="Text 63"/>
          <p:cNvSpPr txBox="1"/>
          <p:nvPr/>
        </p:nvSpPr>
        <p:spPr>
          <a:xfrm>
            <a:off x="6370168" y="48493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D18</a:t>
            </a:r>
            <a:endParaRPr lang="en-US" sz="1000" dirty="0"/>
          </a:p>
        </p:txBody>
      </p:sp>
      <p:sp>
        <p:nvSpPr>
          <p:cNvPr id="66" name="Text 64"/>
          <p:cNvSpPr txBox="1"/>
          <p:nvPr/>
        </p:nvSpPr>
        <p:spPr>
          <a:xfrm>
            <a:off x="7010248" y="4831080"/>
            <a:ext cx="4632808" cy="329184"/>
          </a:xfrm>
          <a:prstGeom prst="rect">
            <a:avLst/>
          </a:prstGeom>
          <a:noFill/>
          <a:ln/>
        </p:spPr>
        <p:txBody>
          <a:bodyPr wrap="square" lIns="0" tIns="0" rIns="0" bIns="0" rtlCol="0" anchor="ctr"/>
          <a:lstStyle/>
          <a:p>
            <a:pPr indent="0" marL="0">
              <a:buNone/>
            </a:pPr>
            <a:r>
              <a:rPr lang="en-US" sz="1300" dirty="0">
                <a:solidFill>
                  <a:schemeClr val="tx1"/>
                </a:solidFill>
              </a:rPr>
              <a:t>Templates frozen (sha256 0915…923b)</a:t>
            </a:r>
            <a:endParaRPr lang="en-US" sz="1300" dirty="0"/>
          </a:p>
        </p:txBody>
      </p:sp>
      <p:sp>
        <p:nvSpPr>
          <p:cNvPr id="67" name="Shape 65"/>
          <p:cNvSpPr/>
          <p:nvPr/>
        </p:nvSpPr>
        <p:spPr>
          <a:xfrm>
            <a:off x="6370168" y="5196078"/>
            <a:ext cx="502920" cy="256032"/>
          </a:xfrm>
          <a:prstGeom prst="roundRect">
            <a:avLst>
              <a:gd name="adj" fmla="val 53571"/>
            </a:avLst>
          </a:prstGeom>
          <a:solidFill>
            <a:schemeClr val="accent5"/>
          </a:solidFill>
          <a:ln w="12700">
            <a:solidFill>
              <a:schemeClr val="accent5"/>
            </a:solidFill>
            <a:prstDash val="solid"/>
          </a:ln>
        </p:spPr>
      </p:sp>
      <p:sp>
        <p:nvSpPr>
          <p:cNvPr id="68" name="Text 66"/>
          <p:cNvSpPr txBox="1"/>
          <p:nvPr/>
        </p:nvSpPr>
        <p:spPr>
          <a:xfrm>
            <a:off x="6370168" y="519607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D19</a:t>
            </a:r>
            <a:endParaRPr lang="en-US" sz="1000" dirty="0"/>
          </a:p>
        </p:txBody>
      </p:sp>
      <p:sp>
        <p:nvSpPr>
          <p:cNvPr id="69" name="Text 67"/>
          <p:cNvSpPr txBox="1"/>
          <p:nvPr/>
        </p:nvSpPr>
        <p:spPr>
          <a:xfrm>
            <a:off x="7010248" y="5177790"/>
            <a:ext cx="4632808" cy="329184"/>
          </a:xfrm>
          <a:prstGeom prst="rect">
            <a:avLst/>
          </a:prstGeom>
          <a:noFill/>
          <a:ln/>
        </p:spPr>
        <p:txBody>
          <a:bodyPr wrap="square" lIns="0" tIns="0" rIns="0" bIns="0" rtlCol="0" anchor="ctr"/>
          <a:lstStyle/>
          <a:p>
            <a:pPr indent="0" marL="0">
              <a:buNone/>
            </a:pPr>
            <a:r>
              <a:rPr lang="en-US" sz="1300" dirty="0">
                <a:solidFill>
                  <a:schemeClr val="tx1"/>
                </a:solidFill>
              </a:rPr>
              <a:t>Backups: none qualify; count control failed</a:t>
            </a:r>
            <a:endParaRPr lang="en-US" sz="1300" dirty="0"/>
          </a:p>
        </p:txBody>
      </p:sp>
      <p:sp>
        <p:nvSpPr>
          <p:cNvPr id="70" name="Shape 68"/>
          <p:cNvSpPr/>
          <p:nvPr/>
        </p:nvSpPr>
        <p:spPr>
          <a:xfrm>
            <a:off x="6370168" y="5542788"/>
            <a:ext cx="502920" cy="256032"/>
          </a:xfrm>
          <a:prstGeom prst="roundRect">
            <a:avLst>
              <a:gd name="adj" fmla="val 53571"/>
            </a:avLst>
          </a:prstGeom>
          <a:solidFill>
            <a:schemeClr val="accent5"/>
          </a:solidFill>
          <a:ln w="12700">
            <a:solidFill>
              <a:schemeClr val="accent5"/>
            </a:solidFill>
            <a:prstDash val="solid"/>
          </a:ln>
        </p:spPr>
      </p:sp>
      <p:sp>
        <p:nvSpPr>
          <p:cNvPr id="71" name="Text 69"/>
          <p:cNvSpPr txBox="1"/>
          <p:nvPr/>
        </p:nvSpPr>
        <p:spPr>
          <a:xfrm>
            <a:off x="6370168" y="55427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D20</a:t>
            </a:r>
            <a:endParaRPr lang="en-US" sz="1000" dirty="0"/>
          </a:p>
        </p:txBody>
      </p:sp>
      <p:sp>
        <p:nvSpPr>
          <p:cNvPr id="72" name="Text 70"/>
          <p:cNvSpPr txBox="1"/>
          <p:nvPr/>
        </p:nvSpPr>
        <p:spPr>
          <a:xfrm>
            <a:off x="7010248" y="5524500"/>
            <a:ext cx="4632808" cy="329184"/>
          </a:xfrm>
          <a:prstGeom prst="rect">
            <a:avLst/>
          </a:prstGeom>
          <a:noFill/>
          <a:ln/>
        </p:spPr>
        <p:txBody>
          <a:bodyPr wrap="square" lIns="0" tIns="0" rIns="0" bIns="0" rtlCol="0" anchor="ctr"/>
          <a:lstStyle/>
          <a:p>
            <a:pPr indent="0" marL="0">
              <a:buNone/>
            </a:pPr>
            <a:r>
              <a:rPr lang="en-US" sz="1300" dirty="0">
                <a:solidFill>
                  <a:schemeClr val="tx1"/>
                </a:solidFill>
              </a:rPr>
              <a:t>K3 passes at matched dose</a:t>
            </a:r>
            <a:endParaRPr lang="en-US" sz="1300" dirty="0"/>
          </a:p>
        </p:txBody>
      </p:sp>
      <p:sp>
        <p:nvSpPr>
          <p:cNvPr id="73" name="Shape 71"/>
          <p:cNvSpPr/>
          <p:nvPr/>
        </p:nvSpPr>
        <p:spPr>
          <a:xfrm>
            <a:off x="6370168" y="5889498"/>
            <a:ext cx="502920" cy="256032"/>
          </a:xfrm>
          <a:prstGeom prst="roundRect">
            <a:avLst>
              <a:gd name="adj" fmla="val 53571"/>
            </a:avLst>
          </a:prstGeom>
          <a:solidFill>
            <a:schemeClr val="accent2"/>
          </a:solidFill>
          <a:ln w="12700">
            <a:solidFill>
              <a:schemeClr val="accent2"/>
            </a:solidFill>
            <a:prstDash val="solid"/>
          </a:ln>
        </p:spPr>
      </p:sp>
      <p:sp>
        <p:nvSpPr>
          <p:cNvPr id="74" name="Text 72"/>
          <p:cNvSpPr txBox="1"/>
          <p:nvPr/>
        </p:nvSpPr>
        <p:spPr>
          <a:xfrm>
            <a:off x="6370168" y="58894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D21</a:t>
            </a:r>
            <a:endParaRPr lang="en-US" sz="1000" dirty="0"/>
          </a:p>
        </p:txBody>
      </p:sp>
      <p:sp>
        <p:nvSpPr>
          <p:cNvPr id="75" name="Text 73"/>
          <p:cNvSpPr txBox="1"/>
          <p:nvPr/>
        </p:nvSpPr>
        <p:spPr>
          <a:xfrm>
            <a:off x="7010248" y="587121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5: four-part reframe; answer is 'neither'</a:t>
            </a:r>
            <a:endParaRPr lang="en-US" sz="1300" dirty="0"/>
          </a:p>
        </p:txBody>
      </p:sp>
      <p:sp>
        <p:nvSpPr>
          <p:cNvPr id="76" name="Text 74"/>
          <p:cNvSpPr txBox="1"/>
          <p:nvPr/>
        </p:nvSpPr>
        <p:spPr>
          <a:xfrm>
            <a:off x="1737360" y="1673352"/>
            <a:ext cx="3657600" cy="256032"/>
          </a:xfrm>
          <a:prstGeom prst="rect">
            <a:avLst/>
          </a:prstGeom>
          <a:noFill/>
          <a:ln/>
        </p:spPr>
        <p:txBody>
          <a:bodyPr wrap="square" lIns="0" tIns="0" rIns="0" bIns="0" rtlCol="0" anchor="t"/>
          <a:lstStyle/>
          <a:p>
            <a:pPr indent="0" marL="0">
              <a:buNone/>
            </a:pPr>
            <a:r>
              <a:rPr lang="en-US" sz="1100" dirty="0">
                <a:solidFill>
                  <a:schemeClr val="accent5"/>
                </a:solidFill>
              </a:rPr>
              <a:t>violet = a Fable critique round</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RE-ANALYSIS OF THE CONCURRENT PILOT (DESCRIPTIVE)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Re-analysing the concurrent pilot's raw files: every headline reproduces; the NLA finds nothing OL misses</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3 vs 8</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multihop items only the NLA vs only the Oracle Lens gets (of 100; McNemar p = 0.23; phi 0.69)</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67/75 · 79/80</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hits where the bridge is named together with the answer (NLA · OL), e.g. 'iron (Fe)': looks like re-solving</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κ 0.55–0.70</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single-sample agreement on near-identity controls: 7–10 of 50 items flip by chance</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Swap test was weak</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34 of 50 items hit the 16× dose cap; readers follow the planted bridge on 4–6 of the 17 items where the J-Lens even shows it.</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Deletion test</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removes only J-Lens readout directions and never checks behaviour, so it can't separate re-solving from non-J reading.</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Setup</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read at 42 (off-grid), NLA at off-layers 16/28/36/56; no text-only baseline; unvalidated judges.</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Offered in the spirit of building on their work: their question and readers are the same as ours, and their conclusion (readers mostly re-solve) agrees with our Part 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PRE-REGISTERED OUTCOME MAP</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Pre-registered: which outcome pattern would mean which answer to Neel</a:t>
            </a:r>
            <a:endParaRPr lang="en-US" sz="28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754880"/>
                <a:gridCol w="4206240"/>
                <a:gridCol w="21031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Outcome at valid doses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Reading</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Answer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tracks non-J; OL does not; both track in-J at the same doses; text can't explain natural success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NLA reads content outside the top-r J-space that OL misses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and OL both track non-J similarly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Any trained verbalizer can; 'workspace-bound' describes neither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NLA-specific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Readers track col only in the 'newline coming' family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They read the J-type decision, not the non-J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 for the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Positive only at doses where the leak detector fires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Content rotated into the J-space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evidence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col flat for all readers; in-J features tracked at the same dose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Readers read the workspace, not this non-J feature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No (current pilot)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No reader tracks in-J 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method can't see anything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Uninformative → pivot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From notes/prereg_v0.md §10 (revision 3). The bold row is where the pilot currently sits.</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COSTS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Prep-phase compute so far: about $180 itemised, mostly GPU</a:t>
            </a:r>
            <a:endParaRPr lang="en-US" sz="2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023360"/>
                <a:gridCol w="3657600"/>
                <a:gridCol w="1737360"/>
                <a:gridCol w="16459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Experiment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GPU</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API</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 (list price)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01 WorkspaceBench replication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~1.5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03 Pipeline smoke + norm-preserving re-run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21.6 GPU-min + ~1.6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04 Backup features (9 features)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~20 H100-h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05 Planted intermediates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~1.3 H100-h + 0.3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~6.5*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06 Re-solving decomposition + floor check</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~1.2 GPU-h + ~12 GPU-min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07 Template mining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 H100-h + 1.5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08 col pilot + K3 calibration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~9.7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Total itemised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$5.4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180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00 (NLA gate) and 02 (feature gates) GPU time was not itemised in their RESULTS. * our estimate at Modal list prices ($3.95/h H100, $4.54/h H200). Projected sprint compute: ~35 GPU-h ≈ $150 (D8).</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GLOSSARY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Glossary</a:t>
            </a:r>
            <a:endParaRPr lang="en-US" sz="2800" dirty="0"/>
          </a:p>
        </p:txBody>
      </p:sp>
      <p:sp>
        <p:nvSpPr>
          <p:cNvPr id="7" name="Text 5"/>
          <p:cNvSpPr txBox="1"/>
          <p:nvPr/>
        </p:nvSpPr>
        <p:spPr>
          <a:xfrm>
            <a:off x="548640"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Residual stream</a:t>
            </a:r>
            <a:endParaRPr lang="en-US" sz="1300" dirty="0"/>
          </a:p>
        </p:txBody>
      </p:sp>
      <p:sp>
        <p:nvSpPr>
          <p:cNvPr id="8" name="Text 6"/>
          <p:cNvSpPr txBox="1"/>
          <p:nvPr/>
        </p:nvSpPr>
        <p:spPr>
          <a:xfrm>
            <a:off x="2514600"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The 5,120-dim vector each token carries between layers.</a:t>
            </a:r>
            <a:endParaRPr lang="en-US" sz="1200" dirty="0"/>
          </a:p>
        </p:txBody>
      </p:sp>
      <p:sp>
        <p:nvSpPr>
          <p:cNvPr id="9" name="Text 7"/>
          <p:cNvSpPr txBox="1"/>
          <p:nvPr/>
        </p:nvSpPr>
        <p:spPr>
          <a:xfrm>
            <a:off x="548640"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J-Lens</a:t>
            </a:r>
            <a:endParaRPr lang="en-US" sz="1300" dirty="0"/>
          </a:p>
        </p:txBody>
      </p:sp>
      <p:sp>
        <p:nvSpPr>
          <p:cNvPr id="10" name="Text 8"/>
          <p:cNvSpPr txBox="1"/>
          <p:nvPr/>
        </p:nvSpPr>
        <p:spPr>
          <a:xfrm>
            <a:off x="2514600"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Average Jacobian to the output × unembedding: the tokens a direction would make the model say.</a:t>
            </a:r>
            <a:endParaRPr lang="en-US" sz="1200" dirty="0"/>
          </a:p>
        </p:txBody>
      </p:sp>
      <p:sp>
        <p:nvSpPr>
          <p:cNvPr id="11" name="Text 9"/>
          <p:cNvSpPr txBox="1"/>
          <p:nvPr/>
        </p:nvSpPr>
        <p:spPr>
          <a:xfrm>
            <a:off x="548640"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J-space, r*, 4r*</a:t>
            </a:r>
            <a:endParaRPr lang="en-US" sz="1300" dirty="0"/>
          </a:p>
        </p:txBody>
      </p:sp>
      <p:sp>
        <p:nvSpPr>
          <p:cNvPr id="12" name="Text 10"/>
          <p:cNvSpPr txBox="1"/>
          <p:nvPr/>
        </p:nvSpPr>
        <p:spPr>
          <a:xfrm>
            <a:off x="2514600"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Top-r singular directions of W_U·diag(1+w)·J₄₂; r* = 384, 4r* = 1,536.</a:t>
            </a:r>
            <a:endParaRPr lang="en-US" sz="1200" dirty="0"/>
          </a:p>
        </p:txBody>
      </p:sp>
      <p:sp>
        <p:nvSpPr>
          <p:cNvPr id="13" name="Text 11"/>
          <p:cNvSpPr txBox="1"/>
          <p:nvPr/>
        </p:nvSpPr>
        <p:spPr>
          <a:xfrm>
            <a:off x="548640"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Enrichment</a:t>
            </a:r>
            <a:endParaRPr lang="en-US" sz="1300" dirty="0"/>
          </a:p>
        </p:txBody>
      </p:sp>
      <p:sp>
        <p:nvSpPr>
          <p:cNvPr id="14" name="Text 12"/>
          <p:cNvSpPr txBox="1"/>
          <p:nvPr/>
        </p:nvSpPr>
        <p:spPr>
          <a:xfrm>
            <a:off x="2514600"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Share of a direction's energy in the top-r J-space ÷ the random expectation r/d.</a:t>
            </a:r>
            <a:endParaRPr lang="en-US" sz="1200" dirty="0"/>
          </a:p>
        </p:txBody>
      </p:sp>
      <p:sp>
        <p:nvSpPr>
          <p:cNvPr id="15" name="Text 13"/>
          <p:cNvSpPr txBox="1"/>
          <p:nvPr/>
        </p:nvSpPr>
        <p:spPr>
          <a:xfrm>
            <a:off x="548640"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NLA (AV / AR)</a:t>
            </a:r>
            <a:endParaRPr lang="en-US" sz="1300" dirty="0"/>
          </a:p>
        </p:txBody>
      </p:sp>
      <p:sp>
        <p:nvSpPr>
          <p:cNvPr id="16" name="Text 14"/>
          <p:cNvSpPr txBox="1"/>
          <p:nvPr/>
        </p:nvSpPr>
        <p:spPr>
          <a:xfrm>
            <a:off x="2514600"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Natural Language Autoencoder: verbalizer writes, reconstructor rebuilds the vector.</a:t>
            </a:r>
            <a:endParaRPr lang="en-US" sz="1200" dirty="0"/>
          </a:p>
        </p:txBody>
      </p:sp>
      <p:sp>
        <p:nvSpPr>
          <p:cNvPr id="17" name="Text 15"/>
          <p:cNvSpPr txBox="1"/>
          <p:nvPr/>
        </p:nvSpPr>
        <p:spPr>
          <a:xfrm>
            <a:off x="548640"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FVE</a:t>
            </a:r>
            <a:endParaRPr lang="en-US" sz="1300" dirty="0"/>
          </a:p>
        </p:txBody>
      </p:sp>
      <p:sp>
        <p:nvSpPr>
          <p:cNvPr id="18" name="Text 16"/>
          <p:cNvSpPr txBox="1"/>
          <p:nvPr/>
        </p:nvSpPr>
        <p:spPr>
          <a:xfrm>
            <a:off x="2514600"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Fraction of variance explained by the reconstruction (NLA quality).</a:t>
            </a:r>
            <a:endParaRPr lang="en-US" sz="1200" dirty="0"/>
          </a:p>
        </p:txBody>
      </p:sp>
      <p:sp>
        <p:nvSpPr>
          <p:cNvPr id="19" name="Text 17"/>
          <p:cNvSpPr txBox="1"/>
          <p:nvPr/>
        </p:nvSpPr>
        <p:spPr>
          <a:xfrm>
            <a:off x="548640"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Oracle Lens (OL)</a:t>
            </a:r>
            <a:endParaRPr lang="en-US" sz="1300" dirty="0"/>
          </a:p>
        </p:txBody>
      </p:sp>
      <p:sp>
        <p:nvSpPr>
          <p:cNvPr id="20" name="Text 18"/>
          <p:cNvSpPr txBox="1"/>
          <p:nvPr/>
        </p:nvSpPr>
        <p:spPr>
          <a:xfrm>
            <a:off x="2514600"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LoRA verbalizer reading an injected activation; outputs concept bullets.</a:t>
            </a:r>
            <a:endParaRPr lang="en-US" sz="1200" dirty="0"/>
          </a:p>
        </p:txBody>
      </p:sp>
      <p:sp>
        <p:nvSpPr>
          <p:cNvPr id="21" name="Text 19"/>
          <p:cNvSpPr txBox="1"/>
          <p:nvPr/>
        </p:nvSpPr>
        <p:spPr>
          <a:xfrm>
            <a:off x="548640"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WorkspaceBench</a:t>
            </a:r>
            <a:endParaRPr lang="en-US" sz="1300" dirty="0"/>
          </a:p>
        </p:txBody>
      </p:sp>
      <p:sp>
        <p:nvSpPr>
          <p:cNvPr id="22" name="Text 20"/>
          <p:cNvSpPr txBox="1"/>
          <p:nvPr/>
        </p:nvSpPr>
        <p:spPr>
          <a:xfrm>
            <a:off x="2514600"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Benchmark of hidden-intermediate readout on Qwen3.6-27B (Blank et al., 2026).</a:t>
            </a:r>
            <a:endParaRPr lang="en-US" sz="1200" dirty="0"/>
          </a:p>
        </p:txBody>
      </p:sp>
      <p:sp>
        <p:nvSpPr>
          <p:cNvPr id="23" name="Text 21"/>
          <p:cNvSpPr txBox="1"/>
          <p:nvPr/>
        </p:nvSpPr>
        <p:spPr>
          <a:xfrm>
            <a:off x="6324448"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col</a:t>
            </a:r>
            <a:endParaRPr lang="en-US" sz="1300" dirty="0"/>
          </a:p>
        </p:txBody>
      </p:sp>
      <p:sp>
        <p:nvSpPr>
          <p:cNvPr id="24" name="Text 22"/>
          <p:cNvSpPr txBox="1"/>
          <p:nvPr/>
        </p:nvSpPr>
        <p:spPr>
          <a:xfrm>
            <a:off x="8290408"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Characters since the last newline in hard-wrapped text.</a:t>
            </a:r>
            <a:endParaRPr lang="en-US" sz="1200" dirty="0"/>
          </a:p>
        </p:txBody>
      </p:sp>
      <p:sp>
        <p:nvSpPr>
          <p:cNvPr id="25" name="Text 23"/>
          <p:cNvSpPr txBox="1"/>
          <p:nvPr/>
        </p:nvSpPr>
        <p:spPr>
          <a:xfrm>
            <a:off x="6324448"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Centred steering</a:t>
            </a:r>
            <a:endParaRPr lang="en-US" sz="1300" dirty="0"/>
          </a:p>
        </p:txBody>
      </p:sp>
      <p:sp>
        <p:nvSpPr>
          <p:cNvPr id="26" name="Text 24"/>
          <p:cNvSpPr txBox="1"/>
          <p:nvPr/>
        </p:nvSpPr>
        <p:spPr>
          <a:xfrm>
            <a:off x="8290408"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h − (v·h)v ± Δv: equal norm on both sides, no dilution artefact.</a:t>
            </a:r>
            <a:endParaRPr lang="en-US" sz="1200" dirty="0"/>
          </a:p>
        </p:txBody>
      </p:sp>
      <p:sp>
        <p:nvSpPr>
          <p:cNvPr id="27" name="Text 25"/>
          <p:cNvSpPr txBox="1"/>
          <p:nvPr/>
        </p:nvSpPr>
        <p:spPr>
          <a:xfrm>
            <a:off x="6324448"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Null band</a:t>
            </a:r>
            <a:endParaRPr lang="en-US" sz="1300" dirty="0"/>
          </a:p>
        </p:txBody>
      </p:sp>
      <p:sp>
        <p:nvSpPr>
          <p:cNvPr id="28" name="Text 26"/>
          <p:cNvSpPr txBox="1"/>
          <p:nvPr/>
        </p:nvSpPr>
        <p:spPr>
          <a:xfrm>
            <a:off x="8290408"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Spread of the same statistic over K = 20 random same-norm directions; report z.</a:t>
            </a:r>
            <a:endParaRPr lang="en-US" sz="1200" dirty="0"/>
          </a:p>
        </p:txBody>
      </p:sp>
      <p:sp>
        <p:nvSpPr>
          <p:cNvPr id="29" name="Text 27"/>
          <p:cNvSpPr txBox="1"/>
          <p:nvPr/>
        </p:nvSpPr>
        <p:spPr>
          <a:xfrm>
            <a:off x="6324448"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Leak detector</a:t>
            </a:r>
            <a:endParaRPr lang="en-US" sz="1300" dirty="0"/>
          </a:p>
        </p:txBody>
      </p:sp>
      <p:sp>
        <p:nvSpPr>
          <p:cNvPr id="30" name="Text 28"/>
          <p:cNvSpPr txBox="1"/>
          <p:nvPr/>
        </p:nvSpPr>
        <p:spPr>
          <a:xfrm>
            <a:off x="8290408"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J-Lens must not move under non-J steering (two-sided, J-complement band).</a:t>
            </a:r>
            <a:endParaRPr lang="en-US" sz="1200" dirty="0"/>
          </a:p>
        </p:txBody>
      </p:sp>
      <p:sp>
        <p:nvSpPr>
          <p:cNvPr id="31" name="Text 29"/>
          <p:cNvSpPr txBox="1"/>
          <p:nvPr/>
        </p:nvSpPr>
        <p:spPr>
          <a:xfrm>
            <a:off x="6324448"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FollowFeature</a:t>
            </a:r>
            <a:endParaRPr lang="en-US" sz="1300" dirty="0"/>
          </a:p>
        </p:txBody>
      </p:sp>
      <p:sp>
        <p:nvSpPr>
          <p:cNvPr id="32" name="Text 30"/>
          <p:cNvSpPr txBox="1"/>
          <p:nvPr/>
        </p:nvSpPr>
        <p:spPr>
          <a:xfrm>
            <a:off x="8290408"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Does a reader's paired log-odds follow a feature moved with text fixed?</a:t>
            </a:r>
            <a:endParaRPr lang="en-US" sz="1200" dirty="0"/>
          </a:p>
        </p:txBody>
      </p:sp>
      <p:sp>
        <p:nvSpPr>
          <p:cNvPr id="33" name="Text 31"/>
          <p:cNvSpPr txBox="1"/>
          <p:nvPr/>
        </p:nvSpPr>
        <p:spPr>
          <a:xfrm>
            <a:off x="6324448"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TVP</a:t>
            </a:r>
            <a:endParaRPr lang="en-US" sz="1300" dirty="0"/>
          </a:p>
        </p:txBody>
      </p:sp>
      <p:sp>
        <p:nvSpPr>
          <p:cNvPr id="34" name="Text 32"/>
          <p:cNvSpPr txBox="1"/>
          <p:nvPr/>
        </p:nvSpPr>
        <p:spPr>
          <a:xfrm>
            <a:off x="8290408"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Text-verifiable precision: true ÷ (true + contradicted) checkable claims.</a:t>
            </a:r>
            <a:endParaRPr lang="en-US" sz="1200" dirty="0"/>
          </a:p>
        </p:txBody>
      </p:sp>
      <p:sp>
        <p:nvSpPr>
          <p:cNvPr id="35" name="Text 33"/>
          <p:cNvSpPr txBox="1"/>
          <p:nvPr/>
        </p:nvSpPr>
        <p:spPr>
          <a:xfrm>
            <a:off x="6324448"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q90 / q99</a:t>
            </a:r>
            <a:endParaRPr lang="en-US" sz="1300" dirty="0"/>
          </a:p>
        </p:txBody>
      </p:sp>
      <p:sp>
        <p:nvSpPr>
          <p:cNvPr id="36" name="Text 34"/>
          <p:cNvSpPr txBox="1"/>
          <p:nvPr/>
        </p:nvSpPr>
        <p:spPr>
          <a:xfrm>
            <a:off x="8290408"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Doses at the 90th / 99th percentile of the natural projection.</a:t>
            </a:r>
            <a:endParaRPr lang="en-US" sz="1200" dirty="0"/>
          </a:p>
        </p:txBody>
      </p:sp>
      <p:sp>
        <p:nvSpPr>
          <p:cNvPr id="37" name="Text 35"/>
          <p:cNvSpPr txBox="1"/>
          <p:nvPr/>
        </p:nvSpPr>
        <p:spPr>
          <a:xfrm>
            <a:off x="6324448"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K0–K4</a:t>
            </a:r>
            <a:endParaRPr lang="en-US" sz="1300" dirty="0"/>
          </a:p>
        </p:txBody>
      </p:sp>
      <p:sp>
        <p:nvSpPr>
          <p:cNvPr id="38" name="Text 36"/>
          <p:cNvSpPr txBox="1"/>
          <p:nvPr/>
        </p:nvSpPr>
        <p:spPr>
          <a:xfrm>
            <a:off x="8290408"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Pre-registered kill checks (layer, features, doses, calibration, plant yield).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SETTINGS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Settings and hyperparameters</a:t>
            </a:r>
            <a:endParaRPr lang="en-US" sz="2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84124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Qwen3.6-27B (64 layers, d = 5,120), bf16; read at block-42 output = hidden_states[43], last token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ceselder/qwen3.6-27b-nla-rl, adapter iter_000400 (iter 300 for robustness); non-thinking prompt; injects ‖h_marker‖·unit(v) at AV block 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agu18dec/olens_and_ar olens_s3d_rl600; marker embedding replaced by 16000·unit(h); layer integer in prompt; trained 20–60 step 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neuronpedia/jacobian-lens n1000 (primary), camilablank n25 (cross-check); cosine readout; norm gain 1 + w</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J-space rank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r* = 384: smallest rank keeping ≥ 90% top-10 agreement on basic_readout at layer 42; 4r* = 1,536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G1 probe; G2 enrichment ≤ 1.5 at r* and 4r* + J-Lens readout inside shuffled-label band; G4 ≥ 5× max random, z ≥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Steering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Centred h − (v·h)v ± Δv at the read layer; q90 primary, q99 secondary; col ‖Δ‖/‖h‖ 0.108 (raw) / 0.081 (4r*) at q90; K3 matched at 0.11 / 0.14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Nulls and leaks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K = 20 isotropic + K = 20 J-complement directions, same norm, z never subtracted; leak set = newline tokens + content set, two-sided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Guards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FVE paired per example, k = 4, margin 0.05; unrelated-prompt KL ≤ 0.1 for plants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Scoring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Paired log-odds, both candidates in one batch (bf16 batch noise up to 0.26 nats); 3 mined templates + fixed label, frozen (sha256 0915…923b)</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Benchmark sampling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 = 1, top_p 0.95, top_k 64, 256 new tokens, k = 1; regex instrument mt-regex-2026-09-23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Residual Ink">
  <a:themeElements>
    <a:clrScheme name="Residual Ink">
      <a:dk1>
        <a:srgbClr val="15222C"/>
      </a:dk1>
      <a:lt1>
        <a:srgbClr val="FFFFFF"/>
      </a:lt1>
      <a:dk2>
        <a:srgbClr val="0C1A24"/>
      </a:dk2>
      <a:lt2>
        <a:srgbClr val="EEF2F4"/>
      </a:lt2>
      <a:accent1>
        <a:srgbClr val="E2553A"/>
      </a:accent1>
      <a:accent2>
        <a:srgbClr val="7A5BC2"/>
      </a:accent2>
      <a:accent3>
        <a:srgbClr val="0F9D8A"/>
      </a:accent3>
      <a:accent4>
        <a:srgbClr val="C8921E"/>
      </a:accent4>
      <a:accent5>
        <a:srgbClr val="5E6E78"/>
      </a:accent5>
      <a:accent6>
        <a:srgbClr val="C9D3D9"/>
      </a:accent6>
      <a:hlink>
        <a:srgbClr val="0F9D8A"/>
      </a:hlink>
      <a:folHlink>
        <a:srgbClr val="7A5BC2"/>
      </a:folHlink>
    </a:clrScheme>
    <a:fontScheme name="Residual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NLAs read what the model can't say — or re-solve what it read?</dc:title>
  <dc:subject>MATS 12.0 research update</dc:subject>
  <dc:creator>Suraj Prasad</dc:creator>
  <cp:lastModifiedBy>Suraj Prasad</cp:lastModifiedBy>
  <cp:revision>1</cp:revision>
  <dcterms:created xsi:type="dcterms:W3CDTF">2026-10-05T19:29:27Z</dcterms:created>
  <dcterms:modified xsi:type="dcterms:W3CDTF">2026-10-05T19:29:27Z</dcterms:modified>
</cp:coreProperties>
</file>